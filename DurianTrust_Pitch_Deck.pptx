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A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ro-dur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A6A10"/>
                </a:solidFill>
                <a:latin typeface="Calibri"/>
              </a:rPr>
              <a:t>UNIHACKFEST  ·  HẠNG MỤC RWA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DurianTrust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0">
                <a:solidFill>
                  <a:srgbClr val="D0D8D4"/>
                </a:solidFill>
                <a:latin typeface="Calibri"/>
              </a:rPr>
              <a:t>Xác minh lô sầu riêng xuất khẩu trên blockchain —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D0D8D4"/>
                </a:solidFill>
                <a:latin typeface="Calibri"/>
              </a:rPr>
              <a:t>từ vườn đến hải quan, trong vài giây thay vì vài ngày.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6A10"/>
                </a:solidFill>
                <a:latin typeface="Calibri"/>
              </a:rPr>
              <a:t>Sổ cái Solana  ·  Cổng an toàn Cadimi  ·  Chuyển giao 2 chữ ký  ·  Quét 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8A2"/>
                </a:solidFill>
                <a:latin typeface="Calibri"/>
              </a:rPr>
              <a:t>Lô demo  DRN-2026-LD-0429   ·   Devnet đang live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A52"/>
                </a:solidFill>
                <a:latin typeface="Calibri"/>
              </a:rPr>
              <a:t>VẤN ĐỀ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201B"/>
                </a:solidFill>
                <a:latin typeface="Calibri"/>
              </a:rPr>
              <a:t>Trái cây hỏng ở cửa khẩu trong khi giấy tờ còn đang truy vết.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611880" cy="91440"/>
          </a:xfrm>
          <a:prstGeom prst="rect">
            <a:avLst/>
          </a:prstGeom>
          <a:solidFill>
            <a:srgbClr val="9A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A52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201B"/>
                </a:solidFill>
                <a:latin typeface="Calibri"/>
              </a:rPr>
              <a:t>Siết Cadimi &amp; phẩm màu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Từ 2025, hải quan Trung Quốc (GACC) siết kiểm soát Cadimi và phẩm vàng O trên sầu riêng Việt Nam.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611880" cy="91440"/>
          </a:xfrm>
          <a:prstGeom prst="rect">
            <a:avLst/>
          </a:prstGeom>
          <a:solidFill>
            <a:srgbClr val="9A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148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A52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603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201B"/>
                </a:solidFill>
                <a:latin typeface="Calibri"/>
              </a:rPr>
              <a:t>Chứng từ manh mún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429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Phiếu lab giấy/PDF, mã vùng trồng dễ tái sử dụng/giả, hồ sơ chuỗi lạnh không xuất trình kịp.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2880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828800"/>
            <a:ext cx="3611880" cy="91440"/>
          </a:xfrm>
          <a:prstGeom prst="rect">
            <a:avLst/>
          </a:prstGeom>
          <a:solidFill>
            <a:srgbClr val="B33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148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A52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603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201B"/>
                </a:solidFill>
                <a:latin typeface="Calibri"/>
              </a:rPr>
              <a:t>Mất ngày để truy nguồn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29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Khi lô bị nghi, truy về vườn có thể mất nhiều ngày — phần còn lại hỏng tại biên giới.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7973"/>
                </a:solidFill>
                <a:latin typeface="Calibri"/>
              </a:rPr>
              <a:t>Nguồn: VietnamPlus · MOIT/VNTR · Tuổi Trẻ · SGGP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973"/>
                </a:solidFill>
                <a:latin typeface="Calibri"/>
              </a:rPr>
              <a:t>DurianTrust  ·  UniHackfest RWA  ·  Solana Devnet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E7973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A52"/>
                </a:solidFill>
                <a:latin typeface="Calibri"/>
              </a:rPr>
              <a:t>VÌ SAO ĐÂY LÀ RWA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600" b="1">
                <a:solidFill>
                  <a:srgbClr val="16201B"/>
                </a:solidFill>
                <a:latin typeface="Calibri"/>
              </a:rPr>
              <a:t>Một lô sầu riêng là tài sản thật —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16201B"/>
                </a:solidFill>
                <a:latin typeface="Calibri"/>
              </a:rPr>
              <a:t>mỗi lần chuyển tay là trách nhiệm pháp lý cũng chuyển theo.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109728" cy="68580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3B2C"/>
                </a:solidFill>
                <a:latin typeface="Calibri"/>
              </a:rPr>
              <a:t>Lô vật lý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45059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6504A"/>
                </a:solidFill>
                <a:latin typeface="Calibri"/>
              </a:rPr>
              <a:t>Hàng xuất khẩu thật ngoài đời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063240"/>
            <a:ext cx="109728" cy="68580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278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3B2C"/>
                </a:solidFill>
                <a:latin typeface="Calibri"/>
              </a:rPr>
              <a:t>Batch PDA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2783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6504A"/>
                </a:solidFill>
                <a:latin typeface="Calibri"/>
              </a:rPr>
              <a:t>Bản sao số trên Solana (không mint NFT)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4048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840480"/>
            <a:ext cx="109728" cy="68580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050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3B2C"/>
                </a:solidFill>
                <a:latin typeface="Calibri"/>
              </a:rPr>
              <a:t>Quyền sở hữu (custody)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00507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6504A"/>
                </a:solidFill>
                <a:latin typeface="Calibri"/>
              </a:rPr>
              <a:t>Ai đang nắm quyền / chịu trách nhiệm lô này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177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617720"/>
            <a:ext cx="109728" cy="68580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823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3B2C"/>
                </a:solidFill>
                <a:latin typeface="Calibri"/>
              </a:rPr>
              <a:t>Vai trò (roles)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78231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6504A"/>
                </a:solidFill>
                <a:latin typeface="Calibri"/>
              </a:rPr>
              <a:t>Ai được ghi dữ liệu: nông hộ / lab / logistics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973"/>
                </a:solidFill>
                <a:latin typeface="Calibri"/>
              </a:rPr>
              <a:t>DurianTrust  ·  UniHackfest RWA  ·  Solana Devnet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E7973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A52"/>
                </a:solidFill>
                <a:latin typeface="Calibri"/>
              </a:rPr>
              <a:t>SẢN PHẨM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201B"/>
                </a:solidFill>
                <a:latin typeface="Calibri"/>
              </a:rPr>
              <a:t>Một lớp tin cậy số cho mọi lô xuất khẩu.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7A52"/>
                </a:solidFill>
                <a:latin typeface="Calibri"/>
              </a:rPr>
              <a:t>Sổ cái chỉ ghi thêm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6504A"/>
                </a:solidFill>
                <a:latin typeface="Calibri"/>
              </a:rPr>
              <a:t>Thu hoạch, lab, đóng gói, xuất — mỗi bước là giao dịch Solana, không sửa lặng lẽ sau.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7A52"/>
                </a:solidFill>
                <a:latin typeface="Calibri"/>
              </a:rPr>
              <a:t>Chuyển giao 2 chữ ký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6504A"/>
                </a:solidFill>
                <a:latin typeface="Calibri"/>
              </a:rPr>
              <a:t>Đề cử + chấp nhận. Không ép nhận. Admin có thể tạm dừng — không tịch thu lô không thuộc mình.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55448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7A52"/>
                </a:solidFill>
                <a:latin typeface="Calibri"/>
              </a:rPr>
              <a:t>Cổng Cadimi 0,05 ppm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317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6504A"/>
                </a:solidFill>
                <a:latin typeface="Calibri"/>
              </a:rPr>
              <a:t>Kết quả xét nghiệm đối chiếu ngưỡng ngay khi nhập. Quyết định pass / xem xét / giữ — minh bạch, không hộp đen.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7A52"/>
                </a:solidFill>
                <a:latin typeface="Calibri"/>
              </a:rPr>
              <a:t>AI hỗ trợ sớm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2627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6504A"/>
                </a:solidFill>
                <a:latin typeface="Calibri"/>
              </a:rPr>
              <a:t>Mô hình ONNX: rủi ro Cadimi, bệnh, ảnh lá — chỉ sàng lọc; phiếu lab có chữ ký mới là chuẩn.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749039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7A52"/>
                </a:solidFill>
                <a:latin typeface="Calibri"/>
              </a:rPr>
              <a:t>QR cho mọi người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2627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6504A"/>
                </a:solidFill>
                <a:latin typeface="Calibri"/>
              </a:rPr>
              <a:t>Người mua &amp; hải quan quét là thấy timeline, custody, bằng chứng Explorer. Không cần ví để tra cứu.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749039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7A52"/>
                </a:solidFill>
                <a:latin typeface="Calibri"/>
              </a:rPr>
              <a:t>Hai chế độ trung thực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52627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6504A"/>
                </a:solidFill>
                <a:latin typeface="Calibri"/>
              </a:rPr>
              <a:t>Live on-chain khi có mạng; huy hiệu Demo nếu offline. Không giả ownership trong fallback.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973"/>
                </a:solidFill>
                <a:latin typeface="Calibri"/>
              </a:rPr>
              <a:t>DurianTrust  ·  UniHackfest RWA  ·  Solana Devnet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E7973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A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A6A10"/>
                </a:solidFill>
                <a:latin typeface="Calibri"/>
              </a:rPr>
              <a:t>DEMO TRỰC TIẾP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Xem được ngay — không cần ví.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A6A10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Mở app → “Scan a demo batch” / Quét lô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65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C4B8"/>
                </a:solidFill>
                <a:latin typeface="Calibri"/>
              </a:rPr>
              <a:t>#/unit/demo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A6A1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432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Mở lô flagship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743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C4B8"/>
                </a:solidFill>
                <a:latin typeface="Calibri"/>
              </a:rPr>
              <a:t>DRN-2026-LD-0429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A6A10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2043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Timeline + lab so với ngưỡng Cadimi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204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C4B8"/>
                </a:solidFill>
                <a:latin typeface="Calibri"/>
              </a:rPr>
              <a:t>0,05 ppm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A6A10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9767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Chuỗi custody + link Solana Explorer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2976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C4B8"/>
                </a:solidFill>
                <a:latin typeface="Calibri"/>
              </a:rPr>
              <a:t>Handoff thật trên devnet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A6A10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7492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Tuỳ chọn: Accept custody hoặc ghi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074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C4B8"/>
                </a:solidFill>
                <a:latin typeface="Calibri"/>
              </a:rPr>
              <a:t>#/manage + Phantom Devnet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8A2"/>
                </a:solidFill>
                <a:latin typeface="Calibri"/>
              </a:rPr>
              <a:t>Dự phòng mất Wi‑Fi: ảnh chụp cùng lô + huy hiệu “Demo data” (hai chế độ có chủ đích).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A52"/>
                </a:solidFill>
                <a:latin typeface="Calibri"/>
              </a:rPr>
              <a:t>KIẾN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01B"/>
                </a:solidFill>
                <a:latin typeface="Calibri"/>
              </a:rPr>
              <a:t>Chain là nguồn sự thật. UI đọc chain. AI chỉ hỗ trợ.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123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React 19 + Vite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Phantom (ghi)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Quét / tạo QR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Song ngữ VI / 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Solana Devnet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060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Chương trình Anchor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durian_trust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Batch · Lab · Timeline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Custody PDA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4592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9A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AI (ONNX)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060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Rủi ro Cadimi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Rủi ro bệnh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Phân loại ảnh lá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Vercel 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64592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465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6060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Dữ liệu demo sẵn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Sổ localStorage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Luôn có huy hiệu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Không giả ownership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973"/>
                </a:solidFill>
                <a:latin typeface="Calibri"/>
              </a:rPr>
              <a:t>DurianTrust  ·  UniHackfest RWA  ·  Solana Devnet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E7973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A52"/>
                </a:solidFill>
                <a:latin typeface="Calibri"/>
              </a:rPr>
              <a:t>CAM KẾT TRÊN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01B"/>
                </a:solidFill>
                <a:latin typeface="Calibri"/>
              </a:rPr>
              <a:t>Những quy tắc giám khảo có thể thử ngay.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577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09728" cy="128016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01B"/>
                </a:solidFill>
                <a:latin typeface="Calibri"/>
              </a:rPr>
              <a:t>Lab chỉ ghi thêm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Báo cáo mới nhất là chuẩn; lịch sử vẫn giữ.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08760"/>
            <a:ext cx="5577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508760"/>
            <a:ext cx="109728" cy="128016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399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01B"/>
                </a:solidFill>
                <a:latin typeface="Calibri"/>
              </a:rPr>
              <a:t>Đăng ký không bị kẹt logistics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399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Nông hộ/HTX đăng ký lô trước, không cần logistics.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26080"/>
            <a:ext cx="5577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26080"/>
            <a:ext cx="109728" cy="128016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01B"/>
                </a:solidFill>
                <a:latin typeface="Calibri"/>
              </a:rPr>
              <a:t>Custody 2 chữ ký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Ví sai không accept; không sở hữu thì không transfer.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926080"/>
            <a:ext cx="5577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2926080"/>
            <a:ext cx="109728" cy="128016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399" y="3154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01B"/>
                </a:solidFill>
                <a:latin typeface="Calibri"/>
              </a:rPr>
              <a:t>Admin không tịch thu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399" y="3611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Authority có thể pause — không gán lại ownership.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5577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343400"/>
            <a:ext cx="109728" cy="128016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01B"/>
                </a:solidFill>
                <a:latin typeface="Calibri"/>
              </a:rPr>
              <a:t>Khoá genesis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Initialize chỉ bởi genesis authority hardcode.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343400"/>
            <a:ext cx="55778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4343400"/>
            <a:ext cx="109728" cy="128016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399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201B"/>
                </a:solidFill>
                <a:latin typeface="Calibri"/>
              </a:rPr>
              <a:t>Hai chế độ rõ ràng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399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Huy hiệu Live vs Demo — không giả ownership.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973"/>
                </a:solidFill>
                <a:latin typeface="Calibri"/>
              </a:rPr>
              <a:t>DurianTrust  ·  UniHackfest RWA  ·  Solana Devnet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E7973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A52"/>
                </a:solidFill>
                <a:latin typeface="Calibri"/>
              </a:rPr>
              <a:t>THỰC DỤNG NGOÀI ĐỜI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201B"/>
                </a:solidFill>
                <a:latin typeface="Calibri"/>
              </a:rPr>
              <a:t>Nông dân không cần “chơi crypto”.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A6A10"/>
                </a:solidFill>
                <a:latin typeface="Calibri"/>
              </a:rPr>
              <a:t>Demo hackathon (hiện tại)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0">
                <a:solidFill>
                  <a:srgbClr val="46504A"/>
                </a:solidFill>
                <a:latin typeface="Calibri"/>
              </a:rPr>
              <a:t>▸  Mỗi vai trò dùng Phantom để chứng minh protocol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46504A"/>
                </a:solidFill>
                <a:latin typeface="Calibri"/>
              </a:rPr>
              <a:t>▸  Chữ ký thật + bằng chứng trên Explorer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46504A"/>
                </a:solidFill>
                <a:latin typeface="Calibri"/>
              </a:rPr>
              <a:t>▸  Phù hợp để ban giám khảo kiểm tra on-chain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23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9A6A10"/>
                </a:solidFill>
                <a:latin typeface="Calibri"/>
              </a:rPr>
              <a:t>Triển khai pilot (tiếp theo)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HTX / nhà đóng gói / lab giữ khoá được cấp quyền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Nông hộ dùng form / SMS / tablet — nhận mã lô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Doanh nghiệp trả phí gas (SOL = phí hạ tầng)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▸  Hải quan &amp; người mua chỉ quét QR (chỉ đọc)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973"/>
                </a:solidFill>
                <a:latin typeface="Calibri"/>
              </a:rPr>
              <a:t>DurianTrust  ·  UniHackfest RWA  ·  Solana Devnet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E7973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A52"/>
                </a:solidFill>
                <a:latin typeface="Calibri"/>
              </a:rPr>
              <a:t>BẢNG TRUNG THỰC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01B"/>
                </a:solidFill>
                <a:latin typeface="Calibri"/>
              </a:rPr>
              <a:t>Cái gì là thật — cái gì hỗ trợ — cái gì chưa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201B"/>
                </a:solidFill>
                <a:latin typeface="Calibri"/>
              </a:rPr>
              <a:t>Đăng ký lô / lab /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Thật trên Solana devnet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11155680" cy="594360"/>
          </a:xfrm>
          <a:prstGeom prst="rect">
            <a:avLst/>
          </a:prstGeom>
          <a:solidFill>
            <a:srgbClr val="E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201B"/>
                </a:solidFill>
                <a:latin typeface="Calibri"/>
              </a:rPr>
              <a:t>Chuỗi custody (2 chữ ký)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Thật — chỉ on-chain, không giả fallback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51760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201B"/>
                </a:solidFill>
                <a:latin typeface="Calibri"/>
              </a:rPr>
              <a:t>Cổng Cadimi 0,05 ppm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88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Hằng số quy tắc, kiểm được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91839"/>
            <a:ext cx="11155680" cy="594360"/>
          </a:xfrm>
          <a:prstGeom prst="rect">
            <a:avLst/>
          </a:prstGeom>
          <a:solidFill>
            <a:srgbClr val="E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2899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201B"/>
                </a:solidFill>
                <a:latin typeface="Calibri"/>
              </a:rPr>
              <a:t>Mô hình AI (ONNX)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42899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Hỗ trợ sàng lọc thật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31920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690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201B"/>
                </a:solidFill>
                <a:latin typeface="Calibri"/>
              </a:rPr>
              <a:t>QR + bằng chứng Explorer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069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Deep link / chữ ký thật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572000"/>
            <a:ext cx="11155680" cy="594360"/>
          </a:xfrm>
          <a:prstGeom prst="rect">
            <a:avLst/>
          </a:prstGeom>
          <a:solidFill>
            <a:srgbClr val="ED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709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201B"/>
                </a:solidFill>
                <a:latin typeface="Calibri"/>
              </a:rPr>
              <a:t>Triển khai toàn quốc nông hộ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709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Chưa claim — có lộ trình pilot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212079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34923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201B"/>
                </a:solidFill>
                <a:latin typeface="Calibri"/>
              </a:rPr>
              <a:t>Mainnet / thông quan thật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3492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6504A"/>
                </a:solidFill>
                <a:latin typeface="Calibri"/>
              </a:rPr>
              <a:t>Chưa — demo trên devnet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973"/>
                </a:solidFill>
                <a:latin typeface="Calibri"/>
              </a:rPr>
              <a:t>DurianTrust  ·  UniHackfest RWA  ·  Solana Devnet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E7973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A52"/>
                </a:solidFill>
                <a:latin typeface="Calibri"/>
              </a:rPr>
              <a:t>THÔNG SỐ CỨNG CHO GIÁM KHẢO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01B"/>
                </a:solidFill>
                <a:latin typeface="Calibri"/>
              </a:rPr>
              <a:t>Chính xác — không tự bịa 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A52"/>
                </a:solidFill>
                <a:latin typeface="Calibri"/>
              </a:rPr>
              <a:t>Program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48132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201B"/>
                </a:solidFill>
                <a:latin typeface="Consolas"/>
              </a:rPr>
              <a:t>4EZcqRn9LYK5VMuhLC2bNDaUqVBHxc6KCZ6zhFet3Par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11155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A52"/>
                </a:solidFill>
                <a:latin typeface="Calibri"/>
              </a:rPr>
              <a:t>Mạng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2140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201B"/>
                </a:solidFill>
                <a:latin typeface="Consolas"/>
              </a:rPr>
              <a:t>Solana Devnet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11155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614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A52"/>
                </a:solidFill>
                <a:latin typeface="Calibri"/>
              </a:rPr>
              <a:t>Lô flagship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76148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201B"/>
                </a:solidFill>
                <a:latin typeface="Consolas"/>
              </a:rPr>
              <a:t>DRN-2026-LD-0429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91839"/>
            <a:ext cx="11155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01567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A52"/>
                </a:solidFill>
                <a:latin typeface="Calibri"/>
              </a:rPr>
              <a:t>Ngưỡng Cadimi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401567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201B"/>
                </a:solidFill>
                <a:latin typeface="Consolas"/>
              </a:rPr>
              <a:t>0,05 ppm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31920"/>
            <a:ext cx="11155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41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A52"/>
                </a:solidFill>
                <a:latin typeface="Calibri"/>
              </a:rPr>
              <a:t>Genesis authority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04164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201B"/>
                </a:solidFill>
                <a:latin typeface="Consolas"/>
              </a:rPr>
              <a:t>52WpskyDdHaLyAcyTLQrqvLBUh3azKFAe3XmNkYDaFJu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72000"/>
            <a:ext cx="11155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817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A52"/>
                </a:solidFill>
                <a:latin typeface="Calibri"/>
              </a:rPr>
              <a:t>Ví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681728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201B"/>
                </a:solidFill>
                <a:latin typeface="Consolas"/>
              </a:rPr>
              <a:t>2BARgkoYQPL7ngMerfCh21CpGRepuZdVtMGr7do1ssko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12079"/>
            <a:ext cx="11155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21807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A52"/>
                </a:solidFill>
                <a:latin typeface="Calibri"/>
              </a:rPr>
              <a:t>Đường dẫn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321807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201B"/>
                </a:solidFill>
                <a:latin typeface="Consolas"/>
              </a:rPr>
              <a:t>#/   ·   #/unit/demo   ·   #/manage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973"/>
                </a:solidFill>
                <a:latin typeface="Calibri"/>
              </a:rPr>
              <a:t>DurianTrust  ·  UniHackfest RWA  ·  Solana Devnet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E7973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A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A6A10"/>
                </a:solidFill>
                <a:latin typeface="Calibri"/>
              </a:rPr>
              <a:t>Câu kết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Bản sao số của lô xuất khẩu.</a:t>
            </a:r>
          </a:p>
          <a:p>
            <a:pPr>
              <a:spcBef>
                <a:spcPts val="40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Trách nhiệm đi cùng quyền custody.</a:t>
            </a:r>
          </a:p>
          <a:p>
            <a:pPr>
              <a:spcBef>
                <a:spcPts val="40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Cổng an toàn có thể kiểm toán.</a:t>
            </a:r>
          </a:p>
          <a:p>
            <a:pPr>
              <a:spcBef>
                <a:spcPts val="40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QR cho mọi người còn lại.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5D4CE"/>
                </a:solidFill>
                <a:latin typeface="Calibri"/>
              </a:rPr>
              <a:t>Blockchain là lớp tin cậy phía sau — không phải app crypto cho nông hộ.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6A10"/>
                </a:solidFill>
                <a:latin typeface="Calibri"/>
              </a:rPr>
              <a:t>DurianTrust  ·  Quét lô demo DRN-2026-LD-0429  ·  Xin cảm 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A2"/>
                </a:solidFill>
                <a:latin typeface="Calibri"/>
              </a:rPr>
              <a:t>Hỏi &amp; đáp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