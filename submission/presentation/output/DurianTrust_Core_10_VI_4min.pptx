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5" r:id="rId11"/>
    <p:sldId id="266" r:id="rId12"/>
    <p:sldId id="267" r:id="rId13"/>
    <p:sldId id="269" r:id="rId15"/>
    <p:sldId id="272" r:id="rId18"/>
    <p:sldId id="274" r:id="rId20"/>
  </p:sldIdLst>
  <p:sldSz cx="12192000" cy="6858000"/>
  <p:notesSz cx="6858000" cy="9144000"/>
  <p:custShowLst>
    <p:custShow name="19 y chinh" id="0">
      <p:sldLst>
        <p:sld r:id="rId2"/>
        <p:sld r:id="rId3"/>
        <p:sld r:id="rId4"/>
        <p:sld r:id="rId5"/>
        <p:sld r:id="rId6"/>
        <p:sld r:id="rId7"/>
        <p:sld r:id="rId8"/>
        <p:sld r:id="rId9"/>
        <p:sld r:id="rId10"/>
        <p:sld r:id="rId11"/>
        <p:sld r:id="rId12"/>
        <p:sld r:id="rId13"/>
        <p:sld r:id="rId14"/>
        <p:sld r:id="rId15"/>
        <p:sld r:id="rId16"/>
        <p:sld r:id="rId17"/>
        <p:sld r:id="rId18"/>
        <p:sld r:id="rId19"/>
        <p:sld r:id="rId2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12"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slide" Target="slides/slide1.xml"/><Relationship Id="rId20" Type="http://schemas.openxmlformats.org/officeDocument/2006/relationships/slide" Target="slides/slide19.xml"/><Relationship Id="rId1" Type="http://schemas.openxmlformats.org/officeDocument/2006/relationships/slideMaster" Target="slideMasters/slideMaster1.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4" Type="http://schemas.openxmlformats.org/officeDocument/2006/relationships/slide" Target="slides/slide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1/10 | 00:00 - 00:15 | Hãy hình dung một hợp tác xã chuẩn bị giao 850 ký sầu riêng. Bên mua hỏi: vườn nào, thu hoạch khi nào, tài liệu đâu? DurianTrust gom thông tin thành hồ sơ theo lô, để chủ hồ sơ chia sẻ bằng QR. Đây là tình huống minh họa.</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2/10 | 00:15 - 00:40 | Theo họp báo Chính phủ ngày 3 tháng 9, Trung Quốc chiếm khoảng 95% kim ngạch xuất khẩu sầu riêng Việt Nam trong tám tháng đầu năm 2026. Yêu cầu kiểm nghiệm và truy xuất khiến hồ sơ đúng lô rất quan trọng. DurianTrust hỗ trợ chuẩn bị và đối chiếu hồ sơ. Cadimi và Vàng O vẫn cần kiểm nghiệm; website chưa chứng minh giúp giảm lô bị trả.</a:t>
            </a:r>
          </a:p>
          <a:p>
            <a:r>
              <a:t>Nguồn: https://github.com/vinhelysia/DurainCheckerDemo (source hiện tại), README.md, backend/README.md và hồ sơ kiểm thử ngày 23–29/09/2026. </a:t>
            </a:r>
          </a:p>
          <a:p>
            <a:r>
              <a:t>https://baochinhphu.vn/hop-bao-chinh-phu-thuong-ky-thang-8-dai-dien-bo-cong-an-lam-ro-nhieu-van-de-duoc-quan-tam-102260903170016698.htm</a:t>
            </a:r>
          </a:p>
          <a:p>
            <a:r>
              <a:t>https://vntr.moit.gov.vn/news/china-tightens-import-rules-on-vietnamese-durians</a:t>
            </a:r>
          </a:p>
          <a:p>
            <a:r>
              <a:t>https://sansangxuatkhau.ppd.gov.vn/tin-tuc-su-kien/sau-rieng-duoc-xuat-khau-chinh-ngach-sang-trung-quoc.html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3/10 | 00:40 - 00:55 | Người dùng dự kiến là nhà vườn, HTX và bên mua như đơn vị thu mua hoặc doanh nghiệp xuất khẩu. Zalo và Drive giúp trao đổi tệp. Nhóm muốn kiểm chứng giá trị của việc gắn tài liệu và lịch sử vào cùng một lô để đối chiếu thuận tiện hơn.</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4/10 | 00:55 - 01:15 | Chủ hồ sơ đăng nhập Google, tạo lô riêng tư, thêm tài liệu có nguồn và ngày, rồi ghi các mốc hành trình. Checklist chỉ rõ phần còn thiếu và mở đúng form để bổ sung. Khi sẵn sàng, họ công khai toàn bộ hồ sơ qua QR. Chuyển lại riêng tư chặn lượt đọc mới, nhưng không thu hồi bản đã tải.</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5/10 | 01:15 - 01:55 | [THAO TÁC, KHÔNG ĐỌC] Bấm video 40 giây. Clip có giọng nữ tiếng Việt; không nói chồng lên clip. Video dùng giao diện local, dữ liệu TEST và Auth/API mô phỏng. Nếu không phát được, dành tối đa 15 giây tóm tắt: nhập thông tin lô, thêm tài liệu, công khai QR, bên mua đọc, rồi chuyển lại riêng tư. Sau đó sang slide 6.</a:t>
            </a:r>
          </a:p>
          <a:p>
            <a:r>
              <a:t>Nguồn: https://github.com/vinhelysia/DurainCheckerDemo (source hiện tại), README.md, backend/README.md và hồ sơ kiểm thử ngày 23–29/09/2026. </a:t>
            </a:r>
          </a:p>
          <a:p>
            <a:r>
              <a:t>https://durian-web3.vercel.app/submission/DurianTrust_HTX_Demo_90s.mp4</a:t>
            </a:r>
          </a:p>
          <a:p>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6/10 | 01:55 - 02:20 | Giao diện dùng React và Vite trên Vercel. API Python dùng FastAPI trên Render. Google OAuth qua Supabase cấp phiên đăng nhập; PostgreSQL áp dụng RLS để kiểm tra quyền theo tài khoản. Supabase Storage giữ ảnh và PDF trong bucket riêng tư. Lô mới mặc định riêng tư; khi công khai, bên mua đọc qua QR. Hồ sơ đủ thông tin chưa đồng nghĩa tài liệu đã xác thực hay lô đủ điều kiện xuất khẩu.</a:t>
            </a:r>
          </a:p>
          <a:p>
            <a:r>
              <a:t>Nguồn: https://github.com/vinhelysia/DurainCheckerDemo (source hiện tại), README.md, backend/README.md và hồ sơ kiểm thử ngày 23–29/09/2026. </a:t>
            </a:r>
          </a:p>
          <a:p>
            <a:r>
              <a: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a:t>
            </a:r>
          </a:p>
          <a:p>
            <a:r>
              <a: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7/10 | 02:20 - 02:40 | Thử nghiệm Solana dùng Rust và Anchor trên Devnet. Người đang giữ lô ký đề xuất ví nhận; bên nhận ký chấp nhận thì trạng thái custody mới đổi. Cơ chế này ghi nhận bàn giao giữa ví, chưa chứng minh giao hàng vật lý hoặc quyền sở hữu pháp lý. Luồng cloud hiện chưa tự đồng bộ với Solana.</a:t>
            </a:r>
          </a:p>
          <a:p>
            <a:r>
              <a:t>Nguồn: https://github.com/vinhelysia/DurainCheckerDemo (source hiện tại), README.md, backend/README.md và hồ sơ kiểm thử ngày 23–29/09/2026. </a:t>
            </a:r>
          </a:p>
          <a:p>
            <a:r>
              <a: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8/10 | 02:40 - 03:00 | AI dùng ONNX Runtime để gợi ý một trong năm nhóm ảnh lá và yêu cầu chuyên gia đối chiếu. Điểm model trên một ảnh chưa phải accuracy. Nhóm giữ model cũ vì bản fine-tune chưa tốt hơn; chi tiết đánh giá nằm trong tài liệu phụ lục. Ảnh lá không đo Cadimi hoặc Vàng O và không chứng nhận an toàn thực phẩm.</a:t>
            </a:r>
          </a:p>
          <a:p>
            <a:r>
              <a:t>Nguồn: https://data.mendeley.com/datasets/pxzvksbwnj/2 (CC BY 4.0); https://github.com/vinhelysia/DurainCheckerDemo/blob/main/submission/review/ai-training/MENDELEY_EXTERNAL_EVAL.md.</a:t>
            </a:r>
          </a:p>
          <a:p>
            <a:r>
              <a:t>Logo ONNX Runtime: https://github.com/microsoft/onnxruntime/blob/main/docs/images/ONNX_Runtime_logo.png ; FastAPI: https://fastapi.tiangolo.com/img/logo-margin/logo-teal.png . Giữ artwork/tỷ lệ gốc, chỉ crop phần canvas trong suốt.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9/10 | 03:00 - 03:25 | Website và API đã deploy. Kiểm thử local và quyền database trên CI đã pass; quy trình production đầy đủ vẫn cần kiểm chứng. Nhóm chưa có pilot HTX hay phiếu lab thật. Bước tiếp theo là thử với một HTX và nhóm lô nhỏ, đo thời gian tìm hồ sơ, tài liệu thiếu và số lần bên mua hỏi lại. Việc trả phí chỉ là giả thuyết cần kiểm tra.</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10/10 | 03:25 - 03:45 | DurianTrust giúp chuẩn bị hồ sơ theo lô và chia sẻ QR chỉ đọc, do chủ hồ sơ quyết định công khai. Giá trị thực tế sẽ được đo bằng pilot. QR trên màn hình mở hồ sơ mẫu; mã nguồn đã công khai. Chúng tôi mong được kết nối với HTX sẵn sàng thử và đơn vị phát hành tài liệu kiểm nghiệm. Xin cảm ơn.</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durian-web3.vercel.app/submission/DurianTrust_HTX_Demo_40s_VI.mp4" TargetMode="Externa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github.com/vinhelysia/DurainCheckerDemo" TargetMode="External"/><Relationship Id="rId5" Type="http://schemas.openxmlformats.org/officeDocument/2006/relationships/hyperlink" Target="https://durian-web3.vercel.app/#/records/example" TargetMode="Externa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8"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rand">
            <a:extLst>
              <a:ext uri="{FF2B5EF4-FFF2-40B4-BE49-F238E27FC236}">
                <a16:creationId xmlns:a16="http://schemas.microsoft.com/office/drawing/2014/main" id="{F2A77A16-825F-4FE0-A4D0-A4306B5D6E0A}"/>
              </a:ext>
            </a:extLst>
          </p:cNvPr>
          <p:cNvSpPr>
            <a:spLocks noGrp="1"/>
          </p:cNvSpPr>
          <p:nvPr/>
        </p:nvSpPr>
        <p:spPr>
          <a:xfrm>
            <a:off x="609600" y="2228850"/>
            <a:ext cx="7143750" cy="1181100"/>
          </a:xfrm>
          <a:prstGeom prst="rect">
            <a:avLst/>
          </a:prstGeom>
          <a:noFill/>
          <a:ln w="0">
            <a:noFill/>
          </a:ln>
        </p:spPr>
        <p:txBody>
          <a:bodyPr wrap="square" lIns="0" tIns="0" rIns="0" bIns="0" anchor="t">
            <a:normAutofit/>
          </a:bodyPr>
          <a:lstStyle/>
          <a:p>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a:ext uri="{FF2B5EF4-FFF2-40B4-BE49-F238E27FC236}">
                <a16:creationId xmlns:a16="http://schemas.microsoft.com/office/drawing/2014/main" id="{B0A20E54-8F13-4E8D-A4F4-6BD38148938D}"/>
              </a:ext>
            </a:extLst>
          </p:cNvPr>
          <p:cNvSpPr>
            <a:spLocks noGrp="1"/>
          </p:cNvSpPr>
          <p:nvPr/>
        </p:nvSpPr>
        <p:spPr>
          <a:xfrm>
            <a:off x="647700" y="3524250"/>
            <a:ext cx="6000750" cy="1219200"/>
          </a:xfrm>
          <a:prstGeom prst="rect">
            <a:avLst/>
          </a:prstGeom>
          <a:noFill/>
          <a:ln w="0">
            <a:noFill/>
          </a:ln>
        </p:spPr>
        <p:txBody>
          <a:bodyPr wrap="square" lIns="0" tIns="0" rIns="0" bIns="0" anchor="t">
            <a:normAutofit/>
          </a:bodyPr>
          <a:lstStyle/>
          <a:p>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a:ext uri="{FF2B5EF4-FFF2-40B4-BE49-F238E27FC236}">
                <a16:creationId xmlns:a16="http://schemas.microsoft.com/office/drawing/2014/main" id="{C45F701D-1C11-4B00-ACA3-F186F8084065}"/>
              </a:ext>
            </a:extLst>
          </p:cNvPr>
          <p:cNvSpPr>
            <a:spLocks noGrp="1"/>
          </p:cNvSpPr>
          <p:nvPr/>
        </p:nvSpPr>
        <p:spPr>
          <a:xfrm>
            <a:off x="647700" y="895350"/>
            <a:ext cx="4095750" cy="333375"/>
          </a:xfrm>
          <a:prstGeom prst="rect">
            <a:avLst/>
          </a:prstGeom>
          <a:noFill/>
          <a:ln w="0">
            <a:noFill/>
          </a:ln>
        </p:spPr>
        <p:txBody>
          <a:bodyPr wrap="square" lIns="0" tIns="0" rIns="0" bIns="0" anchor="t">
            <a:normAutofit/>
          </a:bodyPr>
          <a:lstStyle/>
          <a:p>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noChangeAspect="1"/>
          </p:cNvPicPr>
          <p:nvPr/>
        </p:nvPicPr>
        <p:blipFill>
          <a:blip r:embed="rId4"/>
          <a:stretch/>
        </p:blipFill>
        <p:spPr>
          <a:xfrm>
            <a:off x="628650" y="1466850"/>
            <a:ext cx="533400" cy="533400"/>
          </a:xfrm>
          <a:prstGeom prst="rect">
            <a:avLst/>
          </a:prstGeom>
        </p:spPr>
      </p:pic>
      <p:sp>
        <p:nvSpPr>
          <p:cNvPr id="6" name="!!page">
            <a:extLst>
              <a:ext uri="{FF2B5EF4-FFF2-40B4-BE49-F238E27FC236}">
                <a16:creationId xmlns:a16="http://schemas.microsoft.com/office/drawing/2014/main" id="{F3D6199A-2ADD-4F7A-A1B0-E2E520321305}"/>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10</a:t>
            </a:r>
          </a:p>
        </p:txBody>
      </p:sp>
      <p:sp>
        <p:nvSpPr>
          <p:cNvPr id="7" name="!!caption">
            <a:extLst>
              <a:ext uri="{FF2B5EF4-FFF2-40B4-BE49-F238E27FC236}">
                <a16:creationId xmlns:a16="http://schemas.microsoft.com/office/drawing/2014/main" id="{2FE4368B-771D-49CE-B2F5-777481FC7F84}"/>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endParaRPr sz="1275" b="0" dirty="0">
              <a:solidFill>
                <a:srgbClr val="A3BCAB"/>
              </a:solidFill>
              <a:latin typeface="Segoe UI"/>
              <a:ea typeface="Segoe UI"/>
              <a:cs typeface="Segoe UI"/>
            </a:endParaRPr>
          </a:p>
        </p:txBody>
      </p:sp>
    </p:spTree>
    <p:extLst>
      <p:ext uri="{BB962C8B-B14F-4D97-AF65-F5344CB8AC3E}">
        <p14:creationId xmlns:p14="http://schemas.microsoft.com/office/powerpoint/2010/main" val="4691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5"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5479B50E-3565-467A-BCA9-C9243634D51A}"/>
              </a:ext>
            </a:extLst>
          </p:cNvPr>
          <p:cNvSpPr>
            <a:spLocks noGrp="1"/>
          </p:cNvSpPr>
          <p:nvPr/>
        </p:nvSpPr>
        <p:spPr>
          <a:xfrm>
            <a:off x="609600" y="533400"/>
            <a:ext cx="6238875"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a:ext uri="{FF2B5EF4-FFF2-40B4-BE49-F238E27FC236}">
                <a16:creationId xmlns:a16="http://schemas.microsoft.com/office/drawing/2014/main" id="{CBB47E37-E9EA-43BD-8891-028D2D606757}"/>
              </a:ext>
            </a:extLst>
          </p:cNvPr>
          <p:cNvSpPr>
            <a:spLocks noGrp="1"/>
          </p:cNvSpPr>
          <p:nvPr/>
        </p:nvSpPr>
        <p:spPr>
          <a:xfrm>
            <a:off x="647700" y="1943100"/>
            <a:ext cx="571500" cy="571500"/>
          </a:xfrm>
          <a:prstGeom prst="ellipse">
            <a:avLst/>
          </a:prstGeom>
          <a:solidFill>
            <a:srgbClr val="E5EBDD"/>
          </a:solidFill>
          <a:ln w="9525">
            <a:solidFill>
              <a:srgbClr val="166447"/>
            </a:solidFill>
          </a:ln>
        </p:spPr>
        <p:txBody>
          <a:bodyPr/>
          <a:lstStyle/>
          <a:p>
            <a:endParaRPr lang="en-US"/>
          </a:p>
        </p:txBody>
      </p:sp>
      <p:sp>
        <p:nvSpPr>
          <p:cNvPr id="4" name="!!fragment-0-icon-0">
            <a:extLst>
              <a:ext uri="{FF2B5EF4-FFF2-40B4-BE49-F238E27FC236}">
                <a16:creationId xmlns:a16="http://schemas.microsoft.com/office/drawing/2014/main" id="{95D4136F-3D83-4D9E-846B-E93779B28646}"/>
              </a:ext>
            </a:extLst>
          </p:cNvPr>
          <p:cNvSpPr>
            <a:spLocks noGrp="1"/>
          </p:cNvSpPr>
          <p:nvPr/>
        </p:nvSpPr>
        <p:spPr>
          <a:xfrm>
            <a:off x="804863" y="2100263"/>
            <a:ext cx="257175" cy="257175"/>
          </a:xfrm>
          <a:prstGeom prst="ellipse">
            <a:avLst/>
          </a:prstGeom>
          <a:noFill/>
          <a:ln w="19050">
            <a:solidFill>
              <a:srgbClr val="166447"/>
            </a:solidFill>
            <a:prstDash val="solid"/>
          </a:ln>
        </p:spPr>
        <p:txBody>
          <a:bodyPr/>
          <a:lstStyle/>
          <a:p>
            <a:endParaRPr lang="en-US"/>
          </a:p>
        </p:txBody>
      </p:sp>
      <p:sp>
        <p:nvSpPr>
          <p:cNvPr id="5" name="!!fragment-0-icon-1">
            <a:extLst>
              <a:ext uri="{FF2B5EF4-FFF2-40B4-BE49-F238E27FC236}">
                <a16:creationId xmlns:a16="http://schemas.microsoft.com/office/drawing/2014/main" id="{2F069339-62FE-4E14-A086-E4F870003FAA}"/>
              </a:ext>
            </a:extLst>
          </p:cNvPr>
          <p:cNvSpPr>
            <a:spLocks noGrp="1"/>
          </p:cNvSpPr>
          <p:nvPr/>
        </p:nvSpPr>
        <p:spPr>
          <a:xfrm>
            <a:off x="882015" y="2100263"/>
            <a:ext cx="102870" cy="257175"/>
          </a:xfrm>
          <a:prstGeom prst="ellipse">
            <a:avLst/>
          </a:prstGeom>
          <a:noFill/>
          <a:ln w="19050">
            <a:solidFill>
              <a:srgbClr val="166447"/>
            </a:solidFill>
            <a:prstDash val="solid"/>
          </a:ln>
        </p:spPr>
        <p:txBody>
          <a:bodyPr/>
          <a:lstStyle/>
          <a:p>
            <a:endParaRPr lang="en-US"/>
          </a:p>
        </p:txBody>
      </p:sp>
      <p:sp>
        <p:nvSpPr>
          <p:cNvPr id="6" name="!!fragment-0-icon-2">
            <a:extLst>
              <a:ext uri="{FF2B5EF4-FFF2-40B4-BE49-F238E27FC236}">
                <a16:creationId xmlns:a16="http://schemas.microsoft.com/office/drawing/2014/main" id="{42B796DC-9EF8-4D78-8AD5-DF9F072C5431}"/>
              </a:ext>
            </a:extLst>
          </p:cNvPr>
          <p:cNvSpPr>
            <a:spLocks noGrp="1"/>
          </p:cNvSpPr>
          <p:nvPr/>
        </p:nvSpPr>
        <p:spPr>
          <a:xfrm>
            <a:off x="779145" y="2074545"/>
            <a:ext cx="308610" cy="308610"/>
          </a:xfrm>
          <a:custGeom>
            <a:avLst/>
            <a:gdLst/>
            <a:ahLst/>
            <a:cxnLst/>
            <a:rect l="0" t="0" r="0" b="0"/>
            <a:pathLst>
              <a:path w="228600" h="228600">
                <a:moveTo>
                  <a:pt x="19050" y="114300"/>
                </a:moveTo>
                <a:lnTo>
                  <a:pt x="209550" y="114300"/>
                </a:lnTo>
              </a:path>
            </a:pathLst>
          </a:custGeom>
          <a:noFill/>
          <a:ln w="19050">
            <a:solidFill>
              <a:srgbClr val="166447"/>
            </a:solidFill>
            <a:prstDash val="solid"/>
          </a:ln>
        </p:spPr>
        <p:txBody>
          <a:bodyPr/>
          <a:lstStyle/>
          <a:p>
            <a:endParaRPr lang="en-US"/>
          </a:p>
        </p:txBody>
      </p:sp>
      <p:sp>
        <p:nvSpPr>
          <p:cNvPr id="7" name="!!fragment-0">
            <a:extLst>
              <a:ext uri="{FF2B5EF4-FFF2-40B4-BE49-F238E27FC236}">
                <a16:creationId xmlns:a16="http://schemas.microsoft.com/office/drawing/2014/main" id="{60875367-0F09-4DC3-B792-71BF59B926D1}"/>
              </a:ext>
            </a:extLst>
          </p:cNvPr>
          <p:cNvSpPr>
            <a:spLocks noGrp="1"/>
          </p:cNvSpPr>
          <p:nvPr/>
        </p:nvSpPr>
        <p:spPr>
          <a:xfrm>
            <a:off x="1447800" y="1847850"/>
            <a:ext cx="4333875" cy="800100"/>
          </a:xfrm>
          <a:prstGeom prst="rect">
            <a:avLst/>
          </a:prstGeom>
          <a:noFill/>
          <a:ln w="0">
            <a:noFill/>
          </a:ln>
        </p:spPr>
        <p:txBody>
          <a:bodyPr wrap="square" lIns="0" tIns="0" rIns="0" bIns="0" anchor="t">
            <a:normAutofit/>
          </a:bodyPr>
          <a:lstStyle/>
          <a:p>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a:ext uri="{FF2B5EF4-FFF2-40B4-BE49-F238E27FC236}">
                <a16:creationId xmlns:a16="http://schemas.microsoft.com/office/drawing/2014/main" id="{8C8280F5-BBC2-4F8A-B946-A5FA520317D4}"/>
              </a:ext>
            </a:extLst>
          </p:cNvPr>
          <p:cNvSpPr>
            <a:spLocks noGrp="1"/>
          </p:cNvSpPr>
          <p:nvPr/>
        </p:nvSpPr>
        <p:spPr>
          <a:xfrm>
            <a:off x="1447800" y="2705100"/>
            <a:ext cx="4333875" cy="62865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a:ext uri="{FF2B5EF4-FFF2-40B4-BE49-F238E27FC236}">
                <a16:creationId xmlns:a16="http://schemas.microsoft.com/office/drawing/2014/main" id="{5D180CC4-B13E-4D36-8AFC-85CB12C927B0}"/>
              </a:ext>
            </a:extLst>
          </p:cNvPr>
          <p:cNvSpPr>
            <a:spLocks noGrp="1"/>
          </p:cNvSpPr>
          <p:nvPr/>
        </p:nvSpPr>
        <p:spPr>
          <a:xfrm>
            <a:off x="647700" y="3429000"/>
            <a:ext cx="571500" cy="571500"/>
          </a:xfrm>
          <a:prstGeom prst="ellipse">
            <a:avLst/>
          </a:prstGeom>
          <a:solidFill>
            <a:srgbClr val="E5EBDD"/>
          </a:solidFill>
          <a:ln w="9525">
            <a:solidFill>
              <a:srgbClr val="166447"/>
            </a:solidFill>
          </a:ln>
        </p:spPr>
        <p:txBody>
          <a:bodyPr/>
          <a:lstStyle/>
          <a:p>
            <a:endParaRPr lang="en-US"/>
          </a:p>
        </p:txBody>
      </p:sp>
      <p:sp>
        <p:nvSpPr>
          <p:cNvPr id="10" name="!!fragment-1-icon-0">
            <a:extLst>
              <a:ext uri="{FF2B5EF4-FFF2-40B4-BE49-F238E27FC236}">
                <a16:creationId xmlns:a16="http://schemas.microsoft.com/office/drawing/2014/main" id="{AC6DF858-0E8A-4EAF-B0B2-38B4A7E9443E}"/>
              </a:ext>
            </a:extLst>
          </p:cNvPr>
          <p:cNvSpPr>
            <a:spLocks noGrp="1"/>
          </p:cNvSpPr>
          <p:nvPr/>
        </p:nvSpPr>
        <p:spPr>
          <a:xfrm>
            <a:off x="804863" y="3586163"/>
            <a:ext cx="180023" cy="180023"/>
          </a:xfrm>
          <a:prstGeom prst="ellipse">
            <a:avLst/>
          </a:prstGeom>
          <a:noFill/>
          <a:ln w="19050">
            <a:solidFill>
              <a:srgbClr val="166447"/>
            </a:solidFill>
            <a:prstDash val="solid"/>
          </a:ln>
        </p:spPr>
        <p:txBody>
          <a:bodyPr/>
          <a:lstStyle/>
          <a:p>
            <a:endParaRPr lang="en-US"/>
          </a:p>
        </p:txBody>
      </p:sp>
      <p:sp>
        <p:nvSpPr>
          <p:cNvPr id="11" name="!!fragment-1-icon-1">
            <a:extLst>
              <a:ext uri="{FF2B5EF4-FFF2-40B4-BE49-F238E27FC236}">
                <a16:creationId xmlns:a16="http://schemas.microsoft.com/office/drawing/2014/main" id="{CD94D742-11D9-44FC-88F4-BA3E2B1CE3F5}"/>
              </a:ext>
            </a:extLst>
          </p:cNvPr>
          <p:cNvSpPr>
            <a:spLocks noGrp="1"/>
          </p:cNvSpPr>
          <p:nvPr/>
        </p:nvSpPr>
        <p:spPr>
          <a:xfrm>
            <a:off x="779145" y="3560445"/>
            <a:ext cx="308610" cy="308610"/>
          </a:xfrm>
          <a:custGeom>
            <a:avLst/>
            <a:gdLst/>
            <a:ahLst/>
            <a:cxnLst/>
            <a:rect l="0" t="0" r="0" b="0"/>
            <a:pathLst>
              <a:path w="228600" h="228600">
                <a:moveTo>
                  <a:pt x="133350" y="133350"/>
                </a:moveTo>
                <a:lnTo>
                  <a:pt x="209550" y="209550"/>
                </a:lnTo>
              </a:path>
            </a:pathLst>
          </a:custGeom>
          <a:noFill/>
          <a:ln w="19050">
            <a:solidFill>
              <a:srgbClr val="166447"/>
            </a:solidFill>
            <a:prstDash val="solid"/>
          </a:ln>
        </p:spPr>
        <p:txBody>
          <a:bodyPr/>
          <a:lstStyle/>
          <a:p>
            <a:endParaRPr lang="en-US"/>
          </a:p>
        </p:txBody>
      </p:sp>
      <p:sp>
        <p:nvSpPr>
          <p:cNvPr id="12" name="!!fragment-1">
            <a:extLst>
              <a:ext uri="{FF2B5EF4-FFF2-40B4-BE49-F238E27FC236}">
                <a16:creationId xmlns:a16="http://schemas.microsoft.com/office/drawing/2014/main" id="{E673D880-131F-45D7-B5EC-C9E0A44CF8EE}"/>
              </a:ext>
            </a:extLst>
          </p:cNvPr>
          <p:cNvSpPr>
            <a:spLocks noGrp="1"/>
          </p:cNvSpPr>
          <p:nvPr/>
        </p:nvSpPr>
        <p:spPr>
          <a:xfrm>
            <a:off x="1447800" y="3495675"/>
            <a:ext cx="4333875" cy="457200"/>
          </a:xfrm>
          <a:prstGeom prst="rect">
            <a:avLst/>
          </a:prstGeom>
          <a:noFill/>
          <a:ln w="0">
            <a:noFill/>
          </a:ln>
        </p:spPr>
        <p:txBody>
          <a:bodyPr wrap="square" lIns="0" tIns="0" rIns="0" bIns="0" anchor="t">
            <a:normAutofit/>
          </a:bodyPr>
          <a:lstStyle/>
          <a:p>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a:ext uri="{FF2B5EF4-FFF2-40B4-BE49-F238E27FC236}">
                <a16:creationId xmlns:a16="http://schemas.microsoft.com/office/drawing/2014/main" id="{6C44A08E-F126-44B1-AE1B-2E429D8411D9}"/>
              </a:ext>
            </a:extLst>
          </p:cNvPr>
          <p:cNvSpPr>
            <a:spLocks noGrp="1"/>
          </p:cNvSpPr>
          <p:nvPr/>
        </p:nvSpPr>
        <p:spPr>
          <a:xfrm>
            <a:off x="1447800" y="3990975"/>
            <a:ext cx="4333875" cy="38100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a:ext uri="{FF2B5EF4-FFF2-40B4-BE49-F238E27FC236}">
                <a16:creationId xmlns:a16="http://schemas.microsoft.com/office/drawing/2014/main" id="{2BB4F16B-FAB5-41F9-8C2D-209BE3C5BE99}"/>
              </a:ext>
            </a:extLst>
          </p:cNvPr>
          <p:cNvSpPr>
            <a:spLocks noGrp="1"/>
          </p:cNvSpPr>
          <p:nvPr/>
        </p:nvSpPr>
        <p:spPr>
          <a:xfrm>
            <a:off x="647700" y="4514850"/>
            <a:ext cx="571500" cy="571500"/>
          </a:xfrm>
          <a:prstGeom prst="ellipse">
            <a:avLst/>
          </a:prstGeom>
          <a:solidFill>
            <a:srgbClr val="E5EBDD"/>
          </a:solidFill>
          <a:ln w="9525">
            <a:solidFill>
              <a:srgbClr val="166447"/>
            </a:solidFill>
          </a:ln>
        </p:spPr>
        <p:txBody>
          <a:bodyPr/>
          <a:lstStyle/>
          <a:p>
            <a:endParaRPr lang="en-US"/>
          </a:p>
        </p:txBody>
      </p:sp>
      <p:sp>
        <p:nvSpPr>
          <p:cNvPr id="15" name="!!fragment-2-icon-0">
            <a:extLst>
              <a:ext uri="{FF2B5EF4-FFF2-40B4-BE49-F238E27FC236}">
                <a16:creationId xmlns:a16="http://schemas.microsoft.com/office/drawing/2014/main" id="{927BD5FF-9654-435A-B53F-5C3A8E8A0507}"/>
              </a:ext>
            </a:extLst>
          </p:cNvPr>
          <p:cNvSpPr>
            <a:spLocks noGrp="1"/>
          </p:cNvSpPr>
          <p:nvPr/>
        </p:nvSpPr>
        <p:spPr>
          <a:xfrm>
            <a:off x="882015" y="4672013"/>
            <a:ext cx="102870" cy="102870"/>
          </a:xfrm>
          <a:prstGeom prst="ellipse">
            <a:avLst/>
          </a:prstGeom>
          <a:noFill/>
          <a:ln w="19050">
            <a:solidFill>
              <a:srgbClr val="166447"/>
            </a:solidFill>
            <a:prstDash val="solid"/>
          </a:ln>
        </p:spPr>
        <p:txBody>
          <a:bodyPr/>
          <a:lstStyle/>
          <a:p>
            <a:endParaRPr lang="en-US"/>
          </a:p>
        </p:txBody>
      </p:sp>
      <p:sp>
        <p:nvSpPr>
          <p:cNvPr id="16" name="!!fragment-2-icon-1">
            <a:extLst>
              <a:ext uri="{FF2B5EF4-FFF2-40B4-BE49-F238E27FC236}">
                <a16:creationId xmlns:a16="http://schemas.microsoft.com/office/drawing/2014/main" id="{C6363D71-5A7C-43F1-A30E-5FD5A90CC305}"/>
              </a:ext>
            </a:extLst>
          </p:cNvPr>
          <p:cNvSpPr>
            <a:spLocks noGrp="1"/>
          </p:cNvSpPr>
          <p:nvPr/>
        </p:nvSpPr>
        <p:spPr>
          <a:xfrm>
            <a:off x="830580" y="4813459"/>
            <a:ext cx="205740" cy="115729"/>
          </a:xfrm>
          <a:prstGeom prst="roundRect">
            <a:avLst>
              <a:gd name="adj" fmla="val 50000"/>
            </a:avLst>
          </a:prstGeom>
          <a:noFill/>
          <a:ln w="19050">
            <a:solidFill>
              <a:srgbClr val="166447"/>
            </a:solidFill>
            <a:prstDash val="solid"/>
          </a:ln>
        </p:spPr>
        <p:txBody>
          <a:bodyPr/>
          <a:lstStyle/>
          <a:p>
            <a:endParaRPr lang="en-US"/>
          </a:p>
        </p:txBody>
      </p:sp>
      <p:sp>
        <p:nvSpPr>
          <p:cNvPr id="17" name="!!fragment-2">
            <a:extLst>
              <a:ext uri="{FF2B5EF4-FFF2-40B4-BE49-F238E27FC236}">
                <a16:creationId xmlns:a16="http://schemas.microsoft.com/office/drawing/2014/main" id="{1F9CA28A-6829-4853-B295-3A5302701854}"/>
              </a:ext>
            </a:extLst>
          </p:cNvPr>
          <p:cNvSpPr>
            <a:spLocks noGrp="1"/>
          </p:cNvSpPr>
          <p:nvPr/>
        </p:nvSpPr>
        <p:spPr>
          <a:xfrm>
            <a:off x="1447800" y="4581525"/>
            <a:ext cx="4333875" cy="457200"/>
          </a:xfrm>
          <a:prstGeom prst="rect">
            <a:avLst/>
          </a:prstGeom>
          <a:noFill/>
          <a:ln w="0">
            <a:noFill/>
          </a:ln>
        </p:spPr>
        <p:txBody>
          <a:bodyPr wrap="square" lIns="0" tIns="0" rIns="0" bIns="0" anchor="t">
            <a:normAutofit/>
          </a:bodyPr>
          <a:lstStyle/>
          <a:p>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a:ext uri="{FF2B5EF4-FFF2-40B4-BE49-F238E27FC236}">
                <a16:creationId xmlns:a16="http://schemas.microsoft.com/office/drawing/2014/main" id="{5377DA09-5827-4D76-BFE0-BB8A33EAE4FB}"/>
              </a:ext>
            </a:extLst>
          </p:cNvPr>
          <p:cNvSpPr>
            <a:spLocks noGrp="1"/>
          </p:cNvSpPr>
          <p:nvPr/>
        </p:nvSpPr>
        <p:spPr>
          <a:xfrm>
            <a:off x="1447800" y="5076825"/>
            <a:ext cx="4333875" cy="38100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a:ext uri="{FF2B5EF4-FFF2-40B4-BE49-F238E27FC236}">
                <a16:creationId xmlns:a16="http://schemas.microsoft.com/office/drawing/2014/main" id="{F76272F1-F6E8-4C2D-805A-5EF0AB53E775}"/>
              </a:ext>
            </a:extLst>
          </p:cNvPr>
          <p:cNvSpPr>
            <a:spLocks noGrp="1"/>
          </p:cNvSpPr>
          <p:nvPr/>
        </p:nvSpPr>
        <p:spPr>
          <a:xfrm>
            <a:off x="609600" y="5600700"/>
            <a:ext cx="5143500" cy="19050"/>
          </a:xfrm>
          <a:prstGeom prst="rect">
            <a:avLst/>
          </a:prstGeom>
          <a:solidFill>
            <a:srgbClr val="166447"/>
          </a:solidFill>
          <a:ln w="0">
            <a:noFill/>
          </a:ln>
        </p:spPr>
        <p:txBody>
          <a:bodyPr/>
          <a:lstStyle/>
          <a:p>
            <a:endParaRPr lang="en-US"/>
          </a:p>
        </p:txBody>
      </p:sp>
      <p:sp>
        <p:nvSpPr>
          <p:cNvPr id="20" name="!!joined-file-selection">
            <a:extLst>
              <a:ext uri="{FF2B5EF4-FFF2-40B4-BE49-F238E27FC236}">
                <a16:creationId xmlns:a16="http://schemas.microsoft.com/office/drawing/2014/main" id="{2D22C641-26E2-4246-8F07-EFFAD378A55D}"/>
              </a:ext>
            </a:extLst>
          </p:cNvPr>
          <p:cNvSpPr>
            <a:spLocks noGrp="1"/>
          </p:cNvSpPr>
          <p:nvPr/>
        </p:nvSpPr>
        <p:spPr>
          <a:xfrm>
            <a:off x="647700" y="5657850"/>
            <a:ext cx="590550" cy="590550"/>
          </a:xfrm>
          <a:prstGeom prst="ellipse">
            <a:avLst/>
          </a:prstGeom>
          <a:solidFill>
            <a:srgbClr val="166447"/>
          </a:solidFill>
          <a:ln w="28575">
            <a:solidFill>
              <a:srgbClr val="C8A45B"/>
            </a:solidFill>
          </a:ln>
        </p:spPr>
        <p:txBody>
          <a:bodyPr/>
          <a:lstStyle/>
          <a:p>
            <a:endParaRPr lang="en-US"/>
          </a:p>
        </p:txBody>
      </p:sp>
      <p:sp>
        <p:nvSpPr>
          <p:cNvPr id="21" name="!!joined-file-icon-0">
            <a:extLst>
              <a:ext uri="{FF2B5EF4-FFF2-40B4-BE49-F238E27FC236}">
                <a16:creationId xmlns:a16="http://schemas.microsoft.com/office/drawing/2014/main" id="{61CCBEA7-CB47-479E-93E6-1DCB45A58066}"/>
              </a:ext>
            </a:extLst>
          </p:cNvPr>
          <p:cNvSpPr>
            <a:spLocks noGrp="1"/>
          </p:cNvSpPr>
          <p:nvPr/>
        </p:nvSpPr>
        <p:spPr>
          <a:xfrm>
            <a:off x="783526" y="5793677"/>
            <a:ext cx="318897" cy="318897"/>
          </a:xfrm>
          <a:custGeom>
            <a:avLst/>
            <a:gdLst/>
            <a:ahLst/>
            <a:cxnLst/>
            <a:rect l="0" t="0" r="0" b="0"/>
            <a:pathLst>
              <a:path w="228600" h="228600">
                <a:moveTo>
                  <a:pt x="19050" y="57150"/>
                </a:moveTo>
                <a:lnTo>
                  <a:pt x="85725" y="57150"/>
                </a:lnTo>
                <a:lnTo>
                  <a:pt x="114300" y="85725"/>
                </a:lnTo>
                <a:lnTo>
                  <a:pt x="209550" y="85725"/>
                </a:lnTo>
                <a:lnTo>
                  <a:pt x="209550" y="200025"/>
                </a:lnTo>
                <a:lnTo>
                  <a:pt x="19050" y="200025"/>
                </a:lnTo>
                <a:close/>
              </a:path>
            </a:pathLst>
          </a:custGeom>
          <a:noFill/>
          <a:ln w="19050">
            <a:solidFill>
              <a:srgbClr val="FFFFFF"/>
            </a:solidFill>
            <a:prstDash val="solid"/>
          </a:ln>
        </p:spPr>
        <p:txBody>
          <a:bodyPr/>
          <a:lstStyle/>
          <a:p>
            <a:endParaRPr lang="en-US"/>
          </a:p>
        </p:txBody>
      </p:sp>
      <p:sp>
        <p:nvSpPr>
          <p:cNvPr id="22" name="!!join">
            <a:extLst>
              <a:ext uri="{FF2B5EF4-FFF2-40B4-BE49-F238E27FC236}">
                <a16:creationId xmlns:a16="http://schemas.microsoft.com/office/drawing/2014/main" id="{3DF30464-C758-4134-8135-B7FAF7D60943}"/>
              </a:ext>
            </a:extLst>
          </p:cNvPr>
          <p:cNvSpPr>
            <a:spLocks noGrp="1"/>
          </p:cNvSpPr>
          <p:nvPr/>
        </p:nvSpPr>
        <p:spPr>
          <a:xfrm>
            <a:off x="1447800" y="5819775"/>
            <a:ext cx="4333875" cy="438150"/>
          </a:xfrm>
          <a:prstGeom prst="rect">
            <a:avLst/>
          </a:prstGeom>
          <a:noFill/>
          <a:ln w="0">
            <a:noFill/>
          </a:ln>
        </p:spPr>
        <p:txBody>
          <a:bodyPr wrap="square" lIns="0" tIns="0" rIns="0" bIns="0" anchor="t">
            <a:normAutofit/>
          </a:bodyPr>
          <a:lstStyle/>
          <a:p>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a:ext uri="{FF2B5EF4-FFF2-40B4-BE49-F238E27FC236}">
                <a16:creationId xmlns:a16="http://schemas.microsoft.com/office/drawing/2014/main" id="{DADD512B-EE87-40CF-92E7-9EA688F2A10C}"/>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10</a:t>
            </a:r>
          </a:p>
        </p:txBody>
      </p:sp>
      <p:sp>
        <p:nvSpPr>
          <p:cNvPr id="24" name="!!caption">
            <a:extLst>
              <a:ext uri="{FF2B5EF4-FFF2-40B4-BE49-F238E27FC236}">
                <a16:creationId xmlns:a16="http://schemas.microsoft.com/office/drawing/2014/main" id="{985451AB-3936-40B0-9CD7-1E0A1C7845A6}"/>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2398238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22"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C9DDB6CC-CD48-4345-A125-8CA2D7133FF4}"/>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2E53A772-59C5-4CED-8D0C-B4E897657F82}"/>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a:ext uri="{FF2B5EF4-FFF2-40B4-BE49-F238E27FC236}">
                <a16:creationId xmlns:a16="http://schemas.microsoft.com/office/drawing/2014/main" id="{419E23E9-E0A2-4737-9057-7F0707E583AB}"/>
              </a:ext>
            </a:extLst>
          </p:cNvPr>
          <p:cNvSpPr>
            <a:spLocks noGrp="1"/>
          </p:cNvSpPr>
          <p:nvPr/>
        </p:nvSpPr>
        <p:spPr>
          <a:xfrm>
            <a:off x="666750" y="2190750"/>
            <a:ext cx="571500" cy="571500"/>
          </a:xfrm>
          <a:prstGeom prst="ellipse">
            <a:avLst/>
          </a:prstGeom>
          <a:solidFill>
            <a:srgbClr val="183A2C"/>
          </a:solidFill>
          <a:ln w="9525">
            <a:solidFill>
              <a:srgbClr val="A3BCAB"/>
            </a:solidFill>
          </a:ln>
        </p:spPr>
        <p:txBody>
          <a:bodyPr/>
          <a:lstStyle/>
          <a:p>
            <a:endParaRPr lang="en-US"/>
          </a:p>
        </p:txBody>
      </p:sp>
      <p:sp>
        <p:nvSpPr>
          <p:cNvPr id="5" name="!!grower-icon-0">
            <a:extLst>
              <a:ext uri="{FF2B5EF4-FFF2-40B4-BE49-F238E27FC236}">
                <a16:creationId xmlns:a16="http://schemas.microsoft.com/office/drawing/2014/main" id="{B556E0F7-A108-466A-BC59-BC29AB99BA01}"/>
              </a:ext>
            </a:extLst>
          </p:cNvPr>
          <p:cNvSpPr>
            <a:spLocks noGrp="1"/>
          </p:cNvSpPr>
          <p:nvPr/>
        </p:nvSpPr>
        <p:spPr>
          <a:xfrm>
            <a:off x="798195" y="2322195"/>
            <a:ext cx="308610" cy="308610"/>
          </a:xfrm>
          <a:custGeom>
            <a:avLst/>
            <a:gdLst/>
            <a:ahLst/>
            <a:cxnLst/>
            <a:rect l="0" t="0" r="0" b="0"/>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a:ln w="19050">
            <a:solidFill>
              <a:srgbClr val="A3BCAB"/>
            </a:solidFill>
            <a:prstDash val="solid"/>
          </a:ln>
        </p:spPr>
        <p:txBody>
          <a:bodyPr/>
          <a:lstStyle/>
          <a:p>
            <a:endParaRPr lang="en-US"/>
          </a:p>
        </p:txBody>
      </p:sp>
      <p:sp>
        <p:nvSpPr>
          <p:cNvPr id="6" name="!!grower-icon-1">
            <a:extLst>
              <a:ext uri="{FF2B5EF4-FFF2-40B4-BE49-F238E27FC236}">
                <a16:creationId xmlns:a16="http://schemas.microsoft.com/office/drawing/2014/main" id="{907B697E-3939-4D68-A2C7-4CD58D880A0B}"/>
              </a:ext>
            </a:extLst>
          </p:cNvPr>
          <p:cNvSpPr>
            <a:spLocks noGrp="1"/>
          </p:cNvSpPr>
          <p:nvPr/>
        </p:nvSpPr>
        <p:spPr>
          <a:xfrm>
            <a:off x="798195" y="2322195"/>
            <a:ext cx="308610" cy="308610"/>
          </a:xfrm>
          <a:custGeom>
            <a:avLst/>
            <a:gdLst/>
            <a:ahLst/>
            <a:cxnLst/>
            <a:rect l="0" t="0" r="0" b="0"/>
            <a:pathLst>
              <a:path w="228600" h="228600">
                <a:moveTo>
                  <a:pt x="19050" y="209550"/>
                </a:moveTo>
                <a:lnTo>
                  <a:pt x="95250" y="133350"/>
                </a:lnTo>
                <a:lnTo>
                  <a:pt x="142875" y="95250"/>
                </a:lnTo>
              </a:path>
            </a:pathLst>
          </a:custGeom>
          <a:noFill/>
          <a:ln w="19050">
            <a:solidFill>
              <a:srgbClr val="A3BCAB"/>
            </a:solidFill>
            <a:prstDash val="solid"/>
          </a:ln>
        </p:spPr>
        <p:txBody>
          <a:bodyPr/>
          <a:lstStyle/>
          <a:p>
            <a:endParaRPr lang="en-US"/>
          </a:p>
        </p:txBody>
      </p:sp>
      <p:sp>
        <p:nvSpPr>
          <p:cNvPr id="7" name="!!grower-label">
            <a:extLst>
              <a:ext uri="{FF2B5EF4-FFF2-40B4-BE49-F238E27FC236}">
                <a16:creationId xmlns:a16="http://schemas.microsoft.com/office/drawing/2014/main" id="{EE1871FE-9945-49D3-8996-741B985BD865}"/>
              </a:ext>
            </a:extLst>
          </p:cNvPr>
          <p:cNvSpPr>
            <a:spLocks noGrp="1"/>
          </p:cNvSpPr>
          <p:nvPr/>
        </p:nvSpPr>
        <p:spPr>
          <a:xfrm>
            <a:off x="1524000" y="2133600"/>
            <a:ext cx="4324350"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a:ext uri="{FF2B5EF4-FFF2-40B4-BE49-F238E27FC236}">
                <a16:creationId xmlns:a16="http://schemas.microsoft.com/office/drawing/2014/main" id="{12B4B475-FF98-43BF-B4C7-85CCDAA3C121}"/>
              </a:ext>
            </a:extLst>
          </p:cNvPr>
          <p:cNvSpPr>
            <a:spLocks noGrp="1"/>
          </p:cNvSpPr>
          <p:nvPr/>
        </p:nvSpPr>
        <p:spPr>
          <a:xfrm>
            <a:off x="1524000" y="2705100"/>
            <a:ext cx="4324350"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a:ext uri="{FF2B5EF4-FFF2-40B4-BE49-F238E27FC236}">
                <a16:creationId xmlns:a16="http://schemas.microsoft.com/office/drawing/2014/main" id="{D196CC18-9D41-4FAF-ACAA-7CC035393B42}"/>
              </a:ext>
            </a:extLst>
          </p:cNvPr>
          <p:cNvSpPr>
            <a:spLocks noGrp="1"/>
          </p:cNvSpPr>
          <p:nvPr/>
        </p:nvSpPr>
        <p:spPr>
          <a:xfrm>
            <a:off x="666750" y="3429000"/>
            <a:ext cx="571500" cy="571500"/>
          </a:xfrm>
          <a:prstGeom prst="ellipse">
            <a:avLst/>
          </a:prstGeom>
          <a:solidFill>
            <a:srgbClr val="183A2C"/>
          </a:solidFill>
          <a:ln w="9525">
            <a:solidFill>
              <a:srgbClr val="A3BCAB"/>
            </a:solidFill>
          </a:ln>
        </p:spPr>
        <p:txBody>
          <a:bodyPr/>
          <a:lstStyle/>
          <a:p>
            <a:endParaRPr lang="en-US"/>
          </a:p>
        </p:txBody>
      </p:sp>
      <p:sp>
        <p:nvSpPr>
          <p:cNvPr id="10" name="!!buyer-icon-0">
            <a:extLst>
              <a:ext uri="{FF2B5EF4-FFF2-40B4-BE49-F238E27FC236}">
                <a16:creationId xmlns:a16="http://schemas.microsoft.com/office/drawing/2014/main" id="{DD1E6927-3B71-4260-B2C4-8EB1F3F3A88B}"/>
              </a:ext>
            </a:extLst>
          </p:cNvPr>
          <p:cNvSpPr>
            <a:spLocks noGrp="1"/>
          </p:cNvSpPr>
          <p:nvPr/>
        </p:nvSpPr>
        <p:spPr>
          <a:xfrm>
            <a:off x="901065" y="3586163"/>
            <a:ext cx="102870" cy="102870"/>
          </a:xfrm>
          <a:prstGeom prst="ellipse">
            <a:avLst/>
          </a:prstGeom>
          <a:noFill/>
          <a:ln w="19050">
            <a:solidFill>
              <a:srgbClr val="A3BCAB"/>
            </a:solidFill>
            <a:prstDash val="solid"/>
          </a:ln>
        </p:spPr>
        <p:txBody>
          <a:bodyPr/>
          <a:lstStyle/>
          <a:p>
            <a:endParaRPr lang="en-US"/>
          </a:p>
        </p:txBody>
      </p:sp>
      <p:sp>
        <p:nvSpPr>
          <p:cNvPr id="11" name="!!buyer-icon-1">
            <a:extLst>
              <a:ext uri="{FF2B5EF4-FFF2-40B4-BE49-F238E27FC236}">
                <a16:creationId xmlns:a16="http://schemas.microsoft.com/office/drawing/2014/main" id="{37BD1316-D853-43B1-B08C-4E7056BE4874}"/>
              </a:ext>
            </a:extLst>
          </p:cNvPr>
          <p:cNvSpPr>
            <a:spLocks noGrp="1"/>
          </p:cNvSpPr>
          <p:nvPr/>
        </p:nvSpPr>
        <p:spPr>
          <a:xfrm>
            <a:off x="849630" y="3727609"/>
            <a:ext cx="205740" cy="115729"/>
          </a:xfrm>
          <a:prstGeom prst="roundRect">
            <a:avLst>
              <a:gd name="adj" fmla="val 50000"/>
            </a:avLst>
          </a:prstGeom>
          <a:noFill/>
          <a:ln w="19050">
            <a:solidFill>
              <a:srgbClr val="A3BCAB"/>
            </a:solidFill>
            <a:prstDash val="solid"/>
          </a:ln>
        </p:spPr>
        <p:txBody>
          <a:bodyPr/>
          <a:lstStyle/>
          <a:p>
            <a:endParaRPr lang="en-US"/>
          </a:p>
        </p:txBody>
      </p:sp>
      <p:sp>
        <p:nvSpPr>
          <p:cNvPr id="12" name="!!buyer-label">
            <a:extLst>
              <a:ext uri="{FF2B5EF4-FFF2-40B4-BE49-F238E27FC236}">
                <a16:creationId xmlns:a16="http://schemas.microsoft.com/office/drawing/2014/main" id="{94884D32-6A00-4CD8-8C77-E04CEE850A74}"/>
              </a:ext>
            </a:extLst>
          </p:cNvPr>
          <p:cNvSpPr>
            <a:spLocks noGrp="1"/>
          </p:cNvSpPr>
          <p:nvPr/>
        </p:nvSpPr>
        <p:spPr>
          <a:xfrm>
            <a:off x="1524000" y="3371850"/>
            <a:ext cx="4324350"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a:ext uri="{FF2B5EF4-FFF2-40B4-BE49-F238E27FC236}">
                <a16:creationId xmlns:a16="http://schemas.microsoft.com/office/drawing/2014/main" id="{42C053E5-A612-491B-8389-361D987ABE07}"/>
              </a:ext>
            </a:extLst>
          </p:cNvPr>
          <p:cNvSpPr>
            <a:spLocks noGrp="1"/>
          </p:cNvSpPr>
          <p:nvPr/>
        </p:nvSpPr>
        <p:spPr>
          <a:xfrm>
            <a:off x="1524000" y="3943350"/>
            <a:ext cx="4324350"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a:ext uri="{FF2B5EF4-FFF2-40B4-BE49-F238E27FC236}">
                <a16:creationId xmlns:a16="http://schemas.microsoft.com/office/drawing/2014/main" id="{2AAE6CF4-BFF3-42F6-A136-31B5E4043253}"/>
              </a:ext>
            </a:extLst>
          </p:cNvPr>
          <p:cNvSpPr>
            <a:spLocks noGrp="1"/>
          </p:cNvSpPr>
          <p:nvPr/>
        </p:nvSpPr>
        <p:spPr>
          <a:xfrm>
            <a:off x="600075" y="5095875"/>
            <a:ext cx="723900" cy="723900"/>
          </a:xfrm>
          <a:prstGeom prst="ellipse">
            <a:avLst/>
          </a:prstGeom>
          <a:solidFill>
            <a:srgbClr val="166447"/>
          </a:solidFill>
          <a:ln w="28575">
            <a:solidFill>
              <a:srgbClr val="C8A45B"/>
            </a:solidFill>
          </a:ln>
        </p:spPr>
        <p:txBody>
          <a:bodyPr/>
          <a:lstStyle/>
          <a:p>
            <a:endParaRPr lang="en-US"/>
          </a:p>
        </p:txBody>
      </p:sp>
      <p:sp>
        <p:nvSpPr>
          <p:cNvPr id="15" name="!!shared-record-icon-0">
            <a:extLst>
              <a:ext uri="{FF2B5EF4-FFF2-40B4-BE49-F238E27FC236}">
                <a16:creationId xmlns:a16="http://schemas.microsoft.com/office/drawing/2014/main" id="{09EAE64E-530F-4F62-81C0-E43C39BC44CE}"/>
              </a:ext>
            </a:extLst>
          </p:cNvPr>
          <p:cNvSpPr>
            <a:spLocks noGrp="1"/>
          </p:cNvSpPr>
          <p:nvPr/>
        </p:nvSpPr>
        <p:spPr>
          <a:xfrm>
            <a:off x="766572" y="5262372"/>
            <a:ext cx="390906" cy="390906"/>
          </a:xfrm>
          <a:custGeom>
            <a:avLst/>
            <a:gdLst/>
            <a:ahLst/>
            <a:cxnLst/>
            <a:rect l="0" t="0" r="0" b="0"/>
            <a:pathLst>
              <a:path w="228600" h="228600">
                <a:moveTo>
                  <a:pt x="47625" y="19050"/>
                </a:moveTo>
                <a:lnTo>
                  <a:pt x="133350" y="19050"/>
                </a:lnTo>
                <a:lnTo>
                  <a:pt x="190500" y="76200"/>
                </a:lnTo>
                <a:lnTo>
                  <a:pt x="190500" y="209550"/>
                </a:lnTo>
                <a:lnTo>
                  <a:pt x="47625" y="209550"/>
                </a:lnTo>
                <a:close/>
              </a:path>
            </a:pathLst>
          </a:custGeom>
          <a:noFill/>
          <a:ln w="19050">
            <a:solidFill>
              <a:srgbClr val="FFFFFF"/>
            </a:solidFill>
            <a:prstDash val="solid"/>
          </a:ln>
        </p:spPr>
        <p:txBody>
          <a:bodyPr/>
          <a:lstStyle/>
          <a:p>
            <a:endParaRPr lang="en-US"/>
          </a:p>
        </p:txBody>
      </p:sp>
      <p:sp>
        <p:nvSpPr>
          <p:cNvPr id="16" name="!!shared-record-icon-1">
            <a:extLst>
              <a:ext uri="{FF2B5EF4-FFF2-40B4-BE49-F238E27FC236}">
                <a16:creationId xmlns:a16="http://schemas.microsoft.com/office/drawing/2014/main" id="{434D5CA1-0ECF-4FF7-B456-3C59F5E36FF0}"/>
              </a:ext>
            </a:extLst>
          </p:cNvPr>
          <p:cNvSpPr>
            <a:spLocks noGrp="1"/>
          </p:cNvSpPr>
          <p:nvPr/>
        </p:nvSpPr>
        <p:spPr>
          <a:xfrm>
            <a:off x="766572" y="5262372"/>
            <a:ext cx="390906" cy="390906"/>
          </a:xfrm>
          <a:custGeom>
            <a:avLst/>
            <a:gdLst/>
            <a:ahLst/>
            <a:cxnLst/>
            <a:rect l="0" t="0" r="0" b="0"/>
            <a:pathLst>
              <a:path w="228600" h="228600">
                <a:moveTo>
                  <a:pt x="133350" y="19050"/>
                </a:moveTo>
                <a:lnTo>
                  <a:pt x="133350" y="76200"/>
                </a:lnTo>
                <a:lnTo>
                  <a:pt x="190500" y="76200"/>
                </a:lnTo>
              </a:path>
            </a:pathLst>
          </a:custGeom>
          <a:noFill/>
          <a:ln w="19050">
            <a:solidFill>
              <a:srgbClr val="FFFFFF"/>
            </a:solidFill>
            <a:prstDash val="solid"/>
          </a:ln>
        </p:spPr>
        <p:txBody>
          <a:bodyPr/>
          <a:lstStyle/>
          <a:p>
            <a:endParaRPr lang="en-US"/>
          </a:p>
        </p:txBody>
      </p:sp>
      <p:sp>
        <p:nvSpPr>
          <p:cNvPr id="17" name="!!shared-record-icon-2">
            <a:extLst>
              <a:ext uri="{FF2B5EF4-FFF2-40B4-BE49-F238E27FC236}">
                <a16:creationId xmlns:a16="http://schemas.microsoft.com/office/drawing/2014/main" id="{5801C0FC-0CCE-4241-8A27-1C7BA24F92EF}"/>
              </a:ext>
            </a:extLst>
          </p:cNvPr>
          <p:cNvSpPr>
            <a:spLocks noGrp="1"/>
          </p:cNvSpPr>
          <p:nvPr/>
        </p:nvSpPr>
        <p:spPr>
          <a:xfrm>
            <a:off x="766572" y="5262372"/>
            <a:ext cx="390906" cy="390906"/>
          </a:xfrm>
          <a:custGeom>
            <a:avLst/>
            <a:gdLst/>
            <a:ahLst/>
            <a:cxnLst/>
            <a:rect l="0" t="0" r="0" b="0"/>
            <a:pathLst>
              <a:path w="228600" h="228600">
                <a:moveTo>
                  <a:pt x="76200" y="123825"/>
                </a:moveTo>
                <a:lnTo>
                  <a:pt x="161925" y="123825"/>
                </a:lnTo>
              </a:path>
            </a:pathLst>
          </a:custGeom>
          <a:noFill/>
          <a:ln w="19050">
            <a:solidFill>
              <a:srgbClr val="FFFFFF"/>
            </a:solidFill>
            <a:prstDash val="solid"/>
          </a:ln>
        </p:spPr>
        <p:txBody>
          <a:bodyPr/>
          <a:lstStyle/>
          <a:p>
            <a:endParaRPr lang="en-US"/>
          </a:p>
        </p:txBody>
      </p:sp>
      <p:sp>
        <p:nvSpPr>
          <p:cNvPr id="18" name="!!shared-record-icon-3">
            <a:extLst>
              <a:ext uri="{FF2B5EF4-FFF2-40B4-BE49-F238E27FC236}">
                <a16:creationId xmlns:a16="http://schemas.microsoft.com/office/drawing/2014/main" id="{F0498C18-7B45-42FD-BE04-77FD65DD7634}"/>
              </a:ext>
            </a:extLst>
          </p:cNvPr>
          <p:cNvSpPr>
            <a:spLocks noGrp="1"/>
          </p:cNvSpPr>
          <p:nvPr/>
        </p:nvSpPr>
        <p:spPr>
          <a:xfrm>
            <a:off x="766572" y="5262372"/>
            <a:ext cx="390906" cy="390906"/>
          </a:xfrm>
          <a:custGeom>
            <a:avLst/>
            <a:gdLst/>
            <a:ahLst/>
            <a:cxnLst/>
            <a:rect l="0" t="0" r="0" b="0"/>
            <a:pathLst>
              <a:path w="228600" h="228600">
                <a:moveTo>
                  <a:pt x="76200" y="161925"/>
                </a:moveTo>
                <a:lnTo>
                  <a:pt x="142875" y="161925"/>
                </a:lnTo>
              </a:path>
            </a:pathLst>
          </a:custGeom>
          <a:noFill/>
          <a:ln w="19050">
            <a:solidFill>
              <a:srgbClr val="FFFFFF"/>
            </a:solidFill>
            <a:prstDash val="solid"/>
          </a:ln>
        </p:spPr>
        <p:txBody>
          <a:bodyPr/>
          <a:lstStyle/>
          <a:p>
            <a:endParaRPr lang="en-US"/>
          </a:p>
        </p:txBody>
      </p:sp>
      <p:sp>
        <p:nvSpPr>
          <p:cNvPr id="19" name="!!user-goal">
            <a:extLst>
              <a:ext uri="{FF2B5EF4-FFF2-40B4-BE49-F238E27FC236}">
                <a16:creationId xmlns:a16="http://schemas.microsoft.com/office/drawing/2014/main" id="{2B13C006-F5C3-49CF-A097-0A0D637C8C90}"/>
              </a:ext>
            </a:extLst>
          </p:cNvPr>
          <p:cNvSpPr>
            <a:spLocks noGrp="1"/>
          </p:cNvSpPr>
          <p:nvPr/>
        </p:nvSpPr>
        <p:spPr>
          <a:xfrm>
            <a:off x="1524000" y="5086350"/>
            <a:ext cx="4381500" cy="1000125"/>
          </a:xfrm>
          <a:prstGeom prst="rect">
            <a:avLst/>
          </a:prstGeom>
          <a:noFill/>
          <a:ln w="0">
            <a:noFill/>
          </a:ln>
        </p:spPr>
        <p:txBody>
          <a:bodyPr wrap="square" lIns="0" tIns="0" rIns="0" bIns="0" anchor="t">
            <a:normAutofit/>
          </a:bodyPr>
          <a:lstStyle/>
          <a:p>
            <a:pPr>
              <a:defRPr sz="2325" b="1">
                <a:solidFill>
                  <a:srgbClr val="C8A45B"/>
                </a:solidFill>
                <a:latin typeface="Segoe UI"/>
                <a:ea typeface="Segoe UI"/>
                <a:cs typeface="Segoe UI"/>
              </a:defRPr>
            </a:pPr>
            <a:r>
              <a:rPr sz="2325" b="1">
                <a:solidFill>
                  <a:srgbClr val="C8A45B"/>
                </a:solidFill>
                <a:latin typeface="Segoe UI"/>
                <a:ea typeface="Segoe UI"/>
                <a:cs typeface="Segoe UI"/>
              </a:rPr>
              <a:t>Zalo/Drive lưu tệp</a:t>
            </a:r>
          </a:p>
          <a:p>
            <a:pPr>
              <a:defRPr sz="2325" b="1">
                <a:solidFill>
                  <a:srgbClr val="C8A45B"/>
                </a:solidFill>
                <a:latin typeface="Segoe UI"/>
                <a:ea typeface="Segoe UI"/>
                <a:cs typeface="Segoe UI"/>
              </a:defRPr>
            </a:pPr>
            <a:r>
              <a:rPr sz="2325" b="1">
                <a:solidFill>
                  <a:srgbClr val="C8A45B"/>
                </a:solidFill>
                <a:latin typeface="Segoe UI"/>
                <a:ea typeface="Segoe UI"/>
                <a:cs typeface="Segoe UI"/>
              </a:rPr>
              <a:t>DurianTrust gắn hồ sơ theo lô</a:t>
            </a:r>
          </a:p>
        </p:txBody>
      </p:sp>
      <p:sp>
        <p:nvSpPr>
          <p:cNvPr id="20" name="!!page">
            <a:extLst>
              <a:ext uri="{FF2B5EF4-FFF2-40B4-BE49-F238E27FC236}">
                <a16:creationId xmlns:a16="http://schemas.microsoft.com/office/drawing/2014/main" id="{8011ABCF-553B-44E6-82D5-9137A6A505CF}"/>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10</a:t>
            </a:r>
          </a:p>
        </p:txBody>
      </p:sp>
      <p:sp>
        <p:nvSpPr>
          <p:cNvPr id="21" name="!!caption">
            <a:extLst>
              <a:ext uri="{FF2B5EF4-FFF2-40B4-BE49-F238E27FC236}">
                <a16:creationId xmlns:a16="http://schemas.microsoft.com/office/drawing/2014/main" id="{7A9EC8C4-E7D2-4119-B6E9-F0017962324E}"/>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2050338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30"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CB7A0E81-7419-4EA3-9D7F-F98766E1D8E3}"/>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E15922F8-1023-48BF-BC0B-E2B08826BF7B}"/>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a:ext uri="{FF2B5EF4-FFF2-40B4-BE49-F238E27FC236}">
                <a16:creationId xmlns:a16="http://schemas.microsoft.com/office/drawing/2014/main" id="{89406869-6855-430B-959C-491D1BD37384}"/>
              </a:ext>
            </a:extLst>
          </p:cNvPr>
          <p:cNvSpPr>
            <a:spLocks noGrp="1"/>
          </p:cNvSpPr>
          <p:nvPr/>
        </p:nvSpPr>
        <p:spPr>
          <a:xfrm>
            <a:off x="1057275" y="2562225"/>
            <a:ext cx="1104900" cy="1104900"/>
          </a:xfrm>
          <a:prstGeom prst="ellipse">
            <a:avLst/>
          </a:prstGeom>
          <a:solidFill>
            <a:srgbClr val="183A2C"/>
          </a:solidFill>
          <a:ln w="9525">
            <a:solidFill>
              <a:srgbClr val="A3BCAB"/>
            </a:solidFill>
          </a:ln>
        </p:spPr>
        <p:txBody>
          <a:bodyPr/>
          <a:lstStyle/>
          <a:p>
            <a:endParaRPr lang="en-US"/>
          </a:p>
        </p:txBody>
      </p:sp>
      <p:sp>
        <p:nvSpPr>
          <p:cNvPr id="5" name="!!flow-0-icon-0">
            <a:extLst>
              <a:ext uri="{FF2B5EF4-FFF2-40B4-BE49-F238E27FC236}">
                <a16:creationId xmlns:a16="http://schemas.microsoft.com/office/drawing/2014/main" id="{5B00ED3F-DB0D-44E7-A049-13D7D55F73F0}"/>
              </a:ext>
            </a:extLst>
          </p:cNvPr>
          <p:cNvSpPr>
            <a:spLocks noGrp="1"/>
          </p:cNvSpPr>
          <p:nvPr/>
        </p:nvSpPr>
        <p:spPr>
          <a:xfrm>
            <a:off x="1311402" y="2816352"/>
            <a:ext cx="596646" cy="596646"/>
          </a:xfrm>
          <a:custGeom>
            <a:avLst/>
            <a:gdLst/>
            <a:ahLst/>
            <a:cxnLst/>
            <a:rect l="0" t="0" r="0" b="0"/>
            <a:pathLst>
              <a:path w="228600" h="228600">
                <a:moveTo>
                  <a:pt x="19050" y="57150"/>
                </a:moveTo>
                <a:lnTo>
                  <a:pt x="85725" y="57150"/>
                </a:lnTo>
                <a:lnTo>
                  <a:pt x="114300" y="85725"/>
                </a:lnTo>
                <a:lnTo>
                  <a:pt x="209550" y="85725"/>
                </a:lnTo>
                <a:lnTo>
                  <a:pt x="209550" y="200025"/>
                </a:lnTo>
                <a:lnTo>
                  <a:pt x="19050" y="200025"/>
                </a:lnTo>
                <a:close/>
              </a:path>
            </a:pathLst>
          </a:custGeom>
          <a:noFill/>
          <a:ln w="21309">
            <a:solidFill>
              <a:srgbClr val="A3BCAB"/>
            </a:solidFill>
            <a:prstDash val="solid"/>
          </a:ln>
        </p:spPr>
        <p:txBody>
          <a:bodyPr/>
          <a:lstStyle/>
          <a:p>
            <a:endParaRPr lang="en-US"/>
          </a:p>
        </p:txBody>
      </p:sp>
      <p:sp>
        <p:nvSpPr>
          <p:cNvPr id="6" name="!!flow-label-0">
            <a:extLst>
              <a:ext uri="{FF2B5EF4-FFF2-40B4-BE49-F238E27FC236}">
                <a16:creationId xmlns:a16="http://schemas.microsoft.com/office/drawing/2014/main" id="{190C63F6-532C-4C6F-A0BE-48ABF412177E}"/>
              </a:ext>
            </a:extLst>
          </p:cNvPr>
          <p:cNvSpPr>
            <a:spLocks noGrp="1"/>
          </p:cNvSpPr>
          <p:nvPr/>
        </p:nvSpPr>
        <p:spPr>
          <a:xfrm>
            <a:off x="485775" y="4057650"/>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a:ext uri="{FF2B5EF4-FFF2-40B4-BE49-F238E27FC236}">
                <a16:creationId xmlns:a16="http://schemas.microsoft.com/office/drawing/2014/main" id="{3D562147-1EA3-425C-8329-9160DDC22858}"/>
              </a:ext>
            </a:extLst>
          </p:cNvPr>
          <p:cNvSpPr>
            <a:spLocks noGrp="1"/>
          </p:cNvSpPr>
          <p:nvPr/>
        </p:nvSpPr>
        <p:spPr>
          <a:xfrm>
            <a:off x="3848100" y="2562225"/>
            <a:ext cx="1104900" cy="1104900"/>
          </a:xfrm>
          <a:prstGeom prst="ellipse">
            <a:avLst/>
          </a:prstGeom>
          <a:solidFill>
            <a:srgbClr val="183A2C"/>
          </a:solidFill>
          <a:ln w="9525">
            <a:solidFill>
              <a:srgbClr val="A3BCAB"/>
            </a:solidFill>
          </a:ln>
        </p:spPr>
        <p:txBody>
          <a:bodyPr/>
          <a:lstStyle/>
          <a:p>
            <a:endParaRPr lang="en-US"/>
          </a:p>
        </p:txBody>
      </p:sp>
      <p:sp>
        <p:nvSpPr>
          <p:cNvPr id="8" name="!!flow-1-icon-0">
            <a:extLst>
              <a:ext uri="{FF2B5EF4-FFF2-40B4-BE49-F238E27FC236}">
                <a16:creationId xmlns:a16="http://schemas.microsoft.com/office/drawing/2014/main" id="{10B0AEB9-9162-4873-8A2F-9B5F12E6574B}"/>
              </a:ext>
            </a:extLst>
          </p:cNvPr>
          <p:cNvSpPr>
            <a:spLocks noGrp="1"/>
          </p:cNvSpPr>
          <p:nvPr/>
        </p:nvSpPr>
        <p:spPr>
          <a:xfrm>
            <a:off x="4102227" y="2816352"/>
            <a:ext cx="596646" cy="596646"/>
          </a:xfrm>
          <a:custGeom>
            <a:avLst/>
            <a:gdLst/>
            <a:ahLst/>
            <a:cxnLst/>
            <a:rect l="0" t="0" r="0" b="0"/>
            <a:pathLst>
              <a:path w="228600" h="228600">
                <a:moveTo>
                  <a:pt x="47625" y="19050"/>
                </a:moveTo>
                <a:lnTo>
                  <a:pt x="133350" y="19050"/>
                </a:lnTo>
                <a:lnTo>
                  <a:pt x="190500" y="76200"/>
                </a:lnTo>
                <a:lnTo>
                  <a:pt x="190500" y="209550"/>
                </a:lnTo>
                <a:lnTo>
                  <a:pt x="47625" y="209550"/>
                </a:lnTo>
                <a:close/>
              </a:path>
            </a:pathLst>
          </a:custGeom>
          <a:noFill/>
          <a:ln w="21309">
            <a:solidFill>
              <a:srgbClr val="A3BCAB"/>
            </a:solidFill>
            <a:prstDash val="solid"/>
          </a:ln>
        </p:spPr>
        <p:txBody>
          <a:bodyPr/>
          <a:lstStyle/>
          <a:p>
            <a:endParaRPr lang="en-US"/>
          </a:p>
        </p:txBody>
      </p:sp>
      <p:sp>
        <p:nvSpPr>
          <p:cNvPr id="9" name="!!flow-1-icon-1">
            <a:extLst>
              <a:ext uri="{FF2B5EF4-FFF2-40B4-BE49-F238E27FC236}">
                <a16:creationId xmlns:a16="http://schemas.microsoft.com/office/drawing/2014/main" id="{54254E10-F2C4-4BE3-A2B0-2954C6D2FBC2}"/>
              </a:ext>
            </a:extLst>
          </p:cNvPr>
          <p:cNvSpPr>
            <a:spLocks noGrp="1"/>
          </p:cNvSpPr>
          <p:nvPr/>
        </p:nvSpPr>
        <p:spPr>
          <a:xfrm>
            <a:off x="4102227" y="2816352"/>
            <a:ext cx="596646" cy="596646"/>
          </a:xfrm>
          <a:custGeom>
            <a:avLst/>
            <a:gdLst/>
            <a:ahLst/>
            <a:cxnLst/>
            <a:rect l="0" t="0" r="0" b="0"/>
            <a:pathLst>
              <a:path w="228600" h="228600">
                <a:moveTo>
                  <a:pt x="133350" y="19050"/>
                </a:moveTo>
                <a:lnTo>
                  <a:pt x="133350" y="76200"/>
                </a:lnTo>
                <a:lnTo>
                  <a:pt x="190500" y="76200"/>
                </a:lnTo>
              </a:path>
            </a:pathLst>
          </a:custGeom>
          <a:noFill/>
          <a:ln w="21309">
            <a:solidFill>
              <a:srgbClr val="A3BCAB"/>
            </a:solidFill>
            <a:prstDash val="solid"/>
          </a:ln>
        </p:spPr>
        <p:txBody>
          <a:bodyPr/>
          <a:lstStyle/>
          <a:p>
            <a:endParaRPr lang="en-US"/>
          </a:p>
        </p:txBody>
      </p:sp>
      <p:sp>
        <p:nvSpPr>
          <p:cNvPr id="10" name="!!flow-1-icon-2">
            <a:extLst>
              <a:ext uri="{FF2B5EF4-FFF2-40B4-BE49-F238E27FC236}">
                <a16:creationId xmlns:a16="http://schemas.microsoft.com/office/drawing/2014/main" id="{4968CC20-FCE8-4F46-8F0C-A4F62D49FFC0}"/>
              </a:ext>
            </a:extLst>
          </p:cNvPr>
          <p:cNvSpPr>
            <a:spLocks noGrp="1"/>
          </p:cNvSpPr>
          <p:nvPr/>
        </p:nvSpPr>
        <p:spPr>
          <a:xfrm>
            <a:off x="4102227" y="2816352"/>
            <a:ext cx="596646" cy="596646"/>
          </a:xfrm>
          <a:custGeom>
            <a:avLst/>
            <a:gdLst/>
            <a:ahLst/>
            <a:cxnLst/>
            <a:rect l="0" t="0" r="0" b="0"/>
            <a:pathLst>
              <a:path w="228600" h="228600">
                <a:moveTo>
                  <a:pt x="76200" y="123825"/>
                </a:moveTo>
                <a:lnTo>
                  <a:pt x="161925" y="123825"/>
                </a:lnTo>
              </a:path>
            </a:pathLst>
          </a:custGeom>
          <a:noFill/>
          <a:ln w="21309">
            <a:solidFill>
              <a:srgbClr val="A3BCAB"/>
            </a:solidFill>
            <a:prstDash val="solid"/>
          </a:ln>
        </p:spPr>
        <p:txBody>
          <a:bodyPr/>
          <a:lstStyle/>
          <a:p>
            <a:endParaRPr lang="en-US"/>
          </a:p>
        </p:txBody>
      </p:sp>
      <p:sp>
        <p:nvSpPr>
          <p:cNvPr id="11" name="!!flow-1-icon-3">
            <a:extLst>
              <a:ext uri="{FF2B5EF4-FFF2-40B4-BE49-F238E27FC236}">
                <a16:creationId xmlns:a16="http://schemas.microsoft.com/office/drawing/2014/main" id="{7CB05A56-F233-49DB-AD3F-29FC114DB9CB}"/>
              </a:ext>
            </a:extLst>
          </p:cNvPr>
          <p:cNvSpPr>
            <a:spLocks noGrp="1"/>
          </p:cNvSpPr>
          <p:nvPr/>
        </p:nvSpPr>
        <p:spPr>
          <a:xfrm>
            <a:off x="4102227" y="2816352"/>
            <a:ext cx="596646" cy="596646"/>
          </a:xfrm>
          <a:custGeom>
            <a:avLst/>
            <a:gdLst/>
            <a:ahLst/>
            <a:cxnLst/>
            <a:rect l="0" t="0" r="0" b="0"/>
            <a:pathLst>
              <a:path w="228600" h="228600">
                <a:moveTo>
                  <a:pt x="76200" y="161925"/>
                </a:moveTo>
                <a:lnTo>
                  <a:pt x="142875" y="161925"/>
                </a:lnTo>
              </a:path>
            </a:pathLst>
          </a:custGeom>
          <a:noFill/>
          <a:ln w="21309">
            <a:solidFill>
              <a:srgbClr val="A3BCAB"/>
            </a:solidFill>
            <a:prstDash val="solid"/>
          </a:ln>
        </p:spPr>
        <p:txBody>
          <a:bodyPr/>
          <a:lstStyle/>
          <a:p>
            <a:endParaRPr lang="en-US"/>
          </a:p>
        </p:txBody>
      </p:sp>
      <p:sp>
        <p:nvSpPr>
          <p:cNvPr id="12" name="!!flow-label-1">
            <a:extLst>
              <a:ext uri="{FF2B5EF4-FFF2-40B4-BE49-F238E27FC236}">
                <a16:creationId xmlns:a16="http://schemas.microsoft.com/office/drawing/2014/main" id="{622BDDA8-9A23-420C-B99C-E8C41E92E4A0}"/>
              </a:ext>
            </a:extLst>
          </p:cNvPr>
          <p:cNvSpPr>
            <a:spLocks noGrp="1"/>
          </p:cNvSpPr>
          <p:nvPr/>
        </p:nvSpPr>
        <p:spPr>
          <a:xfrm>
            <a:off x="3276600" y="4057650"/>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id="4" idx="6"/>
            <a:endCxn id="7" idx="2"/>
          </p:cNvCxnSpPr>
          <p:nvPr/>
        </p:nvCxnSpPr>
        <p:spPr>
          <a:xfrm>
            <a:off x="2162175" y="3114675"/>
            <a:ext cx="1685925" cy="0"/>
          </a:xfrm>
          <a:prstGeom prst="straightConnector1">
            <a:avLst/>
          </a:prstGeom>
          <a:ln w="19050">
            <a:solidFill>
              <a:srgbClr val="A3BCAB"/>
            </a:solidFill>
            <a:prstDash val="solid"/>
            <a:tailEnd type="arrow" w="med" len="med"/>
          </a:ln>
        </p:spPr>
      </p:cxnSp>
      <p:sp>
        <p:nvSpPr>
          <p:cNvPr id="14" name="!!flow-2-selection">
            <a:extLst>
              <a:ext uri="{FF2B5EF4-FFF2-40B4-BE49-F238E27FC236}">
                <a16:creationId xmlns:a16="http://schemas.microsoft.com/office/drawing/2014/main" id="{C87CB70C-7573-49C6-92D1-7F65F7DBE93D}"/>
              </a:ext>
            </a:extLst>
          </p:cNvPr>
          <p:cNvSpPr>
            <a:spLocks noGrp="1"/>
          </p:cNvSpPr>
          <p:nvPr/>
        </p:nvSpPr>
        <p:spPr>
          <a:xfrm>
            <a:off x="6638925" y="2562225"/>
            <a:ext cx="1104900" cy="1104900"/>
          </a:xfrm>
          <a:prstGeom prst="ellipse">
            <a:avLst/>
          </a:prstGeom>
          <a:solidFill>
            <a:srgbClr val="183A2C"/>
          </a:solidFill>
          <a:ln w="9525">
            <a:solidFill>
              <a:srgbClr val="A3BCAB"/>
            </a:solidFill>
          </a:ln>
        </p:spPr>
        <p:txBody>
          <a:bodyPr/>
          <a:lstStyle/>
          <a:p>
            <a:endParaRPr lang="en-US"/>
          </a:p>
        </p:txBody>
      </p:sp>
      <p:sp>
        <p:nvSpPr>
          <p:cNvPr id="15" name="!!flow-2-icon-0">
            <a:extLst>
              <a:ext uri="{FF2B5EF4-FFF2-40B4-BE49-F238E27FC236}">
                <a16:creationId xmlns:a16="http://schemas.microsoft.com/office/drawing/2014/main" id="{BCEBC7B9-6419-4DB4-97B8-D2F55B07E6EF}"/>
              </a:ext>
            </a:extLst>
          </p:cNvPr>
          <p:cNvSpPr>
            <a:spLocks noGrp="1"/>
          </p:cNvSpPr>
          <p:nvPr/>
        </p:nvSpPr>
        <p:spPr>
          <a:xfrm>
            <a:off x="6942773" y="2866073"/>
            <a:ext cx="497205" cy="497205"/>
          </a:xfrm>
          <a:prstGeom prst="ellipse">
            <a:avLst/>
          </a:prstGeom>
          <a:noFill/>
          <a:ln w="21309">
            <a:solidFill>
              <a:srgbClr val="A3BCAB"/>
            </a:solidFill>
            <a:prstDash val="solid"/>
          </a:ln>
        </p:spPr>
        <p:txBody>
          <a:bodyPr/>
          <a:lstStyle/>
          <a:p>
            <a:endParaRPr lang="en-US"/>
          </a:p>
        </p:txBody>
      </p:sp>
      <p:sp>
        <p:nvSpPr>
          <p:cNvPr id="16" name="!!flow-2-icon-1">
            <a:extLst>
              <a:ext uri="{FF2B5EF4-FFF2-40B4-BE49-F238E27FC236}">
                <a16:creationId xmlns:a16="http://schemas.microsoft.com/office/drawing/2014/main" id="{4AAFF4DA-D10F-4357-A267-D7591E1E7250}"/>
              </a:ext>
            </a:extLst>
          </p:cNvPr>
          <p:cNvSpPr>
            <a:spLocks noGrp="1"/>
          </p:cNvSpPr>
          <p:nvPr/>
        </p:nvSpPr>
        <p:spPr>
          <a:xfrm>
            <a:off x="6893052" y="2816352"/>
            <a:ext cx="596646" cy="596646"/>
          </a:xfrm>
          <a:custGeom>
            <a:avLst/>
            <a:gdLst/>
            <a:ahLst/>
            <a:cxnLst/>
            <a:rect l="0" t="0" r="0" b="0"/>
            <a:pathLst>
              <a:path w="228600" h="228600">
                <a:moveTo>
                  <a:pt x="114300" y="47625"/>
                </a:moveTo>
                <a:lnTo>
                  <a:pt x="114300" y="114300"/>
                </a:lnTo>
                <a:lnTo>
                  <a:pt x="161925" y="142875"/>
                </a:lnTo>
              </a:path>
            </a:pathLst>
          </a:custGeom>
          <a:noFill/>
          <a:ln w="21309">
            <a:solidFill>
              <a:srgbClr val="A3BCAB"/>
            </a:solidFill>
            <a:prstDash val="solid"/>
          </a:ln>
        </p:spPr>
        <p:txBody>
          <a:bodyPr/>
          <a:lstStyle/>
          <a:p>
            <a:endParaRPr lang="en-US"/>
          </a:p>
        </p:txBody>
      </p:sp>
      <p:sp>
        <p:nvSpPr>
          <p:cNvPr id="17" name="!!flow-label-2">
            <a:extLst>
              <a:ext uri="{FF2B5EF4-FFF2-40B4-BE49-F238E27FC236}">
                <a16:creationId xmlns:a16="http://schemas.microsoft.com/office/drawing/2014/main" id="{80EC7D9C-27AC-4FB7-B5F3-B46903ACD7C8}"/>
              </a:ext>
            </a:extLst>
          </p:cNvPr>
          <p:cNvSpPr>
            <a:spLocks noGrp="1"/>
          </p:cNvSpPr>
          <p:nvPr/>
        </p:nvSpPr>
        <p:spPr>
          <a:xfrm>
            <a:off x="6067425" y="4057650"/>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id="7" idx="6"/>
            <a:endCxn id="14" idx="2"/>
          </p:cNvCxnSpPr>
          <p:nvPr/>
        </p:nvCxnSpPr>
        <p:spPr>
          <a:xfrm>
            <a:off x="4953000" y="3114675"/>
            <a:ext cx="1685925" cy="0"/>
          </a:xfrm>
          <a:prstGeom prst="straightConnector1">
            <a:avLst/>
          </a:prstGeom>
          <a:ln w="19050">
            <a:solidFill>
              <a:srgbClr val="A3BCAB"/>
            </a:solidFill>
            <a:prstDash val="solid"/>
            <a:tailEnd type="arrow" w="med" len="med"/>
          </a:ln>
        </p:spPr>
      </p:cxnSp>
      <p:sp>
        <p:nvSpPr>
          <p:cNvPr id="19" name="!!flow-3-selection">
            <a:extLst>
              <a:ext uri="{FF2B5EF4-FFF2-40B4-BE49-F238E27FC236}">
                <a16:creationId xmlns:a16="http://schemas.microsoft.com/office/drawing/2014/main" id="{C67C84E1-5AF4-4B6C-86F2-F1ACEC3D7A64}"/>
              </a:ext>
            </a:extLst>
          </p:cNvPr>
          <p:cNvSpPr>
            <a:spLocks noGrp="1"/>
          </p:cNvSpPr>
          <p:nvPr/>
        </p:nvSpPr>
        <p:spPr>
          <a:xfrm>
            <a:off x="9286875" y="2419350"/>
            <a:ext cx="1390650" cy="1390650"/>
          </a:xfrm>
          <a:prstGeom prst="ellipse">
            <a:avLst/>
          </a:prstGeom>
          <a:solidFill>
            <a:srgbClr val="166447"/>
          </a:solidFill>
          <a:ln w="28575">
            <a:solidFill>
              <a:srgbClr val="C8A45B"/>
            </a:solidFill>
          </a:ln>
        </p:spPr>
        <p:txBody>
          <a:bodyPr/>
          <a:lstStyle/>
          <a:p>
            <a:endParaRPr lang="en-US"/>
          </a:p>
        </p:txBody>
      </p:sp>
      <p:sp>
        <p:nvSpPr>
          <p:cNvPr id="20" name="!!flow-3-icon-0">
            <a:extLst>
              <a:ext uri="{FF2B5EF4-FFF2-40B4-BE49-F238E27FC236}">
                <a16:creationId xmlns:a16="http://schemas.microsoft.com/office/drawing/2014/main" id="{18A7F6C5-73BA-49BC-AF19-27DDAFFF0FCB}"/>
              </a:ext>
            </a:extLst>
          </p:cNvPr>
          <p:cNvSpPr>
            <a:spLocks noGrp="1"/>
          </p:cNvSpPr>
          <p:nvPr/>
        </p:nvSpPr>
        <p:spPr>
          <a:xfrm>
            <a:off x="9606725" y="2739200"/>
            <a:ext cx="750951" cy="750951"/>
          </a:xfrm>
          <a:custGeom>
            <a:avLst/>
            <a:gdLst/>
            <a:ahLst/>
            <a:cxnLst/>
            <a:rect l="0" t="0" r="0" b="0"/>
            <a:pathLst>
              <a:path w="228600" h="228600">
                <a:moveTo>
                  <a:pt x="19050" y="76200"/>
                </a:moveTo>
                <a:lnTo>
                  <a:pt x="19050" y="19050"/>
                </a:lnTo>
                <a:lnTo>
                  <a:pt x="76200" y="19050"/>
                </a:lnTo>
              </a:path>
            </a:pathLst>
          </a:custGeom>
          <a:noFill/>
          <a:ln w="26820">
            <a:solidFill>
              <a:srgbClr val="FFFFFF"/>
            </a:solidFill>
            <a:prstDash val="solid"/>
          </a:ln>
        </p:spPr>
        <p:txBody>
          <a:bodyPr/>
          <a:lstStyle/>
          <a:p>
            <a:endParaRPr lang="en-US"/>
          </a:p>
        </p:txBody>
      </p:sp>
      <p:sp>
        <p:nvSpPr>
          <p:cNvPr id="21" name="!!flow-3-icon-1">
            <a:extLst>
              <a:ext uri="{FF2B5EF4-FFF2-40B4-BE49-F238E27FC236}">
                <a16:creationId xmlns:a16="http://schemas.microsoft.com/office/drawing/2014/main" id="{6316A285-305B-4352-A481-09E4B560D0E4}"/>
              </a:ext>
            </a:extLst>
          </p:cNvPr>
          <p:cNvSpPr>
            <a:spLocks noGrp="1"/>
          </p:cNvSpPr>
          <p:nvPr/>
        </p:nvSpPr>
        <p:spPr>
          <a:xfrm>
            <a:off x="9606725" y="2739200"/>
            <a:ext cx="750951" cy="750951"/>
          </a:xfrm>
          <a:custGeom>
            <a:avLst/>
            <a:gdLst/>
            <a:ahLst/>
            <a:cxnLst/>
            <a:rect l="0" t="0" r="0" b="0"/>
            <a:pathLst>
              <a:path w="228600" h="228600">
                <a:moveTo>
                  <a:pt x="152400" y="19050"/>
                </a:moveTo>
                <a:lnTo>
                  <a:pt x="209550" y="19050"/>
                </a:lnTo>
                <a:lnTo>
                  <a:pt x="209550" y="76200"/>
                </a:lnTo>
              </a:path>
            </a:pathLst>
          </a:custGeom>
          <a:noFill/>
          <a:ln w="26820">
            <a:solidFill>
              <a:srgbClr val="FFFFFF"/>
            </a:solidFill>
            <a:prstDash val="solid"/>
          </a:ln>
        </p:spPr>
        <p:txBody>
          <a:bodyPr/>
          <a:lstStyle/>
          <a:p>
            <a:endParaRPr lang="en-US"/>
          </a:p>
        </p:txBody>
      </p:sp>
      <p:sp>
        <p:nvSpPr>
          <p:cNvPr id="22" name="!!flow-3-icon-2">
            <a:extLst>
              <a:ext uri="{FF2B5EF4-FFF2-40B4-BE49-F238E27FC236}">
                <a16:creationId xmlns:a16="http://schemas.microsoft.com/office/drawing/2014/main" id="{11E5284B-F0F1-4E97-B17F-7E661C508B63}"/>
              </a:ext>
            </a:extLst>
          </p:cNvPr>
          <p:cNvSpPr>
            <a:spLocks noGrp="1"/>
          </p:cNvSpPr>
          <p:nvPr/>
        </p:nvSpPr>
        <p:spPr>
          <a:xfrm>
            <a:off x="9606725" y="2739200"/>
            <a:ext cx="750951" cy="750951"/>
          </a:xfrm>
          <a:custGeom>
            <a:avLst/>
            <a:gdLst/>
            <a:ahLst/>
            <a:cxnLst/>
            <a:rect l="0" t="0" r="0" b="0"/>
            <a:pathLst>
              <a:path w="228600" h="228600">
                <a:moveTo>
                  <a:pt x="209550" y="152400"/>
                </a:moveTo>
                <a:lnTo>
                  <a:pt x="209550" y="209550"/>
                </a:lnTo>
                <a:lnTo>
                  <a:pt x="152400" y="209550"/>
                </a:lnTo>
              </a:path>
            </a:pathLst>
          </a:custGeom>
          <a:noFill/>
          <a:ln w="26820">
            <a:solidFill>
              <a:srgbClr val="FFFFFF"/>
            </a:solidFill>
            <a:prstDash val="solid"/>
          </a:ln>
        </p:spPr>
        <p:txBody>
          <a:bodyPr/>
          <a:lstStyle/>
          <a:p>
            <a:endParaRPr lang="en-US"/>
          </a:p>
        </p:txBody>
      </p:sp>
      <p:sp>
        <p:nvSpPr>
          <p:cNvPr id="23" name="!!flow-3-icon-3">
            <a:extLst>
              <a:ext uri="{FF2B5EF4-FFF2-40B4-BE49-F238E27FC236}">
                <a16:creationId xmlns:a16="http://schemas.microsoft.com/office/drawing/2014/main" id="{F3291014-4C85-4A34-9A34-0E275B8D9800}"/>
              </a:ext>
            </a:extLst>
          </p:cNvPr>
          <p:cNvSpPr>
            <a:spLocks noGrp="1"/>
          </p:cNvSpPr>
          <p:nvPr/>
        </p:nvSpPr>
        <p:spPr>
          <a:xfrm>
            <a:off x="9606725" y="2739200"/>
            <a:ext cx="750951" cy="750951"/>
          </a:xfrm>
          <a:custGeom>
            <a:avLst/>
            <a:gdLst/>
            <a:ahLst/>
            <a:cxnLst/>
            <a:rect l="0" t="0" r="0" b="0"/>
            <a:pathLst>
              <a:path w="228600" h="228600">
                <a:moveTo>
                  <a:pt x="76200" y="209550"/>
                </a:moveTo>
                <a:lnTo>
                  <a:pt x="19050" y="209550"/>
                </a:lnTo>
                <a:lnTo>
                  <a:pt x="19050" y="152400"/>
                </a:lnTo>
              </a:path>
            </a:pathLst>
          </a:custGeom>
          <a:noFill/>
          <a:ln w="26820">
            <a:solidFill>
              <a:srgbClr val="FFFFFF"/>
            </a:solidFill>
            <a:prstDash val="solid"/>
          </a:ln>
        </p:spPr>
        <p:txBody>
          <a:bodyPr/>
          <a:lstStyle/>
          <a:p>
            <a:endParaRPr lang="en-US"/>
          </a:p>
        </p:txBody>
      </p:sp>
      <p:sp>
        <p:nvSpPr>
          <p:cNvPr id="24" name="!!flow-3-icon-4">
            <a:extLst>
              <a:ext uri="{FF2B5EF4-FFF2-40B4-BE49-F238E27FC236}">
                <a16:creationId xmlns:a16="http://schemas.microsoft.com/office/drawing/2014/main" id="{ABACAEAA-F057-44C2-AE50-26FF165FFD88}"/>
              </a:ext>
            </a:extLst>
          </p:cNvPr>
          <p:cNvSpPr>
            <a:spLocks noGrp="1"/>
          </p:cNvSpPr>
          <p:nvPr/>
        </p:nvSpPr>
        <p:spPr>
          <a:xfrm>
            <a:off x="9606725" y="2739200"/>
            <a:ext cx="750951" cy="750951"/>
          </a:xfrm>
          <a:custGeom>
            <a:avLst/>
            <a:gdLst/>
            <a:ahLst/>
            <a:cxnLst/>
            <a:rect l="0" t="0" r="0" b="0"/>
            <a:pathLst>
              <a:path w="228600" h="228600">
                <a:moveTo>
                  <a:pt x="57150" y="114300"/>
                </a:moveTo>
                <a:lnTo>
                  <a:pt x="171450" y="114300"/>
                </a:lnTo>
              </a:path>
            </a:pathLst>
          </a:custGeom>
          <a:noFill/>
          <a:ln w="26820">
            <a:solidFill>
              <a:srgbClr val="FFFFFF"/>
            </a:solidFill>
            <a:prstDash val="solid"/>
          </a:ln>
        </p:spPr>
        <p:txBody>
          <a:bodyPr/>
          <a:lstStyle/>
          <a:p>
            <a:endParaRPr lang="en-US"/>
          </a:p>
        </p:txBody>
      </p:sp>
      <p:sp>
        <p:nvSpPr>
          <p:cNvPr id="25" name="!!flow-label-3">
            <a:extLst>
              <a:ext uri="{FF2B5EF4-FFF2-40B4-BE49-F238E27FC236}">
                <a16:creationId xmlns:a16="http://schemas.microsoft.com/office/drawing/2014/main" id="{680F69C5-D6DA-4023-BCEE-6181945D1DF7}"/>
              </a:ext>
            </a:extLst>
          </p:cNvPr>
          <p:cNvSpPr>
            <a:spLocks noGrp="1"/>
          </p:cNvSpPr>
          <p:nvPr/>
        </p:nvSpPr>
        <p:spPr>
          <a:xfrm>
            <a:off x="8858250" y="4057650"/>
            <a:ext cx="2343150" cy="857250"/>
          </a:xfrm>
          <a:prstGeom prst="rect">
            <a:avLst/>
          </a:prstGeom>
          <a:noFill/>
          <a:ln w="0">
            <a:noFill/>
          </a:ln>
        </p:spPr>
        <p:txBody>
          <a:bodyPr wrap="square" lIns="0" tIns="0" rIns="0" bIns="0" anchor="t">
            <a:normAutofit/>
          </a:bodyPr>
          <a:lstStyle/>
          <a:p>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id="14" idx="6"/>
            <a:endCxn id="19" idx="2"/>
          </p:cNvCxnSpPr>
          <p:nvPr/>
        </p:nvCxnSpPr>
        <p:spPr>
          <a:xfrm>
            <a:off x="7743825" y="3114675"/>
            <a:ext cx="1543050" cy="0"/>
          </a:xfrm>
          <a:prstGeom prst="straightConnector1">
            <a:avLst/>
          </a:prstGeom>
          <a:ln w="19050">
            <a:solidFill>
              <a:srgbClr val="A3BCAB"/>
            </a:solidFill>
            <a:prstDash val="solid"/>
            <a:tailEnd type="arrow" w="med" len="med"/>
          </a:ln>
        </p:spPr>
      </p:cxnSp>
      <p:sp>
        <p:nvSpPr>
          <p:cNvPr id="27" name="!!flow-note">
            <a:extLst>
              <a:ext uri="{FF2B5EF4-FFF2-40B4-BE49-F238E27FC236}">
                <a16:creationId xmlns:a16="http://schemas.microsoft.com/office/drawing/2014/main" id="{A199C694-67C4-423F-905E-E5402D7CA20E}"/>
              </a:ext>
            </a:extLst>
          </p:cNvPr>
          <p:cNvSpPr>
            <a:spLocks noGrp="1"/>
          </p:cNvSpPr>
          <p:nvPr/>
        </p:nvSpPr>
        <p:spPr>
          <a:xfrm>
            <a:off x="609600" y="5324475"/>
            <a:ext cx="10572750" cy="762000"/>
          </a:xfrm>
          <a:prstGeom prst="rect">
            <a:avLst/>
          </a:prstGeom>
          <a:noFill/>
          <a:ln w="0">
            <a:noFill/>
          </a:ln>
        </p:spPr>
        <p:txBody>
          <a:bodyPr wrap="square" lIns="0" tIns="0" rIns="0" bIns="0" anchor="t">
            <a:normAutofit/>
          </a:bodyPr>
          <a:lstStyle/>
          <a:p>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a:ext uri="{FF2B5EF4-FFF2-40B4-BE49-F238E27FC236}">
                <a16:creationId xmlns:a16="http://schemas.microsoft.com/office/drawing/2014/main" id="{D7C8FC48-D2EA-42FA-BFDA-8696FEB6B3D0}"/>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10</a:t>
            </a:r>
          </a:p>
        </p:txBody>
      </p:sp>
      <p:sp>
        <p:nvSpPr>
          <p:cNvPr id="29" name="!!caption">
            <a:extLst>
              <a:ext uri="{FF2B5EF4-FFF2-40B4-BE49-F238E27FC236}">
                <a16:creationId xmlns:a16="http://schemas.microsoft.com/office/drawing/2014/main" id="{0F38173F-B4CC-4970-918C-91DAB9E92A83}"/>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628075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12" name="!!backdrop"/>
          <p:cNvPicPr>
            <a:picLocks noChangeAspect="1"/>
          </p:cNvPicPr>
          <p:nvPr/>
        </p:nvPicPr>
        <p:blipFill>
          <a:blip r:embed="rId5"/>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D2D1E101-AFCF-4EB8-96B2-D7A009354344}"/>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A7E2F95B-C215-4651-8B8B-F85AF08420A8}"/>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a:ext uri="{FF2B5EF4-FFF2-40B4-BE49-F238E27FC236}">
                <a16:creationId xmlns:a16="http://schemas.microsoft.com/office/drawing/2014/main" id="{DDF43D7A-531E-4EB7-97CD-33768BFE12F9}"/>
              </a:ext>
            </a:extLst>
          </p:cNvPr>
          <p:cNvSpPr>
            <a:spLocks noGrp="1"/>
          </p:cNvSpPr>
          <p:nvPr/>
        </p:nvSpPr>
        <p:spPr>
          <a:xfrm>
            <a:off x="609600" y="1771650"/>
            <a:ext cx="7505700" cy="4219575"/>
          </a:xfrm>
          <a:prstGeom prst="rect">
            <a:avLst/>
          </a:prstGeom>
          <a:solidFill>
            <a:srgbClr val="102C21"/>
          </a:solidFill>
          <a:ln w="0">
            <a:noFill/>
          </a:ln>
        </p:spPr>
        <p:txBody>
          <a:bodyPr/>
          <a:lstStyle/>
          <a:p>
            <a:endParaRPr lang="en-US"/>
          </a:p>
        </p:txBody>
      </p:sp>
      <p:pic>
        <p:nvPicPr>
          <p:cNvPr id="16" name="!!demo-video">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611717" y="1771650"/>
            <a:ext cx="7501467" cy="4219575"/>
          </a:xfrm>
          <a:prstGeom prst="rect">
            <a:avLst/>
          </a:prstGeom>
        </p:spPr>
      </p:pic>
      <p:sp>
        <p:nvSpPr>
          <p:cNvPr id="6" name="!!demo-duration">
            <a:extLst>
              <a:ext uri="{FF2B5EF4-FFF2-40B4-BE49-F238E27FC236}">
                <a16:creationId xmlns:a16="http://schemas.microsoft.com/office/drawing/2014/main" id="{5C7847AB-DCEE-4D3A-984D-72F6DCCD6518}"/>
              </a:ext>
            </a:extLst>
          </p:cNvPr>
          <p:cNvSpPr>
            <a:spLocks noGrp="1"/>
          </p:cNvSpPr>
          <p:nvPr/>
        </p:nvSpPr>
        <p:spPr>
          <a:xfrm>
            <a:off x="8591550" y="1952625"/>
            <a:ext cx="2876550" cy="590550"/>
          </a:xfrm>
          <a:prstGeom prst="rect">
            <a:avLst/>
          </a:prstGeom>
          <a:noFill/>
          <a:ln w="0">
            <a:noFill/>
          </a:ln>
        </p:spPr>
        <p:txBody>
          <a:bodyPr wrap="square" lIns="0" tIns="0" rIns="0" bIns="0" anchor="t">
            <a:normAutofit/>
          </a:bodyPr>
          <a:lstStyle/>
          <a:p>
            <a:pPr>
              <a:defRPr sz="3150" b="1">
                <a:solidFill>
                  <a:srgbClr val="C8A45B"/>
                </a:solidFill>
                <a:latin typeface="Segoe UI"/>
                <a:ea typeface="Segoe UI"/>
                <a:cs typeface="Segoe UI"/>
              </a:defRPr>
            </a:pPr>
            <a:r>
              <a:rPr sz="3150" b="1">
                <a:solidFill>
                  <a:srgbClr val="C8A45B"/>
                </a:solidFill>
                <a:latin typeface="Segoe UI"/>
                <a:ea typeface="Segoe UI"/>
                <a:cs typeface="Segoe UI"/>
              </a:rPr>
              <a:t>40 giây</a:t>
            </a:r>
          </a:p>
        </p:txBody>
      </p:sp>
      <p:sp>
        <p:nvSpPr>
          <p:cNvPr id="7" name="!!demo-start">
            <a:extLst>
              <a:ext uri="{FF2B5EF4-FFF2-40B4-BE49-F238E27FC236}">
                <a16:creationId xmlns:a16="http://schemas.microsoft.com/office/drawing/2014/main" id="{55100075-D17E-4E8D-8E1D-6134E8FED93A}"/>
              </a:ext>
            </a:extLst>
          </p:cNvPr>
          <p:cNvSpPr>
            <a:spLocks noGrp="1"/>
          </p:cNvSpPr>
          <p:nvPr/>
        </p:nvSpPr>
        <p:spPr>
          <a:xfrm>
            <a:off x="8591550" y="2762250"/>
            <a:ext cx="2876550" cy="1000125"/>
          </a:xfrm>
          <a:prstGeom prst="rect">
            <a:avLst/>
          </a:prstGeom>
          <a:noFill/>
          <a:ln w="0">
            <a:noFill/>
          </a:ln>
        </p:spPr>
        <p:txBody>
          <a:bodyPr wrap="square" lIns="0" tIns="0" rIns="0" bIns="0" anchor="t">
            <a:normAutofit/>
          </a:bodyPr>
          <a:lstStyle/>
          <a:p>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a:ext uri="{FF2B5EF4-FFF2-40B4-BE49-F238E27FC236}">
                <a16:creationId xmlns:a16="http://schemas.microsoft.com/office/drawing/2014/main" id="{EF200508-451E-47F8-A00A-5B2189D769B7}"/>
              </a:ext>
            </a:extLst>
          </p:cNvPr>
          <p:cNvSpPr>
            <a:spLocks noGrp="1"/>
          </p:cNvSpPr>
          <p:nvPr/>
        </p:nvSpPr>
        <p:spPr>
          <a:xfrm>
            <a:off x="8591550" y="4000500"/>
            <a:ext cx="2876550" cy="857250"/>
          </a:xfrm>
          <a:prstGeom prst="rect">
            <a:avLst/>
          </a:prstGeom>
          <a:noFill/>
          <a:ln w="0">
            <a:noFill/>
          </a:ln>
        </p:spPr>
        <p:txBody>
          <a:bodyPr wrap="square" lIns="0" tIns="0" rIns="0" bIns="0" anchor="t">
            <a:normAutofit/>
          </a:bodyPr>
          <a:lstStyle/>
          <a:p>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a:ext uri="{FF2B5EF4-FFF2-40B4-BE49-F238E27FC236}">
                <a16:creationId xmlns:a16="http://schemas.microsoft.com/office/drawing/2014/main" id="{6B0F0E1F-0EAE-4771-8B45-C6A6FA264703}"/>
              </a:ext>
            </a:extLst>
          </p:cNvPr>
          <p:cNvSpPr>
            <a:spLocks noGrp="1"/>
          </p:cNvSpPr>
          <p:nvPr/>
        </p:nvSpPr>
        <p:spPr>
          <a:xfrm>
            <a:off x="8591550" y="5400675"/>
            <a:ext cx="2876550" cy="523875"/>
          </a:xfrm>
          <a:prstGeom prst="rect">
            <a:avLst/>
          </a:prstGeom>
          <a:noFill/>
          <a:ln w="0">
            <a:noFill/>
          </a:ln>
        </p:spPr>
        <p:txBody>
          <a:bodyPr wrap="square" lIns="0" tIns="0" rIns="0" bIns="0" anchor="t">
            <a:normAutofit/>
          </a:bodyPr>
          <a:lstStyle/>
          <a:p>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r:id="rId7"/>
              </a:rPr>
              <a:t>Mở video dự phòng</a:t>
            </a:r>
          </a:p>
        </p:txBody>
      </p:sp>
      <p:sp>
        <p:nvSpPr>
          <p:cNvPr id="10" name="!!page">
            <a:extLst>
              <a:ext uri="{FF2B5EF4-FFF2-40B4-BE49-F238E27FC236}">
                <a16:creationId xmlns:a16="http://schemas.microsoft.com/office/drawing/2014/main" id="{21F6ADCD-6199-4EDD-9159-FC4627518BFF}"/>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05 / 10</a:t>
            </a:r>
          </a:p>
        </p:txBody>
      </p:sp>
      <p:sp>
        <p:nvSpPr>
          <p:cNvPr id="11" name="!!caption">
            <a:extLst>
              <a:ext uri="{FF2B5EF4-FFF2-40B4-BE49-F238E27FC236}">
                <a16:creationId xmlns:a16="http://schemas.microsoft.com/office/drawing/2014/main" id="{86B75C7A-2EC9-4620-88D7-8A0483D78DBF}"/>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UI compact local · Auth/API mô phỏng · Dữ liệu TEST · 30/09/2026</a:t>
            </a:r>
          </a:p>
        </p:txBody>
      </p:sp>
    </p:spTree>
    <p:extLst>
      <p:ext uri="{BB962C8B-B14F-4D97-AF65-F5344CB8AC3E}">
        <p14:creationId xmlns:p14="http://schemas.microsoft.com/office/powerpoint/2010/main" val="101099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46"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F3449AB3-3C2D-4149-9398-22ABAEE4B1DD}"/>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AC53C1FA-F76C-4957-973B-316C42C3CFE5}"/>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a:ext uri="{FF2B5EF4-FFF2-40B4-BE49-F238E27FC236}">
                <a16:creationId xmlns:a16="http://schemas.microsoft.com/office/drawing/2014/main" id="{1A37858C-B7D0-4550-ABE7-5F93CF490A10}"/>
              </a:ext>
            </a:extLst>
          </p:cNvPr>
          <p:cNvSpPr>
            <a:spLocks noGrp="1"/>
          </p:cNvSpPr>
          <p:nvPr/>
        </p:nvSpPr>
        <p:spPr>
          <a:xfrm>
            <a:off x="609600" y="2295525"/>
            <a:ext cx="2324100" cy="1143000"/>
          </a:xfrm>
          <a:prstGeom prst="rect">
            <a:avLst/>
          </a:prstGeom>
          <a:solidFill>
            <a:srgbClr val="183A2C"/>
          </a:solidFill>
          <a:ln w="9525">
            <a:solidFill>
              <a:srgbClr val="A3BCAB"/>
            </a:solidFill>
          </a:ln>
        </p:spPr>
        <p:txBody>
          <a:bodyPr/>
          <a:lstStyle/>
          <a:p>
            <a:endParaRPr lang="en-US"/>
          </a:p>
        </p:txBody>
      </p:sp>
      <p:sp>
        <p:nvSpPr>
          <p:cNvPr id="5" name="!!client-text">
            <a:extLst>
              <a:ext uri="{FF2B5EF4-FFF2-40B4-BE49-F238E27FC236}">
                <a16:creationId xmlns:a16="http://schemas.microsoft.com/office/drawing/2014/main" id="{82A67740-A6D6-45EA-9403-3F77B9197B80}"/>
              </a:ext>
            </a:extLst>
          </p:cNvPr>
          <p:cNvSpPr>
            <a:spLocks noGrp="1"/>
          </p:cNvSpPr>
          <p:nvPr/>
        </p:nvSpPr>
        <p:spPr>
          <a:xfrm>
            <a:off x="781050" y="2447925"/>
            <a:ext cx="1981200" cy="838200"/>
          </a:xfrm>
          <a:prstGeom prst="rect">
            <a:avLst/>
          </a:prstGeom>
          <a:noFill/>
          <a:ln w="0">
            <a:noFill/>
          </a:ln>
        </p:spPr>
        <p:txBody>
          <a:bodyPr wrap="square" lIns="0" tIns="0" rIns="0" bIns="0" anchor="ctr">
            <a:normAutofit/>
          </a:bodyPr>
          <a:lstStyle/>
          <a:p>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a:ext uri="{FF2B5EF4-FFF2-40B4-BE49-F238E27FC236}">
                <a16:creationId xmlns:a16="http://schemas.microsoft.com/office/drawing/2014/main" id="{85E30CBF-FE3D-4486-909D-DF3901472BA1}"/>
              </a:ext>
            </a:extLst>
          </p:cNvPr>
          <p:cNvSpPr>
            <a:spLocks noGrp="1"/>
          </p:cNvSpPr>
          <p:nvPr/>
        </p:nvSpPr>
        <p:spPr>
          <a:xfrm>
            <a:off x="666800" y="4305300"/>
            <a:ext cx="2905125" cy="1143000"/>
          </a:xfrm>
          <a:prstGeom prst="rect">
            <a:avLst/>
          </a:prstGeom>
          <a:solidFill>
            <a:srgbClr val="183A2C"/>
          </a:solidFill>
          <a:ln w="9525">
            <a:solidFill>
              <a:srgbClr val="A3BCAB"/>
            </a:solidFill>
          </a:ln>
        </p:spPr>
        <p:txBody>
          <a:bodyPr/>
          <a:lstStyle/>
          <a:p>
            <a:endParaRPr lang="en-US"/>
          </a:p>
        </p:txBody>
      </p:sp>
      <p:sp>
        <p:nvSpPr>
          <p:cNvPr id="13" name="!!auth-text">
            <a:extLst>
              <a:ext uri="{FF2B5EF4-FFF2-40B4-BE49-F238E27FC236}">
                <a16:creationId xmlns:a16="http://schemas.microsoft.com/office/drawing/2014/main" id="{7D998551-720B-4CCA-9324-D690F8D2BC46}"/>
              </a:ext>
            </a:extLst>
          </p:cNvPr>
          <p:cNvSpPr>
            <a:spLocks noGrp="1"/>
          </p:cNvSpPr>
          <p:nvPr/>
        </p:nvSpPr>
        <p:spPr>
          <a:xfrm>
            <a:off x="868926" y="4392561"/>
            <a:ext cx="2562225" cy="838200"/>
          </a:xfrm>
          <a:prstGeom prst="rect">
            <a:avLst/>
          </a:prstGeom>
          <a:noFill/>
          <a:ln w="0">
            <a:noFill/>
          </a:ln>
        </p:spPr>
        <p:txBody>
          <a:bodyPr wrap="square" lIns="0" tIns="0" rIns="0" bIns="0" anchor="ctr">
            <a:normAutofit/>
          </a:bodyPr>
          <a:lstStyle/>
          <a:p>
            <a:pPr>
              <a:defRPr sz="1800" b="1">
                <a:solidFill>
                  <a:srgbClr val="F4F1E8"/>
                </a:solidFill>
                <a:latin typeface="Segoe UI"/>
                <a:ea typeface="Segoe UI"/>
                <a:cs typeface="Segoe UI"/>
              </a:defRPr>
            </a:pPr>
            <a:r>
              <a:rPr sz="1800" b="1" dirty="0">
                <a:solidFill>
                  <a:srgbClr val="F4F1E8"/>
                </a:solidFill>
                <a:latin typeface="Segoe UI"/>
                <a:ea typeface="Segoe UI"/>
                <a:cs typeface="Segoe UI"/>
              </a:rPr>
              <a:t>Google OAuth</a:t>
            </a:r>
          </a:p>
          <a:p>
            <a:pPr>
              <a:defRPr sz="1800" b="1">
                <a:solidFill>
                  <a:srgbClr val="F4F1E8"/>
                </a:solidFill>
                <a:latin typeface="Segoe UI"/>
                <a:ea typeface="Segoe UI"/>
                <a:cs typeface="Segoe UI"/>
              </a:defRPr>
            </a:pPr>
            <a:r>
              <a:rPr sz="1800" b="1" dirty="0" err="1">
                <a:solidFill>
                  <a:srgbClr val="F4F1E8"/>
                </a:solidFill>
                <a:latin typeface="Segoe UI"/>
                <a:ea typeface="Segoe UI"/>
                <a:cs typeface="Segoe UI"/>
              </a:rPr>
              <a:t>Đăng</a:t>
            </a:r>
            <a:r>
              <a:rPr sz="1800" b="1" dirty="0">
                <a:solidFill>
                  <a:srgbClr val="F4F1E8"/>
                </a:solidFill>
                <a:latin typeface="Segoe UI"/>
                <a:ea typeface="Segoe UI"/>
                <a:cs typeface="Segoe UI"/>
              </a:rPr>
              <a:t> </a:t>
            </a:r>
            <a:r>
              <a:rPr sz="1800" b="1" dirty="0" err="1">
                <a:solidFill>
                  <a:srgbClr val="F4F1E8"/>
                </a:solidFill>
                <a:latin typeface="Segoe UI"/>
                <a:ea typeface="Segoe UI"/>
                <a:cs typeface="Segoe UI"/>
              </a:rPr>
              <a:t>nhập</a:t>
            </a:r>
            <a:r>
              <a:rPr sz="1800" b="1" dirty="0">
                <a:solidFill>
                  <a:srgbClr val="F4F1E8"/>
                </a:solidFill>
                <a:latin typeface="Segoe UI"/>
                <a:ea typeface="Segoe UI"/>
                <a:cs typeface="Segoe UI"/>
              </a:rPr>
              <a:t> </a:t>
            </a:r>
            <a:r>
              <a:rPr sz="1800" b="1" dirty="0" err="1">
                <a:solidFill>
                  <a:srgbClr val="F4F1E8"/>
                </a:solidFill>
                <a:latin typeface="Segoe UI"/>
                <a:ea typeface="Segoe UI"/>
                <a:cs typeface="Segoe UI"/>
              </a:rPr>
              <a:t>tài</a:t>
            </a:r>
            <a:r>
              <a:rPr sz="1800" b="1" dirty="0">
                <a:solidFill>
                  <a:srgbClr val="F4F1E8"/>
                </a:solidFill>
                <a:latin typeface="Segoe UI"/>
                <a:ea typeface="Segoe UI"/>
                <a:cs typeface="Segoe UI"/>
              </a:rPr>
              <a:t> </a:t>
            </a:r>
            <a:r>
              <a:rPr sz="1800" b="1" dirty="0" err="1">
                <a:solidFill>
                  <a:srgbClr val="F4F1E8"/>
                </a:solidFill>
                <a:latin typeface="Segoe UI"/>
                <a:ea typeface="Segoe UI"/>
                <a:cs typeface="Segoe UI"/>
              </a:rPr>
              <a:t>khoản</a:t>
            </a:r>
            <a:endParaRPr sz="1800" b="1" dirty="0">
              <a:solidFill>
                <a:srgbClr val="F4F1E8"/>
              </a:solidFill>
              <a:latin typeface="Segoe UI"/>
              <a:ea typeface="Segoe UI"/>
              <a:cs typeface="Segoe UI"/>
            </a:endParaRPr>
          </a:p>
        </p:txBody>
      </p:sp>
      <p:cxnSp>
        <p:nvCxnSpPr>
          <p:cNvPr id="59" name="!!connector-11-0"/>
          <p:cNvCxnSpPr>
            <a:stCxn id="4" idx="2"/>
            <a:endCxn id="12" idx="0"/>
          </p:cNvCxnSpPr>
          <p:nvPr/>
        </p:nvCxnSpPr>
        <p:spPr>
          <a:xfrm>
            <a:off x="1771650" y="3438525"/>
            <a:ext cx="347713" cy="866775"/>
          </a:xfrm>
          <a:prstGeom prst="straightConnector1">
            <a:avLst/>
          </a:prstGeom>
          <a:ln w="19050">
            <a:solidFill>
              <a:srgbClr val="A3BCAB"/>
            </a:solidFill>
            <a:prstDash val="solid"/>
            <a:tailEnd type="arrow" w="med" len="med"/>
          </a:ln>
        </p:spPr>
      </p:cxnSp>
      <p:sp>
        <p:nvSpPr>
          <p:cNvPr id="15" name="!!auth-symbol-selection">
            <a:extLst>
              <a:ext uri="{FF2B5EF4-FFF2-40B4-BE49-F238E27FC236}">
                <a16:creationId xmlns:a16="http://schemas.microsoft.com/office/drawing/2014/main" id="{80CE60F2-6217-4232-9647-BB4DAC4436F3}"/>
              </a:ext>
            </a:extLst>
          </p:cNvPr>
          <p:cNvSpPr>
            <a:spLocks noGrp="1"/>
          </p:cNvSpPr>
          <p:nvPr/>
        </p:nvSpPr>
        <p:spPr>
          <a:xfrm>
            <a:off x="1070180" y="3581093"/>
            <a:ext cx="609600" cy="609600"/>
          </a:xfrm>
          <a:prstGeom prst="ellipse">
            <a:avLst/>
          </a:prstGeom>
          <a:solidFill>
            <a:srgbClr val="FFFFFF"/>
          </a:solidFill>
          <a:ln w="9525">
            <a:solidFill>
              <a:srgbClr val="A3BCAB"/>
            </a:solidFill>
          </a:ln>
        </p:spPr>
        <p:txBody>
          <a:bodyPr/>
          <a:lstStyle/>
          <a:p>
            <a:endParaRPr lang="en-US"/>
          </a:p>
        </p:txBody>
      </p:sp>
      <p:sp>
        <p:nvSpPr>
          <p:cNvPr id="18" name="!!render">
            <a:extLst>
              <a:ext uri="{FF2B5EF4-FFF2-40B4-BE49-F238E27FC236}">
                <a16:creationId xmlns:a16="http://schemas.microsoft.com/office/drawing/2014/main" id="{454B41A3-876E-4DAD-9D43-42EC2972C273}"/>
              </a:ext>
            </a:extLst>
          </p:cNvPr>
          <p:cNvSpPr>
            <a:spLocks noGrp="1"/>
          </p:cNvSpPr>
          <p:nvPr/>
        </p:nvSpPr>
        <p:spPr>
          <a:xfrm>
            <a:off x="3886200" y="2295525"/>
            <a:ext cx="2905125" cy="1143000"/>
          </a:xfrm>
          <a:prstGeom prst="rect">
            <a:avLst/>
          </a:prstGeom>
          <a:solidFill>
            <a:srgbClr val="183A2C"/>
          </a:solidFill>
          <a:ln w="9525">
            <a:solidFill>
              <a:srgbClr val="A3BCAB"/>
            </a:solidFill>
          </a:ln>
        </p:spPr>
        <p:txBody>
          <a:bodyPr/>
          <a:lstStyle/>
          <a:p>
            <a:endParaRPr lang="en-US"/>
          </a:p>
        </p:txBody>
      </p:sp>
      <p:sp>
        <p:nvSpPr>
          <p:cNvPr id="19" name="!!render-text">
            <a:extLst>
              <a:ext uri="{FF2B5EF4-FFF2-40B4-BE49-F238E27FC236}">
                <a16:creationId xmlns:a16="http://schemas.microsoft.com/office/drawing/2014/main" id="{08ADE5BB-AAE5-4892-A650-6CA36839EC88}"/>
              </a:ext>
            </a:extLst>
          </p:cNvPr>
          <p:cNvSpPr>
            <a:spLocks noGrp="1"/>
          </p:cNvSpPr>
          <p:nvPr/>
        </p:nvSpPr>
        <p:spPr>
          <a:xfrm>
            <a:off x="4057650" y="2447925"/>
            <a:ext cx="2562225" cy="838200"/>
          </a:xfrm>
          <a:prstGeom prst="rect">
            <a:avLst/>
          </a:prstGeom>
          <a:noFill/>
          <a:ln w="0">
            <a:noFill/>
          </a:ln>
        </p:spPr>
        <p:txBody>
          <a:bodyPr wrap="square" lIns="0" tIns="0" rIns="0" bIns="0" anchor="ctr">
            <a:normAutofit/>
          </a:bodyPr>
          <a:lstStyle/>
          <a:p>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id="4" idx="3"/>
            <a:endCxn id="18" idx="1"/>
          </p:cNvCxnSpPr>
          <p:nvPr/>
        </p:nvCxnSpPr>
        <p:spPr>
          <a:xfrm>
            <a:off x="2933700" y="2867025"/>
            <a:ext cx="952500" cy="0"/>
          </a:xfrm>
          <a:prstGeom prst="straightConnector1">
            <a:avLst/>
          </a:prstGeom>
          <a:ln w="19050">
            <a:solidFill>
              <a:srgbClr val="A3BCAB"/>
            </a:solidFill>
            <a:prstDash val="solid"/>
            <a:tailEnd type="arrow" w="med" len="med"/>
          </a:ln>
        </p:spPr>
      </p:cxnSp>
      <p:sp>
        <p:nvSpPr>
          <p:cNvPr id="32" name="!!db">
            <a:extLst>
              <a:ext uri="{FF2B5EF4-FFF2-40B4-BE49-F238E27FC236}">
                <a16:creationId xmlns:a16="http://schemas.microsoft.com/office/drawing/2014/main" id="{370AA5B0-FE51-4026-8AC2-6AE3777E3323}"/>
              </a:ext>
            </a:extLst>
          </p:cNvPr>
          <p:cNvSpPr>
            <a:spLocks noGrp="1"/>
          </p:cNvSpPr>
          <p:nvPr/>
        </p:nvSpPr>
        <p:spPr>
          <a:xfrm>
            <a:off x="8010525" y="2295525"/>
            <a:ext cx="3467100" cy="1143000"/>
          </a:xfrm>
          <a:prstGeom prst="rect">
            <a:avLst/>
          </a:prstGeom>
          <a:solidFill>
            <a:srgbClr val="166447"/>
          </a:solidFill>
          <a:ln w="28575">
            <a:solidFill>
              <a:srgbClr val="C8A45B"/>
            </a:solidFill>
          </a:ln>
        </p:spPr>
        <p:txBody>
          <a:bodyPr/>
          <a:lstStyle/>
          <a:p>
            <a:endParaRPr lang="en-US"/>
          </a:p>
        </p:txBody>
      </p:sp>
      <p:sp>
        <p:nvSpPr>
          <p:cNvPr id="33" name="!!db-text">
            <a:extLst>
              <a:ext uri="{FF2B5EF4-FFF2-40B4-BE49-F238E27FC236}">
                <a16:creationId xmlns:a16="http://schemas.microsoft.com/office/drawing/2014/main" id="{2F3DD9C5-AF46-416A-8757-D61075C53B9B}"/>
              </a:ext>
            </a:extLst>
          </p:cNvPr>
          <p:cNvSpPr>
            <a:spLocks noGrp="1"/>
          </p:cNvSpPr>
          <p:nvPr/>
        </p:nvSpPr>
        <p:spPr>
          <a:xfrm>
            <a:off x="8181975" y="2447925"/>
            <a:ext cx="3124200" cy="838200"/>
          </a:xfrm>
          <a:prstGeom prst="rect">
            <a:avLst/>
          </a:prstGeom>
          <a:noFill/>
          <a:ln w="0">
            <a:noFill/>
          </a:ln>
        </p:spPr>
        <p:txBody>
          <a:bodyPr wrap="square" lIns="0" tIns="0" rIns="0" bIns="0" anchor="ctr">
            <a:normAutofit/>
          </a:bodyPr>
          <a:lstStyle/>
          <a:p>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a:ext uri="{FF2B5EF4-FFF2-40B4-BE49-F238E27FC236}">
                <a16:creationId xmlns:a16="http://schemas.microsoft.com/office/drawing/2014/main" id="{E206F9A1-073A-41D2-887B-F0838774BEB5}"/>
              </a:ext>
            </a:extLst>
          </p:cNvPr>
          <p:cNvSpPr>
            <a:spLocks noGrp="1"/>
          </p:cNvSpPr>
          <p:nvPr/>
        </p:nvSpPr>
        <p:spPr>
          <a:xfrm>
            <a:off x="4783956" y="4210050"/>
            <a:ext cx="3467100" cy="1143000"/>
          </a:xfrm>
          <a:prstGeom prst="rect">
            <a:avLst/>
          </a:prstGeom>
          <a:solidFill>
            <a:srgbClr val="166447"/>
          </a:solidFill>
          <a:ln w="28575">
            <a:solidFill>
              <a:srgbClr val="C8A45B"/>
            </a:solidFill>
          </a:ln>
        </p:spPr>
        <p:txBody>
          <a:bodyPr/>
          <a:lstStyle/>
          <a:p>
            <a:endParaRPr lang="en-US" dirty="0"/>
          </a:p>
        </p:txBody>
      </p:sp>
      <p:sp>
        <p:nvSpPr>
          <p:cNvPr id="35" name="!!storage-text">
            <a:extLst>
              <a:ext uri="{FF2B5EF4-FFF2-40B4-BE49-F238E27FC236}">
                <a16:creationId xmlns:a16="http://schemas.microsoft.com/office/drawing/2014/main" id="{9C4EB535-EC69-4C37-B3C3-3C89A519C675}"/>
              </a:ext>
            </a:extLst>
          </p:cNvPr>
          <p:cNvSpPr>
            <a:spLocks noGrp="1"/>
          </p:cNvSpPr>
          <p:nvPr/>
        </p:nvSpPr>
        <p:spPr>
          <a:xfrm>
            <a:off x="4933950" y="4305300"/>
            <a:ext cx="3124200" cy="838200"/>
          </a:xfrm>
          <a:prstGeom prst="rect">
            <a:avLst/>
          </a:prstGeom>
          <a:noFill/>
          <a:ln w="0">
            <a:noFill/>
          </a:ln>
        </p:spPr>
        <p:txBody>
          <a:bodyPr wrap="square" lIns="0" tIns="0" rIns="0" bIns="0" anchor="ctr">
            <a:normAutofit/>
          </a:bodyPr>
          <a:lstStyle/>
          <a:p>
            <a:pPr>
              <a:defRPr sz="1800" b="1">
                <a:solidFill>
                  <a:srgbClr val="FFFFFF"/>
                </a:solidFill>
                <a:latin typeface="Segoe UI"/>
                <a:ea typeface="Segoe UI"/>
                <a:cs typeface="Segoe UI"/>
              </a:defRPr>
            </a:pPr>
            <a:r>
              <a:rPr sz="1800" b="1" dirty="0" err="1">
                <a:solidFill>
                  <a:srgbClr val="FFFFFF"/>
                </a:solidFill>
                <a:latin typeface="Segoe UI"/>
                <a:ea typeface="Segoe UI"/>
                <a:cs typeface="Segoe UI"/>
              </a:rPr>
              <a:t>Supabase</a:t>
            </a:r>
            <a:r>
              <a:rPr sz="1800" b="1" dirty="0">
                <a:solidFill>
                  <a:srgbClr val="FFFFFF"/>
                </a:solidFill>
                <a:latin typeface="Segoe UI"/>
                <a:ea typeface="Segoe UI"/>
                <a:cs typeface="Segoe UI"/>
              </a:rPr>
              <a:t> Storage</a:t>
            </a:r>
          </a:p>
          <a:p>
            <a:pPr>
              <a:defRPr sz="1800" b="1">
                <a:solidFill>
                  <a:srgbClr val="FFFFFF"/>
                </a:solidFill>
                <a:latin typeface="Segoe UI"/>
                <a:ea typeface="Segoe UI"/>
                <a:cs typeface="Segoe UI"/>
              </a:defRPr>
            </a:pPr>
            <a:r>
              <a:rPr sz="1800" b="1" dirty="0">
                <a:solidFill>
                  <a:srgbClr val="FFFFFF"/>
                </a:solidFill>
                <a:latin typeface="Segoe UI"/>
                <a:ea typeface="Segoe UI"/>
                <a:cs typeface="Segoe UI"/>
              </a:rPr>
              <a:t>JPG / PNG / PDF</a:t>
            </a:r>
          </a:p>
        </p:txBody>
      </p:sp>
      <p:cxnSp>
        <p:nvCxnSpPr>
          <p:cNvPr id="81" name="!!connector-11-2"/>
          <p:cNvCxnSpPr>
            <a:stCxn id="18" idx="3"/>
            <a:endCxn id="32" idx="1"/>
          </p:cNvCxnSpPr>
          <p:nvPr/>
        </p:nvCxnSpPr>
        <p:spPr>
          <a:xfrm>
            <a:off x="6791325" y="2867025"/>
            <a:ext cx="1219200" cy="0"/>
          </a:xfrm>
          <a:prstGeom prst="straightConnector1">
            <a:avLst/>
          </a:prstGeom>
          <a:ln w="19050">
            <a:solidFill>
              <a:srgbClr val="A3BCAB"/>
            </a:solidFill>
            <a:prstDash val="solid"/>
            <a:tailEnd type="arrow" w="med" len="med"/>
          </a:ln>
        </p:spPr>
      </p:cxnSp>
      <p:cxnSp>
        <p:nvCxnSpPr>
          <p:cNvPr id="82" name="!!connector-11-3"/>
          <p:cNvCxnSpPr>
            <a:stCxn id="4" idx="3"/>
            <a:endCxn id="34" idx="1"/>
          </p:cNvCxnSpPr>
          <p:nvPr/>
        </p:nvCxnSpPr>
        <p:spPr>
          <a:xfrm>
            <a:off x="2933700" y="2867025"/>
            <a:ext cx="1850256" cy="1914525"/>
          </a:xfrm>
          <a:prstGeom prst="straightConnector1">
            <a:avLst/>
          </a:prstGeom>
          <a:ln w="19050">
            <a:solidFill>
              <a:srgbClr val="A3BCAB"/>
            </a:solidFill>
            <a:prstDash val="solid"/>
            <a:tailEnd type="arrow" w="med" len="med"/>
          </a:ln>
        </p:spPr>
      </p:cxnSp>
      <p:sp>
        <p:nvSpPr>
          <p:cNvPr id="42" name="!!db-rel">
            <a:extLst>
              <a:ext uri="{FF2B5EF4-FFF2-40B4-BE49-F238E27FC236}">
                <a16:creationId xmlns:a16="http://schemas.microsoft.com/office/drawing/2014/main" id="{0B9C6568-5CC5-48C6-B940-116FE6471AA3}"/>
              </a:ext>
            </a:extLst>
          </p:cNvPr>
          <p:cNvSpPr>
            <a:spLocks noGrp="1"/>
          </p:cNvSpPr>
          <p:nvPr/>
        </p:nvSpPr>
        <p:spPr>
          <a:xfrm>
            <a:off x="8058150" y="3497461"/>
            <a:ext cx="3533775" cy="323850"/>
          </a:xfrm>
          <a:prstGeom prst="rect">
            <a:avLst/>
          </a:prstGeom>
          <a:noFill/>
          <a:ln w="0">
            <a:noFill/>
          </a:ln>
        </p:spPr>
        <p:txBody>
          <a:bodyPr wrap="square" lIns="0" tIns="0" rIns="0" bIns="0" anchor="t">
            <a:normAutofit/>
          </a:bodyPr>
          <a:lstStyle/>
          <a:p>
            <a:pPr>
              <a:defRPr sz="1650" b="0">
                <a:solidFill>
                  <a:srgbClr val="A3BCAB"/>
                </a:solidFill>
                <a:latin typeface="Segoe UI"/>
                <a:ea typeface="Segoe UI"/>
                <a:cs typeface="Segoe UI"/>
              </a:defRPr>
            </a:pPr>
            <a:r>
              <a:rPr sz="1650" b="0" dirty="0">
                <a:solidFill>
                  <a:srgbClr val="A3BCAB"/>
                </a:solidFill>
                <a:latin typeface="Segoe UI"/>
                <a:ea typeface="Segoe UI"/>
                <a:cs typeface="Segoe UI"/>
              </a:rPr>
              <a:t>API </a:t>
            </a:r>
            <a:r>
              <a:rPr sz="1650" b="0" dirty="0" err="1">
                <a:solidFill>
                  <a:srgbClr val="A3BCAB"/>
                </a:solidFill>
                <a:latin typeface="Segoe UI"/>
                <a:ea typeface="Segoe UI"/>
                <a:cs typeface="Segoe UI"/>
              </a:rPr>
              <a:t>đọc</a:t>
            </a:r>
            <a:r>
              <a:rPr sz="1650" b="0" dirty="0">
                <a:solidFill>
                  <a:srgbClr val="A3BCAB"/>
                </a:solidFill>
                <a:latin typeface="Segoe UI"/>
                <a:ea typeface="Segoe UI"/>
                <a:cs typeface="Segoe UI"/>
              </a:rPr>
              <a:t> / </a:t>
            </a:r>
            <a:r>
              <a:rPr sz="1650" b="0" dirty="0" err="1">
                <a:solidFill>
                  <a:srgbClr val="A3BCAB"/>
                </a:solidFill>
                <a:latin typeface="Segoe UI"/>
                <a:ea typeface="Segoe UI"/>
                <a:cs typeface="Segoe UI"/>
              </a:rPr>
              <a:t>ghi</a:t>
            </a:r>
            <a:r>
              <a:rPr sz="1650" b="0" dirty="0">
                <a:solidFill>
                  <a:srgbClr val="A3BCAB"/>
                </a:solidFill>
                <a:latin typeface="Segoe UI"/>
                <a:ea typeface="Segoe UI"/>
                <a:cs typeface="Segoe UI"/>
              </a:rPr>
              <a:t> </a:t>
            </a:r>
            <a:r>
              <a:rPr sz="1650" b="0" dirty="0" err="1">
                <a:solidFill>
                  <a:srgbClr val="A3BCAB"/>
                </a:solidFill>
                <a:latin typeface="Segoe UI"/>
                <a:ea typeface="Segoe UI"/>
                <a:cs typeface="Segoe UI"/>
              </a:rPr>
              <a:t>theo</a:t>
            </a:r>
            <a:r>
              <a:rPr sz="1650" b="0" dirty="0">
                <a:solidFill>
                  <a:srgbClr val="A3BCAB"/>
                </a:solidFill>
                <a:latin typeface="Segoe UI"/>
                <a:ea typeface="Segoe UI"/>
                <a:cs typeface="Segoe UI"/>
              </a:rPr>
              <a:t> </a:t>
            </a:r>
            <a:r>
              <a:rPr sz="1650" b="0" dirty="0" err="1">
                <a:solidFill>
                  <a:srgbClr val="A3BCAB"/>
                </a:solidFill>
                <a:latin typeface="Segoe UI"/>
                <a:ea typeface="Segoe UI"/>
                <a:cs typeface="Segoe UI"/>
              </a:rPr>
              <a:t>quyền</a:t>
            </a:r>
            <a:endParaRPr sz="1650" b="0" dirty="0">
              <a:solidFill>
                <a:srgbClr val="A3BCAB"/>
              </a:solidFill>
              <a:latin typeface="Segoe UI"/>
              <a:ea typeface="Segoe UI"/>
              <a:cs typeface="Segoe UI"/>
            </a:endParaRPr>
          </a:p>
        </p:txBody>
      </p:sp>
      <p:sp>
        <p:nvSpPr>
          <p:cNvPr id="43" name="!!storage-rel">
            <a:extLst>
              <a:ext uri="{FF2B5EF4-FFF2-40B4-BE49-F238E27FC236}">
                <a16:creationId xmlns:a16="http://schemas.microsoft.com/office/drawing/2014/main" id="{276CCDAF-08E2-417B-B6B9-427805E05750}"/>
              </a:ext>
            </a:extLst>
          </p:cNvPr>
          <p:cNvSpPr>
            <a:spLocks noGrp="1"/>
          </p:cNvSpPr>
          <p:nvPr/>
        </p:nvSpPr>
        <p:spPr>
          <a:xfrm>
            <a:off x="4762500" y="5600700"/>
            <a:ext cx="4429125" cy="4000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a:ext uri="{FF2B5EF4-FFF2-40B4-BE49-F238E27FC236}">
                <a16:creationId xmlns:a16="http://schemas.microsoft.com/office/drawing/2014/main" id="{16D296FA-3DE1-4259-BAF9-0EEDB3D28BB4}"/>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06 / 10</a:t>
            </a:r>
          </a:p>
        </p:txBody>
      </p:sp>
      <p:sp>
        <p:nvSpPr>
          <p:cNvPr id="45" name="!!caption">
            <a:extLst>
              <a:ext uri="{FF2B5EF4-FFF2-40B4-BE49-F238E27FC236}">
                <a16:creationId xmlns:a16="http://schemas.microsoft.com/office/drawing/2014/main" id="{E9167380-4C20-4749-BA6C-E4DAAEC3A944}"/>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83" name="!!tech-logo-react" descr="react technology logo"/>
          <p:cNvPicPr>
            <a:picLocks noChangeAspect="1"/>
          </p:cNvPicPr>
          <p:nvPr/>
        </p:nvPicPr>
        <p:blipFill>
          <a:blip r:embed="rId4"/>
          <a:srcRect/>
          <a:stretch>
            <a:fillRect/>
          </a:stretch>
        </p:blipFill>
        <p:spPr>
          <a:xfrm>
            <a:off x="866775" y="1668660"/>
            <a:ext cx="419100" cy="377429"/>
          </a:xfrm>
          <a:prstGeom prst="rect">
            <a:avLst/>
          </a:prstGeom>
        </p:spPr>
      </p:pic>
      <p:pic>
        <p:nvPicPr>
          <p:cNvPr id="84" name="!!tech-logo-vite" descr="vite technology logo"/>
          <p:cNvPicPr>
            <a:picLocks noChangeAspect="1"/>
          </p:cNvPicPr>
          <p:nvPr/>
        </p:nvPicPr>
        <p:blipFill>
          <a:blip r:embed="rId5"/>
          <a:srcRect r="500" b="1042"/>
          <a:stretch>
            <a:fillRect/>
          </a:stretch>
        </p:blipFill>
        <p:spPr>
          <a:xfrm>
            <a:off x="1571625" y="1657302"/>
            <a:ext cx="419100" cy="400146"/>
          </a:xfrm>
          <a:prstGeom prst="rect">
            <a:avLst/>
          </a:prstGeom>
        </p:spPr>
      </p:pic>
      <p:pic>
        <p:nvPicPr>
          <p:cNvPr id="85" name="!!tech-logo-vercel" descr="vercel technology logo"/>
          <p:cNvPicPr>
            <a:picLocks noChangeAspect="1"/>
          </p:cNvPicPr>
          <p:nvPr/>
        </p:nvPicPr>
        <p:blipFill>
          <a:blip r:embed="rId6"/>
          <a:srcRect r="21"/>
          <a:stretch>
            <a:fillRect/>
          </a:stretch>
        </p:blipFill>
        <p:spPr>
          <a:xfrm>
            <a:off x="2276475" y="1675913"/>
            <a:ext cx="419100" cy="362924"/>
          </a:xfrm>
          <a:prstGeom prst="rect">
            <a:avLst/>
          </a:prstGeom>
        </p:spPr>
      </p:pic>
      <p:pic>
        <p:nvPicPr>
          <p:cNvPr id="86" name="!!tech-logo-fastapi" descr="fastapi technology logo"/>
          <p:cNvPicPr>
            <a:picLocks noChangeAspect="1"/>
          </p:cNvPicPr>
          <p:nvPr/>
        </p:nvPicPr>
        <p:blipFill>
          <a:blip r:embed="rId7"/>
          <a:srcRect l="8333" t="8333" r="8333" b="8654"/>
          <a:stretch>
            <a:fillRect/>
          </a:stretch>
        </p:blipFill>
        <p:spPr>
          <a:xfrm>
            <a:off x="4257675" y="1629654"/>
            <a:ext cx="457200" cy="455442"/>
          </a:xfrm>
          <a:prstGeom prst="rect">
            <a:avLst/>
          </a:prstGeom>
        </p:spPr>
      </p:pic>
      <p:pic>
        <p:nvPicPr>
          <p:cNvPr id="87" name="!!tech-logo-python" descr="python technology logo"/>
          <p:cNvPicPr>
            <a:picLocks noChangeAspect="1"/>
          </p:cNvPicPr>
          <p:nvPr/>
        </p:nvPicPr>
        <p:blipFill>
          <a:blip r:embed="rId8"/>
          <a:srcRect r="67934" b="67998"/>
          <a:stretch>
            <a:fillRect/>
          </a:stretch>
        </p:blipFill>
        <p:spPr>
          <a:xfrm>
            <a:off x="5005345" y="1609725"/>
            <a:ext cx="409660" cy="495300"/>
          </a:xfrm>
          <a:prstGeom prst="rect">
            <a:avLst/>
          </a:prstGeom>
        </p:spPr>
      </p:pic>
      <p:pic>
        <p:nvPicPr>
          <p:cNvPr id="88" name="!!tech-logo-render" descr="render technology logo"/>
          <p:cNvPicPr>
            <a:picLocks noChangeAspect="1"/>
          </p:cNvPicPr>
          <p:nvPr/>
        </p:nvPicPr>
        <p:blipFill>
          <a:blip r:embed="rId9"/>
          <a:srcRect l="25743" t="24242" r="24302" b="25833"/>
          <a:stretch>
            <a:fillRect/>
          </a:stretch>
        </p:blipFill>
        <p:spPr>
          <a:xfrm>
            <a:off x="5705475" y="1628912"/>
            <a:ext cx="457200" cy="456925"/>
          </a:xfrm>
          <a:prstGeom prst="rect">
            <a:avLst/>
          </a:prstGeom>
        </p:spPr>
      </p:pic>
      <p:pic>
        <p:nvPicPr>
          <p:cNvPr id="90" name="!!tech-logo-postgresql" descr="postgresql technology logo"/>
          <p:cNvPicPr>
            <a:picLocks noChangeAspect="1"/>
          </p:cNvPicPr>
          <p:nvPr/>
        </p:nvPicPr>
        <p:blipFill>
          <a:blip r:embed="rId10"/>
          <a:srcRect l="107"/>
          <a:stretch>
            <a:fillRect/>
          </a:stretch>
        </p:blipFill>
        <p:spPr>
          <a:xfrm>
            <a:off x="10662157" y="1468041"/>
            <a:ext cx="697486" cy="719733"/>
          </a:xfrm>
          <a:prstGeom prst="rect">
            <a:avLst/>
          </a:prstGeom>
        </p:spPr>
      </p:pic>
      <p:pic>
        <p:nvPicPr>
          <p:cNvPr id="92" name="!!tech-logo-supabase-db" descr="Official Supabase wordmark for db"/>
          <p:cNvPicPr>
            <a:picLocks noChangeAspect="1"/>
          </p:cNvPicPr>
          <p:nvPr/>
        </p:nvPicPr>
        <p:blipFill>
          <a:blip r:embed="rId11"/>
          <a:srcRect r="83" b="637"/>
          <a:stretch>
            <a:fillRect/>
          </a:stretch>
        </p:blipFill>
        <p:spPr>
          <a:xfrm>
            <a:off x="7974434" y="1613594"/>
            <a:ext cx="2520108" cy="487561"/>
          </a:xfrm>
          <a:prstGeom prst="rect">
            <a:avLst/>
          </a:prstGeom>
        </p:spPr>
      </p:pic>
      <p:pic>
        <p:nvPicPr>
          <p:cNvPr id="93" name="!!tech-logo-supabase-storage" descr="Official Supabase wordmark for storage"/>
          <p:cNvPicPr>
            <a:picLocks noChangeAspect="1"/>
          </p:cNvPicPr>
          <p:nvPr/>
        </p:nvPicPr>
        <p:blipFill>
          <a:blip r:embed="rId11"/>
          <a:srcRect r="83" b="637"/>
          <a:stretch>
            <a:fillRect/>
          </a:stretch>
        </p:blipFill>
        <p:spPr>
          <a:xfrm>
            <a:off x="5007945" y="3667125"/>
            <a:ext cx="2400101" cy="464344"/>
          </a:xfrm>
          <a:prstGeom prst="rect">
            <a:avLst/>
          </a:prstGeom>
        </p:spPr>
      </p:pic>
      <p:pic>
        <p:nvPicPr>
          <p:cNvPr id="91" name="!!tech-logo-google-auth" descr="Google G logo for Google OAuth"/>
          <p:cNvPicPr>
            <a:picLocks noChangeAspect="1"/>
          </p:cNvPicPr>
          <p:nvPr/>
        </p:nvPicPr>
        <p:blipFill>
          <a:blip r:embed="rId12"/>
          <a:srcRect/>
          <a:stretch>
            <a:fillRect/>
          </a:stretch>
        </p:blipFill>
        <p:spPr>
          <a:xfrm>
            <a:off x="1141337" y="3657293"/>
            <a:ext cx="448235" cy="457200"/>
          </a:xfrm>
          <a:prstGeom prst="rect">
            <a:avLst/>
          </a:prstGeom>
        </p:spPr>
      </p:pic>
    </p:spTree>
    <p:extLst>
      <p:ext uri="{BB962C8B-B14F-4D97-AF65-F5344CB8AC3E}">
        <p14:creationId xmlns:p14="http://schemas.microsoft.com/office/powerpoint/2010/main" val="847786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7"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E54621B2-4894-4F87-8A65-4701A2A74B1F}"/>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a:ext uri="{FF2B5EF4-FFF2-40B4-BE49-F238E27FC236}">
                <a16:creationId xmlns:a16="http://schemas.microsoft.com/office/drawing/2014/main" id="{006F0FA2-56F9-43A1-ADCF-F7963F710867}"/>
              </a:ext>
            </a:extLst>
          </p:cNvPr>
          <p:cNvSpPr>
            <a:spLocks noGrp="1"/>
          </p:cNvSpPr>
          <p:nvPr/>
        </p:nvSpPr>
        <p:spPr>
          <a:xfrm>
            <a:off x="657225" y="2047875"/>
            <a:ext cx="571500" cy="571500"/>
          </a:xfrm>
          <a:prstGeom prst="ellipse">
            <a:avLst/>
          </a:prstGeom>
          <a:solidFill>
            <a:srgbClr val="E5EBDD"/>
          </a:solidFill>
          <a:ln w="9525">
            <a:solidFill>
              <a:srgbClr val="166447"/>
            </a:solidFill>
          </a:ln>
        </p:spPr>
        <p:txBody>
          <a:bodyPr/>
          <a:lstStyle/>
          <a:p>
            <a:endParaRPr lang="en-US"/>
          </a:p>
        </p:txBody>
      </p:sp>
      <p:sp>
        <p:nvSpPr>
          <p:cNvPr id="5" name="!!custody-0-icon-0">
            <a:extLst>
              <a:ext uri="{FF2B5EF4-FFF2-40B4-BE49-F238E27FC236}">
                <a16:creationId xmlns:a16="http://schemas.microsoft.com/office/drawing/2014/main" id="{4D47B876-F4ED-4AA3-AE56-1039B422A770}"/>
              </a:ext>
            </a:extLst>
          </p:cNvPr>
          <p:cNvSpPr>
            <a:spLocks noGrp="1"/>
          </p:cNvSpPr>
          <p:nvPr/>
        </p:nvSpPr>
        <p:spPr>
          <a:xfrm>
            <a:off x="788670" y="2179320"/>
            <a:ext cx="308610" cy="308610"/>
          </a:xfrm>
          <a:custGeom>
            <a:avLst/>
            <a:gdLst/>
            <a:ahLst/>
            <a:cxnLst/>
            <a:rect l="0" t="0" r="0" b="0"/>
            <a:pathLst>
              <a:path w="228600" h="228600">
                <a:moveTo>
                  <a:pt x="38100" y="161925"/>
                </a:moveTo>
                <a:lnTo>
                  <a:pt x="28575" y="209550"/>
                </a:lnTo>
                <a:lnTo>
                  <a:pt x="76200" y="200025"/>
                </a:lnTo>
                <a:lnTo>
                  <a:pt x="200025" y="76200"/>
                </a:lnTo>
                <a:lnTo>
                  <a:pt x="152400" y="28575"/>
                </a:lnTo>
                <a:close/>
              </a:path>
            </a:pathLst>
          </a:custGeom>
          <a:noFill/>
          <a:ln w="19050">
            <a:solidFill>
              <a:srgbClr val="166447"/>
            </a:solidFill>
            <a:prstDash val="solid"/>
          </a:ln>
        </p:spPr>
        <p:txBody>
          <a:bodyPr/>
          <a:lstStyle/>
          <a:p>
            <a:endParaRPr lang="en-US"/>
          </a:p>
        </p:txBody>
      </p:sp>
      <p:sp>
        <p:nvSpPr>
          <p:cNvPr id="6" name="!!custody-0-icon-1">
            <a:extLst>
              <a:ext uri="{FF2B5EF4-FFF2-40B4-BE49-F238E27FC236}">
                <a16:creationId xmlns:a16="http://schemas.microsoft.com/office/drawing/2014/main" id="{46777233-96D4-44E2-B924-4581551F5279}"/>
              </a:ext>
            </a:extLst>
          </p:cNvPr>
          <p:cNvSpPr>
            <a:spLocks noGrp="1"/>
          </p:cNvSpPr>
          <p:nvPr/>
        </p:nvSpPr>
        <p:spPr>
          <a:xfrm>
            <a:off x="788670" y="2179320"/>
            <a:ext cx="308610" cy="308610"/>
          </a:xfrm>
          <a:custGeom>
            <a:avLst/>
            <a:gdLst/>
            <a:ahLst/>
            <a:cxnLst/>
            <a:rect l="0" t="0" r="0" b="0"/>
            <a:pathLst>
              <a:path w="228600" h="228600">
                <a:moveTo>
                  <a:pt x="133350" y="47625"/>
                </a:moveTo>
                <a:lnTo>
                  <a:pt x="180975" y="95250"/>
                </a:lnTo>
              </a:path>
            </a:pathLst>
          </a:custGeom>
          <a:noFill/>
          <a:ln w="19050">
            <a:solidFill>
              <a:srgbClr val="166447"/>
            </a:solidFill>
            <a:prstDash val="solid"/>
          </a:ln>
        </p:spPr>
        <p:txBody>
          <a:bodyPr/>
          <a:lstStyle/>
          <a:p>
            <a:endParaRPr lang="en-US"/>
          </a:p>
        </p:txBody>
      </p:sp>
      <p:sp>
        <p:nvSpPr>
          <p:cNvPr id="7" name="!!custody-0-icon-2">
            <a:extLst>
              <a:ext uri="{FF2B5EF4-FFF2-40B4-BE49-F238E27FC236}">
                <a16:creationId xmlns:a16="http://schemas.microsoft.com/office/drawing/2014/main" id="{6B5979E6-9DBB-4B2F-A5E3-DF1228BBE1B3}"/>
              </a:ext>
            </a:extLst>
          </p:cNvPr>
          <p:cNvSpPr>
            <a:spLocks noGrp="1"/>
          </p:cNvSpPr>
          <p:nvPr/>
        </p:nvSpPr>
        <p:spPr>
          <a:xfrm>
            <a:off x="788670" y="2179320"/>
            <a:ext cx="308610" cy="308610"/>
          </a:xfrm>
          <a:custGeom>
            <a:avLst/>
            <a:gdLst/>
            <a:ahLst/>
            <a:cxnLst/>
            <a:rect l="0" t="0" r="0" b="0"/>
            <a:pathLst>
              <a:path w="228600" h="228600">
                <a:moveTo>
                  <a:pt x="95250" y="209550"/>
                </a:moveTo>
                <a:lnTo>
                  <a:pt x="209550" y="209550"/>
                </a:lnTo>
              </a:path>
            </a:pathLst>
          </a:custGeom>
          <a:noFill/>
          <a:ln w="19050">
            <a:solidFill>
              <a:srgbClr val="166447"/>
            </a:solidFill>
            <a:prstDash val="solid"/>
          </a:ln>
        </p:spPr>
        <p:txBody>
          <a:bodyPr/>
          <a:lstStyle/>
          <a:p>
            <a:endParaRPr lang="en-US"/>
          </a:p>
        </p:txBody>
      </p:sp>
      <p:sp>
        <p:nvSpPr>
          <p:cNvPr id="8" name="!!custody-0-label">
            <a:extLst>
              <a:ext uri="{FF2B5EF4-FFF2-40B4-BE49-F238E27FC236}">
                <a16:creationId xmlns:a16="http://schemas.microsoft.com/office/drawing/2014/main" id="{56B6A162-448F-400C-95C1-0FDB08CC0475}"/>
              </a:ext>
            </a:extLst>
          </p:cNvPr>
          <p:cNvSpPr>
            <a:spLocks noGrp="1"/>
          </p:cNvSpPr>
          <p:nvPr/>
        </p:nvSpPr>
        <p:spPr>
          <a:xfrm>
            <a:off x="1447800" y="2028825"/>
            <a:ext cx="4095750" cy="55245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a:ext uri="{FF2B5EF4-FFF2-40B4-BE49-F238E27FC236}">
                <a16:creationId xmlns:a16="http://schemas.microsoft.com/office/drawing/2014/main" id="{3E867154-B1F2-4584-9DA5-BF17872CC1C7}"/>
              </a:ext>
            </a:extLst>
          </p:cNvPr>
          <p:cNvSpPr>
            <a:spLocks noGrp="1"/>
          </p:cNvSpPr>
          <p:nvPr/>
        </p:nvSpPr>
        <p:spPr>
          <a:xfrm>
            <a:off x="1447800" y="2600325"/>
            <a:ext cx="4095750" cy="5143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a:ext uri="{FF2B5EF4-FFF2-40B4-BE49-F238E27FC236}">
                <a16:creationId xmlns:a16="http://schemas.microsoft.com/office/drawing/2014/main" id="{B4215335-A601-4301-B915-34605D2CA208}"/>
              </a:ext>
            </a:extLst>
          </p:cNvPr>
          <p:cNvSpPr>
            <a:spLocks noGrp="1"/>
          </p:cNvSpPr>
          <p:nvPr/>
        </p:nvSpPr>
        <p:spPr>
          <a:xfrm>
            <a:off x="657225" y="3190875"/>
            <a:ext cx="571500" cy="571500"/>
          </a:xfrm>
          <a:prstGeom prst="ellipse">
            <a:avLst/>
          </a:prstGeom>
          <a:solidFill>
            <a:srgbClr val="E5EBDD"/>
          </a:solidFill>
          <a:ln w="9525">
            <a:solidFill>
              <a:srgbClr val="166447"/>
            </a:solidFill>
          </a:ln>
        </p:spPr>
        <p:txBody>
          <a:bodyPr/>
          <a:lstStyle/>
          <a:p>
            <a:endParaRPr lang="en-US"/>
          </a:p>
        </p:txBody>
      </p:sp>
      <p:sp>
        <p:nvSpPr>
          <p:cNvPr id="11" name="!!custody-1-icon-0">
            <a:extLst>
              <a:ext uri="{FF2B5EF4-FFF2-40B4-BE49-F238E27FC236}">
                <a16:creationId xmlns:a16="http://schemas.microsoft.com/office/drawing/2014/main" id="{78261A1C-C772-4C4C-BFAB-E9440EA7116F}"/>
              </a:ext>
            </a:extLst>
          </p:cNvPr>
          <p:cNvSpPr>
            <a:spLocks noGrp="1"/>
          </p:cNvSpPr>
          <p:nvPr/>
        </p:nvSpPr>
        <p:spPr>
          <a:xfrm>
            <a:off x="788670" y="3322320"/>
            <a:ext cx="308610" cy="308610"/>
          </a:xfrm>
          <a:custGeom>
            <a:avLst/>
            <a:gdLst/>
            <a:ahLst/>
            <a:cxnLst/>
            <a:rect l="0" t="0" r="0" b="0"/>
            <a:pathLst>
              <a:path w="228600" h="228600">
                <a:moveTo>
                  <a:pt x="38100" y="161925"/>
                </a:moveTo>
                <a:lnTo>
                  <a:pt x="28575" y="209550"/>
                </a:lnTo>
                <a:lnTo>
                  <a:pt x="76200" y="200025"/>
                </a:lnTo>
                <a:lnTo>
                  <a:pt x="200025" y="76200"/>
                </a:lnTo>
                <a:lnTo>
                  <a:pt x="152400" y="28575"/>
                </a:lnTo>
                <a:close/>
              </a:path>
            </a:pathLst>
          </a:custGeom>
          <a:noFill/>
          <a:ln w="19050">
            <a:solidFill>
              <a:srgbClr val="166447"/>
            </a:solidFill>
            <a:prstDash val="solid"/>
          </a:ln>
        </p:spPr>
        <p:txBody>
          <a:bodyPr/>
          <a:lstStyle/>
          <a:p>
            <a:endParaRPr lang="en-US"/>
          </a:p>
        </p:txBody>
      </p:sp>
      <p:sp>
        <p:nvSpPr>
          <p:cNvPr id="12" name="!!custody-1-icon-1">
            <a:extLst>
              <a:ext uri="{FF2B5EF4-FFF2-40B4-BE49-F238E27FC236}">
                <a16:creationId xmlns:a16="http://schemas.microsoft.com/office/drawing/2014/main" id="{AF85FA0C-C87E-4A9D-81B8-C0BD0C60BF5D}"/>
              </a:ext>
            </a:extLst>
          </p:cNvPr>
          <p:cNvSpPr>
            <a:spLocks noGrp="1"/>
          </p:cNvSpPr>
          <p:nvPr/>
        </p:nvSpPr>
        <p:spPr>
          <a:xfrm>
            <a:off x="788670" y="3322320"/>
            <a:ext cx="308610" cy="308610"/>
          </a:xfrm>
          <a:custGeom>
            <a:avLst/>
            <a:gdLst/>
            <a:ahLst/>
            <a:cxnLst/>
            <a:rect l="0" t="0" r="0" b="0"/>
            <a:pathLst>
              <a:path w="228600" h="228600">
                <a:moveTo>
                  <a:pt x="133350" y="47625"/>
                </a:moveTo>
                <a:lnTo>
                  <a:pt x="180975" y="95250"/>
                </a:lnTo>
              </a:path>
            </a:pathLst>
          </a:custGeom>
          <a:noFill/>
          <a:ln w="19050">
            <a:solidFill>
              <a:srgbClr val="166447"/>
            </a:solidFill>
            <a:prstDash val="solid"/>
          </a:ln>
        </p:spPr>
        <p:txBody>
          <a:bodyPr/>
          <a:lstStyle/>
          <a:p>
            <a:endParaRPr lang="en-US"/>
          </a:p>
        </p:txBody>
      </p:sp>
      <p:sp>
        <p:nvSpPr>
          <p:cNvPr id="13" name="!!custody-1-icon-2">
            <a:extLst>
              <a:ext uri="{FF2B5EF4-FFF2-40B4-BE49-F238E27FC236}">
                <a16:creationId xmlns:a16="http://schemas.microsoft.com/office/drawing/2014/main" id="{CC83A4E3-066F-46F6-AD60-DCA42988CE1E}"/>
              </a:ext>
            </a:extLst>
          </p:cNvPr>
          <p:cNvSpPr>
            <a:spLocks noGrp="1"/>
          </p:cNvSpPr>
          <p:nvPr/>
        </p:nvSpPr>
        <p:spPr>
          <a:xfrm>
            <a:off x="788670" y="3322320"/>
            <a:ext cx="308610" cy="308610"/>
          </a:xfrm>
          <a:custGeom>
            <a:avLst/>
            <a:gdLst/>
            <a:ahLst/>
            <a:cxnLst/>
            <a:rect l="0" t="0" r="0" b="0"/>
            <a:pathLst>
              <a:path w="228600" h="228600">
                <a:moveTo>
                  <a:pt x="95250" y="209550"/>
                </a:moveTo>
                <a:lnTo>
                  <a:pt x="209550" y="209550"/>
                </a:lnTo>
              </a:path>
            </a:pathLst>
          </a:custGeom>
          <a:noFill/>
          <a:ln w="19050">
            <a:solidFill>
              <a:srgbClr val="166447"/>
            </a:solidFill>
            <a:prstDash val="solid"/>
          </a:ln>
        </p:spPr>
        <p:txBody>
          <a:bodyPr/>
          <a:lstStyle/>
          <a:p>
            <a:endParaRPr lang="en-US"/>
          </a:p>
        </p:txBody>
      </p:sp>
      <p:cxnSp>
        <p:nvCxnSpPr>
          <p:cNvPr id="40" name="!!connector-12-0"/>
          <p:cNvCxnSpPr>
            <a:stCxn id="4" idx="4"/>
            <a:endCxn id="10" idx="0"/>
          </p:cNvCxnSpPr>
          <p:nvPr/>
        </p:nvCxnSpPr>
        <p:spPr>
          <a:xfrm>
            <a:off x="942975" y="2619375"/>
            <a:ext cx="0" cy="571500"/>
          </a:xfrm>
          <a:prstGeom prst="straightConnector1">
            <a:avLst/>
          </a:prstGeom>
          <a:ln w="19050">
            <a:solidFill>
              <a:srgbClr val="166447"/>
            </a:solidFill>
            <a:prstDash val="solid"/>
            <a:tailEnd type="arrow" w="med" len="med"/>
          </a:ln>
        </p:spPr>
      </p:cxnSp>
      <p:sp>
        <p:nvSpPr>
          <p:cNvPr id="15" name="!!custody-1-label">
            <a:extLst>
              <a:ext uri="{FF2B5EF4-FFF2-40B4-BE49-F238E27FC236}">
                <a16:creationId xmlns:a16="http://schemas.microsoft.com/office/drawing/2014/main" id="{F393BCD2-C40B-46A3-B99F-7265222616A5}"/>
              </a:ext>
            </a:extLst>
          </p:cNvPr>
          <p:cNvSpPr>
            <a:spLocks noGrp="1"/>
          </p:cNvSpPr>
          <p:nvPr/>
        </p:nvSpPr>
        <p:spPr>
          <a:xfrm>
            <a:off x="1447800" y="3171825"/>
            <a:ext cx="4095750" cy="55245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a:ext uri="{FF2B5EF4-FFF2-40B4-BE49-F238E27FC236}">
                <a16:creationId xmlns:a16="http://schemas.microsoft.com/office/drawing/2014/main" id="{1B93A061-C630-46C5-AD5A-791A14144454}"/>
              </a:ext>
            </a:extLst>
          </p:cNvPr>
          <p:cNvSpPr>
            <a:spLocks noGrp="1"/>
          </p:cNvSpPr>
          <p:nvPr/>
        </p:nvSpPr>
        <p:spPr>
          <a:xfrm>
            <a:off x="1447800" y="3743325"/>
            <a:ext cx="4095750" cy="5143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a:ext uri="{FF2B5EF4-FFF2-40B4-BE49-F238E27FC236}">
                <a16:creationId xmlns:a16="http://schemas.microsoft.com/office/drawing/2014/main" id="{BB079700-BCE0-48A5-9C65-B4D79722D56C}"/>
              </a:ext>
            </a:extLst>
          </p:cNvPr>
          <p:cNvSpPr>
            <a:spLocks noGrp="1"/>
          </p:cNvSpPr>
          <p:nvPr/>
        </p:nvSpPr>
        <p:spPr>
          <a:xfrm>
            <a:off x="581025" y="4257675"/>
            <a:ext cx="723900" cy="723900"/>
          </a:xfrm>
          <a:prstGeom prst="ellipse">
            <a:avLst/>
          </a:prstGeom>
          <a:solidFill>
            <a:srgbClr val="166447"/>
          </a:solidFill>
          <a:ln w="28575">
            <a:solidFill>
              <a:srgbClr val="C8A45B"/>
            </a:solidFill>
          </a:ln>
        </p:spPr>
        <p:txBody>
          <a:bodyPr/>
          <a:lstStyle/>
          <a:p>
            <a:endParaRPr lang="en-US"/>
          </a:p>
        </p:txBody>
      </p:sp>
      <p:sp>
        <p:nvSpPr>
          <p:cNvPr id="18" name="!!custody-2-icon-0">
            <a:extLst>
              <a:ext uri="{FF2B5EF4-FFF2-40B4-BE49-F238E27FC236}">
                <a16:creationId xmlns:a16="http://schemas.microsoft.com/office/drawing/2014/main" id="{F748C772-C275-4FA5-BBD5-44B8A5A6899D}"/>
              </a:ext>
            </a:extLst>
          </p:cNvPr>
          <p:cNvSpPr>
            <a:spLocks noGrp="1"/>
          </p:cNvSpPr>
          <p:nvPr/>
        </p:nvSpPr>
        <p:spPr>
          <a:xfrm>
            <a:off x="747522" y="4424172"/>
            <a:ext cx="390906" cy="390906"/>
          </a:xfrm>
          <a:custGeom>
            <a:avLst/>
            <a:gdLst/>
            <a:ahLst/>
            <a:cxnLst/>
            <a:rect l="0" t="0" r="0" b="0"/>
            <a:pathLst>
              <a:path w="228600" h="228600">
                <a:moveTo>
                  <a:pt x="28575" y="66675"/>
                </a:moveTo>
                <a:lnTo>
                  <a:pt x="114300" y="19050"/>
                </a:lnTo>
                <a:lnTo>
                  <a:pt x="200025" y="66675"/>
                </a:lnTo>
                <a:lnTo>
                  <a:pt x="200025" y="161925"/>
                </a:lnTo>
                <a:lnTo>
                  <a:pt x="114300" y="209550"/>
                </a:lnTo>
                <a:lnTo>
                  <a:pt x="28575" y="161925"/>
                </a:lnTo>
                <a:close/>
              </a:path>
            </a:pathLst>
          </a:custGeom>
          <a:noFill/>
          <a:ln w="19050">
            <a:solidFill>
              <a:srgbClr val="FFFFFF"/>
            </a:solidFill>
            <a:prstDash val="solid"/>
          </a:ln>
        </p:spPr>
        <p:txBody>
          <a:bodyPr/>
          <a:lstStyle/>
          <a:p>
            <a:endParaRPr lang="en-US"/>
          </a:p>
        </p:txBody>
      </p:sp>
      <p:sp>
        <p:nvSpPr>
          <p:cNvPr id="19" name="!!custody-2-icon-1">
            <a:extLst>
              <a:ext uri="{FF2B5EF4-FFF2-40B4-BE49-F238E27FC236}">
                <a16:creationId xmlns:a16="http://schemas.microsoft.com/office/drawing/2014/main" id="{4AD3AF33-FEF7-4DB0-96A7-5EB815F9C509}"/>
              </a:ext>
            </a:extLst>
          </p:cNvPr>
          <p:cNvSpPr>
            <a:spLocks noGrp="1"/>
          </p:cNvSpPr>
          <p:nvPr/>
        </p:nvSpPr>
        <p:spPr>
          <a:xfrm>
            <a:off x="747522" y="4424172"/>
            <a:ext cx="390906" cy="390906"/>
          </a:xfrm>
          <a:custGeom>
            <a:avLst/>
            <a:gdLst/>
            <a:ahLst/>
            <a:cxnLst/>
            <a:rect l="0" t="0" r="0" b="0"/>
            <a:pathLst>
              <a:path w="228600" h="228600">
                <a:moveTo>
                  <a:pt x="28575" y="66675"/>
                </a:moveTo>
                <a:lnTo>
                  <a:pt x="114300" y="114300"/>
                </a:lnTo>
                <a:lnTo>
                  <a:pt x="200025" y="66675"/>
                </a:lnTo>
              </a:path>
            </a:pathLst>
          </a:custGeom>
          <a:noFill/>
          <a:ln w="19050">
            <a:solidFill>
              <a:srgbClr val="FFFFFF"/>
            </a:solidFill>
            <a:prstDash val="solid"/>
          </a:ln>
        </p:spPr>
        <p:txBody>
          <a:bodyPr/>
          <a:lstStyle/>
          <a:p>
            <a:endParaRPr lang="en-US"/>
          </a:p>
        </p:txBody>
      </p:sp>
      <p:sp>
        <p:nvSpPr>
          <p:cNvPr id="20" name="!!custody-2-icon-2">
            <a:extLst>
              <a:ext uri="{FF2B5EF4-FFF2-40B4-BE49-F238E27FC236}">
                <a16:creationId xmlns:a16="http://schemas.microsoft.com/office/drawing/2014/main" id="{774A27F5-84C4-447B-80A1-E4279CCCF50E}"/>
              </a:ext>
            </a:extLst>
          </p:cNvPr>
          <p:cNvSpPr>
            <a:spLocks noGrp="1"/>
          </p:cNvSpPr>
          <p:nvPr/>
        </p:nvSpPr>
        <p:spPr>
          <a:xfrm>
            <a:off x="747522" y="4424172"/>
            <a:ext cx="390906" cy="390906"/>
          </a:xfrm>
          <a:custGeom>
            <a:avLst/>
            <a:gdLst/>
            <a:ahLst/>
            <a:cxnLst/>
            <a:rect l="0" t="0" r="0" b="0"/>
            <a:pathLst>
              <a:path w="228600" h="228600">
                <a:moveTo>
                  <a:pt x="114300" y="114300"/>
                </a:moveTo>
                <a:lnTo>
                  <a:pt x="114300" y="209550"/>
                </a:lnTo>
              </a:path>
            </a:pathLst>
          </a:custGeom>
          <a:noFill/>
          <a:ln w="19050">
            <a:solidFill>
              <a:srgbClr val="FFFFFF"/>
            </a:solidFill>
            <a:prstDash val="solid"/>
          </a:ln>
        </p:spPr>
        <p:txBody>
          <a:bodyPr/>
          <a:lstStyle/>
          <a:p>
            <a:endParaRPr lang="en-US"/>
          </a:p>
        </p:txBody>
      </p:sp>
      <p:cxnSp>
        <p:nvCxnSpPr>
          <p:cNvPr id="47" name="!!connector-12-1"/>
          <p:cNvCxnSpPr>
            <a:stCxn id="10" idx="4"/>
            <a:endCxn id="17" idx="0"/>
          </p:cNvCxnSpPr>
          <p:nvPr/>
        </p:nvCxnSpPr>
        <p:spPr>
          <a:xfrm>
            <a:off x="942975" y="3762375"/>
            <a:ext cx="0" cy="495300"/>
          </a:xfrm>
          <a:prstGeom prst="straightConnector1">
            <a:avLst/>
          </a:prstGeom>
          <a:ln w="19050">
            <a:solidFill>
              <a:srgbClr val="166447"/>
            </a:solidFill>
            <a:prstDash val="solid"/>
            <a:tailEnd type="arrow" w="med" len="med"/>
          </a:ln>
        </p:spPr>
      </p:cxnSp>
      <p:sp>
        <p:nvSpPr>
          <p:cNvPr id="22" name="!!custody-2-label">
            <a:extLst>
              <a:ext uri="{FF2B5EF4-FFF2-40B4-BE49-F238E27FC236}">
                <a16:creationId xmlns:a16="http://schemas.microsoft.com/office/drawing/2014/main" id="{12F8FF10-2972-4A69-9C53-BC2E1767D3E8}"/>
              </a:ext>
            </a:extLst>
          </p:cNvPr>
          <p:cNvSpPr>
            <a:spLocks noGrp="1"/>
          </p:cNvSpPr>
          <p:nvPr/>
        </p:nvSpPr>
        <p:spPr>
          <a:xfrm>
            <a:off x="1447800" y="4314825"/>
            <a:ext cx="4095750" cy="552450"/>
          </a:xfrm>
          <a:prstGeom prst="rect">
            <a:avLst/>
          </a:prstGeom>
          <a:noFill/>
          <a:ln w="0">
            <a:noFill/>
          </a:ln>
        </p:spPr>
        <p:txBody>
          <a:bodyPr wrap="square" lIns="0" tIns="0" rIns="0" bIns="0" anchor="t">
            <a:normAutofit/>
          </a:bodyPr>
          <a:lstStyle/>
          <a:p>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a:ext uri="{FF2B5EF4-FFF2-40B4-BE49-F238E27FC236}">
                <a16:creationId xmlns:a16="http://schemas.microsoft.com/office/drawing/2014/main" id="{134A8239-6CF5-4C07-B2B2-33C145D92028}"/>
              </a:ext>
            </a:extLst>
          </p:cNvPr>
          <p:cNvSpPr>
            <a:spLocks noGrp="1"/>
          </p:cNvSpPr>
          <p:nvPr/>
        </p:nvSpPr>
        <p:spPr>
          <a:xfrm>
            <a:off x="1447800" y="4886325"/>
            <a:ext cx="4095750" cy="5143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a:ext uri="{FF2B5EF4-FFF2-40B4-BE49-F238E27FC236}">
                <a16:creationId xmlns:a16="http://schemas.microsoft.com/office/drawing/2014/main" id="{44DE6038-108E-461E-89F2-709B6BE4642A}"/>
              </a:ext>
            </a:extLst>
          </p:cNvPr>
          <p:cNvSpPr>
            <a:spLocks noGrp="1"/>
          </p:cNvSpPr>
          <p:nvPr/>
        </p:nvSpPr>
        <p:spPr>
          <a:xfrm>
            <a:off x="609600" y="5581650"/>
            <a:ext cx="5619750" cy="723900"/>
          </a:xfrm>
          <a:prstGeom prst="rect">
            <a:avLst/>
          </a:prstGeom>
          <a:noFill/>
          <a:ln w="0">
            <a:noFill/>
          </a:ln>
        </p:spPr>
        <p:txBody>
          <a:bodyPr wrap="square" lIns="0" tIns="0" rIns="0" bIns="0" anchor="t">
            <a:normAutofit/>
          </a:bodyPr>
          <a:lstStyle/>
          <a:p>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a:ext uri="{FF2B5EF4-FFF2-40B4-BE49-F238E27FC236}">
                <a16:creationId xmlns:a16="http://schemas.microsoft.com/office/drawing/2014/main" id="{47F99256-C6CB-489B-9756-A39B2ADF5D65}"/>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07 / 10</a:t>
            </a:r>
          </a:p>
        </p:txBody>
      </p:sp>
      <p:sp>
        <p:nvSpPr>
          <p:cNvPr id="26" name="!!caption">
            <a:extLst>
              <a:ext uri="{FF2B5EF4-FFF2-40B4-BE49-F238E27FC236}">
                <a16:creationId xmlns:a16="http://schemas.microsoft.com/office/drawing/2014/main" id="{587A06B3-5A8F-4095-B069-D2E0910C9C62}"/>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noChangeAspect="1"/>
          </p:cNvPicPr>
          <p:nvPr/>
        </p:nvPicPr>
        <p:blipFill>
          <a:blip r:embed="rId4"/>
          <a:srcRect/>
          <a:stretch>
            <a:fillRect/>
          </a:stretch>
        </p:blipFill>
        <p:spPr>
          <a:xfrm>
            <a:off x="686685" y="1544433"/>
            <a:ext cx="304800" cy="304800"/>
          </a:xfrm>
          <a:prstGeom prst="rect">
            <a:avLst/>
          </a:prstGeom>
        </p:spPr>
      </p:pic>
      <p:sp>
        <p:nvSpPr>
          <p:cNvPr id="49" name="!!tech-label-rust">
            <a:extLst>
              <a:ext uri="{FF2B5EF4-FFF2-40B4-BE49-F238E27FC236}">
                <a16:creationId xmlns:a16="http://schemas.microsoft.com/office/drawing/2014/main" id="{C0B316C9-FB1F-47D6-89DD-A327E9D0299F}"/>
              </a:ext>
            </a:extLst>
          </p:cNvPr>
          <p:cNvSpPr>
            <a:spLocks noGrp="1"/>
          </p:cNvSpPr>
          <p:nvPr/>
        </p:nvSpPr>
        <p:spPr>
          <a:xfrm>
            <a:off x="942975" y="1504950"/>
            <a:ext cx="647700" cy="352425"/>
          </a:xfrm>
          <a:prstGeom prst="rect">
            <a:avLst/>
          </a:prstGeom>
          <a:noFill/>
          <a:ln w="0">
            <a:noFill/>
          </a:ln>
        </p:spPr>
        <p:txBody>
          <a:bodyPr>
            <a:noAutofit/>
          </a:bodyPr>
          <a:lstStyle/>
          <a:p>
            <a:pPr>
              <a:defRPr sz="1575" b="1">
                <a:solidFill>
                  <a:srgbClr val="176F52"/>
                </a:solidFill>
                <a:latin typeface="Aptos"/>
                <a:ea typeface="Aptos"/>
                <a:cs typeface="Aptos"/>
              </a:defRPr>
            </a:pPr>
            <a:r>
              <a:rPr sz="1575" b="1" dirty="0">
                <a:solidFill>
                  <a:srgbClr val="176F52"/>
                </a:solidFill>
                <a:latin typeface="Aptos"/>
                <a:ea typeface="Aptos"/>
                <a:cs typeface="Aptos"/>
              </a:rPr>
              <a:t>Rust</a:t>
            </a:r>
          </a:p>
        </p:txBody>
      </p:sp>
      <p:pic>
        <p:nvPicPr>
          <p:cNvPr id="50" name="!!tech-logo-anchor" descr="anchor technology logo"/>
          <p:cNvPicPr>
            <a:picLocks noChangeAspect="1"/>
          </p:cNvPicPr>
          <p:nvPr/>
        </p:nvPicPr>
        <p:blipFill>
          <a:blip r:embed="rId5"/>
          <a:srcRect/>
          <a:stretch>
            <a:fillRect/>
          </a:stretch>
        </p:blipFill>
        <p:spPr>
          <a:xfrm>
            <a:off x="1738393" y="1495425"/>
            <a:ext cx="304800" cy="304800"/>
          </a:xfrm>
          <a:prstGeom prst="rect">
            <a:avLst/>
          </a:prstGeom>
        </p:spPr>
      </p:pic>
      <p:sp>
        <p:nvSpPr>
          <p:cNvPr id="51" name="!!tech-label-anchor">
            <a:extLst>
              <a:ext uri="{FF2B5EF4-FFF2-40B4-BE49-F238E27FC236}">
                <a16:creationId xmlns:a16="http://schemas.microsoft.com/office/drawing/2014/main" id="{82178C72-A994-4D6C-A18E-7CA5B5309412}"/>
              </a:ext>
            </a:extLst>
          </p:cNvPr>
          <p:cNvSpPr>
            <a:spLocks noGrp="1"/>
          </p:cNvSpPr>
          <p:nvPr/>
        </p:nvSpPr>
        <p:spPr>
          <a:xfrm>
            <a:off x="2047875" y="1504950"/>
            <a:ext cx="1362075" cy="352425"/>
          </a:xfrm>
          <a:prstGeom prst="rect">
            <a:avLst/>
          </a:prstGeom>
          <a:noFill/>
          <a:ln w="0">
            <a:noFill/>
          </a:ln>
        </p:spPr>
        <p:txBody>
          <a:bodyPr>
            <a:noAutofit/>
          </a:bodyPr>
          <a:lstStyle/>
          <a:p>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noChangeAspect="1"/>
          </p:cNvPicPr>
          <p:nvPr/>
        </p:nvPicPr>
        <p:blipFill>
          <a:blip r:embed="rId6"/>
          <a:srcRect/>
          <a:stretch>
            <a:fillRect/>
          </a:stretch>
        </p:blipFill>
        <p:spPr>
          <a:xfrm>
            <a:off x="3495675" y="1514973"/>
            <a:ext cx="304800" cy="265705"/>
          </a:xfrm>
          <a:prstGeom prst="rect">
            <a:avLst/>
          </a:prstGeom>
        </p:spPr>
      </p:pic>
      <p:sp>
        <p:nvSpPr>
          <p:cNvPr id="53" name="!!tech-label-solana">
            <a:extLst>
              <a:ext uri="{FF2B5EF4-FFF2-40B4-BE49-F238E27FC236}">
                <a16:creationId xmlns:a16="http://schemas.microsoft.com/office/drawing/2014/main" id="{06A2388B-CCED-42E4-BF8A-BA8B5E2D6D3F}"/>
              </a:ext>
            </a:extLst>
          </p:cNvPr>
          <p:cNvSpPr>
            <a:spLocks noGrp="1"/>
          </p:cNvSpPr>
          <p:nvPr/>
        </p:nvSpPr>
        <p:spPr>
          <a:xfrm>
            <a:off x="3895725" y="1504950"/>
            <a:ext cx="1866900" cy="352425"/>
          </a:xfrm>
          <a:prstGeom prst="rect">
            <a:avLst/>
          </a:prstGeom>
          <a:noFill/>
          <a:ln w="0">
            <a:noFill/>
          </a:ln>
        </p:spPr>
        <p:txBody>
          <a:bodyPr>
            <a:noAutofit/>
          </a:bodyPr>
          <a:lstStyle/>
          <a:p>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06438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0"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E7FA9518-BF3F-437B-A6E7-5AE5E2E1135B}"/>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noChangeAspect="1"/>
          </p:cNvPicPr>
          <p:nvPr/>
        </p:nvPicPr>
        <p:blipFill>
          <a:blip r:embed="rId4"/>
          <a:stretch/>
        </p:blipFill>
        <p:spPr>
          <a:xfrm>
            <a:off x="5524500" y="2078543"/>
            <a:ext cx="6000750" cy="3377188"/>
          </a:xfrm>
          <a:prstGeom prst="rect">
            <a:avLst/>
          </a:prstGeom>
        </p:spPr>
      </p:pic>
      <p:sp>
        <p:nvSpPr>
          <p:cNvPr id="16" name="!!leaf-limit">
            <a:extLst>
              <a:ext uri="{FF2B5EF4-FFF2-40B4-BE49-F238E27FC236}">
                <a16:creationId xmlns:a16="http://schemas.microsoft.com/office/drawing/2014/main" id="{627D00F8-E261-4033-BDF6-9135197D9B52}"/>
              </a:ext>
            </a:extLst>
          </p:cNvPr>
          <p:cNvSpPr>
            <a:spLocks noGrp="1"/>
          </p:cNvSpPr>
          <p:nvPr/>
        </p:nvSpPr>
        <p:spPr>
          <a:xfrm>
            <a:off x="609600" y="2400300"/>
            <a:ext cx="4495800" cy="1200150"/>
          </a:xfrm>
          <a:prstGeom prst="rect">
            <a:avLst/>
          </a:prstGeom>
          <a:noFill/>
          <a:ln w="0">
            <a:noFill/>
          </a:ln>
        </p:spPr>
        <p:txBody>
          <a:bodyPr wrap="square" lIns="0" tIns="0" rIns="0" bIns="0" anchor="t">
            <a:normAutofit/>
          </a:bodyPr>
          <a:lstStyle/>
          <a:p>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a:ext uri="{FF2B5EF4-FFF2-40B4-BE49-F238E27FC236}">
                <a16:creationId xmlns:a16="http://schemas.microsoft.com/office/drawing/2014/main" id="{D9C1DA34-3783-49BD-A4AD-C0FCE06F74F1}"/>
              </a:ext>
            </a:extLst>
          </p:cNvPr>
          <p:cNvSpPr>
            <a:spLocks noGrp="1"/>
          </p:cNvSpPr>
          <p:nvPr/>
        </p:nvSpPr>
        <p:spPr>
          <a:xfrm>
            <a:off x="609600" y="4171950"/>
            <a:ext cx="4495800" cy="1095375"/>
          </a:xfrm>
          <a:prstGeom prst="rect">
            <a:avLst/>
          </a:prstGeom>
          <a:noFill/>
          <a:ln w="0">
            <a:noFill/>
          </a:ln>
        </p:spPr>
        <p:txBody>
          <a:bodyPr wrap="square" lIns="0" tIns="0" rIns="0" bIns="0" anchor="t">
            <a:normAutofit/>
          </a:bodyPr>
          <a:lstStyle/>
          <a:p>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a:ext uri="{FF2B5EF4-FFF2-40B4-BE49-F238E27FC236}">
                <a16:creationId xmlns:a16="http://schemas.microsoft.com/office/drawing/2014/main" id="{7ABAD889-7375-425D-B909-7E0C5C864CF8}"/>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08 / 10</a:t>
            </a:r>
          </a:p>
        </p:txBody>
      </p:sp>
      <p:sp>
        <p:nvSpPr>
          <p:cNvPr id="19" name="!!caption">
            <a:extLst>
              <a:ext uri="{FF2B5EF4-FFF2-40B4-BE49-F238E27FC236}">
                <a16:creationId xmlns:a16="http://schemas.microsoft.com/office/drawing/2014/main" id="{5129D993-F0EB-4E45-99B0-58A7D1224AC8}"/>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noChangeAspect="1"/>
          </p:cNvPicPr>
          <p:nvPr/>
        </p:nvPicPr>
        <p:blipFill>
          <a:blip r:embed="rId5"/>
          <a:srcRect l="9924" t="23439" r="9336" b="27816"/>
          <a:stretch>
            <a:fillRect/>
          </a:stretch>
        </p:blipFill>
        <p:spPr>
          <a:xfrm>
            <a:off x="930289" y="1571625"/>
            <a:ext cx="1682721" cy="571500"/>
          </a:xfrm>
          <a:prstGeom prst="rect">
            <a:avLst/>
          </a:prstGeom>
        </p:spPr>
      </p:pic>
      <p:pic>
        <p:nvPicPr>
          <p:cNvPr id="36" name="!!tech-logo-fastapi-teal" descr="fastapi-teal technology logo"/>
          <p:cNvPicPr>
            <a:picLocks noChangeAspect="1"/>
          </p:cNvPicPr>
          <p:nvPr/>
        </p:nvPicPr>
        <p:blipFill>
          <a:blip r:embed="rId6"/>
          <a:srcRect l="11621" t="30352" r="11621" b="30352"/>
          <a:stretch>
            <a:fillRect/>
          </a:stretch>
        </p:blipFill>
        <p:spPr>
          <a:xfrm>
            <a:off x="3238500" y="1653824"/>
            <a:ext cx="2000250" cy="369003"/>
          </a:xfrm>
          <a:prstGeom prst="rect">
            <a:avLst/>
          </a:prstGeom>
        </p:spPr>
      </p:pic>
    </p:spTree>
    <p:extLst>
      <p:ext uri="{BB962C8B-B14F-4D97-AF65-F5344CB8AC3E}">
        <p14:creationId xmlns:p14="http://schemas.microsoft.com/office/powerpoint/2010/main" val="381413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22"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C7A8D730-FB06-4E4E-AED6-C59D68D9B00B}"/>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FDCA456E-BDBE-4F6F-92A4-89FAD96F9C90}"/>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Trạng thái MVP và pilot</a:t>
            </a:r>
          </a:p>
        </p:txBody>
      </p:sp>
      <p:sp>
        <p:nvSpPr>
          <p:cNvPr id="4" name="!!pilot-start-selection">
            <a:extLst>
              <a:ext uri="{FF2B5EF4-FFF2-40B4-BE49-F238E27FC236}">
                <a16:creationId xmlns:a16="http://schemas.microsoft.com/office/drawing/2014/main" id="{BB66DD87-D841-4F07-B1A2-3FF723B3DE65}"/>
              </a:ext>
            </a:extLst>
          </p:cNvPr>
          <p:cNvSpPr>
            <a:spLocks noGrp="1"/>
          </p:cNvSpPr>
          <p:nvPr/>
        </p:nvSpPr>
        <p:spPr>
          <a:xfrm>
            <a:off x="666750" y="2190750"/>
            <a:ext cx="571500" cy="571500"/>
          </a:xfrm>
          <a:prstGeom prst="ellipse">
            <a:avLst/>
          </a:prstGeom>
          <a:solidFill>
            <a:srgbClr val="183A2C"/>
          </a:solidFill>
          <a:ln w="9525">
            <a:solidFill>
              <a:srgbClr val="A3BCAB"/>
            </a:solidFill>
          </a:ln>
        </p:spPr>
        <p:txBody>
          <a:bodyPr/>
          <a:lstStyle/>
          <a:p>
            <a:endParaRPr lang="en-US"/>
          </a:p>
        </p:txBody>
      </p:sp>
      <p:sp>
        <p:nvSpPr>
          <p:cNvPr id="5" name="!!pilot-start-icon-0">
            <a:extLst>
              <a:ext uri="{FF2B5EF4-FFF2-40B4-BE49-F238E27FC236}">
                <a16:creationId xmlns:a16="http://schemas.microsoft.com/office/drawing/2014/main" id="{CA565E7F-7304-4776-8400-32C1056D4EDE}"/>
              </a:ext>
            </a:extLst>
          </p:cNvPr>
          <p:cNvSpPr>
            <a:spLocks noGrp="1"/>
          </p:cNvSpPr>
          <p:nvPr/>
        </p:nvSpPr>
        <p:spPr>
          <a:xfrm>
            <a:off x="901065" y="2347913"/>
            <a:ext cx="102870" cy="102870"/>
          </a:xfrm>
          <a:prstGeom prst="ellipse">
            <a:avLst/>
          </a:prstGeom>
          <a:noFill/>
          <a:ln w="19050">
            <a:solidFill>
              <a:srgbClr val="A3BCAB"/>
            </a:solidFill>
            <a:prstDash val="solid"/>
          </a:ln>
        </p:spPr>
        <p:txBody>
          <a:bodyPr/>
          <a:lstStyle/>
          <a:p>
            <a:endParaRPr lang="en-US"/>
          </a:p>
        </p:txBody>
      </p:sp>
      <p:sp>
        <p:nvSpPr>
          <p:cNvPr id="6" name="!!pilot-start-icon-1">
            <a:extLst>
              <a:ext uri="{FF2B5EF4-FFF2-40B4-BE49-F238E27FC236}">
                <a16:creationId xmlns:a16="http://schemas.microsoft.com/office/drawing/2014/main" id="{63133A5D-E4B4-4623-9F86-A1734BAD9AE1}"/>
              </a:ext>
            </a:extLst>
          </p:cNvPr>
          <p:cNvSpPr>
            <a:spLocks noGrp="1"/>
          </p:cNvSpPr>
          <p:nvPr/>
        </p:nvSpPr>
        <p:spPr>
          <a:xfrm>
            <a:off x="849630" y="2489359"/>
            <a:ext cx="205740" cy="115729"/>
          </a:xfrm>
          <a:prstGeom prst="roundRect">
            <a:avLst>
              <a:gd name="adj" fmla="val 50000"/>
            </a:avLst>
          </a:prstGeom>
          <a:noFill/>
          <a:ln w="19050">
            <a:solidFill>
              <a:srgbClr val="A3BCAB"/>
            </a:solidFill>
            <a:prstDash val="solid"/>
          </a:ln>
        </p:spPr>
        <p:txBody>
          <a:bodyPr/>
          <a:lstStyle/>
          <a:p>
            <a:endParaRPr lang="en-US"/>
          </a:p>
        </p:txBody>
      </p:sp>
      <p:sp>
        <p:nvSpPr>
          <p:cNvPr id="7" name="!!pilot-start-label">
            <a:extLst>
              <a:ext uri="{FF2B5EF4-FFF2-40B4-BE49-F238E27FC236}">
                <a16:creationId xmlns:a16="http://schemas.microsoft.com/office/drawing/2014/main" id="{B3AADED3-5533-4224-BE8C-996B55865D40}"/>
              </a:ext>
            </a:extLst>
          </p:cNvPr>
          <p:cNvSpPr>
            <a:spLocks noGrp="1"/>
          </p:cNvSpPr>
          <p:nvPr/>
        </p:nvSpPr>
        <p:spPr>
          <a:xfrm>
            <a:off x="1524000" y="2133600"/>
            <a:ext cx="4562475"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a:ext uri="{FF2B5EF4-FFF2-40B4-BE49-F238E27FC236}">
                <a16:creationId xmlns:a16="http://schemas.microsoft.com/office/drawing/2014/main" id="{81643FEF-AD59-4DE1-91D9-A504E7D19C1C}"/>
              </a:ext>
            </a:extLst>
          </p:cNvPr>
          <p:cNvSpPr>
            <a:spLocks noGrp="1"/>
          </p:cNvSpPr>
          <p:nvPr/>
        </p:nvSpPr>
        <p:spPr>
          <a:xfrm>
            <a:off x="1524000" y="2705100"/>
            <a:ext cx="4562475"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a:ext uri="{FF2B5EF4-FFF2-40B4-BE49-F238E27FC236}">
                <a16:creationId xmlns:a16="http://schemas.microsoft.com/office/drawing/2014/main" id="{E962CE5C-09BF-4686-8250-D57E1D803620}"/>
              </a:ext>
            </a:extLst>
          </p:cNvPr>
          <p:cNvSpPr>
            <a:spLocks noGrp="1"/>
          </p:cNvSpPr>
          <p:nvPr/>
        </p:nvSpPr>
        <p:spPr>
          <a:xfrm>
            <a:off x="666750" y="3429000"/>
            <a:ext cx="571500" cy="571500"/>
          </a:xfrm>
          <a:prstGeom prst="ellipse">
            <a:avLst/>
          </a:prstGeom>
          <a:solidFill>
            <a:srgbClr val="183A2C"/>
          </a:solidFill>
          <a:ln w="9525">
            <a:solidFill>
              <a:srgbClr val="A3BCAB"/>
            </a:solidFill>
          </a:ln>
        </p:spPr>
        <p:txBody>
          <a:bodyPr/>
          <a:lstStyle/>
          <a:p>
            <a:endParaRPr lang="en-US"/>
          </a:p>
        </p:txBody>
      </p:sp>
      <p:sp>
        <p:nvSpPr>
          <p:cNvPr id="10" name="!!pilot-measure-icon-0">
            <a:extLst>
              <a:ext uri="{FF2B5EF4-FFF2-40B4-BE49-F238E27FC236}">
                <a16:creationId xmlns:a16="http://schemas.microsoft.com/office/drawing/2014/main" id="{10F0826C-7FB0-4041-A2C1-C05FC98BBD55}"/>
              </a:ext>
            </a:extLst>
          </p:cNvPr>
          <p:cNvSpPr>
            <a:spLocks noGrp="1"/>
          </p:cNvSpPr>
          <p:nvPr/>
        </p:nvSpPr>
        <p:spPr>
          <a:xfrm>
            <a:off x="823913" y="3586163"/>
            <a:ext cx="257175" cy="257175"/>
          </a:xfrm>
          <a:prstGeom prst="ellipse">
            <a:avLst/>
          </a:prstGeom>
          <a:noFill/>
          <a:ln w="19050">
            <a:solidFill>
              <a:srgbClr val="A3BCAB"/>
            </a:solidFill>
            <a:prstDash val="solid"/>
          </a:ln>
        </p:spPr>
        <p:txBody>
          <a:bodyPr/>
          <a:lstStyle/>
          <a:p>
            <a:endParaRPr lang="en-US"/>
          </a:p>
        </p:txBody>
      </p:sp>
      <p:sp>
        <p:nvSpPr>
          <p:cNvPr id="11" name="!!pilot-measure-icon-1">
            <a:extLst>
              <a:ext uri="{FF2B5EF4-FFF2-40B4-BE49-F238E27FC236}">
                <a16:creationId xmlns:a16="http://schemas.microsoft.com/office/drawing/2014/main" id="{ED966982-A8E2-413E-A343-B7534B96A1DC}"/>
              </a:ext>
            </a:extLst>
          </p:cNvPr>
          <p:cNvSpPr>
            <a:spLocks noGrp="1"/>
          </p:cNvSpPr>
          <p:nvPr/>
        </p:nvSpPr>
        <p:spPr>
          <a:xfrm>
            <a:off x="798195" y="3560445"/>
            <a:ext cx="308610" cy="308610"/>
          </a:xfrm>
          <a:custGeom>
            <a:avLst/>
            <a:gdLst/>
            <a:ahLst/>
            <a:cxnLst/>
            <a:rect l="0" t="0" r="0" b="0"/>
            <a:pathLst>
              <a:path w="228600" h="228600">
                <a:moveTo>
                  <a:pt x="114300" y="47625"/>
                </a:moveTo>
                <a:lnTo>
                  <a:pt x="114300" y="114300"/>
                </a:lnTo>
                <a:lnTo>
                  <a:pt x="161925" y="142875"/>
                </a:lnTo>
              </a:path>
            </a:pathLst>
          </a:custGeom>
          <a:noFill/>
          <a:ln w="19050">
            <a:solidFill>
              <a:srgbClr val="A3BCAB"/>
            </a:solidFill>
            <a:prstDash val="solid"/>
          </a:ln>
        </p:spPr>
        <p:txBody>
          <a:bodyPr/>
          <a:lstStyle/>
          <a:p>
            <a:endParaRPr lang="en-US"/>
          </a:p>
        </p:txBody>
      </p:sp>
      <p:sp>
        <p:nvSpPr>
          <p:cNvPr id="12" name="!!pilot-measure-label">
            <a:extLst>
              <a:ext uri="{FF2B5EF4-FFF2-40B4-BE49-F238E27FC236}">
                <a16:creationId xmlns:a16="http://schemas.microsoft.com/office/drawing/2014/main" id="{BBC75C94-F322-43F2-9D63-DABFEADD2585}"/>
              </a:ext>
            </a:extLst>
          </p:cNvPr>
          <p:cNvSpPr>
            <a:spLocks noGrp="1"/>
          </p:cNvSpPr>
          <p:nvPr/>
        </p:nvSpPr>
        <p:spPr>
          <a:xfrm>
            <a:off x="1524000" y="3371850"/>
            <a:ext cx="4562475"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a:ext uri="{FF2B5EF4-FFF2-40B4-BE49-F238E27FC236}">
                <a16:creationId xmlns:a16="http://schemas.microsoft.com/office/drawing/2014/main" id="{CE29CEE1-9A7F-42C9-819B-1CD680FA8220}"/>
              </a:ext>
            </a:extLst>
          </p:cNvPr>
          <p:cNvSpPr>
            <a:spLocks noGrp="1"/>
          </p:cNvSpPr>
          <p:nvPr/>
        </p:nvSpPr>
        <p:spPr>
          <a:xfrm>
            <a:off x="1524000" y="3943350"/>
            <a:ext cx="4562475"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a:ext uri="{FF2B5EF4-FFF2-40B4-BE49-F238E27FC236}">
                <a16:creationId xmlns:a16="http://schemas.microsoft.com/office/drawing/2014/main" id="{08B75FF3-7F29-4084-A8DD-6392F80B2895}"/>
              </a:ext>
            </a:extLst>
          </p:cNvPr>
          <p:cNvSpPr>
            <a:spLocks noGrp="1"/>
          </p:cNvSpPr>
          <p:nvPr/>
        </p:nvSpPr>
        <p:spPr>
          <a:xfrm>
            <a:off x="600075" y="4953000"/>
            <a:ext cx="723900" cy="723900"/>
          </a:xfrm>
          <a:prstGeom prst="ellipse">
            <a:avLst/>
          </a:prstGeom>
          <a:solidFill>
            <a:srgbClr val="166447"/>
          </a:solidFill>
          <a:ln w="28575">
            <a:solidFill>
              <a:srgbClr val="C8A45B"/>
            </a:solidFill>
          </a:ln>
        </p:spPr>
        <p:txBody>
          <a:bodyPr/>
          <a:lstStyle/>
          <a:p>
            <a:endParaRPr lang="en-US"/>
          </a:p>
        </p:txBody>
      </p:sp>
      <p:sp>
        <p:nvSpPr>
          <p:cNvPr id="15" name="!!payer-symbol-icon-0">
            <a:extLst>
              <a:ext uri="{FF2B5EF4-FFF2-40B4-BE49-F238E27FC236}">
                <a16:creationId xmlns:a16="http://schemas.microsoft.com/office/drawing/2014/main" id="{BE23DA3D-C2C1-4E3A-BDF6-FBF1479AE567}"/>
              </a:ext>
            </a:extLst>
          </p:cNvPr>
          <p:cNvSpPr>
            <a:spLocks noGrp="1"/>
          </p:cNvSpPr>
          <p:nvPr/>
        </p:nvSpPr>
        <p:spPr>
          <a:xfrm>
            <a:off x="799147" y="5200936"/>
            <a:ext cx="325755" cy="260604"/>
          </a:xfrm>
          <a:prstGeom prst="roundRect">
            <a:avLst>
              <a:gd name="adj" fmla="val 29240"/>
            </a:avLst>
          </a:prstGeom>
          <a:noFill/>
          <a:ln w="19050">
            <a:solidFill>
              <a:srgbClr val="FFFFFF"/>
            </a:solidFill>
            <a:prstDash val="solid"/>
          </a:ln>
        </p:spPr>
        <p:txBody>
          <a:bodyPr/>
          <a:lstStyle/>
          <a:p>
            <a:endParaRPr lang="en-US"/>
          </a:p>
        </p:txBody>
      </p:sp>
      <p:sp>
        <p:nvSpPr>
          <p:cNvPr id="16" name="!!payer-symbol-icon-1">
            <a:extLst>
              <a:ext uri="{FF2B5EF4-FFF2-40B4-BE49-F238E27FC236}">
                <a16:creationId xmlns:a16="http://schemas.microsoft.com/office/drawing/2014/main" id="{B1B0001B-07EF-4366-A9E0-F851E51DD4D1}"/>
              </a:ext>
            </a:extLst>
          </p:cNvPr>
          <p:cNvSpPr>
            <a:spLocks noGrp="1"/>
          </p:cNvSpPr>
          <p:nvPr/>
        </p:nvSpPr>
        <p:spPr>
          <a:xfrm>
            <a:off x="1010888" y="5298662"/>
            <a:ext cx="114014" cy="97727"/>
          </a:xfrm>
          <a:prstGeom prst="rect">
            <a:avLst/>
          </a:prstGeom>
          <a:noFill/>
          <a:ln w="19050">
            <a:solidFill>
              <a:srgbClr val="FFFFFF"/>
            </a:solidFill>
            <a:prstDash val="solid"/>
          </a:ln>
        </p:spPr>
        <p:txBody>
          <a:bodyPr/>
          <a:lstStyle/>
          <a:p>
            <a:endParaRPr lang="en-US"/>
          </a:p>
        </p:txBody>
      </p:sp>
      <p:sp>
        <p:nvSpPr>
          <p:cNvPr id="17" name="!!payer-symbol-icon-2">
            <a:extLst>
              <a:ext uri="{FF2B5EF4-FFF2-40B4-BE49-F238E27FC236}">
                <a16:creationId xmlns:a16="http://schemas.microsoft.com/office/drawing/2014/main" id="{5228A420-DFB9-48F4-9108-62D5012EF895}"/>
              </a:ext>
            </a:extLst>
          </p:cNvPr>
          <p:cNvSpPr>
            <a:spLocks noGrp="1"/>
          </p:cNvSpPr>
          <p:nvPr/>
        </p:nvSpPr>
        <p:spPr>
          <a:xfrm>
            <a:off x="1043464" y="5331238"/>
            <a:ext cx="32576" cy="32576"/>
          </a:xfrm>
          <a:prstGeom prst="ellipse">
            <a:avLst/>
          </a:prstGeom>
          <a:noFill/>
          <a:ln w="19050">
            <a:solidFill>
              <a:srgbClr val="FFFFFF"/>
            </a:solidFill>
            <a:prstDash val="solid"/>
          </a:ln>
        </p:spPr>
        <p:txBody>
          <a:bodyPr/>
          <a:lstStyle/>
          <a:p>
            <a:endParaRPr lang="en-US"/>
          </a:p>
        </p:txBody>
      </p:sp>
      <p:sp>
        <p:nvSpPr>
          <p:cNvPr id="18" name="!!payer">
            <a:extLst>
              <a:ext uri="{FF2B5EF4-FFF2-40B4-BE49-F238E27FC236}">
                <a16:creationId xmlns:a16="http://schemas.microsoft.com/office/drawing/2014/main" id="{93A40949-8097-434D-AB6D-9C653EF7C8D7}"/>
              </a:ext>
            </a:extLst>
          </p:cNvPr>
          <p:cNvSpPr>
            <a:spLocks noGrp="1"/>
          </p:cNvSpPr>
          <p:nvPr/>
        </p:nvSpPr>
        <p:spPr>
          <a:xfrm>
            <a:off x="1524000" y="4972050"/>
            <a:ext cx="4381500" cy="523875"/>
          </a:xfrm>
          <a:prstGeom prst="rect">
            <a:avLst/>
          </a:prstGeom>
          <a:noFill/>
          <a:ln w="0">
            <a:noFill/>
          </a:ln>
        </p:spPr>
        <p:txBody>
          <a:bodyPr wrap="square" lIns="0" tIns="0" rIns="0" bIns="0" anchor="t">
            <a:normAutofit/>
          </a:bodyPr>
          <a:lstStyle/>
          <a:p>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a:ext uri="{FF2B5EF4-FFF2-40B4-BE49-F238E27FC236}">
                <a16:creationId xmlns:a16="http://schemas.microsoft.com/office/drawing/2014/main" id="{8DA82F7A-6A59-4DA9-B2C1-E3D31C0FD748}"/>
              </a:ext>
            </a:extLst>
          </p:cNvPr>
          <p:cNvSpPr>
            <a:spLocks noGrp="1"/>
          </p:cNvSpPr>
          <p:nvPr/>
        </p:nvSpPr>
        <p:spPr>
          <a:xfrm>
            <a:off x="1524000" y="5572125"/>
            <a:ext cx="4362450" cy="666750"/>
          </a:xfrm>
          <a:prstGeom prst="rect">
            <a:avLst/>
          </a:prstGeom>
          <a:noFill/>
          <a:ln w="0">
            <a:noFill/>
          </a:ln>
        </p:spPr>
        <p:txBody>
          <a:bodyPr wrap="square" lIns="0" tIns="0" rIns="0" bIns="0" anchor="t">
            <a:normAutofit/>
          </a:bodyPr>
          <a:lstStyle/>
          <a:p>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a:ext uri="{FF2B5EF4-FFF2-40B4-BE49-F238E27FC236}">
                <a16:creationId xmlns:a16="http://schemas.microsoft.com/office/drawing/2014/main" id="{F648EFDF-5D5E-4B1D-9615-20F6508B6A5A}"/>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10</a:t>
            </a:r>
          </a:p>
        </p:txBody>
      </p:sp>
      <p:sp>
        <p:nvSpPr>
          <p:cNvPr id="21" name="!!caption">
            <a:extLst>
              <a:ext uri="{FF2B5EF4-FFF2-40B4-BE49-F238E27FC236}">
                <a16:creationId xmlns:a16="http://schemas.microsoft.com/office/drawing/2014/main" id="{C34CFB29-F6C1-4700-B35E-303EA94D0A4A}"/>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266612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9"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closing-brand">
            <a:extLst>
              <a:ext uri="{FF2B5EF4-FFF2-40B4-BE49-F238E27FC236}">
                <a16:creationId xmlns:a16="http://schemas.microsoft.com/office/drawing/2014/main" id="{40C3DCCC-F84F-43F5-A1EA-55DDDB27BE6C}"/>
              </a:ext>
            </a:extLst>
          </p:cNvPr>
          <p:cNvSpPr>
            <a:spLocks noGrp="1"/>
          </p:cNvSpPr>
          <p:nvPr/>
        </p:nvSpPr>
        <p:spPr>
          <a:xfrm>
            <a:off x="609600" y="1838325"/>
            <a:ext cx="6858000" cy="1104900"/>
          </a:xfrm>
          <a:prstGeom prst="rect">
            <a:avLst/>
          </a:prstGeom>
          <a:noFill/>
          <a:ln w="0">
            <a:noFill/>
          </a:ln>
        </p:spPr>
        <p:txBody>
          <a:bodyPr wrap="square" lIns="0" tIns="0" rIns="0" bIns="0" anchor="t">
            <a:normAutofit/>
          </a:bodyPr>
          <a:lstStyle/>
          <a:p>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a:ext uri="{FF2B5EF4-FFF2-40B4-BE49-F238E27FC236}">
                <a16:creationId xmlns:a16="http://schemas.microsoft.com/office/drawing/2014/main" id="{39A50B97-0822-4558-9957-9F0B95328E4C}"/>
              </a:ext>
            </a:extLst>
          </p:cNvPr>
          <p:cNvSpPr>
            <a:spLocks noGrp="1"/>
          </p:cNvSpPr>
          <p:nvPr/>
        </p:nvSpPr>
        <p:spPr>
          <a:xfrm>
            <a:off x="609600" y="3105150"/>
            <a:ext cx="6096000" cy="1066800"/>
          </a:xfrm>
          <a:prstGeom prst="rect">
            <a:avLst/>
          </a:prstGeom>
          <a:noFill/>
          <a:ln w="0">
            <a:noFill/>
          </a:ln>
        </p:spPr>
        <p:txBody>
          <a:bodyPr wrap="square" lIns="0" tIns="0" rIns="0" bIns="0" anchor="t">
            <a:normAutofit/>
          </a:bodyPr>
          <a:lstStyle/>
          <a:p>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noChangeAspect="1"/>
          </p:cNvPicPr>
          <p:nvPr/>
        </p:nvPicPr>
        <p:blipFill>
          <a:blip r:embed="rId4"/>
          <a:stretch/>
        </p:blipFill>
        <p:spPr>
          <a:xfrm>
            <a:off x="9039225" y="2981325"/>
            <a:ext cx="2371725" cy="2371725"/>
          </a:xfrm>
          <a:prstGeom prst="rect">
            <a:avLst/>
          </a:prstGeom>
        </p:spPr>
      </p:pic>
      <p:sp>
        <p:nvSpPr>
          <p:cNvPr id="5" name="!!website">
            <a:extLst>
              <a:ext uri="{FF2B5EF4-FFF2-40B4-BE49-F238E27FC236}">
                <a16:creationId xmlns:a16="http://schemas.microsoft.com/office/drawing/2014/main" id="{1C56BB14-FC3F-4BF0-A25A-1A7658FE8117}"/>
              </a:ext>
            </a:extLst>
          </p:cNvPr>
          <p:cNvSpPr>
            <a:spLocks noGrp="1"/>
          </p:cNvSpPr>
          <p:nvPr/>
        </p:nvSpPr>
        <p:spPr>
          <a:xfrm>
            <a:off x="609600" y="4714875"/>
            <a:ext cx="6096000" cy="438150"/>
          </a:xfrm>
          <a:prstGeom prst="rect">
            <a:avLst/>
          </a:prstGeom>
          <a:noFill/>
          <a:ln w="0">
            <a:noFill/>
          </a:ln>
        </p:spPr>
        <p:txBody>
          <a:bodyPr wrap="square" lIns="0" tIns="0" rIns="0" bIns="0" anchor="t">
            <a:normAutofit/>
          </a:bodyPr>
          <a:lstStyle/>
          <a:p>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r:id="rId5"/>
              </a:rPr>
              <a:t>durian-web3.vercel.app</a:t>
            </a:r>
          </a:p>
        </p:txBody>
      </p:sp>
      <p:sp>
        <p:nvSpPr>
          <p:cNvPr id="6" name="!!repository">
            <a:extLst>
              <a:ext uri="{FF2B5EF4-FFF2-40B4-BE49-F238E27FC236}">
                <a16:creationId xmlns:a16="http://schemas.microsoft.com/office/drawing/2014/main" id="{94874AB4-129E-4533-85FC-D6B5A99FB967}"/>
              </a:ext>
            </a:extLst>
          </p:cNvPr>
          <p:cNvSpPr>
            <a:spLocks noGrp="1"/>
          </p:cNvSpPr>
          <p:nvPr/>
        </p:nvSpPr>
        <p:spPr>
          <a:xfrm>
            <a:off x="609600" y="5295900"/>
            <a:ext cx="7162800" cy="457200"/>
          </a:xfrm>
          <a:prstGeom prst="rect">
            <a:avLst/>
          </a:prstGeom>
          <a:noFill/>
          <a:ln w="0">
            <a:noFill/>
          </a:ln>
        </p:spPr>
        <p:txBody>
          <a:bodyPr wrap="square" lIns="0" tIns="0" rIns="0" bIns="0" anchor="t">
            <a:normAutofit/>
          </a:bodyPr>
          <a:lstStyle/>
          <a:p>
            <a:pPr>
              <a:defRPr sz="1950" b="0">
                <a:solidFill>
                  <a:srgbClr val="F4F1E8"/>
                </a:solidFill>
                <a:latin typeface="Segoe UI"/>
                <a:ea typeface="Segoe UI"/>
                <a:cs typeface="Segoe UI"/>
              </a:defRPr>
            </a:pPr>
            <a:endParaRPr sz="1950" b="0" dirty="0">
              <a:solidFill>
                <a:srgbClr val="F4F1E8"/>
              </a:solidFill>
              <a:latin typeface="Segoe UI"/>
              <a:ea typeface="Segoe UI"/>
              <a:cs typeface="Segoe UI"/>
              <a:hlinkClick r:id="rId6"/>
            </a:endParaRPr>
          </a:p>
        </p:txBody>
      </p:sp>
      <p:sp>
        <p:nvSpPr>
          <p:cNvPr id="7" name="!!page">
            <a:extLst>
              <a:ext uri="{FF2B5EF4-FFF2-40B4-BE49-F238E27FC236}">
                <a16:creationId xmlns:a16="http://schemas.microsoft.com/office/drawing/2014/main" id="{217EA964-7D4B-41EA-B22C-44949ADC8321}"/>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10</a:t>
            </a:r>
          </a:p>
        </p:txBody>
      </p:sp>
      <p:sp>
        <p:nvSpPr>
          <p:cNvPr id="8" name="!!caption">
            <a:extLst>
              <a:ext uri="{FF2B5EF4-FFF2-40B4-BE49-F238E27FC236}">
                <a16:creationId xmlns:a16="http://schemas.microsoft.com/office/drawing/2014/main" id="{CF35A46F-7764-4770-BEFD-C234E0719A2C}"/>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9615029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p14="http://schemas.microsoft.com/office/powerpoint/2010/main" xmlns="">
      <p:transition advClick="1" spd="fast">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4378</Words>
  <Application>Microsoft Office PowerPoint</Application>
  <DocSecurity>0</DocSecurity>
  <PresentationFormat>Widescreen</PresentationFormat>
  <Paragraphs>236</Paragraphs>
  <Slides>10</Slides>
  <Notes>10</Notes>
  <HiddenSlides>0</HiddenSlides>
  <MMClips>1</MMClips>
  <ScaleCrop>false</ScaleCrop>
  <HeadingPairs>
    <vt:vector size="8" baseType="variant">
      <vt:variant>
        <vt:lpstr>Fonts Used</vt:lpstr>
      </vt:variant>
      <vt:variant>
        <vt:i4>3</vt:i4>
      </vt:variant>
      <vt:variant>
        <vt:lpstr>Theme</vt:lpstr>
      </vt:variant>
      <vt:variant>
        <vt:i4>1</vt:i4>
      </vt:variant>
      <vt:variant>
        <vt:lpstr>Slide Titles</vt:lpstr>
      </vt:variant>
      <vt:variant>
        <vt:i4>19</vt:i4>
      </vt:variant>
      <vt:variant>
        <vt:lpstr>Custom Shows</vt:lpstr>
      </vt:variant>
      <vt:variant>
        <vt:i4>1</vt:i4>
      </vt:variant>
    </vt:vector>
  </HeadingPairs>
  <TitlesOfParts>
    <vt:vector size="24" baseType="lpstr">
      <vt:lpstr>Aptos</vt:lpstr>
      <vt:lpstr>Calibri</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19 y chinh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ero Z</cp:lastModifiedBy>
  <cp:revision>3</cp:revision>
  <dcterms:created xsi:type="dcterms:W3CDTF">2026-09-28T16:42:58Z</dcterms:created>
  <dcterms:modified xsi:type="dcterms:W3CDTF">2026-09-30T06:32:00Z</dcterms:modified>
</cp:coreProperties>
</file>