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5" r:id="rId11"/>
    <p:sldId id="266" r:id="rId12"/>
    <p:sldId id="267" r:id="rId13"/>
    <p:sldId id="269" r:id="rId15"/>
    <p:sldId id="272" r:id="rId18"/>
    <p:sldId id="274" r:id="rId20"/>
  </p:sldIdLst>
  <p:sldSz cx="12192000" cy="6858000"/>
  <p:notesSz cx="6858000" cy="9144000"/>
  <p:custShowLst>
    <p:custShow name="19 y chinh" id="0">
      <p:sldLst>
        <p:sld r:id="rId2"/>
        <p:sld r:id="rId3"/>
        <p:sld r:id="rId4"/>
        <p:sld r:id="rId5"/>
        <p:sld r:id="rId6"/>
        <p:sld r:id="rId7"/>
        <p:sld r:id="rId8"/>
        <p:sld r:id="rId9"/>
        <p:sld r:id="rId10"/>
        <p:sld r:id="rId11"/>
        <p:sld r:id="rId12"/>
        <p:sld r:id="rId13"/>
        <p:sld r:id="rId14"/>
        <p:sld r:id="rId15"/>
        <p:sld r:id="rId16"/>
        <p:sld r:id="rId17"/>
        <p:sld r:id="rId18"/>
        <p:sld r:id="rId19"/>
        <p:sld r:id="rId2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12"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 Target="slides/slide1.xml"/><Relationship Id="rId20" Type="http://schemas.openxmlformats.org/officeDocument/2006/relationships/slide" Target="slides/slide19.xml"/><Relationship Id="rId1" Type="http://schemas.openxmlformats.org/officeDocument/2006/relationships/slideMaster" Target="slideMasters/slideMaster1.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4" Type="http://schemas.openxmlformats.org/officeDocument/2006/relationships/slide" Target="slides/slide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1/10 | 00:00 - 00:15 | Hãy hình dung một hợp tác xã chuẩn bị giao 850 ký sầu riêng. Bên mua hỏi: vườn nào, thu hoạch khi nào, tài liệu đâu? DurianTrust gom thông tin thành hồ sơ theo lô, để chủ hồ sơ chia sẻ bằng QR. Đây là tình huống minh họa.</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2/10 | 00:15 - 00:40 | Trung Quốc chiếm khoảng 95% kim ngạch xuất khẩu sầu riêng Việt Nam trong tám tháng đầu năm 2026. Báo Công Thương ghi nhận năm container bị trả vì thiếu giấy kiểm định Vàng O; VietnamPlus ghi nhận 17 xe phải nhập trở lại Việt Nam. Đây là hai trường hợp năm 2025. DurianTrust hỗ trợ hồ sơ theo lô; an toàn vẫn cần kiểm nghiệm.</a:t>
            </a:r>
          </a:p>
          <a:p>
            <a:r>
              <a:t>Nguồn [1] Báo Điện tử Chính phủ, họp báo ngày 03/09/2026: khoảng 1,85/1,95 tỷ USD, tám tháng 2026; không phải tỷ trọng sản lượng hoặc cả năm. https://baochinhphu.vn/hop-bao-chinh-phu-thuong-ky-thang-8-dai-dien-bo-cong-an-lam-ro-nhieu-van-de-duoc-quan-tam-102260903170016698.htm</a:t>
            </a:r>
          </a:p>
          <a:p>
            <a:r>
              <a:t>Nguồn [2] Công Thương, “Sầu riêng gặp khó khi xuất khẩu sang Trung Quốc”, 20/01/2025: báo dẫn một doanh nghiệp có 5 container bị trả vì thiếu giấy kiểm định Vàng O; 5 container khác tự quay đầu. Không gọi cả 10 là bị trả hoặc đã nhiễm chất. https://congthuong.vn/sau-rieng-gap-kho-khi-xuat-khau-sang-trung-quoc-370377.html</a:t>
            </a:r>
          </a:p>
          <a:p>
            <a:r>
              <a:t>Nguồn [3] VietnamPlus/TTXVN, “Vì sao xuất khẩu sầu riêng qua các cửa khẩu tại Lạng Sơn giảm mạnh?”, 19/02/2025: Hải quan Tân Thanh cho biết 17 xe chưa đáp ứng quy định phía Trung Quốc phải nhập trở lại Việt Nam. Không quy toàn bộ cho một lỗi giấy tờ hoặc một chất. https://www.vietnamplus.vn/vi-sao-xuat-khau-sau-rieng-qua-cac-cua-khau-tai-lang-son-giam-manh-post1013155.amp</a:t>
            </a:r>
          </a:p>
          <a:p>
            <a:r>
              <a:t>Phạm vi: báo năm 2025 mô tả các trường hợp ở thời điểm đó, không xác định quy định đang có hiệu lực cho từng lô hôm nay. Chưa có bằng chứng website làm giảm lô bị trả. Mốc 25 giây là mục tiêu luyện tập, chưa đo thời lượng nói.</a:t>
            </a:r>
          </a:p>
          <a:p>
            <a:r>
              <a:t>Attribution: nền AI và asset của deck gốc giữ nguyên. Hai ảnh chụp chỉ trích tiêu đề bài báo Công Thương và VietnamPlus, không sao chép nguyên bài. Ảnh chụp ngày 30/09/2026; ngày đăng bài ghi ở caption. Click ảnh hoặc tên nguồn để mở bài gốc.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3/10 | 00:40 - 00:55 | Người dùng dự kiến là nhà vườn, HTX và bên mua như đơn vị thu mua hoặc doanh nghiệp xuất khẩu. Zalo và Drive giúp trao đổi tệp. Nhóm muốn kiểm chứng giá trị của việc gắn tài liệu và lịch sử vào cùng một lô để đối chiếu thuận tiện hơn.</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4/10 | 00:55 - 01:15 | Chủ hồ sơ đăng nhập Google, tạo lô riêng tư, thêm tài liệu có nguồn và ngày, rồi ghi các mốc hành trình. Checklist chỉ rõ phần còn thiếu và mở đúng form để bổ sung. Khi sẵn sàng, họ công khai toàn bộ hồ sơ qua QR. Chuyển lại riêng tư chặn lượt đọc mới, nhưng không thu hồi bản đã tải.</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5/10 | 01:15 - 01:55 | [THAO TÁC, KHÔNG ĐỌC] Bấm video 40 giây. Clip có giọng nữ tiếng Việt; không nói chồng lên clip. Video dùng giao diện local, dữ liệu TEST và Auth/API mô phỏng. Nếu không phát được, dành tối đa 15 giây tóm tắt: nhập thông tin lô, thêm tài liệu, công khai QR, bên mua đọc, rồi chuyển lại riêng tư. Sau đó sang slide 6.</a:t>
            </a:r>
          </a:p>
          <a:p>
            <a:r>
              <a:t>Nguồn: https://github.com/vinhelysia/DurainCheckerDemo (source hiện tại), README.md, backend/README.md và hồ sơ kiểm thử ngày 23–29/09/2026. </a:t>
            </a:r>
          </a:p>
          <a:p>
            <a:r>
              <a:t>https://durian-web3.vercel.app/submission/DurianTrust_HTX_Demo_90s.mp4</a:t>
            </a:r>
          </a:p>
          <a:p>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6/10 | 01:55 - 02:20 | Giao diện dùng React và Vite trên Vercel. API Python dùng FastAPI trên Render. Google OAuth qua Supabase cấp phiên đăng nhập; PostgreSQL áp dụng RLS để kiểm tra quyền theo tài khoản. Supabase Storage giữ ảnh và PDF trong bucket riêng tư. Lô mới mặc định riêng tư; khi công khai, bên mua đọc qua QR. Hồ sơ đủ thông tin chưa đồng nghĩa tài liệu đã xác thực hay lô đủ điều kiện xuất khẩu.</a:t>
            </a:r>
          </a:p>
          <a:p>
            <a:r>
              <a:t>Nguồn: https://github.com/vinhelysia/DurainCheckerDemo (source hiện tại), README.md, backend/README.md và hồ sơ kiểm thử ngày 23–29/09/2026. </a:t>
            </a:r>
          </a:p>
          <a:p>
            <a:r>
              <a: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a:t>
            </a:r>
          </a:p>
          <a:p>
            <a:r>
              <a: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7/10 | 02:20 - 02:40 | Thử nghiệm Solana dùng Rust và Anchor trên Devnet. Người đang giữ lô ký đề xuất ví nhận; bên nhận ký chấp nhận thì trạng thái custody mới đổi. Cơ chế này ghi nhận bàn giao giữa ví, chưa chứng minh giao hàng vật lý hoặc quyền sở hữu pháp lý. Luồng cloud hiện chưa tự đồng bộ với Solana.</a:t>
            </a:r>
          </a:p>
          <a:p>
            <a:r>
              <a:t>Nguồn: https://github.com/vinhelysia/DurainCheckerDemo (source hiện tại), README.md, backend/README.md và hồ sơ kiểm thử ngày 23–29/09/2026. </a:t>
            </a:r>
          </a:p>
          <a:p>
            <a:r>
              <a: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8/10 | 02:40 - 03:00 | AI dùng ONNX Runtime để gợi ý một trong năm nhóm ảnh lá và yêu cầu chuyên gia đối chiếu. Điểm model trên một ảnh chưa phải accuracy. Nhóm giữ model cũ vì bản fine-tune chưa tốt hơn; chi tiết đánh giá nằm trong tài liệu phụ lục. Ảnh lá không đo Cadimi hoặc Vàng O và không chứng nhận an toàn thực phẩm.</a:t>
            </a:r>
          </a:p>
          <a:p>
            <a:r>
              <a:t>Nguồn: https://data.mendeley.com/datasets/pxzvksbwnj/2 (CC BY 4.0); https://github.com/vinhelysia/DurainCheckerDemo/blob/main/submission/review/ai-training/MENDELEY_EXTERNAL_EVAL.md.</a:t>
            </a:r>
          </a:p>
          <a:p>
            <a:r>
              <a:t>Logo ONNX Runtime: https://github.com/microsoft/onnxruntime/blob/main/docs/images/ONNX_Runtime_logo.png ; FastAPI: https://fastapi.tiangolo.com/img/logo-margin/logo-teal.png . Giữ artwork/tỷ lệ gốc, chỉ crop phần canvas trong suốt.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9/10 | 03:00 - 03:25 | Website và API đã deploy. Kiểm thử local và quyền database trên CI đã pass; quy trình production đầy đủ vẫn cần kiểm chứng. Nhóm chưa có pilot HTX hay phiếu lab thật. Bước tiếp theo là thử với một HTX và nhóm lô nhỏ, đo thời gian tìm hồ sơ, tài liệu thiếu và số lần bên mua hỏi lại. Việc trả phí chỉ là giả thuyết cần kiểm tra.</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10/10 | 03:25 - 03:45 | DurianTrust giúp chuẩn bị hồ sơ theo lô và chia sẻ QR chỉ đọc, do chủ hồ sơ quyết định công khai. Giá trị thực tế sẽ được đo bằng pilot. QR trên màn hình mở hồ sơ mẫu; mã nguồn đã công khai. Chúng tôi mong được kết nối với HTX sẵn sàng thử và đơn vị phát hành tài liệu kiểm nghiệm. Xin cảm ơn.</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baochinhphu.vn/hop-bao-chinh-phu-thuong-ky-thang-8-dai-dien-bo-cong-an-lam-ro-nhieu-van-de-duoc-quan-tam-102260903170016698.htm" TargetMode="External"/><Relationship Id="rId5" Type="http://schemas.openxmlformats.org/officeDocument/2006/relationships/hyperlink" Target="https://congthuong.vn/sau-rieng-gap-kho-khi-xuat-khau-sang-trung-quoc-370377.html" TargetMode="External"/><Relationship Id="rId6" Type="http://schemas.openxmlformats.org/officeDocument/2006/relationships/hyperlink" Target="https://www.vietnamplus.vn/vi-sao-xuat-khau-sau-rieng-qua-cac-cua-khau-tai-lang-son-giam-manh-post1013155.amp" TargetMode="External"/><Relationship Id="rId7" Type="http://schemas.openxmlformats.org/officeDocument/2006/relationships/image" Target="../media/congthuong-headline.jpg"/><Relationship Id="rId8" Type="http://schemas.openxmlformats.org/officeDocument/2006/relationships/image" Target="../media/vietnamplus-headline.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durian-web3.vercel.app/submission/DurianTrust_HTX_Demo_40s_VI.mp4" TargetMode="Externa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github.com/vinhelysia/DurainCheckerDemo" TargetMode="External"/><Relationship Id="rId5" Type="http://schemas.openxmlformats.org/officeDocument/2006/relationships/hyperlink" Target="https://durian-web3.vercel.app/#/records/example" TargetMode="Externa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8"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rand">
            <a:extLst>
              <a:ext uri="{FF2B5EF4-FFF2-40B4-BE49-F238E27FC236}">
                <a16:creationId xmlns:a16="http://schemas.microsoft.com/office/drawing/2014/main" id="{F2A77A16-825F-4FE0-A4D0-A4306B5D6E0A}"/>
              </a:ext>
            </a:extLst>
          </p:cNvPr>
          <p:cNvSpPr>
            <a:spLocks noGrp="1"/>
          </p:cNvSpPr>
          <p:nvPr/>
        </p:nvSpPr>
        <p:spPr>
          <a:xfrm>
            <a:off x="609600" y="2228850"/>
            <a:ext cx="7143750" cy="1181100"/>
          </a:xfrm>
          <a:prstGeom prst="rect">
            <a:avLst/>
          </a:prstGeom>
          <a:noFill/>
          <a:ln w="0">
            <a:noFill/>
          </a:ln>
        </p:spPr>
        <p:txBody>
          <a:bodyPr wrap="square" lIns="0" tIns="0" rIns="0" bIns="0" anchor="t">
            <a:normAutofit/>
          </a:bodyPr>
          <a:lstStyle/>
          <a:p>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a:ext uri="{FF2B5EF4-FFF2-40B4-BE49-F238E27FC236}">
                <a16:creationId xmlns:a16="http://schemas.microsoft.com/office/drawing/2014/main" id="{B0A20E54-8F13-4E8D-A4F4-6BD38148938D}"/>
              </a:ext>
            </a:extLst>
          </p:cNvPr>
          <p:cNvSpPr>
            <a:spLocks noGrp="1"/>
          </p:cNvSpPr>
          <p:nvPr/>
        </p:nvSpPr>
        <p:spPr>
          <a:xfrm>
            <a:off x="647700" y="3524250"/>
            <a:ext cx="6000750" cy="1219200"/>
          </a:xfrm>
          <a:prstGeom prst="rect">
            <a:avLst/>
          </a:prstGeom>
          <a:noFill/>
          <a:ln w="0">
            <a:noFill/>
          </a:ln>
        </p:spPr>
        <p:txBody>
          <a:bodyPr wrap="square" lIns="0" tIns="0" rIns="0" bIns="0" anchor="t">
            <a:normAutofit/>
          </a:bodyPr>
          <a:lstStyle/>
          <a:p>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a:ext uri="{FF2B5EF4-FFF2-40B4-BE49-F238E27FC236}">
                <a16:creationId xmlns:a16="http://schemas.microsoft.com/office/drawing/2014/main" id="{C45F701D-1C11-4B00-ACA3-F186F8084065}"/>
              </a:ext>
            </a:extLst>
          </p:cNvPr>
          <p:cNvSpPr>
            <a:spLocks noGrp="1"/>
          </p:cNvSpPr>
          <p:nvPr/>
        </p:nvSpPr>
        <p:spPr>
          <a:xfrm>
            <a:off x="647700" y="895350"/>
            <a:ext cx="4095750" cy="333375"/>
          </a:xfrm>
          <a:prstGeom prst="rect">
            <a:avLst/>
          </a:prstGeom>
          <a:noFill/>
          <a:ln w="0">
            <a:noFill/>
          </a:ln>
        </p:spPr>
        <p:txBody>
          <a:bodyPr wrap="square" lIns="0" tIns="0" rIns="0" bIns="0" anchor="t">
            <a:normAutofit/>
          </a:bodyPr>
          <a:lstStyle/>
          <a:p>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noChangeAspect="1"/>
          </p:cNvPicPr>
          <p:nvPr/>
        </p:nvPicPr>
        <p:blipFill>
          <a:blip r:embed="rId4"/>
          <a:stretch/>
        </p:blipFill>
        <p:spPr>
          <a:xfrm>
            <a:off x="628650" y="1466850"/>
            <a:ext cx="533400" cy="533400"/>
          </a:xfrm>
          <a:prstGeom prst="rect">
            <a:avLst/>
          </a:prstGeom>
        </p:spPr>
      </p:pic>
      <p:sp>
        <p:nvSpPr>
          <p:cNvPr id="6" name="!!page">
            <a:extLst>
              <a:ext uri="{FF2B5EF4-FFF2-40B4-BE49-F238E27FC236}">
                <a16:creationId xmlns:a16="http://schemas.microsoft.com/office/drawing/2014/main" id="{F3D6199A-2ADD-4F7A-A1B0-E2E520321305}"/>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10</a:t>
            </a:r>
          </a:p>
        </p:txBody>
      </p:sp>
      <p:sp>
        <p:nvSpPr>
          <p:cNvPr id="7" name="!!caption">
            <a:extLst>
              <a:ext uri="{FF2B5EF4-FFF2-40B4-BE49-F238E27FC236}">
                <a16:creationId xmlns:a16="http://schemas.microsoft.com/office/drawing/2014/main" id="{2FE4368B-771D-49CE-B2F5-777481FC7F84}"/>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endParaRPr sz="1275" b="0" dirty="0">
              <a:solidFill>
                <a:srgbClr val="A3BCAB"/>
              </a:solidFill>
              <a:latin typeface="Segoe UI"/>
              <a:ea typeface="Segoe UI"/>
              <a:cs typeface="Segoe UI"/>
            </a:endParaRPr>
          </a:p>
        </p:txBody>
      </p:sp>
    </p:spTree>
    <p:extLst>
      <p:ext uri="{BB962C8B-B14F-4D97-AF65-F5344CB8AC3E}">
        <p14:creationId xmlns:p14="http://schemas.microsoft.com/office/powerpoint/2010/main" val="4691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5"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5479B50E-3565-467A-BCA9-C9243634D51A}"/>
              </a:ext>
            </a:extLst>
          </p:cNvPr>
          <p:cNvSpPr>
            <a:spLocks noGrp="1"/>
          </p:cNvSpPr>
          <p:nvPr/>
        </p:nvSpPr>
        <p:spPr>
          <a:xfrm>
            <a:off x="609600" y="533400"/>
            <a:ext cx="6238875"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a:ext uri="{FF2B5EF4-FFF2-40B4-BE49-F238E27FC236}">
                <a16:creationId xmlns:a16="http://schemas.microsoft.com/office/drawing/2014/main" id="{CBB47E37-E9EA-43BD-8891-028D2D606757}"/>
              </a:ext>
            </a:extLst>
          </p:cNvPr>
          <p:cNvSpPr>
            <a:spLocks noGrp="1"/>
          </p:cNvSpPr>
          <p:nvPr/>
        </p:nvSpPr>
        <p:spPr>
          <a:xfrm>
            <a:off x="647700" y="1943100"/>
            <a:ext cx="571500" cy="571500"/>
          </a:xfrm>
          <a:prstGeom prst="ellipse">
            <a:avLst/>
          </a:prstGeom>
          <a:solidFill>
            <a:srgbClr val="E5EBDD"/>
          </a:solidFill>
          <a:ln w="9525">
            <a:solidFill>
              <a:srgbClr val="166447"/>
            </a:solidFill>
          </a:ln>
        </p:spPr>
        <p:txBody>
          <a:bodyPr/>
          <a:lstStyle/>
          <a:p>
            <a:endParaRPr lang="en-US"/>
          </a:p>
        </p:txBody>
      </p:sp>
      <p:sp>
        <p:nvSpPr>
          <p:cNvPr id="4" name="!!fragment-0-icon-0">
            <a:extLst>
              <a:ext uri="{FF2B5EF4-FFF2-40B4-BE49-F238E27FC236}">
                <a16:creationId xmlns:a16="http://schemas.microsoft.com/office/drawing/2014/main" id="{95D4136F-3D83-4D9E-846B-E93779B28646}"/>
              </a:ext>
            </a:extLst>
          </p:cNvPr>
          <p:cNvSpPr>
            <a:spLocks noGrp="1"/>
          </p:cNvSpPr>
          <p:nvPr/>
        </p:nvSpPr>
        <p:spPr>
          <a:xfrm>
            <a:off x="804863" y="2100263"/>
            <a:ext cx="257175" cy="257175"/>
          </a:xfrm>
          <a:prstGeom prst="ellipse">
            <a:avLst/>
          </a:prstGeom>
          <a:noFill/>
          <a:ln w="19050">
            <a:solidFill>
              <a:srgbClr val="166447"/>
            </a:solidFill>
            <a:prstDash val="solid"/>
          </a:ln>
        </p:spPr>
        <p:txBody>
          <a:bodyPr/>
          <a:lstStyle/>
          <a:p>
            <a:endParaRPr lang="en-US"/>
          </a:p>
        </p:txBody>
      </p:sp>
      <p:sp>
        <p:nvSpPr>
          <p:cNvPr id="5" name="!!fragment-0-icon-1">
            <a:extLst>
              <a:ext uri="{FF2B5EF4-FFF2-40B4-BE49-F238E27FC236}">
                <a16:creationId xmlns:a16="http://schemas.microsoft.com/office/drawing/2014/main" id="{2F069339-62FE-4E14-A086-E4F870003FAA}"/>
              </a:ext>
            </a:extLst>
          </p:cNvPr>
          <p:cNvSpPr>
            <a:spLocks noGrp="1"/>
          </p:cNvSpPr>
          <p:nvPr/>
        </p:nvSpPr>
        <p:spPr>
          <a:xfrm>
            <a:off x="882015" y="2100263"/>
            <a:ext cx="102870" cy="257175"/>
          </a:xfrm>
          <a:prstGeom prst="ellipse">
            <a:avLst/>
          </a:prstGeom>
          <a:noFill/>
          <a:ln w="19050">
            <a:solidFill>
              <a:srgbClr val="166447"/>
            </a:solidFill>
            <a:prstDash val="solid"/>
          </a:ln>
        </p:spPr>
        <p:txBody>
          <a:bodyPr/>
          <a:lstStyle/>
          <a:p>
            <a:endParaRPr lang="en-US"/>
          </a:p>
        </p:txBody>
      </p:sp>
      <p:sp>
        <p:nvSpPr>
          <p:cNvPr id="6" name="!!fragment-0-icon-2">
            <a:extLst>
              <a:ext uri="{FF2B5EF4-FFF2-40B4-BE49-F238E27FC236}">
                <a16:creationId xmlns:a16="http://schemas.microsoft.com/office/drawing/2014/main" id="{42B796DC-9EF8-4D78-8AD5-DF9F072C5431}"/>
              </a:ext>
            </a:extLst>
          </p:cNvPr>
          <p:cNvSpPr>
            <a:spLocks noGrp="1"/>
          </p:cNvSpPr>
          <p:nvPr/>
        </p:nvSpPr>
        <p:spPr>
          <a:xfrm>
            <a:off x="779145" y="2074545"/>
            <a:ext cx="308610" cy="308610"/>
          </a:xfrm>
          <a:custGeom>
            <a:avLst/>
            <a:gdLst/>
            <a:ahLst/>
            <a:cxnLst/>
            <a:rect l="0" t="0" r="0" b="0"/>
            <a:pathLst>
              <a:path w="228600" h="228600">
                <a:moveTo>
                  <a:pt x="19050" y="114300"/>
                </a:moveTo>
                <a:lnTo>
                  <a:pt x="209550" y="114300"/>
                </a:lnTo>
              </a:path>
            </a:pathLst>
          </a:custGeom>
          <a:noFill/>
          <a:ln w="19050">
            <a:solidFill>
              <a:srgbClr val="166447"/>
            </a:solidFill>
            <a:prstDash val="solid"/>
          </a:ln>
        </p:spPr>
        <p:txBody>
          <a:bodyPr/>
          <a:lstStyle/>
          <a:p>
            <a:endParaRPr lang="en-US"/>
          </a:p>
        </p:txBody>
      </p:sp>
      <p:sp>
        <p:nvSpPr>
          <p:cNvPr id="7" name="!!fragment-0">
            <a:extLst>
              <a:ext uri="{FF2B5EF4-FFF2-40B4-BE49-F238E27FC236}">
                <a16:creationId xmlns:a16="http://schemas.microsoft.com/office/drawing/2014/main" id="{60875367-0F09-4DC3-B792-71BF59B926D1}"/>
              </a:ext>
            </a:extLst>
          </p:cNvPr>
          <p:cNvSpPr>
            <a:spLocks noGrp="1"/>
          </p:cNvSpPr>
          <p:nvPr/>
        </p:nvSpPr>
        <p:spPr>
          <a:xfrm>
            <a:off x="1447800" y="1847850"/>
            <a:ext cx="4333875" cy="800100"/>
          </a:xfrm>
          <a:prstGeom prst="rect">
            <a:avLst/>
          </a:prstGeom>
          <a:noFill/>
          <a:ln w="0">
            <a:noFill/>
          </a:ln>
        </p:spPr>
        <p:txBody>
          <a:bodyPr wrap="square" lIns="0" tIns="0" rIns="0" bIns="0" anchor="t">
            <a:normAutofit/>
          </a:bodyPr>
          <a:lstStyle/>
          <a:p>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a:ext uri="{FF2B5EF4-FFF2-40B4-BE49-F238E27FC236}">
                <a16:creationId xmlns:a16="http://schemas.microsoft.com/office/drawing/2014/main" id="{8C8280F5-BBC2-4F8A-B946-A5FA520317D4}"/>
              </a:ext>
            </a:extLst>
          </p:cNvPr>
          <p:cNvSpPr>
            <a:spLocks noGrp="1"/>
          </p:cNvSpPr>
          <p:nvPr/>
        </p:nvSpPr>
        <p:spPr>
          <a:xfrm>
            <a:off x="1447800" y="2705100"/>
            <a:ext cx="4333875" cy="72390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 (ước tính)</a:t>
            </a:r>
          </a:p>
          <a:p>
            <a:pPr>
              <a:defRPr sz="1150" b="0">
                <a:solidFill>
                  <a:srgbClr val="53685B"/>
                </a:solidFill>
                <a:latin typeface="Segoe UI"/>
                <a:ea typeface="Segoe UI"/>
                <a:cs typeface="Segoe UI"/>
              </a:defRPr>
            </a:pPr>
            <a:r>
              <a:rPr sz="1150" b="0">
                <a:solidFill>
                  <a:srgbClr val="53685B"/>
                </a:solidFill>
                <a:latin typeface="Segoe UI"/>
                <a:ea typeface="Segoe UI"/>
                <a:cs typeface="Segoe UI"/>
                <a:hlinkClick r:id="rId4"/>
              </a:rPr>
              <a:t>Báo Chính phủ · 03/09/2026</a:t>
            </a:r>
          </a:p>
        </p:txBody>
      </p:sp>
      <p:sp>
        <p:nvSpPr>
          <p:cNvPr id="9" name="!!fragment-1-selection">
            <a:extLst>
              <a:ext uri="{FF2B5EF4-FFF2-40B4-BE49-F238E27FC236}">
                <a16:creationId xmlns:a16="http://schemas.microsoft.com/office/drawing/2014/main" id="{5D180CC4-B13E-4D36-8AFC-85CB12C927B0}"/>
              </a:ext>
            </a:extLst>
          </p:cNvPr>
          <p:cNvSpPr>
            <a:spLocks noGrp="1"/>
          </p:cNvSpPr>
          <p:nvPr/>
        </p:nvSpPr>
        <p:spPr>
          <a:xfrm>
            <a:off x="647700" y="3429000"/>
            <a:ext cx="571500" cy="571500"/>
          </a:xfrm>
          <a:prstGeom prst="ellipse">
            <a:avLst/>
          </a:prstGeom>
          <a:solidFill>
            <a:srgbClr val="E5EBDD"/>
          </a:solidFill>
          <a:ln w="9525">
            <a:solidFill>
              <a:srgbClr val="166447"/>
            </a:solidFill>
          </a:ln>
        </p:spPr>
        <p:txBody>
          <a:bodyPr/>
          <a:lstStyle/>
          <a:p>
            <a:endParaRPr lang="en-US"/>
          </a:p>
        </p:txBody>
      </p:sp>
      <p:sp>
        <p:nvSpPr>
          <p:cNvPr id="10" name="!!fragment-1-icon-0">
            <a:extLst>
              <a:ext uri="{FF2B5EF4-FFF2-40B4-BE49-F238E27FC236}">
                <a16:creationId xmlns:a16="http://schemas.microsoft.com/office/drawing/2014/main" id="{AC6DF858-0E8A-4EAF-B0B2-38B4A7E9443E}"/>
              </a:ext>
            </a:extLst>
          </p:cNvPr>
          <p:cNvSpPr>
            <a:spLocks noGrp="1"/>
          </p:cNvSpPr>
          <p:nvPr/>
        </p:nvSpPr>
        <p:spPr>
          <a:xfrm>
            <a:off x="804863" y="3586163"/>
            <a:ext cx="180023" cy="180023"/>
          </a:xfrm>
          <a:prstGeom prst="ellipse">
            <a:avLst/>
          </a:prstGeom>
          <a:noFill/>
          <a:ln w="19050">
            <a:solidFill>
              <a:srgbClr val="166447"/>
            </a:solidFill>
            <a:prstDash val="solid"/>
          </a:ln>
        </p:spPr>
        <p:txBody>
          <a:bodyPr/>
          <a:lstStyle/>
          <a:p>
            <a:endParaRPr lang="en-US"/>
          </a:p>
        </p:txBody>
      </p:sp>
      <p:sp>
        <p:nvSpPr>
          <p:cNvPr id="11" name="!!fragment-1-icon-1">
            <a:extLst>
              <a:ext uri="{FF2B5EF4-FFF2-40B4-BE49-F238E27FC236}">
                <a16:creationId xmlns:a16="http://schemas.microsoft.com/office/drawing/2014/main" id="{CD94D742-11D9-44FC-88F4-BA3E2B1CE3F5}"/>
              </a:ext>
            </a:extLst>
          </p:cNvPr>
          <p:cNvSpPr>
            <a:spLocks noGrp="1"/>
          </p:cNvSpPr>
          <p:nvPr/>
        </p:nvSpPr>
        <p:spPr>
          <a:xfrm>
            <a:off x="779145" y="3560445"/>
            <a:ext cx="308610" cy="308610"/>
          </a:xfrm>
          <a:custGeom>
            <a:avLst/>
            <a:gdLst/>
            <a:ahLst/>
            <a:cxnLst/>
            <a:rect l="0" t="0" r="0" b="0"/>
            <a:pathLst>
              <a:path w="228600" h="228600">
                <a:moveTo>
                  <a:pt x="133350" y="133350"/>
                </a:moveTo>
                <a:lnTo>
                  <a:pt x="209550" y="209550"/>
                </a:lnTo>
              </a:path>
            </a:pathLst>
          </a:custGeom>
          <a:noFill/>
          <a:ln w="19050">
            <a:solidFill>
              <a:srgbClr val="166447"/>
            </a:solidFill>
            <a:prstDash val="solid"/>
          </a:ln>
        </p:spPr>
        <p:txBody>
          <a:bodyPr/>
          <a:lstStyle/>
          <a:p>
            <a:endParaRPr lang="en-US"/>
          </a:p>
        </p:txBody>
      </p:sp>
      <p:sp>
        <p:nvSpPr>
          <p:cNvPr id="12" name="!!fragment-1">
            <a:extLst>
              <a:ext uri="{FF2B5EF4-FFF2-40B4-BE49-F238E27FC236}">
                <a16:creationId xmlns:a16="http://schemas.microsoft.com/office/drawing/2014/main" id="{E673D880-131F-45D7-B5EC-C9E0A44CF8EE}"/>
              </a:ext>
            </a:extLst>
          </p:cNvPr>
          <p:cNvSpPr>
            <a:spLocks noGrp="1"/>
          </p:cNvSpPr>
          <p:nvPr/>
        </p:nvSpPr>
        <p:spPr>
          <a:xfrm>
            <a:off x="1447800" y="3495675"/>
            <a:ext cx="4333875" cy="457200"/>
          </a:xfrm>
          <a:prstGeom prst="rect">
            <a:avLst/>
          </a:prstGeom>
          <a:noFill/>
          <a:ln w="0">
            <a:noFill/>
          </a:ln>
        </p:spPr>
        <p:txBody>
          <a:bodyPr wrap="square" lIns="0" tIns="0" rIns="0" bIns="0" anchor="t">
            <a:normAutofit/>
          </a:bodyPr>
          <a:lstStyle/>
          <a:p>
            <a:pPr>
              <a:defRPr sz="2175" b="1">
                <a:solidFill>
                  <a:srgbClr val="142F24"/>
                </a:solidFill>
                <a:latin typeface="Segoe UI"/>
                <a:ea typeface="Segoe UI"/>
                <a:cs typeface="Segoe UI"/>
              </a:defRPr>
            </a:pPr>
            <a:r>
              <a:rPr sz="2175" b="1">
                <a:solidFill>
                  <a:srgbClr val="142F24"/>
                </a:solidFill>
                <a:latin typeface="Segoe UI"/>
                <a:ea typeface="Segoe UI"/>
                <a:cs typeface="Segoe UI"/>
              </a:rPr>
              <a:t>5 container bị trả về</a:t>
            </a:r>
          </a:p>
        </p:txBody>
      </p:sp>
      <p:sp>
        <p:nvSpPr>
          <p:cNvPr id="13" name="!!fragment-detail-1">
            <a:extLst>
              <a:ext uri="{FF2B5EF4-FFF2-40B4-BE49-F238E27FC236}">
                <a16:creationId xmlns:a16="http://schemas.microsoft.com/office/drawing/2014/main" id="{6C44A08E-F126-44B1-AE1B-2E429D8411D9}"/>
              </a:ext>
            </a:extLst>
          </p:cNvPr>
          <p:cNvSpPr>
            <a:spLocks noGrp="1"/>
          </p:cNvSpPr>
          <p:nvPr/>
        </p:nvSpPr>
        <p:spPr>
          <a:xfrm>
            <a:off x="1447800" y="3990975"/>
            <a:ext cx="4333875" cy="51435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Thiếu giấy kiểm định Vàng O</a:t>
            </a:r>
          </a:p>
          <a:p>
            <a:pPr>
              <a:defRPr sz="1150" b="0">
                <a:solidFill>
                  <a:srgbClr val="53685B"/>
                </a:solidFill>
                <a:latin typeface="Segoe UI"/>
                <a:ea typeface="Segoe UI"/>
                <a:cs typeface="Segoe UI"/>
              </a:defRPr>
            </a:pPr>
            <a:r>
              <a:rPr sz="1150" b="0">
                <a:solidFill>
                  <a:srgbClr val="53685B"/>
                </a:solidFill>
                <a:latin typeface="Segoe UI"/>
                <a:ea typeface="Segoe UI"/>
                <a:cs typeface="Segoe UI"/>
                <a:hlinkClick r:id="rId5"/>
              </a:rPr>
              <a:t>Công Thương · 20/01/2025</a:t>
            </a:r>
          </a:p>
        </p:txBody>
      </p:sp>
      <p:sp>
        <p:nvSpPr>
          <p:cNvPr id="14" name="!!fragment-2-selection">
            <a:extLst>
              <a:ext uri="{FF2B5EF4-FFF2-40B4-BE49-F238E27FC236}">
                <a16:creationId xmlns:a16="http://schemas.microsoft.com/office/drawing/2014/main" id="{2BB4F16B-FAB5-41F9-8C2D-209BE3C5BE99}"/>
              </a:ext>
            </a:extLst>
          </p:cNvPr>
          <p:cNvSpPr>
            <a:spLocks noGrp="1"/>
          </p:cNvSpPr>
          <p:nvPr/>
        </p:nvSpPr>
        <p:spPr>
          <a:xfrm>
            <a:off x="647700" y="4514850"/>
            <a:ext cx="571500" cy="571500"/>
          </a:xfrm>
          <a:prstGeom prst="ellipse">
            <a:avLst/>
          </a:prstGeom>
          <a:solidFill>
            <a:srgbClr val="E5EBDD"/>
          </a:solidFill>
          <a:ln w="9525">
            <a:solidFill>
              <a:srgbClr val="166447"/>
            </a:solidFill>
          </a:ln>
        </p:spPr>
        <p:txBody>
          <a:bodyPr/>
          <a:lstStyle/>
          <a:p>
            <a:endParaRPr lang="en-US"/>
          </a:p>
        </p:txBody>
      </p:sp>
      <p:sp>
        <p:nvSpPr>
          <p:cNvPr id="15" name="!!fragment-2-icon-0">
            <a:extLst>
              <a:ext uri="{FF2B5EF4-FFF2-40B4-BE49-F238E27FC236}">
                <a16:creationId xmlns:a16="http://schemas.microsoft.com/office/drawing/2014/main" id="{927BD5FF-9654-435A-B53F-5C3A8E8A0507}"/>
              </a:ext>
            </a:extLst>
          </p:cNvPr>
          <p:cNvSpPr>
            <a:spLocks noGrp="1"/>
          </p:cNvSpPr>
          <p:nvPr/>
        </p:nvSpPr>
        <p:spPr>
          <a:xfrm>
            <a:off x="882015" y="4672013"/>
            <a:ext cx="102870" cy="102870"/>
          </a:xfrm>
          <a:prstGeom prst="ellipse">
            <a:avLst/>
          </a:prstGeom>
          <a:noFill/>
          <a:ln w="19050">
            <a:solidFill>
              <a:srgbClr val="166447"/>
            </a:solidFill>
            <a:prstDash val="solid"/>
          </a:ln>
        </p:spPr>
        <p:txBody>
          <a:bodyPr/>
          <a:lstStyle/>
          <a:p>
            <a:endParaRPr lang="en-US"/>
          </a:p>
        </p:txBody>
      </p:sp>
      <p:sp>
        <p:nvSpPr>
          <p:cNvPr id="16" name="!!fragment-2-icon-1">
            <a:extLst>
              <a:ext uri="{FF2B5EF4-FFF2-40B4-BE49-F238E27FC236}">
                <a16:creationId xmlns:a16="http://schemas.microsoft.com/office/drawing/2014/main" id="{C6363D71-5A7C-43F1-A30E-5FD5A90CC305}"/>
              </a:ext>
            </a:extLst>
          </p:cNvPr>
          <p:cNvSpPr>
            <a:spLocks noGrp="1"/>
          </p:cNvSpPr>
          <p:nvPr/>
        </p:nvSpPr>
        <p:spPr>
          <a:xfrm>
            <a:off x="830580" y="4813459"/>
            <a:ext cx="205740" cy="115729"/>
          </a:xfrm>
          <a:prstGeom prst="roundRect">
            <a:avLst>
              <a:gd name="adj" fmla="val 50000"/>
            </a:avLst>
          </a:prstGeom>
          <a:noFill/>
          <a:ln w="19050">
            <a:solidFill>
              <a:srgbClr val="166447"/>
            </a:solidFill>
            <a:prstDash val="solid"/>
          </a:ln>
        </p:spPr>
        <p:txBody>
          <a:bodyPr/>
          <a:lstStyle/>
          <a:p>
            <a:endParaRPr lang="en-US"/>
          </a:p>
        </p:txBody>
      </p:sp>
      <p:sp>
        <p:nvSpPr>
          <p:cNvPr id="17" name="!!fragment-2">
            <a:extLst>
              <a:ext uri="{FF2B5EF4-FFF2-40B4-BE49-F238E27FC236}">
                <a16:creationId xmlns:a16="http://schemas.microsoft.com/office/drawing/2014/main" id="{1F9CA28A-6829-4853-B295-3A5302701854}"/>
              </a:ext>
            </a:extLst>
          </p:cNvPr>
          <p:cNvSpPr>
            <a:spLocks noGrp="1"/>
          </p:cNvSpPr>
          <p:nvPr/>
        </p:nvSpPr>
        <p:spPr>
          <a:xfrm>
            <a:off x="1447800" y="4581525"/>
            <a:ext cx="4333875" cy="457200"/>
          </a:xfrm>
          <a:prstGeom prst="rect">
            <a:avLst/>
          </a:prstGeom>
          <a:noFill/>
          <a:ln w="0">
            <a:noFill/>
          </a:ln>
        </p:spPr>
        <p:txBody>
          <a:bodyPr wrap="square" lIns="0" tIns="0" rIns="0" bIns="0" anchor="t">
            <a:normAutofit/>
          </a:bodyPr>
          <a:lstStyle/>
          <a:p>
            <a:pPr>
              <a:defRPr sz="2175" b="1">
                <a:solidFill>
                  <a:srgbClr val="142F24"/>
                </a:solidFill>
                <a:latin typeface="Segoe UI"/>
                <a:ea typeface="Segoe UI"/>
                <a:cs typeface="Segoe UI"/>
              </a:defRPr>
            </a:pPr>
            <a:r>
              <a:rPr sz="2175" b="1">
                <a:solidFill>
                  <a:srgbClr val="142F24"/>
                </a:solidFill>
                <a:latin typeface="Segoe UI"/>
                <a:ea typeface="Segoe UI"/>
                <a:cs typeface="Segoe UI"/>
              </a:rPr>
              <a:t>17 xe phải quay đầu</a:t>
            </a:r>
          </a:p>
        </p:txBody>
      </p:sp>
      <p:sp>
        <p:nvSpPr>
          <p:cNvPr id="18" name="!!fragment-detail-2">
            <a:extLst>
              <a:ext uri="{FF2B5EF4-FFF2-40B4-BE49-F238E27FC236}">
                <a16:creationId xmlns:a16="http://schemas.microsoft.com/office/drawing/2014/main" id="{5377DA09-5827-4D76-BFE0-BB8A33EAE4FB}"/>
              </a:ext>
            </a:extLst>
          </p:cNvPr>
          <p:cNvSpPr>
            <a:spLocks noGrp="1"/>
          </p:cNvSpPr>
          <p:nvPr/>
        </p:nvSpPr>
        <p:spPr>
          <a:xfrm>
            <a:off x="1447800" y="5076825"/>
            <a:ext cx="4333875" cy="47625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Chưa đáp ứng quy định phía Trung Quốc</a:t>
            </a:r>
          </a:p>
          <a:p>
            <a:pPr>
              <a:defRPr sz="1150" b="0">
                <a:solidFill>
                  <a:srgbClr val="53685B"/>
                </a:solidFill>
                <a:latin typeface="Segoe UI"/>
                <a:ea typeface="Segoe UI"/>
                <a:cs typeface="Segoe UI"/>
              </a:defRPr>
            </a:pPr>
            <a:r>
              <a:rPr sz="1150" b="0">
                <a:solidFill>
                  <a:srgbClr val="53685B"/>
                </a:solidFill>
                <a:latin typeface="Segoe UI"/>
                <a:ea typeface="Segoe UI"/>
                <a:cs typeface="Segoe UI"/>
                <a:hlinkClick r:id="rId6"/>
              </a:rPr>
              <a:t>VietnamPlus / TTXVN · 19/02/2025</a:t>
            </a:r>
          </a:p>
        </p:txBody>
      </p:sp>
      <p:sp>
        <p:nvSpPr>
          <p:cNvPr id="19" name="!!join-rule">
            <a:extLst>
              <a:ext uri="{FF2B5EF4-FFF2-40B4-BE49-F238E27FC236}">
                <a16:creationId xmlns:a16="http://schemas.microsoft.com/office/drawing/2014/main" id="{F76272F1-F6E8-4C2D-805A-5EF0AB53E775}"/>
              </a:ext>
            </a:extLst>
          </p:cNvPr>
          <p:cNvSpPr>
            <a:spLocks noGrp="1"/>
          </p:cNvSpPr>
          <p:nvPr/>
        </p:nvSpPr>
        <p:spPr>
          <a:xfrm>
            <a:off x="609600" y="5600700"/>
            <a:ext cx="5143500" cy="19050"/>
          </a:xfrm>
          <a:prstGeom prst="rect">
            <a:avLst/>
          </a:prstGeom>
          <a:solidFill>
            <a:srgbClr val="166447"/>
          </a:solidFill>
          <a:ln w="0">
            <a:noFill/>
          </a:ln>
        </p:spPr>
        <p:txBody>
          <a:bodyPr/>
          <a:lstStyle/>
          <a:p>
            <a:endParaRPr lang="en-US"/>
          </a:p>
        </p:txBody>
      </p:sp>
      <p:sp>
        <p:nvSpPr>
          <p:cNvPr id="20" name="!!joined-file-selection">
            <a:extLst>
              <a:ext uri="{FF2B5EF4-FFF2-40B4-BE49-F238E27FC236}">
                <a16:creationId xmlns:a16="http://schemas.microsoft.com/office/drawing/2014/main" id="{2D22C641-26E2-4246-8F07-EFFAD378A55D}"/>
              </a:ext>
            </a:extLst>
          </p:cNvPr>
          <p:cNvSpPr>
            <a:spLocks noGrp="1"/>
          </p:cNvSpPr>
          <p:nvPr/>
        </p:nvSpPr>
        <p:spPr>
          <a:xfrm>
            <a:off x="647700" y="5657850"/>
            <a:ext cx="590550" cy="590550"/>
          </a:xfrm>
          <a:prstGeom prst="ellipse">
            <a:avLst/>
          </a:prstGeom>
          <a:solidFill>
            <a:srgbClr val="166447"/>
          </a:solidFill>
          <a:ln w="28575">
            <a:solidFill>
              <a:srgbClr val="C8A45B"/>
            </a:solidFill>
          </a:ln>
        </p:spPr>
        <p:txBody>
          <a:bodyPr/>
          <a:lstStyle/>
          <a:p>
            <a:endParaRPr lang="en-US"/>
          </a:p>
        </p:txBody>
      </p:sp>
      <p:sp>
        <p:nvSpPr>
          <p:cNvPr id="21" name="!!joined-file-icon-0">
            <a:extLst>
              <a:ext uri="{FF2B5EF4-FFF2-40B4-BE49-F238E27FC236}">
                <a16:creationId xmlns:a16="http://schemas.microsoft.com/office/drawing/2014/main" id="{61CCBEA7-CB47-479E-93E6-1DCB45A58066}"/>
              </a:ext>
            </a:extLst>
          </p:cNvPr>
          <p:cNvSpPr>
            <a:spLocks noGrp="1"/>
          </p:cNvSpPr>
          <p:nvPr/>
        </p:nvSpPr>
        <p:spPr>
          <a:xfrm>
            <a:off x="783526" y="5793677"/>
            <a:ext cx="318897" cy="318897"/>
          </a:xfrm>
          <a:custGeom>
            <a:avLst/>
            <a:gdLst/>
            <a:ahLst/>
            <a:cxnLst/>
            <a:rect l="0" t="0" r="0" b="0"/>
            <a:pathLst>
              <a:path w="228600" h="228600">
                <a:moveTo>
                  <a:pt x="19050" y="57150"/>
                </a:moveTo>
                <a:lnTo>
                  <a:pt x="85725" y="57150"/>
                </a:lnTo>
                <a:lnTo>
                  <a:pt x="114300" y="85725"/>
                </a:lnTo>
                <a:lnTo>
                  <a:pt x="209550" y="85725"/>
                </a:lnTo>
                <a:lnTo>
                  <a:pt x="209550" y="200025"/>
                </a:lnTo>
                <a:lnTo>
                  <a:pt x="19050" y="200025"/>
                </a:lnTo>
                <a:close/>
              </a:path>
            </a:pathLst>
          </a:custGeom>
          <a:noFill/>
          <a:ln w="19050">
            <a:solidFill>
              <a:srgbClr val="FFFFFF"/>
            </a:solidFill>
            <a:prstDash val="solid"/>
          </a:ln>
        </p:spPr>
        <p:txBody>
          <a:bodyPr/>
          <a:lstStyle/>
          <a:p>
            <a:endParaRPr lang="en-US"/>
          </a:p>
        </p:txBody>
      </p:sp>
      <p:sp>
        <p:nvSpPr>
          <p:cNvPr id="22" name="!!join">
            <a:extLst>
              <a:ext uri="{FF2B5EF4-FFF2-40B4-BE49-F238E27FC236}">
                <a16:creationId xmlns:a16="http://schemas.microsoft.com/office/drawing/2014/main" id="{3DF30464-C758-4134-8135-B7FAF7D60943}"/>
              </a:ext>
            </a:extLst>
          </p:cNvPr>
          <p:cNvSpPr>
            <a:spLocks noGrp="1"/>
          </p:cNvSpPr>
          <p:nvPr/>
        </p:nvSpPr>
        <p:spPr>
          <a:xfrm>
            <a:off x="1447800" y="5819775"/>
            <a:ext cx="4333875" cy="438150"/>
          </a:xfrm>
          <a:prstGeom prst="rect">
            <a:avLst/>
          </a:prstGeom>
          <a:noFill/>
          <a:ln w="0">
            <a:noFill/>
          </a:ln>
        </p:spPr>
        <p:txBody>
          <a:bodyPr wrap="square" lIns="0" tIns="0" rIns="0" bIns="0" anchor="t">
            <a:normAutofit/>
          </a:bodyPr>
          <a:lstStyle/>
          <a:p>
            <a:pPr>
              <a:defRPr sz="2250" b="1">
                <a:solidFill>
                  <a:srgbClr val="166447"/>
                </a:solidFill>
                <a:latin typeface="Segoe UI"/>
                <a:ea typeface="Segoe UI"/>
                <a:cs typeface="Segoe UI"/>
              </a:defRPr>
            </a:pPr>
            <a:r>
              <a:rPr sz="2250" b="1">
                <a:solidFill>
                  <a:srgbClr val="166447"/>
                </a:solidFill>
                <a:latin typeface="Segoe UI"/>
                <a:ea typeface="Segoe UI"/>
                <a:cs typeface="Segoe UI"/>
              </a:rPr>
              <a:t>Chuẩn bị hồ sơ theo lô</a:t>
            </a:r>
          </a:p>
        </p:txBody>
      </p:sp>
      <p:sp>
        <p:nvSpPr>
          <p:cNvPr id="23" name="!!page">
            <a:extLst>
              <a:ext uri="{FF2B5EF4-FFF2-40B4-BE49-F238E27FC236}">
                <a16:creationId xmlns:a16="http://schemas.microsoft.com/office/drawing/2014/main" id="{DADD512B-EE87-40CF-92E7-9EA688F2A10C}"/>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10</a:t>
            </a:r>
          </a:p>
        </p:txBody>
      </p:sp>
      <p:sp>
        <p:nvSpPr>
          <p:cNvPr id="24" name="!!caption">
            <a:extLst>
              <a:ext uri="{FF2B5EF4-FFF2-40B4-BE49-F238E27FC236}">
                <a16:creationId xmlns:a16="http://schemas.microsoft.com/office/drawing/2014/main" id="{985451AB-3936-40B0-9CD7-1E0A1C7845A6}"/>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Website hỗ trợ hồ sơ; an toàn cần kiểm nghiệm · Nền AI</a:t>
            </a:r>
          </a:p>
        </p:txBody>
      </p:sp>
      <p:sp>
        <p:nvSpPr>
          <p:cNvPr id="25" name="News evidence background"/>
          <p:cNvSpPr/>
          <p:nvPr/>
        </p:nvSpPr>
        <p:spPr>
          <a:xfrm>
            <a:off x="6191250" y="1638300"/>
            <a:ext cx="5334000" cy="3924300"/>
          </a:xfrm>
          <a:prstGeom prst="rect">
            <a:avLst/>
          </a:prstGeom>
          <a:solidFill>
            <a:srgbClr val="FFFFFF"/>
          </a:solidFill>
          <a:ln>
            <a:noFill/>
          </a:ln>
        </p:spPr>
      </p:sp>
      <p:sp>
        <p:nvSpPr>
          <p:cNvPr id="26" name="Báo Công Thương · 20/01/2025">
            <a:extLst>
              <a:ext uri="{FF2B5EF4-FFF2-40B4-BE49-F238E27FC236}">
                <a16:creationId xmlns:a16="http://schemas.microsoft.com/office/drawing/2014/main" id="{985451AB-3936-40B0-9CD7-1E0A1C7845A6}"/>
              </a:ext>
            </a:extLst>
          </p:cNvPr>
          <p:cNvSpPr>
            <a:spLocks noGrp="1"/>
          </p:cNvSpPr>
          <p:nvPr/>
        </p:nvSpPr>
        <p:spPr>
          <a:xfrm>
            <a:off x="6400800" y="1800225"/>
            <a:ext cx="4991100" cy="247650"/>
          </a:xfrm>
          <a:prstGeom prst="rect">
            <a:avLst/>
          </a:prstGeom>
          <a:noFill/>
          <a:ln w="0">
            <a:noFill/>
          </a:ln>
        </p:spPr>
        <p:txBody>
          <a:bodyPr wrap="square" lIns="0" tIns="0" rIns="0" bIns="0" anchor="t">
            <a:normAutofit/>
          </a:bodyPr>
          <a:lstStyle/>
          <a:p>
            <a:pPr>
              <a:defRPr sz="1200" b="0">
                <a:solidFill>
                  <a:srgbClr val="53685B"/>
                </a:solidFill>
                <a:latin typeface="Segoe UI"/>
                <a:ea typeface="Segoe UI"/>
                <a:cs typeface="Segoe UI"/>
              </a:defRPr>
            </a:pPr>
            <a:r>
              <a:rPr sz="1200" b="0">
                <a:solidFill>
                  <a:srgbClr val="53685B"/>
                </a:solidFill>
                <a:latin typeface="Segoe UI"/>
                <a:ea typeface="Segoe UI"/>
                <a:cs typeface="Segoe UI"/>
                <a:hlinkClick r:id="rId5"/>
              </a:rPr>
              <a:t>Báo Công Thương · 20/01/2025</a:t>
            </a:r>
          </a:p>
        </p:txBody>
      </p:sp>
      <p:sp>
        <p:nvSpPr>
          <p:cNvPr id="27" name="VietnamPlus / TTXVN · 19/02/2025">
            <a:extLst>
              <a:ext uri="{FF2B5EF4-FFF2-40B4-BE49-F238E27FC236}">
                <a16:creationId xmlns:a16="http://schemas.microsoft.com/office/drawing/2014/main" id="{985451AB-3936-40B0-9CD7-1E0A1C7845A6}"/>
              </a:ext>
            </a:extLst>
          </p:cNvPr>
          <p:cNvSpPr>
            <a:spLocks noGrp="1"/>
          </p:cNvSpPr>
          <p:nvPr/>
        </p:nvSpPr>
        <p:spPr>
          <a:xfrm>
            <a:off x="6400800" y="2952750"/>
            <a:ext cx="4991100" cy="247650"/>
          </a:xfrm>
          <a:prstGeom prst="rect">
            <a:avLst/>
          </a:prstGeom>
          <a:noFill/>
          <a:ln w="0">
            <a:noFill/>
          </a:ln>
        </p:spPr>
        <p:txBody>
          <a:bodyPr wrap="square" lIns="0" tIns="0" rIns="0" bIns="0" anchor="t">
            <a:normAutofit/>
          </a:bodyPr>
          <a:lstStyle/>
          <a:p>
            <a:pPr>
              <a:defRPr sz="1200" b="0">
                <a:solidFill>
                  <a:srgbClr val="53685B"/>
                </a:solidFill>
                <a:latin typeface="Segoe UI"/>
                <a:ea typeface="Segoe UI"/>
                <a:cs typeface="Segoe UI"/>
              </a:defRPr>
            </a:pPr>
            <a:r>
              <a:rPr sz="1200" b="0">
                <a:solidFill>
                  <a:srgbClr val="53685B"/>
                </a:solidFill>
                <a:latin typeface="Segoe UI"/>
                <a:ea typeface="Segoe UI"/>
                <a:cs typeface="Segoe UI"/>
                <a:hlinkClick r:id="rId6"/>
              </a:rPr>
              <a:t>VietnamPlus / TTXVN · 19/02/2025</a:t>
            </a:r>
          </a:p>
        </p:txBody>
      </p:sp>
      <p:pic>
        <p:nvPicPr>
          <p:cNvPr id="28" name="congthuong-headline.jpg" descr="Ảnh chụp tiêu đề bài báo thật; nguồn và ngày trong caption và notes">
            <a:hlinkClick r:id="rId5"/>
          </p:cNvPr>
          <p:cNvPicPr>
            <a:picLocks noChangeAspect="1"/>
          </p:cNvPicPr>
          <p:nvPr/>
        </p:nvPicPr>
        <p:blipFill>
          <a:blip r:embed="rId7"/>
          <a:stretch>
            <a:fillRect/>
          </a:stretch>
        </p:blipFill>
        <p:spPr>
          <a:xfrm>
            <a:off x="6362700" y="2095500"/>
            <a:ext cx="4991100" cy="628509"/>
          </a:xfrm>
          <a:prstGeom prst="rect">
            <a:avLst/>
          </a:prstGeom>
        </p:spPr>
      </p:pic>
      <p:pic>
        <p:nvPicPr>
          <p:cNvPr id="29" name="vietnamplus-headline.jpg" descr="Ảnh chụp tiêu đề bài báo thật; nguồn và ngày trong caption và notes">
            <a:hlinkClick r:id="rId6"/>
          </p:cNvPr>
          <p:cNvPicPr>
            <a:picLocks noChangeAspect="1"/>
          </p:cNvPicPr>
          <p:nvPr/>
        </p:nvPicPr>
        <p:blipFill>
          <a:blip r:embed="rId8"/>
          <a:stretch>
            <a:fillRect/>
          </a:stretch>
        </p:blipFill>
        <p:spPr>
          <a:xfrm>
            <a:off x="6362700" y="3257550"/>
            <a:ext cx="4991100" cy="2071073"/>
          </a:xfrm>
          <a:prstGeom prst="rect">
            <a:avLst/>
          </a:prstGeom>
        </p:spPr>
      </p:pic>
    </p:spTree>
    <p:extLst>
      <p:ext uri="{BB962C8B-B14F-4D97-AF65-F5344CB8AC3E}">
        <p14:creationId xmlns:p14="http://schemas.microsoft.com/office/powerpoint/2010/main" val="1239823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22"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C9DDB6CC-CD48-4345-A125-8CA2D7133FF4}"/>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2E53A772-59C5-4CED-8D0C-B4E897657F82}"/>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a:ext uri="{FF2B5EF4-FFF2-40B4-BE49-F238E27FC236}">
                <a16:creationId xmlns:a16="http://schemas.microsoft.com/office/drawing/2014/main" id="{419E23E9-E0A2-4737-9057-7F0707E583AB}"/>
              </a:ext>
            </a:extLst>
          </p:cNvPr>
          <p:cNvSpPr>
            <a:spLocks noGrp="1"/>
          </p:cNvSpPr>
          <p:nvPr/>
        </p:nvSpPr>
        <p:spPr>
          <a:xfrm>
            <a:off x="666750" y="2190750"/>
            <a:ext cx="571500" cy="571500"/>
          </a:xfrm>
          <a:prstGeom prst="ellipse">
            <a:avLst/>
          </a:prstGeom>
          <a:solidFill>
            <a:srgbClr val="183A2C"/>
          </a:solidFill>
          <a:ln w="9525">
            <a:solidFill>
              <a:srgbClr val="A3BCAB"/>
            </a:solidFill>
          </a:ln>
        </p:spPr>
        <p:txBody>
          <a:bodyPr/>
          <a:lstStyle/>
          <a:p>
            <a:endParaRPr lang="en-US"/>
          </a:p>
        </p:txBody>
      </p:sp>
      <p:sp>
        <p:nvSpPr>
          <p:cNvPr id="5" name="!!grower-icon-0">
            <a:extLst>
              <a:ext uri="{FF2B5EF4-FFF2-40B4-BE49-F238E27FC236}">
                <a16:creationId xmlns:a16="http://schemas.microsoft.com/office/drawing/2014/main" id="{B556E0F7-A108-466A-BC59-BC29AB99BA01}"/>
              </a:ext>
            </a:extLst>
          </p:cNvPr>
          <p:cNvSpPr>
            <a:spLocks noGrp="1"/>
          </p:cNvSpPr>
          <p:nvPr/>
        </p:nvSpPr>
        <p:spPr>
          <a:xfrm>
            <a:off x="798195" y="2322195"/>
            <a:ext cx="308610" cy="308610"/>
          </a:xfrm>
          <a:custGeom>
            <a:avLst/>
            <a:gdLst/>
            <a:ahLst/>
            <a:cxnLst/>
            <a:rect l="0" t="0" r="0" b="0"/>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a:ln w="19050">
            <a:solidFill>
              <a:srgbClr val="A3BCAB"/>
            </a:solidFill>
            <a:prstDash val="solid"/>
          </a:ln>
        </p:spPr>
        <p:txBody>
          <a:bodyPr/>
          <a:lstStyle/>
          <a:p>
            <a:endParaRPr lang="en-US"/>
          </a:p>
        </p:txBody>
      </p:sp>
      <p:sp>
        <p:nvSpPr>
          <p:cNvPr id="6" name="!!grower-icon-1">
            <a:extLst>
              <a:ext uri="{FF2B5EF4-FFF2-40B4-BE49-F238E27FC236}">
                <a16:creationId xmlns:a16="http://schemas.microsoft.com/office/drawing/2014/main" id="{907B697E-3939-4D68-A2C7-4CD58D880A0B}"/>
              </a:ext>
            </a:extLst>
          </p:cNvPr>
          <p:cNvSpPr>
            <a:spLocks noGrp="1"/>
          </p:cNvSpPr>
          <p:nvPr/>
        </p:nvSpPr>
        <p:spPr>
          <a:xfrm>
            <a:off x="798195" y="2322195"/>
            <a:ext cx="308610" cy="308610"/>
          </a:xfrm>
          <a:custGeom>
            <a:avLst/>
            <a:gdLst/>
            <a:ahLst/>
            <a:cxnLst/>
            <a:rect l="0" t="0" r="0" b="0"/>
            <a:pathLst>
              <a:path w="228600" h="228600">
                <a:moveTo>
                  <a:pt x="19050" y="209550"/>
                </a:moveTo>
                <a:lnTo>
                  <a:pt x="95250" y="133350"/>
                </a:lnTo>
                <a:lnTo>
                  <a:pt x="142875" y="95250"/>
                </a:lnTo>
              </a:path>
            </a:pathLst>
          </a:custGeom>
          <a:noFill/>
          <a:ln w="19050">
            <a:solidFill>
              <a:srgbClr val="A3BCAB"/>
            </a:solidFill>
            <a:prstDash val="solid"/>
          </a:ln>
        </p:spPr>
        <p:txBody>
          <a:bodyPr/>
          <a:lstStyle/>
          <a:p>
            <a:endParaRPr lang="en-US"/>
          </a:p>
        </p:txBody>
      </p:sp>
      <p:sp>
        <p:nvSpPr>
          <p:cNvPr id="7" name="!!grower-label">
            <a:extLst>
              <a:ext uri="{FF2B5EF4-FFF2-40B4-BE49-F238E27FC236}">
                <a16:creationId xmlns:a16="http://schemas.microsoft.com/office/drawing/2014/main" id="{EE1871FE-9945-49D3-8996-741B985BD865}"/>
              </a:ext>
            </a:extLst>
          </p:cNvPr>
          <p:cNvSpPr>
            <a:spLocks noGrp="1"/>
          </p:cNvSpPr>
          <p:nvPr/>
        </p:nvSpPr>
        <p:spPr>
          <a:xfrm>
            <a:off x="1524000" y="2133600"/>
            <a:ext cx="4324350"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a:ext uri="{FF2B5EF4-FFF2-40B4-BE49-F238E27FC236}">
                <a16:creationId xmlns:a16="http://schemas.microsoft.com/office/drawing/2014/main" id="{12B4B475-FF98-43BF-B4C7-85CCDAA3C121}"/>
              </a:ext>
            </a:extLst>
          </p:cNvPr>
          <p:cNvSpPr>
            <a:spLocks noGrp="1"/>
          </p:cNvSpPr>
          <p:nvPr/>
        </p:nvSpPr>
        <p:spPr>
          <a:xfrm>
            <a:off x="1524000" y="2705100"/>
            <a:ext cx="4324350"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a:ext uri="{FF2B5EF4-FFF2-40B4-BE49-F238E27FC236}">
                <a16:creationId xmlns:a16="http://schemas.microsoft.com/office/drawing/2014/main" id="{D196CC18-9D41-4FAF-ACAA-7CC035393B42}"/>
              </a:ext>
            </a:extLst>
          </p:cNvPr>
          <p:cNvSpPr>
            <a:spLocks noGrp="1"/>
          </p:cNvSpPr>
          <p:nvPr/>
        </p:nvSpPr>
        <p:spPr>
          <a:xfrm>
            <a:off x="666750" y="3429000"/>
            <a:ext cx="571500" cy="571500"/>
          </a:xfrm>
          <a:prstGeom prst="ellipse">
            <a:avLst/>
          </a:prstGeom>
          <a:solidFill>
            <a:srgbClr val="183A2C"/>
          </a:solidFill>
          <a:ln w="9525">
            <a:solidFill>
              <a:srgbClr val="A3BCAB"/>
            </a:solidFill>
          </a:ln>
        </p:spPr>
        <p:txBody>
          <a:bodyPr/>
          <a:lstStyle/>
          <a:p>
            <a:endParaRPr lang="en-US"/>
          </a:p>
        </p:txBody>
      </p:sp>
      <p:sp>
        <p:nvSpPr>
          <p:cNvPr id="10" name="!!buyer-icon-0">
            <a:extLst>
              <a:ext uri="{FF2B5EF4-FFF2-40B4-BE49-F238E27FC236}">
                <a16:creationId xmlns:a16="http://schemas.microsoft.com/office/drawing/2014/main" id="{DD1E6927-3B71-4260-B2C4-8EB1F3F3A88B}"/>
              </a:ext>
            </a:extLst>
          </p:cNvPr>
          <p:cNvSpPr>
            <a:spLocks noGrp="1"/>
          </p:cNvSpPr>
          <p:nvPr/>
        </p:nvSpPr>
        <p:spPr>
          <a:xfrm>
            <a:off x="901065" y="3586163"/>
            <a:ext cx="102870" cy="102870"/>
          </a:xfrm>
          <a:prstGeom prst="ellipse">
            <a:avLst/>
          </a:prstGeom>
          <a:noFill/>
          <a:ln w="19050">
            <a:solidFill>
              <a:srgbClr val="A3BCAB"/>
            </a:solidFill>
            <a:prstDash val="solid"/>
          </a:ln>
        </p:spPr>
        <p:txBody>
          <a:bodyPr/>
          <a:lstStyle/>
          <a:p>
            <a:endParaRPr lang="en-US"/>
          </a:p>
        </p:txBody>
      </p:sp>
      <p:sp>
        <p:nvSpPr>
          <p:cNvPr id="11" name="!!buyer-icon-1">
            <a:extLst>
              <a:ext uri="{FF2B5EF4-FFF2-40B4-BE49-F238E27FC236}">
                <a16:creationId xmlns:a16="http://schemas.microsoft.com/office/drawing/2014/main" id="{37BD1316-D853-43B1-B08C-4E7056BE4874}"/>
              </a:ext>
            </a:extLst>
          </p:cNvPr>
          <p:cNvSpPr>
            <a:spLocks noGrp="1"/>
          </p:cNvSpPr>
          <p:nvPr/>
        </p:nvSpPr>
        <p:spPr>
          <a:xfrm>
            <a:off x="849630" y="3727609"/>
            <a:ext cx="205740" cy="115729"/>
          </a:xfrm>
          <a:prstGeom prst="roundRect">
            <a:avLst>
              <a:gd name="adj" fmla="val 50000"/>
            </a:avLst>
          </a:prstGeom>
          <a:noFill/>
          <a:ln w="19050">
            <a:solidFill>
              <a:srgbClr val="A3BCAB"/>
            </a:solidFill>
            <a:prstDash val="solid"/>
          </a:ln>
        </p:spPr>
        <p:txBody>
          <a:bodyPr/>
          <a:lstStyle/>
          <a:p>
            <a:endParaRPr lang="en-US"/>
          </a:p>
        </p:txBody>
      </p:sp>
      <p:sp>
        <p:nvSpPr>
          <p:cNvPr id="12" name="!!buyer-label">
            <a:extLst>
              <a:ext uri="{FF2B5EF4-FFF2-40B4-BE49-F238E27FC236}">
                <a16:creationId xmlns:a16="http://schemas.microsoft.com/office/drawing/2014/main" id="{94884D32-6A00-4CD8-8C77-E04CEE850A74}"/>
              </a:ext>
            </a:extLst>
          </p:cNvPr>
          <p:cNvSpPr>
            <a:spLocks noGrp="1"/>
          </p:cNvSpPr>
          <p:nvPr/>
        </p:nvSpPr>
        <p:spPr>
          <a:xfrm>
            <a:off x="1524000" y="3371850"/>
            <a:ext cx="4324350"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a:ext uri="{FF2B5EF4-FFF2-40B4-BE49-F238E27FC236}">
                <a16:creationId xmlns:a16="http://schemas.microsoft.com/office/drawing/2014/main" id="{42C053E5-A612-491B-8389-361D987ABE07}"/>
              </a:ext>
            </a:extLst>
          </p:cNvPr>
          <p:cNvSpPr>
            <a:spLocks noGrp="1"/>
          </p:cNvSpPr>
          <p:nvPr/>
        </p:nvSpPr>
        <p:spPr>
          <a:xfrm>
            <a:off x="1524000" y="3943350"/>
            <a:ext cx="4324350"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a:ext uri="{FF2B5EF4-FFF2-40B4-BE49-F238E27FC236}">
                <a16:creationId xmlns:a16="http://schemas.microsoft.com/office/drawing/2014/main" id="{2AAE6CF4-BFF3-42F6-A136-31B5E4043253}"/>
              </a:ext>
            </a:extLst>
          </p:cNvPr>
          <p:cNvSpPr>
            <a:spLocks noGrp="1"/>
          </p:cNvSpPr>
          <p:nvPr/>
        </p:nvSpPr>
        <p:spPr>
          <a:xfrm>
            <a:off x="600075" y="5095875"/>
            <a:ext cx="723900" cy="723900"/>
          </a:xfrm>
          <a:prstGeom prst="ellipse">
            <a:avLst/>
          </a:prstGeom>
          <a:solidFill>
            <a:srgbClr val="166447"/>
          </a:solidFill>
          <a:ln w="28575">
            <a:solidFill>
              <a:srgbClr val="C8A45B"/>
            </a:solidFill>
          </a:ln>
        </p:spPr>
        <p:txBody>
          <a:bodyPr/>
          <a:lstStyle/>
          <a:p>
            <a:endParaRPr lang="en-US"/>
          </a:p>
        </p:txBody>
      </p:sp>
      <p:sp>
        <p:nvSpPr>
          <p:cNvPr id="15" name="!!shared-record-icon-0">
            <a:extLst>
              <a:ext uri="{FF2B5EF4-FFF2-40B4-BE49-F238E27FC236}">
                <a16:creationId xmlns:a16="http://schemas.microsoft.com/office/drawing/2014/main" id="{09EAE64E-530F-4F62-81C0-E43C39BC44CE}"/>
              </a:ext>
            </a:extLst>
          </p:cNvPr>
          <p:cNvSpPr>
            <a:spLocks noGrp="1"/>
          </p:cNvSpPr>
          <p:nvPr/>
        </p:nvSpPr>
        <p:spPr>
          <a:xfrm>
            <a:off x="766572" y="5262372"/>
            <a:ext cx="390906" cy="390906"/>
          </a:xfrm>
          <a:custGeom>
            <a:avLst/>
            <a:gdLst/>
            <a:ahLst/>
            <a:cxnLst/>
            <a:rect l="0" t="0" r="0" b="0"/>
            <a:pathLst>
              <a:path w="228600" h="228600">
                <a:moveTo>
                  <a:pt x="47625" y="19050"/>
                </a:moveTo>
                <a:lnTo>
                  <a:pt x="133350" y="19050"/>
                </a:lnTo>
                <a:lnTo>
                  <a:pt x="190500" y="76200"/>
                </a:lnTo>
                <a:lnTo>
                  <a:pt x="190500" y="209550"/>
                </a:lnTo>
                <a:lnTo>
                  <a:pt x="47625" y="209550"/>
                </a:lnTo>
                <a:close/>
              </a:path>
            </a:pathLst>
          </a:custGeom>
          <a:noFill/>
          <a:ln w="19050">
            <a:solidFill>
              <a:srgbClr val="FFFFFF"/>
            </a:solidFill>
            <a:prstDash val="solid"/>
          </a:ln>
        </p:spPr>
        <p:txBody>
          <a:bodyPr/>
          <a:lstStyle/>
          <a:p>
            <a:endParaRPr lang="en-US"/>
          </a:p>
        </p:txBody>
      </p:sp>
      <p:sp>
        <p:nvSpPr>
          <p:cNvPr id="16" name="!!shared-record-icon-1">
            <a:extLst>
              <a:ext uri="{FF2B5EF4-FFF2-40B4-BE49-F238E27FC236}">
                <a16:creationId xmlns:a16="http://schemas.microsoft.com/office/drawing/2014/main" id="{434D5CA1-0ECF-4FF7-B456-3C59F5E36FF0}"/>
              </a:ext>
            </a:extLst>
          </p:cNvPr>
          <p:cNvSpPr>
            <a:spLocks noGrp="1"/>
          </p:cNvSpPr>
          <p:nvPr/>
        </p:nvSpPr>
        <p:spPr>
          <a:xfrm>
            <a:off x="766572" y="5262372"/>
            <a:ext cx="390906" cy="390906"/>
          </a:xfrm>
          <a:custGeom>
            <a:avLst/>
            <a:gdLst/>
            <a:ahLst/>
            <a:cxnLst/>
            <a:rect l="0" t="0" r="0" b="0"/>
            <a:pathLst>
              <a:path w="228600" h="228600">
                <a:moveTo>
                  <a:pt x="133350" y="19050"/>
                </a:moveTo>
                <a:lnTo>
                  <a:pt x="133350" y="76200"/>
                </a:lnTo>
                <a:lnTo>
                  <a:pt x="190500" y="76200"/>
                </a:lnTo>
              </a:path>
            </a:pathLst>
          </a:custGeom>
          <a:noFill/>
          <a:ln w="19050">
            <a:solidFill>
              <a:srgbClr val="FFFFFF"/>
            </a:solidFill>
            <a:prstDash val="solid"/>
          </a:ln>
        </p:spPr>
        <p:txBody>
          <a:bodyPr/>
          <a:lstStyle/>
          <a:p>
            <a:endParaRPr lang="en-US"/>
          </a:p>
        </p:txBody>
      </p:sp>
      <p:sp>
        <p:nvSpPr>
          <p:cNvPr id="17" name="!!shared-record-icon-2">
            <a:extLst>
              <a:ext uri="{FF2B5EF4-FFF2-40B4-BE49-F238E27FC236}">
                <a16:creationId xmlns:a16="http://schemas.microsoft.com/office/drawing/2014/main" id="{5801C0FC-0CCE-4241-8A27-1C7BA24F92EF}"/>
              </a:ext>
            </a:extLst>
          </p:cNvPr>
          <p:cNvSpPr>
            <a:spLocks noGrp="1"/>
          </p:cNvSpPr>
          <p:nvPr/>
        </p:nvSpPr>
        <p:spPr>
          <a:xfrm>
            <a:off x="766572" y="5262372"/>
            <a:ext cx="390906" cy="390906"/>
          </a:xfrm>
          <a:custGeom>
            <a:avLst/>
            <a:gdLst/>
            <a:ahLst/>
            <a:cxnLst/>
            <a:rect l="0" t="0" r="0" b="0"/>
            <a:pathLst>
              <a:path w="228600" h="228600">
                <a:moveTo>
                  <a:pt x="76200" y="123825"/>
                </a:moveTo>
                <a:lnTo>
                  <a:pt x="161925" y="123825"/>
                </a:lnTo>
              </a:path>
            </a:pathLst>
          </a:custGeom>
          <a:noFill/>
          <a:ln w="19050">
            <a:solidFill>
              <a:srgbClr val="FFFFFF"/>
            </a:solidFill>
            <a:prstDash val="solid"/>
          </a:ln>
        </p:spPr>
        <p:txBody>
          <a:bodyPr/>
          <a:lstStyle/>
          <a:p>
            <a:endParaRPr lang="en-US"/>
          </a:p>
        </p:txBody>
      </p:sp>
      <p:sp>
        <p:nvSpPr>
          <p:cNvPr id="18" name="!!shared-record-icon-3">
            <a:extLst>
              <a:ext uri="{FF2B5EF4-FFF2-40B4-BE49-F238E27FC236}">
                <a16:creationId xmlns:a16="http://schemas.microsoft.com/office/drawing/2014/main" id="{F0498C18-7B45-42FD-BE04-77FD65DD7634}"/>
              </a:ext>
            </a:extLst>
          </p:cNvPr>
          <p:cNvSpPr>
            <a:spLocks noGrp="1"/>
          </p:cNvSpPr>
          <p:nvPr/>
        </p:nvSpPr>
        <p:spPr>
          <a:xfrm>
            <a:off x="766572" y="5262372"/>
            <a:ext cx="390906" cy="390906"/>
          </a:xfrm>
          <a:custGeom>
            <a:avLst/>
            <a:gdLst/>
            <a:ahLst/>
            <a:cxnLst/>
            <a:rect l="0" t="0" r="0" b="0"/>
            <a:pathLst>
              <a:path w="228600" h="228600">
                <a:moveTo>
                  <a:pt x="76200" y="161925"/>
                </a:moveTo>
                <a:lnTo>
                  <a:pt x="142875" y="161925"/>
                </a:lnTo>
              </a:path>
            </a:pathLst>
          </a:custGeom>
          <a:noFill/>
          <a:ln w="19050">
            <a:solidFill>
              <a:srgbClr val="FFFFFF"/>
            </a:solidFill>
            <a:prstDash val="solid"/>
          </a:ln>
        </p:spPr>
        <p:txBody>
          <a:bodyPr/>
          <a:lstStyle/>
          <a:p>
            <a:endParaRPr lang="en-US"/>
          </a:p>
        </p:txBody>
      </p:sp>
      <p:sp>
        <p:nvSpPr>
          <p:cNvPr id="19" name="!!user-goal">
            <a:extLst>
              <a:ext uri="{FF2B5EF4-FFF2-40B4-BE49-F238E27FC236}">
                <a16:creationId xmlns:a16="http://schemas.microsoft.com/office/drawing/2014/main" id="{2B13C006-F5C3-49CF-A097-0A0D637C8C90}"/>
              </a:ext>
            </a:extLst>
          </p:cNvPr>
          <p:cNvSpPr>
            <a:spLocks noGrp="1"/>
          </p:cNvSpPr>
          <p:nvPr/>
        </p:nvSpPr>
        <p:spPr>
          <a:xfrm>
            <a:off x="1524000" y="5086350"/>
            <a:ext cx="4381500" cy="1000125"/>
          </a:xfrm>
          <a:prstGeom prst="rect">
            <a:avLst/>
          </a:prstGeom>
          <a:noFill/>
          <a:ln w="0">
            <a:noFill/>
          </a:ln>
        </p:spPr>
        <p:txBody>
          <a:bodyPr wrap="square" lIns="0" tIns="0" rIns="0" bIns="0" anchor="t">
            <a:normAutofit/>
          </a:bodyPr>
          <a:lstStyle/>
          <a:p>
            <a:pPr>
              <a:defRPr sz="2325" b="1">
                <a:solidFill>
                  <a:srgbClr val="C8A45B"/>
                </a:solidFill>
                <a:latin typeface="Segoe UI"/>
                <a:ea typeface="Segoe UI"/>
                <a:cs typeface="Segoe UI"/>
              </a:defRPr>
            </a:pPr>
            <a:r>
              <a:rPr sz="2325" b="1">
                <a:solidFill>
                  <a:srgbClr val="C8A45B"/>
                </a:solidFill>
                <a:latin typeface="Segoe UI"/>
                <a:ea typeface="Segoe UI"/>
                <a:cs typeface="Segoe UI"/>
              </a:rPr>
              <a:t>Zalo/Drive lưu tệp</a:t>
            </a:r>
          </a:p>
          <a:p>
            <a:pPr>
              <a:defRPr sz="2325" b="1">
                <a:solidFill>
                  <a:srgbClr val="C8A45B"/>
                </a:solidFill>
                <a:latin typeface="Segoe UI"/>
                <a:ea typeface="Segoe UI"/>
                <a:cs typeface="Segoe UI"/>
              </a:defRPr>
            </a:pPr>
            <a:r>
              <a:rPr sz="2325" b="1">
                <a:solidFill>
                  <a:srgbClr val="C8A45B"/>
                </a:solidFill>
                <a:latin typeface="Segoe UI"/>
                <a:ea typeface="Segoe UI"/>
                <a:cs typeface="Segoe UI"/>
              </a:rPr>
              <a:t>DurianTrust gắn hồ sơ theo lô</a:t>
            </a:r>
          </a:p>
        </p:txBody>
      </p:sp>
      <p:sp>
        <p:nvSpPr>
          <p:cNvPr id="20" name="!!page">
            <a:extLst>
              <a:ext uri="{FF2B5EF4-FFF2-40B4-BE49-F238E27FC236}">
                <a16:creationId xmlns:a16="http://schemas.microsoft.com/office/drawing/2014/main" id="{8011ABCF-553B-44E6-82D5-9137A6A505CF}"/>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10</a:t>
            </a:r>
          </a:p>
        </p:txBody>
      </p:sp>
      <p:sp>
        <p:nvSpPr>
          <p:cNvPr id="21" name="!!caption">
            <a:extLst>
              <a:ext uri="{FF2B5EF4-FFF2-40B4-BE49-F238E27FC236}">
                <a16:creationId xmlns:a16="http://schemas.microsoft.com/office/drawing/2014/main" id="{7A9EC8C4-E7D2-4119-B6E9-F0017962324E}"/>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2050338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30"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CB7A0E81-7419-4EA3-9D7F-F98766E1D8E3}"/>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E15922F8-1023-48BF-BC0B-E2B08826BF7B}"/>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a:ext uri="{FF2B5EF4-FFF2-40B4-BE49-F238E27FC236}">
                <a16:creationId xmlns:a16="http://schemas.microsoft.com/office/drawing/2014/main" id="{89406869-6855-430B-959C-491D1BD37384}"/>
              </a:ext>
            </a:extLst>
          </p:cNvPr>
          <p:cNvSpPr>
            <a:spLocks noGrp="1"/>
          </p:cNvSpPr>
          <p:nvPr/>
        </p:nvSpPr>
        <p:spPr>
          <a:xfrm>
            <a:off x="1057275" y="2562225"/>
            <a:ext cx="1104900" cy="1104900"/>
          </a:xfrm>
          <a:prstGeom prst="ellipse">
            <a:avLst/>
          </a:prstGeom>
          <a:solidFill>
            <a:srgbClr val="183A2C"/>
          </a:solidFill>
          <a:ln w="9525">
            <a:solidFill>
              <a:srgbClr val="A3BCAB"/>
            </a:solidFill>
          </a:ln>
        </p:spPr>
        <p:txBody>
          <a:bodyPr/>
          <a:lstStyle/>
          <a:p>
            <a:endParaRPr lang="en-US"/>
          </a:p>
        </p:txBody>
      </p:sp>
      <p:sp>
        <p:nvSpPr>
          <p:cNvPr id="5" name="!!flow-0-icon-0">
            <a:extLst>
              <a:ext uri="{FF2B5EF4-FFF2-40B4-BE49-F238E27FC236}">
                <a16:creationId xmlns:a16="http://schemas.microsoft.com/office/drawing/2014/main" id="{5B00ED3F-DB0D-44E7-A049-13D7D55F73F0}"/>
              </a:ext>
            </a:extLst>
          </p:cNvPr>
          <p:cNvSpPr>
            <a:spLocks noGrp="1"/>
          </p:cNvSpPr>
          <p:nvPr/>
        </p:nvSpPr>
        <p:spPr>
          <a:xfrm>
            <a:off x="1311402" y="2816352"/>
            <a:ext cx="596646" cy="596646"/>
          </a:xfrm>
          <a:custGeom>
            <a:avLst/>
            <a:gdLst/>
            <a:ahLst/>
            <a:cxnLst/>
            <a:rect l="0" t="0" r="0" b="0"/>
            <a:pathLst>
              <a:path w="228600" h="228600">
                <a:moveTo>
                  <a:pt x="19050" y="57150"/>
                </a:moveTo>
                <a:lnTo>
                  <a:pt x="85725" y="57150"/>
                </a:lnTo>
                <a:lnTo>
                  <a:pt x="114300" y="85725"/>
                </a:lnTo>
                <a:lnTo>
                  <a:pt x="209550" y="85725"/>
                </a:lnTo>
                <a:lnTo>
                  <a:pt x="209550" y="200025"/>
                </a:lnTo>
                <a:lnTo>
                  <a:pt x="19050" y="200025"/>
                </a:lnTo>
                <a:close/>
              </a:path>
            </a:pathLst>
          </a:custGeom>
          <a:noFill/>
          <a:ln w="21309">
            <a:solidFill>
              <a:srgbClr val="A3BCAB"/>
            </a:solidFill>
            <a:prstDash val="solid"/>
          </a:ln>
        </p:spPr>
        <p:txBody>
          <a:bodyPr/>
          <a:lstStyle/>
          <a:p>
            <a:endParaRPr lang="en-US"/>
          </a:p>
        </p:txBody>
      </p:sp>
      <p:sp>
        <p:nvSpPr>
          <p:cNvPr id="6" name="!!flow-label-0">
            <a:extLst>
              <a:ext uri="{FF2B5EF4-FFF2-40B4-BE49-F238E27FC236}">
                <a16:creationId xmlns:a16="http://schemas.microsoft.com/office/drawing/2014/main" id="{190C63F6-532C-4C6F-A0BE-48ABF412177E}"/>
              </a:ext>
            </a:extLst>
          </p:cNvPr>
          <p:cNvSpPr>
            <a:spLocks noGrp="1"/>
          </p:cNvSpPr>
          <p:nvPr/>
        </p:nvSpPr>
        <p:spPr>
          <a:xfrm>
            <a:off x="485775" y="40576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a:ext uri="{FF2B5EF4-FFF2-40B4-BE49-F238E27FC236}">
                <a16:creationId xmlns:a16="http://schemas.microsoft.com/office/drawing/2014/main" id="{3D562147-1EA3-425C-8329-9160DDC22858}"/>
              </a:ext>
            </a:extLst>
          </p:cNvPr>
          <p:cNvSpPr>
            <a:spLocks noGrp="1"/>
          </p:cNvSpPr>
          <p:nvPr/>
        </p:nvSpPr>
        <p:spPr>
          <a:xfrm>
            <a:off x="3848100" y="2562225"/>
            <a:ext cx="1104900" cy="1104900"/>
          </a:xfrm>
          <a:prstGeom prst="ellipse">
            <a:avLst/>
          </a:prstGeom>
          <a:solidFill>
            <a:srgbClr val="183A2C"/>
          </a:solidFill>
          <a:ln w="9525">
            <a:solidFill>
              <a:srgbClr val="A3BCAB"/>
            </a:solidFill>
          </a:ln>
        </p:spPr>
        <p:txBody>
          <a:bodyPr/>
          <a:lstStyle/>
          <a:p>
            <a:endParaRPr lang="en-US"/>
          </a:p>
        </p:txBody>
      </p:sp>
      <p:sp>
        <p:nvSpPr>
          <p:cNvPr id="8" name="!!flow-1-icon-0">
            <a:extLst>
              <a:ext uri="{FF2B5EF4-FFF2-40B4-BE49-F238E27FC236}">
                <a16:creationId xmlns:a16="http://schemas.microsoft.com/office/drawing/2014/main" id="{10B0AEB9-9162-4873-8A2F-9B5F12E6574B}"/>
              </a:ext>
            </a:extLst>
          </p:cNvPr>
          <p:cNvSpPr>
            <a:spLocks noGrp="1"/>
          </p:cNvSpPr>
          <p:nvPr/>
        </p:nvSpPr>
        <p:spPr>
          <a:xfrm>
            <a:off x="4102227" y="2816352"/>
            <a:ext cx="596646" cy="596646"/>
          </a:xfrm>
          <a:custGeom>
            <a:avLst/>
            <a:gdLst/>
            <a:ahLst/>
            <a:cxnLst/>
            <a:rect l="0" t="0" r="0" b="0"/>
            <a:pathLst>
              <a:path w="228600" h="228600">
                <a:moveTo>
                  <a:pt x="47625" y="19050"/>
                </a:moveTo>
                <a:lnTo>
                  <a:pt x="133350" y="19050"/>
                </a:lnTo>
                <a:lnTo>
                  <a:pt x="190500" y="76200"/>
                </a:lnTo>
                <a:lnTo>
                  <a:pt x="190500" y="209550"/>
                </a:lnTo>
                <a:lnTo>
                  <a:pt x="47625" y="209550"/>
                </a:lnTo>
                <a:close/>
              </a:path>
            </a:pathLst>
          </a:custGeom>
          <a:noFill/>
          <a:ln w="21309">
            <a:solidFill>
              <a:srgbClr val="A3BCAB"/>
            </a:solidFill>
            <a:prstDash val="solid"/>
          </a:ln>
        </p:spPr>
        <p:txBody>
          <a:bodyPr/>
          <a:lstStyle/>
          <a:p>
            <a:endParaRPr lang="en-US"/>
          </a:p>
        </p:txBody>
      </p:sp>
      <p:sp>
        <p:nvSpPr>
          <p:cNvPr id="9" name="!!flow-1-icon-1">
            <a:extLst>
              <a:ext uri="{FF2B5EF4-FFF2-40B4-BE49-F238E27FC236}">
                <a16:creationId xmlns:a16="http://schemas.microsoft.com/office/drawing/2014/main" id="{54254E10-F2C4-4BE3-A2B0-2954C6D2FBC2}"/>
              </a:ext>
            </a:extLst>
          </p:cNvPr>
          <p:cNvSpPr>
            <a:spLocks noGrp="1"/>
          </p:cNvSpPr>
          <p:nvPr/>
        </p:nvSpPr>
        <p:spPr>
          <a:xfrm>
            <a:off x="4102227" y="2816352"/>
            <a:ext cx="596646" cy="596646"/>
          </a:xfrm>
          <a:custGeom>
            <a:avLst/>
            <a:gdLst/>
            <a:ahLst/>
            <a:cxnLst/>
            <a:rect l="0" t="0" r="0" b="0"/>
            <a:pathLst>
              <a:path w="228600" h="228600">
                <a:moveTo>
                  <a:pt x="133350" y="19050"/>
                </a:moveTo>
                <a:lnTo>
                  <a:pt x="133350" y="76200"/>
                </a:lnTo>
                <a:lnTo>
                  <a:pt x="190500" y="76200"/>
                </a:lnTo>
              </a:path>
            </a:pathLst>
          </a:custGeom>
          <a:noFill/>
          <a:ln w="21309">
            <a:solidFill>
              <a:srgbClr val="A3BCAB"/>
            </a:solidFill>
            <a:prstDash val="solid"/>
          </a:ln>
        </p:spPr>
        <p:txBody>
          <a:bodyPr/>
          <a:lstStyle/>
          <a:p>
            <a:endParaRPr lang="en-US"/>
          </a:p>
        </p:txBody>
      </p:sp>
      <p:sp>
        <p:nvSpPr>
          <p:cNvPr id="10" name="!!flow-1-icon-2">
            <a:extLst>
              <a:ext uri="{FF2B5EF4-FFF2-40B4-BE49-F238E27FC236}">
                <a16:creationId xmlns:a16="http://schemas.microsoft.com/office/drawing/2014/main" id="{4968CC20-FCE8-4F46-8F0C-A4F62D49FFC0}"/>
              </a:ext>
            </a:extLst>
          </p:cNvPr>
          <p:cNvSpPr>
            <a:spLocks noGrp="1"/>
          </p:cNvSpPr>
          <p:nvPr/>
        </p:nvSpPr>
        <p:spPr>
          <a:xfrm>
            <a:off x="4102227" y="2816352"/>
            <a:ext cx="596646" cy="596646"/>
          </a:xfrm>
          <a:custGeom>
            <a:avLst/>
            <a:gdLst/>
            <a:ahLst/>
            <a:cxnLst/>
            <a:rect l="0" t="0" r="0" b="0"/>
            <a:pathLst>
              <a:path w="228600" h="228600">
                <a:moveTo>
                  <a:pt x="76200" y="123825"/>
                </a:moveTo>
                <a:lnTo>
                  <a:pt x="161925" y="123825"/>
                </a:lnTo>
              </a:path>
            </a:pathLst>
          </a:custGeom>
          <a:noFill/>
          <a:ln w="21309">
            <a:solidFill>
              <a:srgbClr val="A3BCAB"/>
            </a:solidFill>
            <a:prstDash val="solid"/>
          </a:ln>
        </p:spPr>
        <p:txBody>
          <a:bodyPr/>
          <a:lstStyle/>
          <a:p>
            <a:endParaRPr lang="en-US"/>
          </a:p>
        </p:txBody>
      </p:sp>
      <p:sp>
        <p:nvSpPr>
          <p:cNvPr id="11" name="!!flow-1-icon-3">
            <a:extLst>
              <a:ext uri="{FF2B5EF4-FFF2-40B4-BE49-F238E27FC236}">
                <a16:creationId xmlns:a16="http://schemas.microsoft.com/office/drawing/2014/main" id="{7CB05A56-F233-49DB-AD3F-29FC114DB9CB}"/>
              </a:ext>
            </a:extLst>
          </p:cNvPr>
          <p:cNvSpPr>
            <a:spLocks noGrp="1"/>
          </p:cNvSpPr>
          <p:nvPr/>
        </p:nvSpPr>
        <p:spPr>
          <a:xfrm>
            <a:off x="4102227" y="2816352"/>
            <a:ext cx="596646" cy="596646"/>
          </a:xfrm>
          <a:custGeom>
            <a:avLst/>
            <a:gdLst/>
            <a:ahLst/>
            <a:cxnLst/>
            <a:rect l="0" t="0" r="0" b="0"/>
            <a:pathLst>
              <a:path w="228600" h="228600">
                <a:moveTo>
                  <a:pt x="76200" y="161925"/>
                </a:moveTo>
                <a:lnTo>
                  <a:pt x="142875" y="161925"/>
                </a:lnTo>
              </a:path>
            </a:pathLst>
          </a:custGeom>
          <a:noFill/>
          <a:ln w="21309">
            <a:solidFill>
              <a:srgbClr val="A3BCAB"/>
            </a:solidFill>
            <a:prstDash val="solid"/>
          </a:ln>
        </p:spPr>
        <p:txBody>
          <a:bodyPr/>
          <a:lstStyle/>
          <a:p>
            <a:endParaRPr lang="en-US"/>
          </a:p>
        </p:txBody>
      </p:sp>
      <p:sp>
        <p:nvSpPr>
          <p:cNvPr id="12" name="!!flow-label-1">
            <a:extLst>
              <a:ext uri="{FF2B5EF4-FFF2-40B4-BE49-F238E27FC236}">
                <a16:creationId xmlns:a16="http://schemas.microsoft.com/office/drawing/2014/main" id="{622BDDA8-9A23-420C-B99C-E8C41E92E4A0}"/>
              </a:ext>
            </a:extLst>
          </p:cNvPr>
          <p:cNvSpPr>
            <a:spLocks noGrp="1"/>
          </p:cNvSpPr>
          <p:nvPr/>
        </p:nvSpPr>
        <p:spPr>
          <a:xfrm>
            <a:off x="3276600" y="40576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id="4" idx="6"/>
            <a:endCxn id="7" idx="2"/>
          </p:cNvCxnSpPr>
          <p:nvPr/>
        </p:nvCxnSpPr>
        <p:spPr>
          <a:xfrm>
            <a:off x="2162175" y="3114675"/>
            <a:ext cx="1685925" cy="0"/>
          </a:xfrm>
          <a:prstGeom prst="straightConnector1">
            <a:avLst/>
          </a:prstGeom>
          <a:ln w="19050">
            <a:solidFill>
              <a:srgbClr val="A3BCAB"/>
            </a:solidFill>
            <a:prstDash val="solid"/>
            <a:tailEnd type="arrow" w="med" len="med"/>
          </a:ln>
        </p:spPr>
      </p:cxnSp>
      <p:sp>
        <p:nvSpPr>
          <p:cNvPr id="14" name="!!flow-2-selection">
            <a:extLst>
              <a:ext uri="{FF2B5EF4-FFF2-40B4-BE49-F238E27FC236}">
                <a16:creationId xmlns:a16="http://schemas.microsoft.com/office/drawing/2014/main" id="{C87CB70C-7573-49C6-92D1-7F65F7DBE93D}"/>
              </a:ext>
            </a:extLst>
          </p:cNvPr>
          <p:cNvSpPr>
            <a:spLocks noGrp="1"/>
          </p:cNvSpPr>
          <p:nvPr/>
        </p:nvSpPr>
        <p:spPr>
          <a:xfrm>
            <a:off x="6638925" y="2562225"/>
            <a:ext cx="1104900" cy="1104900"/>
          </a:xfrm>
          <a:prstGeom prst="ellipse">
            <a:avLst/>
          </a:prstGeom>
          <a:solidFill>
            <a:srgbClr val="183A2C"/>
          </a:solidFill>
          <a:ln w="9525">
            <a:solidFill>
              <a:srgbClr val="A3BCAB"/>
            </a:solidFill>
          </a:ln>
        </p:spPr>
        <p:txBody>
          <a:bodyPr/>
          <a:lstStyle/>
          <a:p>
            <a:endParaRPr lang="en-US"/>
          </a:p>
        </p:txBody>
      </p:sp>
      <p:sp>
        <p:nvSpPr>
          <p:cNvPr id="15" name="!!flow-2-icon-0">
            <a:extLst>
              <a:ext uri="{FF2B5EF4-FFF2-40B4-BE49-F238E27FC236}">
                <a16:creationId xmlns:a16="http://schemas.microsoft.com/office/drawing/2014/main" id="{BCEBC7B9-6419-4DB4-97B8-D2F55B07E6EF}"/>
              </a:ext>
            </a:extLst>
          </p:cNvPr>
          <p:cNvSpPr>
            <a:spLocks noGrp="1"/>
          </p:cNvSpPr>
          <p:nvPr/>
        </p:nvSpPr>
        <p:spPr>
          <a:xfrm>
            <a:off x="6942773" y="2866073"/>
            <a:ext cx="497205" cy="497205"/>
          </a:xfrm>
          <a:prstGeom prst="ellipse">
            <a:avLst/>
          </a:prstGeom>
          <a:noFill/>
          <a:ln w="21309">
            <a:solidFill>
              <a:srgbClr val="A3BCAB"/>
            </a:solidFill>
            <a:prstDash val="solid"/>
          </a:ln>
        </p:spPr>
        <p:txBody>
          <a:bodyPr/>
          <a:lstStyle/>
          <a:p>
            <a:endParaRPr lang="en-US"/>
          </a:p>
        </p:txBody>
      </p:sp>
      <p:sp>
        <p:nvSpPr>
          <p:cNvPr id="16" name="!!flow-2-icon-1">
            <a:extLst>
              <a:ext uri="{FF2B5EF4-FFF2-40B4-BE49-F238E27FC236}">
                <a16:creationId xmlns:a16="http://schemas.microsoft.com/office/drawing/2014/main" id="{4AAFF4DA-D10F-4357-A267-D7591E1E7250}"/>
              </a:ext>
            </a:extLst>
          </p:cNvPr>
          <p:cNvSpPr>
            <a:spLocks noGrp="1"/>
          </p:cNvSpPr>
          <p:nvPr/>
        </p:nvSpPr>
        <p:spPr>
          <a:xfrm>
            <a:off x="6893052" y="2816352"/>
            <a:ext cx="596646" cy="596646"/>
          </a:xfrm>
          <a:custGeom>
            <a:avLst/>
            <a:gdLst/>
            <a:ahLst/>
            <a:cxnLst/>
            <a:rect l="0" t="0" r="0" b="0"/>
            <a:pathLst>
              <a:path w="228600" h="228600">
                <a:moveTo>
                  <a:pt x="114300" y="47625"/>
                </a:moveTo>
                <a:lnTo>
                  <a:pt x="114300" y="114300"/>
                </a:lnTo>
                <a:lnTo>
                  <a:pt x="161925" y="142875"/>
                </a:lnTo>
              </a:path>
            </a:pathLst>
          </a:custGeom>
          <a:noFill/>
          <a:ln w="21309">
            <a:solidFill>
              <a:srgbClr val="A3BCAB"/>
            </a:solidFill>
            <a:prstDash val="solid"/>
          </a:ln>
        </p:spPr>
        <p:txBody>
          <a:bodyPr/>
          <a:lstStyle/>
          <a:p>
            <a:endParaRPr lang="en-US"/>
          </a:p>
        </p:txBody>
      </p:sp>
      <p:sp>
        <p:nvSpPr>
          <p:cNvPr id="17" name="!!flow-label-2">
            <a:extLst>
              <a:ext uri="{FF2B5EF4-FFF2-40B4-BE49-F238E27FC236}">
                <a16:creationId xmlns:a16="http://schemas.microsoft.com/office/drawing/2014/main" id="{80EC7D9C-27AC-4FB7-B5F3-B46903ACD7C8}"/>
              </a:ext>
            </a:extLst>
          </p:cNvPr>
          <p:cNvSpPr>
            <a:spLocks noGrp="1"/>
          </p:cNvSpPr>
          <p:nvPr/>
        </p:nvSpPr>
        <p:spPr>
          <a:xfrm>
            <a:off x="6067425" y="40576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id="7" idx="6"/>
            <a:endCxn id="14" idx="2"/>
          </p:cNvCxnSpPr>
          <p:nvPr/>
        </p:nvCxnSpPr>
        <p:spPr>
          <a:xfrm>
            <a:off x="4953000" y="3114675"/>
            <a:ext cx="1685925" cy="0"/>
          </a:xfrm>
          <a:prstGeom prst="straightConnector1">
            <a:avLst/>
          </a:prstGeom>
          <a:ln w="19050">
            <a:solidFill>
              <a:srgbClr val="A3BCAB"/>
            </a:solidFill>
            <a:prstDash val="solid"/>
            <a:tailEnd type="arrow" w="med" len="med"/>
          </a:ln>
        </p:spPr>
      </p:cxnSp>
      <p:sp>
        <p:nvSpPr>
          <p:cNvPr id="19" name="!!flow-3-selection">
            <a:extLst>
              <a:ext uri="{FF2B5EF4-FFF2-40B4-BE49-F238E27FC236}">
                <a16:creationId xmlns:a16="http://schemas.microsoft.com/office/drawing/2014/main" id="{C67C84E1-5AF4-4B6C-86F2-F1ACEC3D7A64}"/>
              </a:ext>
            </a:extLst>
          </p:cNvPr>
          <p:cNvSpPr>
            <a:spLocks noGrp="1"/>
          </p:cNvSpPr>
          <p:nvPr/>
        </p:nvSpPr>
        <p:spPr>
          <a:xfrm>
            <a:off x="9286875" y="2419350"/>
            <a:ext cx="1390650" cy="1390650"/>
          </a:xfrm>
          <a:prstGeom prst="ellipse">
            <a:avLst/>
          </a:prstGeom>
          <a:solidFill>
            <a:srgbClr val="166447"/>
          </a:solidFill>
          <a:ln w="28575">
            <a:solidFill>
              <a:srgbClr val="C8A45B"/>
            </a:solidFill>
          </a:ln>
        </p:spPr>
        <p:txBody>
          <a:bodyPr/>
          <a:lstStyle/>
          <a:p>
            <a:endParaRPr lang="en-US"/>
          </a:p>
        </p:txBody>
      </p:sp>
      <p:sp>
        <p:nvSpPr>
          <p:cNvPr id="20" name="!!flow-3-icon-0">
            <a:extLst>
              <a:ext uri="{FF2B5EF4-FFF2-40B4-BE49-F238E27FC236}">
                <a16:creationId xmlns:a16="http://schemas.microsoft.com/office/drawing/2014/main" id="{18A7F6C5-73BA-49BC-AF19-27DDAFFF0FCB}"/>
              </a:ext>
            </a:extLst>
          </p:cNvPr>
          <p:cNvSpPr>
            <a:spLocks noGrp="1"/>
          </p:cNvSpPr>
          <p:nvPr/>
        </p:nvSpPr>
        <p:spPr>
          <a:xfrm>
            <a:off x="9606725" y="2739200"/>
            <a:ext cx="750951" cy="750951"/>
          </a:xfrm>
          <a:custGeom>
            <a:avLst/>
            <a:gdLst/>
            <a:ahLst/>
            <a:cxnLst/>
            <a:rect l="0" t="0" r="0" b="0"/>
            <a:pathLst>
              <a:path w="228600" h="228600">
                <a:moveTo>
                  <a:pt x="19050" y="76200"/>
                </a:moveTo>
                <a:lnTo>
                  <a:pt x="19050" y="19050"/>
                </a:lnTo>
                <a:lnTo>
                  <a:pt x="76200" y="19050"/>
                </a:lnTo>
              </a:path>
            </a:pathLst>
          </a:custGeom>
          <a:noFill/>
          <a:ln w="26820">
            <a:solidFill>
              <a:srgbClr val="FFFFFF"/>
            </a:solidFill>
            <a:prstDash val="solid"/>
          </a:ln>
        </p:spPr>
        <p:txBody>
          <a:bodyPr/>
          <a:lstStyle/>
          <a:p>
            <a:endParaRPr lang="en-US"/>
          </a:p>
        </p:txBody>
      </p:sp>
      <p:sp>
        <p:nvSpPr>
          <p:cNvPr id="21" name="!!flow-3-icon-1">
            <a:extLst>
              <a:ext uri="{FF2B5EF4-FFF2-40B4-BE49-F238E27FC236}">
                <a16:creationId xmlns:a16="http://schemas.microsoft.com/office/drawing/2014/main" id="{6316A285-305B-4352-A481-09E4B560D0E4}"/>
              </a:ext>
            </a:extLst>
          </p:cNvPr>
          <p:cNvSpPr>
            <a:spLocks noGrp="1"/>
          </p:cNvSpPr>
          <p:nvPr/>
        </p:nvSpPr>
        <p:spPr>
          <a:xfrm>
            <a:off x="9606725" y="2739200"/>
            <a:ext cx="750951" cy="750951"/>
          </a:xfrm>
          <a:custGeom>
            <a:avLst/>
            <a:gdLst/>
            <a:ahLst/>
            <a:cxnLst/>
            <a:rect l="0" t="0" r="0" b="0"/>
            <a:pathLst>
              <a:path w="228600" h="228600">
                <a:moveTo>
                  <a:pt x="152400" y="19050"/>
                </a:moveTo>
                <a:lnTo>
                  <a:pt x="209550" y="19050"/>
                </a:lnTo>
                <a:lnTo>
                  <a:pt x="209550" y="76200"/>
                </a:lnTo>
              </a:path>
            </a:pathLst>
          </a:custGeom>
          <a:noFill/>
          <a:ln w="26820">
            <a:solidFill>
              <a:srgbClr val="FFFFFF"/>
            </a:solidFill>
            <a:prstDash val="solid"/>
          </a:ln>
        </p:spPr>
        <p:txBody>
          <a:bodyPr/>
          <a:lstStyle/>
          <a:p>
            <a:endParaRPr lang="en-US"/>
          </a:p>
        </p:txBody>
      </p:sp>
      <p:sp>
        <p:nvSpPr>
          <p:cNvPr id="22" name="!!flow-3-icon-2">
            <a:extLst>
              <a:ext uri="{FF2B5EF4-FFF2-40B4-BE49-F238E27FC236}">
                <a16:creationId xmlns:a16="http://schemas.microsoft.com/office/drawing/2014/main" id="{11E5284B-F0F1-4E97-B17F-7E661C508B63}"/>
              </a:ext>
            </a:extLst>
          </p:cNvPr>
          <p:cNvSpPr>
            <a:spLocks noGrp="1"/>
          </p:cNvSpPr>
          <p:nvPr/>
        </p:nvSpPr>
        <p:spPr>
          <a:xfrm>
            <a:off x="9606725" y="2739200"/>
            <a:ext cx="750951" cy="750951"/>
          </a:xfrm>
          <a:custGeom>
            <a:avLst/>
            <a:gdLst/>
            <a:ahLst/>
            <a:cxnLst/>
            <a:rect l="0" t="0" r="0" b="0"/>
            <a:pathLst>
              <a:path w="228600" h="228600">
                <a:moveTo>
                  <a:pt x="209550" y="152400"/>
                </a:moveTo>
                <a:lnTo>
                  <a:pt x="209550" y="209550"/>
                </a:lnTo>
                <a:lnTo>
                  <a:pt x="152400" y="209550"/>
                </a:lnTo>
              </a:path>
            </a:pathLst>
          </a:custGeom>
          <a:noFill/>
          <a:ln w="26820">
            <a:solidFill>
              <a:srgbClr val="FFFFFF"/>
            </a:solidFill>
            <a:prstDash val="solid"/>
          </a:ln>
        </p:spPr>
        <p:txBody>
          <a:bodyPr/>
          <a:lstStyle/>
          <a:p>
            <a:endParaRPr lang="en-US"/>
          </a:p>
        </p:txBody>
      </p:sp>
      <p:sp>
        <p:nvSpPr>
          <p:cNvPr id="23" name="!!flow-3-icon-3">
            <a:extLst>
              <a:ext uri="{FF2B5EF4-FFF2-40B4-BE49-F238E27FC236}">
                <a16:creationId xmlns:a16="http://schemas.microsoft.com/office/drawing/2014/main" id="{F3291014-4C85-4A34-9A34-0E275B8D9800}"/>
              </a:ext>
            </a:extLst>
          </p:cNvPr>
          <p:cNvSpPr>
            <a:spLocks noGrp="1"/>
          </p:cNvSpPr>
          <p:nvPr/>
        </p:nvSpPr>
        <p:spPr>
          <a:xfrm>
            <a:off x="9606725" y="2739200"/>
            <a:ext cx="750951" cy="750951"/>
          </a:xfrm>
          <a:custGeom>
            <a:avLst/>
            <a:gdLst/>
            <a:ahLst/>
            <a:cxnLst/>
            <a:rect l="0" t="0" r="0" b="0"/>
            <a:pathLst>
              <a:path w="228600" h="228600">
                <a:moveTo>
                  <a:pt x="76200" y="209550"/>
                </a:moveTo>
                <a:lnTo>
                  <a:pt x="19050" y="209550"/>
                </a:lnTo>
                <a:lnTo>
                  <a:pt x="19050" y="152400"/>
                </a:lnTo>
              </a:path>
            </a:pathLst>
          </a:custGeom>
          <a:noFill/>
          <a:ln w="26820">
            <a:solidFill>
              <a:srgbClr val="FFFFFF"/>
            </a:solidFill>
            <a:prstDash val="solid"/>
          </a:ln>
        </p:spPr>
        <p:txBody>
          <a:bodyPr/>
          <a:lstStyle/>
          <a:p>
            <a:endParaRPr lang="en-US"/>
          </a:p>
        </p:txBody>
      </p:sp>
      <p:sp>
        <p:nvSpPr>
          <p:cNvPr id="24" name="!!flow-3-icon-4">
            <a:extLst>
              <a:ext uri="{FF2B5EF4-FFF2-40B4-BE49-F238E27FC236}">
                <a16:creationId xmlns:a16="http://schemas.microsoft.com/office/drawing/2014/main" id="{ABACAEAA-F057-44C2-AE50-26FF165FFD88}"/>
              </a:ext>
            </a:extLst>
          </p:cNvPr>
          <p:cNvSpPr>
            <a:spLocks noGrp="1"/>
          </p:cNvSpPr>
          <p:nvPr/>
        </p:nvSpPr>
        <p:spPr>
          <a:xfrm>
            <a:off x="9606725" y="2739200"/>
            <a:ext cx="750951" cy="750951"/>
          </a:xfrm>
          <a:custGeom>
            <a:avLst/>
            <a:gdLst/>
            <a:ahLst/>
            <a:cxnLst/>
            <a:rect l="0" t="0" r="0" b="0"/>
            <a:pathLst>
              <a:path w="228600" h="228600">
                <a:moveTo>
                  <a:pt x="57150" y="114300"/>
                </a:moveTo>
                <a:lnTo>
                  <a:pt x="171450" y="114300"/>
                </a:lnTo>
              </a:path>
            </a:pathLst>
          </a:custGeom>
          <a:noFill/>
          <a:ln w="26820">
            <a:solidFill>
              <a:srgbClr val="FFFFFF"/>
            </a:solidFill>
            <a:prstDash val="solid"/>
          </a:ln>
        </p:spPr>
        <p:txBody>
          <a:bodyPr/>
          <a:lstStyle/>
          <a:p>
            <a:endParaRPr lang="en-US"/>
          </a:p>
        </p:txBody>
      </p:sp>
      <p:sp>
        <p:nvSpPr>
          <p:cNvPr id="25" name="!!flow-label-3">
            <a:extLst>
              <a:ext uri="{FF2B5EF4-FFF2-40B4-BE49-F238E27FC236}">
                <a16:creationId xmlns:a16="http://schemas.microsoft.com/office/drawing/2014/main" id="{680F69C5-D6DA-4023-BCEE-6181945D1DF7}"/>
              </a:ext>
            </a:extLst>
          </p:cNvPr>
          <p:cNvSpPr>
            <a:spLocks noGrp="1"/>
          </p:cNvSpPr>
          <p:nvPr/>
        </p:nvSpPr>
        <p:spPr>
          <a:xfrm>
            <a:off x="8858250" y="4057650"/>
            <a:ext cx="2343150" cy="857250"/>
          </a:xfrm>
          <a:prstGeom prst="rect">
            <a:avLst/>
          </a:prstGeom>
          <a:noFill/>
          <a:ln w="0">
            <a:noFill/>
          </a:ln>
        </p:spPr>
        <p:txBody>
          <a:bodyPr wrap="square" lIns="0" tIns="0" rIns="0" bIns="0" anchor="t">
            <a:normAutofit/>
          </a:bodyPr>
          <a:lstStyle/>
          <a:p>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id="14" idx="6"/>
            <a:endCxn id="19" idx="2"/>
          </p:cNvCxnSpPr>
          <p:nvPr/>
        </p:nvCxnSpPr>
        <p:spPr>
          <a:xfrm>
            <a:off x="7743825" y="3114675"/>
            <a:ext cx="1543050" cy="0"/>
          </a:xfrm>
          <a:prstGeom prst="straightConnector1">
            <a:avLst/>
          </a:prstGeom>
          <a:ln w="19050">
            <a:solidFill>
              <a:srgbClr val="A3BCAB"/>
            </a:solidFill>
            <a:prstDash val="solid"/>
            <a:tailEnd type="arrow" w="med" len="med"/>
          </a:ln>
        </p:spPr>
      </p:cxnSp>
      <p:sp>
        <p:nvSpPr>
          <p:cNvPr id="27" name="!!flow-note">
            <a:extLst>
              <a:ext uri="{FF2B5EF4-FFF2-40B4-BE49-F238E27FC236}">
                <a16:creationId xmlns:a16="http://schemas.microsoft.com/office/drawing/2014/main" id="{A199C694-67C4-423F-905E-E5402D7CA20E}"/>
              </a:ext>
            </a:extLst>
          </p:cNvPr>
          <p:cNvSpPr>
            <a:spLocks noGrp="1"/>
          </p:cNvSpPr>
          <p:nvPr/>
        </p:nvSpPr>
        <p:spPr>
          <a:xfrm>
            <a:off x="609600" y="5324475"/>
            <a:ext cx="10572750" cy="762000"/>
          </a:xfrm>
          <a:prstGeom prst="rect">
            <a:avLst/>
          </a:prstGeom>
          <a:noFill/>
          <a:ln w="0">
            <a:noFill/>
          </a:ln>
        </p:spPr>
        <p:txBody>
          <a:bodyPr wrap="square" lIns="0" tIns="0" rIns="0" bIns="0" anchor="t">
            <a:normAutofit/>
          </a:bodyPr>
          <a:lstStyle/>
          <a:p>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a:ext uri="{FF2B5EF4-FFF2-40B4-BE49-F238E27FC236}">
                <a16:creationId xmlns:a16="http://schemas.microsoft.com/office/drawing/2014/main" id="{D7C8FC48-D2EA-42FA-BFDA-8696FEB6B3D0}"/>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10</a:t>
            </a:r>
          </a:p>
        </p:txBody>
      </p:sp>
      <p:sp>
        <p:nvSpPr>
          <p:cNvPr id="29" name="!!caption">
            <a:extLst>
              <a:ext uri="{FF2B5EF4-FFF2-40B4-BE49-F238E27FC236}">
                <a16:creationId xmlns:a16="http://schemas.microsoft.com/office/drawing/2014/main" id="{0F38173F-B4CC-4970-918C-91DAB9E92A83}"/>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628075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12" name="!!backdrop"/>
          <p:cNvPicPr>
            <a:picLocks noChangeAspect="1"/>
          </p:cNvPicPr>
          <p:nvPr/>
        </p:nvPicPr>
        <p:blipFill>
          <a:blip r:embed="rId5"/>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D2D1E101-AFCF-4EB8-96B2-D7A009354344}"/>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A7E2F95B-C215-4651-8B8B-F85AF08420A8}"/>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a:ext uri="{FF2B5EF4-FFF2-40B4-BE49-F238E27FC236}">
                <a16:creationId xmlns:a16="http://schemas.microsoft.com/office/drawing/2014/main" id="{DDF43D7A-531E-4EB7-97CD-33768BFE12F9}"/>
              </a:ext>
            </a:extLst>
          </p:cNvPr>
          <p:cNvSpPr>
            <a:spLocks noGrp="1"/>
          </p:cNvSpPr>
          <p:nvPr/>
        </p:nvSpPr>
        <p:spPr>
          <a:xfrm>
            <a:off x="609600" y="1771650"/>
            <a:ext cx="7505700" cy="4219575"/>
          </a:xfrm>
          <a:prstGeom prst="rect">
            <a:avLst/>
          </a:prstGeom>
          <a:solidFill>
            <a:srgbClr val="102C21"/>
          </a:solidFill>
          <a:ln w="0">
            <a:noFill/>
          </a:ln>
        </p:spPr>
        <p:txBody>
          <a:bodyPr/>
          <a:lstStyle/>
          <a:p>
            <a:endParaRPr lang="en-US"/>
          </a:p>
        </p:txBody>
      </p:sp>
      <p:pic>
        <p:nvPicPr>
          <p:cNvPr id="16" name="!!demo-video">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611717" y="1771650"/>
            <a:ext cx="7501467" cy="4219575"/>
          </a:xfrm>
          <a:prstGeom prst="rect">
            <a:avLst/>
          </a:prstGeom>
        </p:spPr>
      </p:pic>
      <p:sp>
        <p:nvSpPr>
          <p:cNvPr id="6" name="!!demo-duration">
            <a:extLst>
              <a:ext uri="{FF2B5EF4-FFF2-40B4-BE49-F238E27FC236}">
                <a16:creationId xmlns:a16="http://schemas.microsoft.com/office/drawing/2014/main" id="{5C7847AB-DCEE-4D3A-984D-72F6DCCD6518}"/>
              </a:ext>
            </a:extLst>
          </p:cNvPr>
          <p:cNvSpPr>
            <a:spLocks noGrp="1"/>
          </p:cNvSpPr>
          <p:nvPr/>
        </p:nvSpPr>
        <p:spPr>
          <a:xfrm>
            <a:off x="8591550" y="1952625"/>
            <a:ext cx="2876550" cy="590550"/>
          </a:xfrm>
          <a:prstGeom prst="rect">
            <a:avLst/>
          </a:prstGeom>
          <a:noFill/>
          <a:ln w="0">
            <a:noFill/>
          </a:ln>
        </p:spPr>
        <p:txBody>
          <a:bodyPr wrap="square" lIns="0" tIns="0" rIns="0" bIns="0" anchor="t">
            <a:normAutofit/>
          </a:bodyPr>
          <a:lstStyle/>
          <a:p>
            <a:pPr>
              <a:defRPr sz="3150" b="1">
                <a:solidFill>
                  <a:srgbClr val="C8A45B"/>
                </a:solidFill>
                <a:latin typeface="Segoe UI"/>
                <a:ea typeface="Segoe UI"/>
                <a:cs typeface="Segoe UI"/>
              </a:defRPr>
            </a:pPr>
            <a:r>
              <a:rPr sz="3150" b="1">
                <a:solidFill>
                  <a:srgbClr val="C8A45B"/>
                </a:solidFill>
                <a:latin typeface="Segoe UI"/>
                <a:ea typeface="Segoe UI"/>
                <a:cs typeface="Segoe UI"/>
              </a:rPr>
              <a:t>40 giây</a:t>
            </a:r>
          </a:p>
        </p:txBody>
      </p:sp>
      <p:sp>
        <p:nvSpPr>
          <p:cNvPr id="7" name="!!demo-start">
            <a:extLst>
              <a:ext uri="{FF2B5EF4-FFF2-40B4-BE49-F238E27FC236}">
                <a16:creationId xmlns:a16="http://schemas.microsoft.com/office/drawing/2014/main" id="{55100075-D17E-4E8D-8E1D-6134E8FED93A}"/>
              </a:ext>
            </a:extLst>
          </p:cNvPr>
          <p:cNvSpPr>
            <a:spLocks noGrp="1"/>
          </p:cNvSpPr>
          <p:nvPr/>
        </p:nvSpPr>
        <p:spPr>
          <a:xfrm>
            <a:off x="8591550" y="2762250"/>
            <a:ext cx="2876550" cy="1000125"/>
          </a:xfrm>
          <a:prstGeom prst="rect">
            <a:avLst/>
          </a:prstGeom>
          <a:noFill/>
          <a:ln w="0">
            <a:noFill/>
          </a:ln>
        </p:spPr>
        <p:txBody>
          <a:bodyPr wrap="square" lIns="0" tIns="0" rIns="0" bIns="0" anchor="t">
            <a:normAutofit/>
          </a:bodyPr>
          <a:lstStyle/>
          <a:p>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a:ext uri="{FF2B5EF4-FFF2-40B4-BE49-F238E27FC236}">
                <a16:creationId xmlns:a16="http://schemas.microsoft.com/office/drawing/2014/main" id="{EF200508-451E-47F8-A00A-5B2189D769B7}"/>
              </a:ext>
            </a:extLst>
          </p:cNvPr>
          <p:cNvSpPr>
            <a:spLocks noGrp="1"/>
          </p:cNvSpPr>
          <p:nvPr/>
        </p:nvSpPr>
        <p:spPr>
          <a:xfrm>
            <a:off x="8591550" y="4000500"/>
            <a:ext cx="2876550" cy="857250"/>
          </a:xfrm>
          <a:prstGeom prst="rect">
            <a:avLst/>
          </a:prstGeom>
          <a:noFill/>
          <a:ln w="0">
            <a:noFill/>
          </a:ln>
        </p:spPr>
        <p:txBody>
          <a:bodyPr wrap="square" lIns="0" tIns="0" rIns="0" bIns="0" anchor="t">
            <a:normAutofit/>
          </a:bodyPr>
          <a:lstStyle/>
          <a:p>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a:ext uri="{FF2B5EF4-FFF2-40B4-BE49-F238E27FC236}">
                <a16:creationId xmlns:a16="http://schemas.microsoft.com/office/drawing/2014/main" id="{6B0F0E1F-0EAE-4771-8B45-C6A6FA264703}"/>
              </a:ext>
            </a:extLst>
          </p:cNvPr>
          <p:cNvSpPr>
            <a:spLocks noGrp="1"/>
          </p:cNvSpPr>
          <p:nvPr/>
        </p:nvSpPr>
        <p:spPr>
          <a:xfrm>
            <a:off x="8591550" y="5400675"/>
            <a:ext cx="2876550" cy="523875"/>
          </a:xfrm>
          <a:prstGeom prst="rect">
            <a:avLst/>
          </a:prstGeom>
          <a:noFill/>
          <a:ln w="0">
            <a:noFill/>
          </a:ln>
        </p:spPr>
        <p:txBody>
          <a:bodyPr wrap="square" lIns="0" tIns="0" rIns="0" bIns="0" anchor="t">
            <a:normAutofit/>
          </a:bodyPr>
          <a:lstStyle/>
          <a:p>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r:id="rId7"/>
              </a:rPr>
              <a:t>Mở video dự phòng</a:t>
            </a:r>
          </a:p>
        </p:txBody>
      </p:sp>
      <p:sp>
        <p:nvSpPr>
          <p:cNvPr id="10" name="!!page">
            <a:extLst>
              <a:ext uri="{FF2B5EF4-FFF2-40B4-BE49-F238E27FC236}">
                <a16:creationId xmlns:a16="http://schemas.microsoft.com/office/drawing/2014/main" id="{21F6ADCD-6199-4EDD-9159-FC4627518BFF}"/>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05 / 10</a:t>
            </a:r>
          </a:p>
        </p:txBody>
      </p:sp>
      <p:sp>
        <p:nvSpPr>
          <p:cNvPr id="11" name="!!caption">
            <a:extLst>
              <a:ext uri="{FF2B5EF4-FFF2-40B4-BE49-F238E27FC236}">
                <a16:creationId xmlns:a16="http://schemas.microsoft.com/office/drawing/2014/main" id="{86B75C7A-2EC9-4620-88D7-8A0483D78DBF}"/>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UI compact local · Auth/API mô phỏng · Dữ liệu TEST · 30/09/2026</a:t>
            </a:r>
          </a:p>
        </p:txBody>
      </p:sp>
    </p:spTree>
    <p:extLst>
      <p:ext uri="{BB962C8B-B14F-4D97-AF65-F5344CB8AC3E}">
        <p14:creationId xmlns:p14="http://schemas.microsoft.com/office/powerpoint/2010/main" val="101099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46"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F3449AB3-3C2D-4149-9398-22ABAEE4B1DD}"/>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AC53C1FA-F76C-4957-973B-316C42C3CFE5}"/>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a:ext uri="{FF2B5EF4-FFF2-40B4-BE49-F238E27FC236}">
                <a16:creationId xmlns:a16="http://schemas.microsoft.com/office/drawing/2014/main" id="{1A37858C-B7D0-4550-ABE7-5F93CF490A10}"/>
              </a:ext>
            </a:extLst>
          </p:cNvPr>
          <p:cNvSpPr>
            <a:spLocks noGrp="1"/>
          </p:cNvSpPr>
          <p:nvPr/>
        </p:nvSpPr>
        <p:spPr>
          <a:xfrm>
            <a:off x="609600" y="2295525"/>
            <a:ext cx="2324100" cy="1143000"/>
          </a:xfrm>
          <a:prstGeom prst="rect">
            <a:avLst/>
          </a:prstGeom>
          <a:solidFill>
            <a:srgbClr val="183A2C"/>
          </a:solidFill>
          <a:ln w="9525">
            <a:solidFill>
              <a:srgbClr val="A3BCAB"/>
            </a:solidFill>
          </a:ln>
        </p:spPr>
        <p:txBody>
          <a:bodyPr/>
          <a:lstStyle/>
          <a:p>
            <a:endParaRPr lang="en-US"/>
          </a:p>
        </p:txBody>
      </p:sp>
      <p:sp>
        <p:nvSpPr>
          <p:cNvPr id="5" name="!!client-text">
            <a:extLst>
              <a:ext uri="{FF2B5EF4-FFF2-40B4-BE49-F238E27FC236}">
                <a16:creationId xmlns:a16="http://schemas.microsoft.com/office/drawing/2014/main" id="{82A67740-A6D6-45EA-9403-3F77B9197B80}"/>
              </a:ext>
            </a:extLst>
          </p:cNvPr>
          <p:cNvSpPr>
            <a:spLocks noGrp="1"/>
          </p:cNvSpPr>
          <p:nvPr/>
        </p:nvSpPr>
        <p:spPr>
          <a:xfrm>
            <a:off x="781050" y="2447925"/>
            <a:ext cx="1981200" cy="838200"/>
          </a:xfrm>
          <a:prstGeom prst="rect">
            <a:avLst/>
          </a:prstGeom>
          <a:noFill/>
          <a:ln w="0">
            <a:noFill/>
          </a:ln>
        </p:spPr>
        <p:txBody>
          <a:bodyPr wrap="square" lIns="0" tIns="0" rIns="0" bIns="0" anchor="ctr">
            <a:normAutofit/>
          </a:bodyPr>
          <a:lstStyle/>
          <a:p>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a:ext uri="{FF2B5EF4-FFF2-40B4-BE49-F238E27FC236}">
                <a16:creationId xmlns:a16="http://schemas.microsoft.com/office/drawing/2014/main" id="{85E30CBF-FE3D-4486-909D-DF3901472BA1}"/>
              </a:ext>
            </a:extLst>
          </p:cNvPr>
          <p:cNvSpPr>
            <a:spLocks noGrp="1"/>
          </p:cNvSpPr>
          <p:nvPr/>
        </p:nvSpPr>
        <p:spPr>
          <a:xfrm>
            <a:off x="666800" y="4305300"/>
            <a:ext cx="2905125" cy="1143000"/>
          </a:xfrm>
          <a:prstGeom prst="rect">
            <a:avLst/>
          </a:prstGeom>
          <a:solidFill>
            <a:srgbClr val="183A2C"/>
          </a:solidFill>
          <a:ln w="9525">
            <a:solidFill>
              <a:srgbClr val="A3BCAB"/>
            </a:solidFill>
          </a:ln>
        </p:spPr>
        <p:txBody>
          <a:bodyPr/>
          <a:lstStyle/>
          <a:p>
            <a:endParaRPr lang="en-US"/>
          </a:p>
        </p:txBody>
      </p:sp>
      <p:sp>
        <p:nvSpPr>
          <p:cNvPr id="13" name="!!auth-text">
            <a:extLst>
              <a:ext uri="{FF2B5EF4-FFF2-40B4-BE49-F238E27FC236}">
                <a16:creationId xmlns:a16="http://schemas.microsoft.com/office/drawing/2014/main" id="{7D998551-720B-4CCA-9324-D690F8D2BC46}"/>
              </a:ext>
            </a:extLst>
          </p:cNvPr>
          <p:cNvSpPr>
            <a:spLocks noGrp="1"/>
          </p:cNvSpPr>
          <p:nvPr/>
        </p:nvSpPr>
        <p:spPr>
          <a:xfrm>
            <a:off x="868926" y="4392561"/>
            <a:ext cx="2562225" cy="838200"/>
          </a:xfrm>
          <a:prstGeom prst="rect">
            <a:avLst/>
          </a:prstGeom>
          <a:noFill/>
          <a:ln w="0">
            <a:noFill/>
          </a:ln>
        </p:spPr>
        <p:txBody>
          <a:bodyPr wrap="square" lIns="0" tIns="0" rIns="0" bIns="0" anchor="ctr">
            <a:normAutofit/>
          </a:bodyPr>
          <a:lstStyle/>
          <a:p>
            <a:pPr>
              <a:defRPr sz="1800" b="1">
                <a:solidFill>
                  <a:srgbClr val="F4F1E8"/>
                </a:solidFill>
                <a:latin typeface="Segoe UI"/>
                <a:ea typeface="Segoe UI"/>
                <a:cs typeface="Segoe UI"/>
              </a:defRPr>
            </a:pPr>
            <a:r>
              <a:rPr sz="1800" b="1" dirty="0">
                <a:solidFill>
                  <a:srgbClr val="F4F1E8"/>
                </a:solidFill>
                <a:latin typeface="Segoe UI"/>
                <a:ea typeface="Segoe UI"/>
                <a:cs typeface="Segoe UI"/>
              </a:rPr>
              <a:t>Google OAuth</a:t>
            </a:r>
          </a:p>
          <a:p>
            <a:pPr>
              <a:defRPr sz="1800" b="1">
                <a:solidFill>
                  <a:srgbClr val="F4F1E8"/>
                </a:solidFill>
                <a:latin typeface="Segoe UI"/>
                <a:ea typeface="Segoe UI"/>
                <a:cs typeface="Segoe UI"/>
              </a:defRPr>
            </a:pPr>
            <a:r>
              <a:rPr sz="1800" b="1" dirty="0" err="1">
                <a:solidFill>
                  <a:srgbClr val="F4F1E8"/>
                </a:solidFill>
                <a:latin typeface="Segoe UI"/>
                <a:ea typeface="Segoe UI"/>
                <a:cs typeface="Segoe UI"/>
              </a:rPr>
              <a:t>Đăng</a:t>
            </a:r>
            <a:r>
              <a:rPr sz="1800" b="1" dirty="0">
                <a:solidFill>
                  <a:srgbClr val="F4F1E8"/>
                </a:solidFill>
                <a:latin typeface="Segoe UI"/>
                <a:ea typeface="Segoe UI"/>
                <a:cs typeface="Segoe UI"/>
              </a:rPr>
              <a:t> </a:t>
            </a:r>
            <a:r>
              <a:rPr sz="1800" b="1" dirty="0" err="1">
                <a:solidFill>
                  <a:srgbClr val="F4F1E8"/>
                </a:solidFill>
                <a:latin typeface="Segoe UI"/>
                <a:ea typeface="Segoe UI"/>
                <a:cs typeface="Segoe UI"/>
              </a:rPr>
              <a:t>nhập</a:t>
            </a:r>
            <a:r>
              <a:rPr sz="1800" b="1" dirty="0">
                <a:solidFill>
                  <a:srgbClr val="F4F1E8"/>
                </a:solidFill>
                <a:latin typeface="Segoe UI"/>
                <a:ea typeface="Segoe UI"/>
                <a:cs typeface="Segoe UI"/>
              </a:rPr>
              <a:t> </a:t>
            </a:r>
            <a:r>
              <a:rPr sz="1800" b="1" dirty="0" err="1">
                <a:solidFill>
                  <a:srgbClr val="F4F1E8"/>
                </a:solidFill>
                <a:latin typeface="Segoe UI"/>
                <a:ea typeface="Segoe UI"/>
                <a:cs typeface="Segoe UI"/>
              </a:rPr>
              <a:t>tài</a:t>
            </a:r>
            <a:r>
              <a:rPr sz="1800" b="1" dirty="0">
                <a:solidFill>
                  <a:srgbClr val="F4F1E8"/>
                </a:solidFill>
                <a:latin typeface="Segoe UI"/>
                <a:ea typeface="Segoe UI"/>
                <a:cs typeface="Segoe UI"/>
              </a:rPr>
              <a:t> </a:t>
            </a:r>
            <a:r>
              <a:rPr sz="1800" b="1" dirty="0" err="1">
                <a:solidFill>
                  <a:srgbClr val="F4F1E8"/>
                </a:solidFill>
                <a:latin typeface="Segoe UI"/>
                <a:ea typeface="Segoe UI"/>
                <a:cs typeface="Segoe UI"/>
              </a:rPr>
              <a:t>khoản</a:t>
            </a:r>
            <a:endParaRPr sz="1800" b="1" dirty="0">
              <a:solidFill>
                <a:srgbClr val="F4F1E8"/>
              </a:solidFill>
              <a:latin typeface="Segoe UI"/>
              <a:ea typeface="Segoe UI"/>
              <a:cs typeface="Segoe UI"/>
            </a:endParaRPr>
          </a:p>
        </p:txBody>
      </p:sp>
      <p:cxnSp>
        <p:nvCxnSpPr>
          <p:cNvPr id="59" name="!!connector-11-0"/>
          <p:cNvCxnSpPr>
            <a:stCxn id="4" idx="2"/>
            <a:endCxn id="12" idx="0"/>
          </p:cNvCxnSpPr>
          <p:nvPr/>
        </p:nvCxnSpPr>
        <p:spPr>
          <a:xfrm>
            <a:off x="1771650" y="3438525"/>
            <a:ext cx="347713" cy="866775"/>
          </a:xfrm>
          <a:prstGeom prst="straightConnector1">
            <a:avLst/>
          </a:prstGeom>
          <a:ln w="19050">
            <a:solidFill>
              <a:srgbClr val="A3BCAB"/>
            </a:solidFill>
            <a:prstDash val="solid"/>
            <a:tailEnd type="arrow" w="med" len="med"/>
          </a:ln>
        </p:spPr>
      </p:cxnSp>
      <p:sp>
        <p:nvSpPr>
          <p:cNvPr id="15" name="!!auth-symbol-selection">
            <a:extLst>
              <a:ext uri="{FF2B5EF4-FFF2-40B4-BE49-F238E27FC236}">
                <a16:creationId xmlns:a16="http://schemas.microsoft.com/office/drawing/2014/main" id="{80CE60F2-6217-4232-9647-BB4DAC4436F3}"/>
              </a:ext>
            </a:extLst>
          </p:cNvPr>
          <p:cNvSpPr>
            <a:spLocks noGrp="1"/>
          </p:cNvSpPr>
          <p:nvPr/>
        </p:nvSpPr>
        <p:spPr>
          <a:xfrm>
            <a:off x="1070180" y="3581093"/>
            <a:ext cx="609600" cy="609600"/>
          </a:xfrm>
          <a:prstGeom prst="ellipse">
            <a:avLst/>
          </a:prstGeom>
          <a:solidFill>
            <a:srgbClr val="FFFFFF"/>
          </a:solidFill>
          <a:ln w="9525">
            <a:solidFill>
              <a:srgbClr val="A3BCAB"/>
            </a:solidFill>
          </a:ln>
        </p:spPr>
        <p:txBody>
          <a:bodyPr/>
          <a:lstStyle/>
          <a:p>
            <a:endParaRPr lang="en-US"/>
          </a:p>
        </p:txBody>
      </p:sp>
      <p:sp>
        <p:nvSpPr>
          <p:cNvPr id="18" name="!!render">
            <a:extLst>
              <a:ext uri="{FF2B5EF4-FFF2-40B4-BE49-F238E27FC236}">
                <a16:creationId xmlns:a16="http://schemas.microsoft.com/office/drawing/2014/main" id="{454B41A3-876E-4DAD-9D43-42EC2972C273}"/>
              </a:ext>
            </a:extLst>
          </p:cNvPr>
          <p:cNvSpPr>
            <a:spLocks noGrp="1"/>
          </p:cNvSpPr>
          <p:nvPr/>
        </p:nvSpPr>
        <p:spPr>
          <a:xfrm>
            <a:off x="3886200" y="2295525"/>
            <a:ext cx="2905125" cy="1143000"/>
          </a:xfrm>
          <a:prstGeom prst="rect">
            <a:avLst/>
          </a:prstGeom>
          <a:solidFill>
            <a:srgbClr val="183A2C"/>
          </a:solidFill>
          <a:ln w="9525">
            <a:solidFill>
              <a:srgbClr val="A3BCAB"/>
            </a:solidFill>
          </a:ln>
        </p:spPr>
        <p:txBody>
          <a:bodyPr/>
          <a:lstStyle/>
          <a:p>
            <a:endParaRPr lang="en-US"/>
          </a:p>
        </p:txBody>
      </p:sp>
      <p:sp>
        <p:nvSpPr>
          <p:cNvPr id="19" name="!!render-text">
            <a:extLst>
              <a:ext uri="{FF2B5EF4-FFF2-40B4-BE49-F238E27FC236}">
                <a16:creationId xmlns:a16="http://schemas.microsoft.com/office/drawing/2014/main" id="{08ADE5BB-AAE5-4892-A650-6CA36839EC88}"/>
              </a:ext>
            </a:extLst>
          </p:cNvPr>
          <p:cNvSpPr>
            <a:spLocks noGrp="1"/>
          </p:cNvSpPr>
          <p:nvPr/>
        </p:nvSpPr>
        <p:spPr>
          <a:xfrm>
            <a:off x="4057650" y="2447925"/>
            <a:ext cx="2562225" cy="838200"/>
          </a:xfrm>
          <a:prstGeom prst="rect">
            <a:avLst/>
          </a:prstGeom>
          <a:noFill/>
          <a:ln w="0">
            <a:noFill/>
          </a:ln>
        </p:spPr>
        <p:txBody>
          <a:bodyPr wrap="square" lIns="0" tIns="0" rIns="0" bIns="0" anchor="ctr">
            <a:normAutofit/>
          </a:bodyPr>
          <a:lstStyle/>
          <a:p>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id="4" idx="3"/>
            <a:endCxn id="18" idx="1"/>
          </p:cNvCxnSpPr>
          <p:nvPr/>
        </p:nvCxnSpPr>
        <p:spPr>
          <a:xfrm>
            <a:off x="2933700" y="2867025"/>
            <a:ext cx="952500" cy="0"/>
          </a:xfrm>
          <a:prstGeom prst="straightConnector1">
            <a:avLst/>
          </a:prstGeom>
          <a:ln w="19050">
            <a:solidFill>
              <a:srgbClr val="A3BCAB"/>
            </a:solidFill>
            <a:prstDash val="solid"/>
            <a:tailEnd type="arrow" w="med" len="med"/>
          </a:ln>
        </p:spPr>
      </p:cxnSp>
      <p:sp>
        <p:nvSpPr>
          <p:cNvPr id="32" name="!!db">
            <a:extLst>
              <a:ext uri="{FF2B5EF4-FFF2-40B4-BE49-F238E27FC236}">
                <a16:creationId xmlns:a16="http://schemas.microsoft.com/office/drawing/2014/main" id="{370AA5B0-FE51-4026-8AC2-6AE3777E3323}"/>
              </a:ext>
            </a:extLst>
          </p:cNvPr>
          <p:cNvSpPr>
            <a:spLocks noGrp="1"/>
          </p:cNvSpPr>
          <p:nvPr/>
        </p:nvSpPr>
        <p:spPr>
          <a:xfrm>
            <a:off x="8010525" y="2295525"/>
            <a:ext cx="3467100" cy="1143000"/>
          </a:xfrm>
          <a:prstGeom prst="rect">
            <a:avLst/>
          </a:prstGeom>
          <a:solidFill>
            <a:srgbClr val="166447"/>
          </a:solidFill>
          <a:ln w="28575">
            <a:solidFill>
              <a:srgbClr val="C8A45B"/>
            </a:solidFill>
          </a:ln>
        </p:spPr>
        <p:txBody>
          <a:bodyPr/>
          <a:lstStyle/>
          <a:p>
            <a:endParaRPr lang="en-US"/>
          </a:p>
        </p:txBody>
      </p:sp>
      <p:sp>
        <p:nvSpPr>
          <p:cNvPr id="33" name="!!db-text">
            <a:extLst>
              <a:ext uri="{FF2B5EF4-FFF2-40B4-BE49-F238E27FC236}">
                <a16:creationId xmlns:a16="http://schemas.microsoft.com/office/drawing/2014/main" id="{2F3DD9C5-AF46-416A-8757-D61075C53B9B}"/>
              </a:ext>
            </a:extLst>
          </p:cNvPr>
          <p:cNvSpPr>
            <a:spLocks noGrp="1"/>
          </p:cNvSpPr>
          <p:nvPr/>
        </p:nvSpPr>
        <p:spPr>
          <a:xfrm>
            <a:off x="8181975" y="2447925"/>
            <a:ext cx="3124200" cy="838200"/>
          </a:xfrm>
          <a:prstGeom prst="rect">
            <a:avLst/>
          </a:prstGeom>
          <a:noFill/>
          <a:ln w="0">
            <a:noFill/>
          </a:ln>
        </p:spPr>
        <p:txBody>
          <a:bodyPr wrap="square" lIns="0" tIns="0" rIns="0" bIns="0" anchor="ctr">
            <a:normAutofit/>
          </a:bodyPr>
          <a:lstStyle/>
          <a:p>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a:ext uri="{FF2B5EF4-FFF2-40B4-BE49-F238E27FC236}">
                <a16:creationId xmlns:a16="http://schemas.microsoft.com/office/drawing/2014/main" id="{E206F9A1-073A-41D2-887B-F0838774BEB5}"/>
              </a:ext>
            </a:extLst>
          </p:cNvPr>
          <p:cNvSpPr>
            <a:spLocks noGrp="1"/>
          </p:cNvSpPr>
          <p:nvPr/>
        </p:nvSpPr>
        <p:spPr>
          <a:xfrm>
            <a:off x="4783956" y="4210050"/>
            <a:ext cx="3467100" cy="1143000"/>
          </a:xfrm>
          <a:prstGeom prst="rect">
            <a:avLst/>
          </a:prstGeom>
          <a:solidFill>
            <a:srgbClr val="166447"/>
          </a:solidFill>
          <a:ln w="28575">
            <a:solidFill>
              <a:srgbClr val="C8A45B"/>
            </a:solidFill>
          </a:ln>
        </p:spPr>
        <p:txBody>
          <a:bodyPr/>
          <a:lstStyle/>
          <a:p>
            <a:endParaRPr lang="en-US" dirty="0"/>
          </a:p>
        </p:txBody>
      </p:sp>
      <p:sp>
        <p:nvSpPr>
          <p:cNvPr id="35" name="!!storage-text">
            <a:extLst>
              <a:ext uri="{FF2B5EF4-FFF2-40B4-BE49-F238E27FC236}">
                <a16:creationId xmlns:a16="http://schemas.microsoft.com/office/drawing/2014/main" id="{9C4EB535-EC69-4C37-B3C3-3C89A519C675}"/>
              </a:ext>
            </a:extLst>
          </p:cNvPr>
          <p:cNvSpPr>
            <a:spLocks noGrp="1"/>
          </p:cNvSpPr>
          <p:nvPr/>
        </p:nvSpPr>
        <p:spPr>
          <a:xfrm>
            <a:off x="4933950" y="4305300"/>
            <a:ext cx="3124200" cy="838200"/>
          </a:xfrm>
          <a:prstGeom prst="rect">
            <a:avLst/>
          </a:prstGeom>
          <a:noFill/>
          <a:ln w="0">
            <a:noFill/>
          </a:ln>
        </p:spPr>
        <p:txBody>
          <a:bodyPr wrap="square" lIns="0" tIns="0" rIns="0" bIns="0" anchor="ctr">
            <a:normAutofit/>
          </a:bodyPr>
          <a:lstStyle/>
          <a:p>
            <a:pPr>
              <a:defRPr sz="1800" b="1">
                <a:solidFill>
                  <a:srgbClr val="FFFFFF"/>
                </a:solidFill>
                <a:latin typeface="Segoe UI"/>
                <a:ea typeface="Segoe UI"/>
                <a:cs typeface="Segoe UI"/>
              </a:defRPr>
            </a:pPr>
            <a:r>
              <a:rPr sz="1800" b="1" dirty="0" err="1">
                <a:solidFill>
                  <a:srgbClr val="FFFFFF"/>
                </a:solidFill>
                <a:latin typeface="Segoe UI"/>
                <a:ea typeface="Segoe UI"/>
                <a:cs typeface="Segoe UI"/>
              </a:rPr>
              <a:t>Supabase</a:t>
            </a:r>
            <a:r>
              <a:rPr sz="1800" b="1" dirty="0">
                <a:solidFill>
                  <a:srgbClr val="FFFFFF"/>
                </a:solidFill>
                <a:latin typeface="Segoe UI"/>
                <a:ea typeface="Segoe UI"/>
                <a:cs typeface="Segoe UI"/>
              </a:rPr>
              <a:t> Storage</a:t>
            </a:r>
          </a:p>
          <a:p>
            <a:pPr>
              <a:defRPr sz="1800" b="1">
                <a:solidFill>
                  <a:srgbClr val="FFFFFF"/>
                </a:solidFill>
                <a:latin typeface="Segoe UI"/>
                <a:ea typeface="Segoe UI"/>
                <a:cs typeface="Segoe UI"/>
              </a:defRPr>
            </a:pPr>
            <a:r>
              <a:rPr sz="1800" b="1" dirty="0">
                <a:solidFill>
                  <a:srgbClr val="FFFFFF"/>
                </a:solidFill>
                <a:latin typeface="Segoe UI"/>
                <a:ea typeface="Segoe UI"/>
                <a:cs typeface="Segoe UI"/>
              </a:rPr>
              <a:t>JPG / PNG / PDF</a:t>
            </a:r>
          </a:p>
        </p:txBody>
      </p:sp>
      <p:cxnSp>
        <p:nvCxnSpPr>
          <p:cNvPr id="81" name="!!connector-11-2"/>
          <p:cNvCxnSpPr>
            <a:stCxn id="18" idx="3"/>
            <a:endCxn id="32" idx="1"/>
          </p:cNvCxnSpPr>
          <p:nvPr/>
        </p:nvCxnSpPr>
        <p:spPr>
          <a:xfrm>
            <a:off x="6791325" y="2867025"/>
            <a:ext cx="1219200" cy="0"/>
          </a:xfrm>
          <a:prstGeom prst="straightConnector1">
            <a:avLst/>
          </a:prstGeom>
          <a:ln w="19050">
            <a:solidFill>
              <a:srgbClr val="A3BCAB"/>
            </a:solidFill>
            <a:prstDash val="solid"/>
            <a:tailEnd type="arrow" w="med" len="med"/>
          </a:ln>
        </p:spPr>
      </p:cxnSp>
      <p:cxnSp>
        <p:nvCxnSpPr>
          <p:cNvPr id="82" name="!!connector-11-3"/>
          <p:cNvCxnSpPr>
            <a:stCxn id="4" idx="3"/>
            <a:endCxn id="34" idx="1"/>
          </p:cNvCxnSpPr>
          <p:nvPr/>
        </p:nvCxnSpPr>
        <p:spPr>
          <a:xfrm>
            <a:off x="2933700" y="2867025"/>
            <a:ext cx="1850256" cy="1914525"/>
          </a:xfrm>
          <a:prstGeom prst="straightConnector1">
            <a:avLst/>
          </a:prstGeom>
          <a:ln w="19050">
            <a:solidFill>
              <a:srgbClr val="A3BCAB"/>
            </a:solidFill>
            <a:prstDash val="solid"/>
            <a:tailEnd type="arrow" w="med" len="med"/>
          </a:ln>
        </p:spPr>
      </p:cxnSp>
      <p:sp>
        <p:nvSpPr>
          <p:cNvPr id="42" name="!!db-rel">
            <a:extLst>
              <a:ext uri="{FF2B5EF4-FFF2-40B4-BE49-F238E27FC236}">
                <a16:creationId xmlns:a16="http://schemas.microsoft.com/office/drawing/2014/main" id="{0B9C6568-5CC5-48C6-B940-116FE6471AA3}"/>
              </a:ext>
            </a:extLst>
          </p:cNvPr>
          <p:cNvSpPr>
            <a:spLocks noGrp="1"/>
          </p:cNvSpPr>
          <p:nvPr/>
        </p:nvSpPr>
        <p:spPr>
          <a:xfrm>
            <a:off x="8058150" y="3497461"/>
            <a:ext cx="3533775" cy="323850"/>
          </a:xfrm>
          <a:prstGeom prst="rect">
            <a:avLst/>
          </a:prstGeom>
          <a:noFill/>
          <a:ln w="0">
            <a:noFill/>
          </a:ln>
        </p:spPr>
        <p:txBody>
          <a:bodyPr wrap="square" lIns="0" tIns="0" rIns="0" bIns="0" anchor="t">
            <a:normAutofit/>
          </a:bodyPr>
          <a:lstStyle/>
          <a:p>
            <a:pPr>
              <a:defRPr sz="1650" b="0">
                <a:solidFill>
                  <a:srgbClr val="A3BCAB"/>
                </a:solidFill>
                <a:latin typeface="Segoe UI"/>
                <a:ea typeface="Segoe UI"/>
                <a:cs typeface="Segoe UI"/>
              </a:defRPr>
            </a:pPr>
            <a:r>
              <a:rPr sz="1650" b="0" dirty="0">
                <a:solidFill>
                  <a:srgbClr val="A3BCAB"/>
                </a:solidFill>
                <a:latin typeface="Segoe UI"/>
                <a:ea typeface="Segoe UI"/>
                <a:cs typeface="Segoe UI"/>
              </a:rPr>
              <a:t>API </a:t>
            </a:r>
            <a:r>
              <a:rPr sz="1650" b="0" dirty="0" err="1">
                <a:solidFill>
                  <a:srgbClr val="A3BCAB"/>
                </a:solidFill>
                <a:latin typeface="Segoe UI"/>
                <a:ea typeface="Segoe UI"/>
                <a:cs typeface="Segoe UI"/>
              </a:rPr>
              <a:t>đọc</a:t>
            </a:r>
            <a:r>
              <a:rPr sz="1650" b="0" dirty="0">
                <a:solidFill>
                  <a:srgbClr val="A3BCAB"/>
                </a:solidFill>
                <a:latin typeface="Segoe UI"/>
                <a:ea typeface="Segoe UI"/>
                <a:cs typeface="Segoe UI"/>
              </a:rPr>
              <a:t> / </a:t>
            </a:r>
            <a:r>
              <a:rPr sz="1650" b="0" dirty="0" err="1">
                <a:solidFill>
                  <a:srgbClr val="A3BCAB"/>
                </a:solidFill>
                <a:latin typeface="Segoe UI"/>
                <a:ea typeface="Segoe UI"/>
                <a:cs typeface="Segoe UI"/>
              </a:rPr>
              <a:t>ghi</a:t>
            </a:r>
            <a:r>
              <a:rPr sz="1650" b="0" dirty="0">
                <a:solidFill>
                  <a:srgbClr val="A3BCAB"/>
                </a:solidFill>
                <a:latin typeface="Segoe UI"/>
                <a:ea typeface="Segoe UI"/>
                <a:cs typeface="Segoe UI"/>
              </a:rPr>
              <a:t> </a:t>
            </a:r>
            <a:r>
              <a:rPr sz="1650" b="0" dirty="0" err="1">
                <a:solidFill>
                  <a:srgbClr val="A3BCAB"/>
                </a:solidFill>
                <a:latin typeface="Segoe UI"/>
                <a:ea typeface="Segoe UI"/>
                <a:cs typeface="Segoe UI"/>
              </a:rPr>
              <a:t>theo</a:t>
            </a:r>
            <a:r>
              <a:rPr sz="1650" b="0" dirty="0">
                <a:solidFill>
                  <a:srgbClr val="A3BCAB"/>
                </a:solidFill>
                <a:latin typeface="Segoe UI"/>
                <a:ea typeface="Segoe UI"/>
                <a:cs typeface="Segoe UI"/>
              </a:rPr>
              <a:t> </a:t>
            </a:r>
            <a:r>
              <a:rPr sz="1650" b="0" dirty="0" err="1">
                <a:solidFill>
                  <a:srgbClr val="A3BCAB"/>
                </a:solidFill>
                <a:latin typeface="Segoe UI"/>
                <a:ea typeface="Segoe UI"/>
                <a:cs typeface="Segoe UI"/>
              </a:rPr>
              <a:t>quyền</a:t>
            </a:r>
            <a:endParaRPr sz="1650" b="0" dirty="0">
              <a:solidFill>
                <a:srgbClr val="A3BCAB"/>
              </a:solidFill>
              <a:latin typeface="Segoe UI"/>
              <a:ea typeface="Segoe UI"/>
              <a:cs typeface="Segoe UI"/>
            </a:endParaRPr>
          </a:p>
        </p:txBody>
      </p:sp>
      <p:sp>
        <p:nvSpPr>
          <p:cNvPr id="43" name="!!storage-rel">
            <a:extLst>
              <a:ext uri="{FF2B5EF4-FFF2-40B4-BE49-F238E27FC236}">
                <a16:creationId xmlns:a16="http://schemas.microsoft.com/office/drawing/2014/main" id="{276CCDAF-08E2-417B-B6B9-427805E05750}"/>
              </a:ext>
            </a:extLst>
          </p:cNvPr>
          <p:cNvSpPr>
            <a:spLocks noGrp="1"/>
          </p:cNvSpPr>
          <p:nvPr/>
        </p:nvSpPr>
        <p:spPr>
          <a:xfrm>
            <a:off x="4762500" y="5600700"/>
            <a:ext cx="4429125" cy="4000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a:ext uri="{FF2B5EF4-FFF2-40B4-BE49-F238E27FC236}">
                <a16:creationId xmlns:a16="http://schemas.microsoft.com/office/drawing/2014/main" id="{16D296FA-3DE1-4259-BAF9-0EEDB3D28BB4}"/>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06 / 10</a:t>
            </a:r>
          </a:p>
        </p:txBody>
      </p:sp>
      <p:sp>
        <p:nvSpPr>
          <p:cNvPr id="45" name="!!caption">
            <a:extLst>
              <a:ext uri="{FF2B5EF4-FFF2-40B4-BE49-F238E27FC236}">
                <a16:creationId xmlns:a16="http://schemas.microsoft.com/office/drawing/2014/main" id="{E9167380-4C20-4749-BA6C-E4DAAEC3A944}"/>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83" name="!!tech-logo-react" descr="react technology logo"/>
          <p:cNvPicPr>
            <a:picLocks noChangeAspect="1"/>
          </p:cNvPicPr>
          <p:nvPr/>
        </p:nvPicPr>
        <p:blipFill>
          <a:blip r:embed="rId4"/>
          <a:srcRect/>
          <a:stretch>
            <a:fillRect/>
          </a:stretch>
        </p:blipFill>
        <p:spPr>
          <a:xfrm>
            <a:off x="866775" y="1668660"/>
            <a:ext cx="419100" cy="377429"/>
          </a:xfrm>
          <a:prstGeom prst="rect">
            <a:avLst/>
          </a:prstGeom>
        </p:spPr>
      </p:pic>
      <p:pic>
        <p:nvPicPr>
          <p:cNvPr id="84" name="!!tech-logo-vite" descr="vite technology logo"/>
          <p:cNvPicPr>
            <a:picLocks noChangeAspect="1"/>
          </p:cNvPicPr>
          <p:nvPr/>
        </p:nvPicPr>
        <p:blipFill>
          <a:blip r:embed="rId5"/>
          <a:srcRect r="500" b="1042"/>
          <a:stretch>
            <a:fillRect/>
          </a:stretch>
        </p:blipFill>
        <p:spPr>
          <a:xfrm>
            <a:off x="1571625" y="1657302"/>
            <a:ext cx="419100" cy="400146"/>
          </a:xfrm>
          <a:prstGeom prst="rect">
            <a:avLst/>
          </a:prstGeom>
        </p:spPr>
      </p:pic>
      <p:pic>
        <p:nvPicPr>
          <p:cNvPr id="85" name="!!tech-logo-vercel" descr="vercel technology logo"/>
          <p:cNvPicPr>
            <a:picLocks noChangeAspect="1"/>
          </p:cNvPicPr>
          <p:nvPr/>
        </p:nvPicPr>
        <p:blipFill>
          <a:blip r:embed="rId6"/>
          <a:srcRect r="21"/>
          <a:stretch>
            <a:fillRect/>
          </a:stretch>
        </p:blipFill>
        <p:spPr>
          <a:xfrm>
            <a:off x="2276475" y="1675913"/>
            <a:ext cx="419100" cy="362924"/>
          </a:xfrm>
          <a:prstGeom prst="rect">
            <a:avLst/>
          </a:prstGeom>
        </p:spPr>
      </p:pic>
      <p:pic>
        <p:nvPicPr>
          <p:cNvPr id="86" name="!!tech-logo-fastapi" descr="fastapi technology logo"/>
          <p:cNvPicPr>
            <a:picLocks noChangeAspect="1"/>
          </p:cNvPicPr>
          <p:nvPr/>
        </p:nvPicPr>
        <p:blipFill>
          <a:blip r:embed="rId7"/>
          <a:srcRect l="8333" t="8333" r="8333" b="8654"/>
          <a:stretch>
            <a:fillRect/>
          </a:stretch>
        </p:blipFill>
        <p:spPr>
          <a:xfrm>
            <a:off x="4257675" y="1629654"/>
            <a:ext cx="457200" cy="455442"/>
          </a:xfrm>
          <a:prstGeom prst="rect">
            <a:avLst/>
          </a:prstGeom>
        </p:spPr>
      </p:pic>
      <p:pic>
        <p:nvPicPr>
          <p:cNvPr id="87" name="!!tech-logo-python" descr="python technology logo"/>
          <p:cNvPicPr>
            <a:picLocks noChangeAspect="1"/>
          </p:cNvPicPr>
          <p:nvPr/>
        </p:nvPicPr>
        <p:blipFill>
          <a:blip r:embed="rId8"/>
          <a:srcRect r="67934" b="67998"/>
          <a:stretch>
            <a:fillRect/>
          </a:stretch>
        </p:blipFill>
        <p:spPr>
          <a:xfrm>
            <a:off x="5005345" y="1609725"/>
            <a:ext cx="409660" cy="495300"/>
          </a:xfrm>
          <a:prstGeom prst="rect">
            <a:avLst/>
          </a:prstGeom>
        </p:spPr>
      </p:pic>
      <p:pic>
        <p:nvPicPr>
          <p:cNvPr id="88" name="!!tech-logo-render" descr="render technology logo"/>
          <p:cNvPicPr>
            <a:picLocks noChangeAspect="1"/>
          </p:cNvPicPr>
          <p:nvPr/>
        </p:nvPicPr>
        <p:blipFill>
          <a:blip r:embed="rId9"/>
          <a:srcRect l="25743" t="24242" r="24302" b="25833"/>
          <a:stretch>
            <a:fillRect/>
          </a:stretch>
        </p:blipFill>
        <p:spPr>
          <a:xfrm>
            <a:off x="5705475" y="1628912"/>
            <a:ext cx="457200" cy="456925"/>
          </a:xfrm>
          <a:prstGeom prst="rect">
            <a:avLst/>
          </a:prstGeom>
        </p:spPr>
      </p:pic>
      <p:pic>
        <p:nvPicPr>
          <p:cNvPr id="90" name="!!tech-logo-postgresql" descr="postgresql technology logo"/>
          <p:cNvPicPr>
            <a:picLocks noChangeAspect="1"/>
          </p:cNvPicPr>
          <p:nvPr/>
        </p:nvPicPr>
        <p:blipFill>
          <a:blip r:embed="rId10"/>
          <a:srcRect l="107"/>
          <a:stretch>
            <a:fillRect/>
          </a:stretch>
        </p:blipFill>
        <p:spPr>
          <a:xfrm>
            <a:off x="10662157" y="1468041"/>
            <a:ext cx="697486" cy="719733"/>
          </a:xfrm>
          <a:prstGeom prst="rect">
            <a:avLst/>
          </a:prstGeom>
        </p:spPr>
      </p:pic>
      <p:pic>
        <p:nvPicPr>
          <p:cNvPr id="92" name="!!tech-logo-supabase-db" descr="Official Supabase wordmark for db"/>
          <p:cNvPicPr>
            <a:picLocks noChangeAspect="1"/>
          </p:cNvPicPr>
          <p:nvPr/>
        </p:nvPicPr>
        <p:blipFill>
          <a:blip r:embed="rId11"/>
          <a:srcRect r="83" b="637"/>
          <a:stretch>
            <a:fillRect/>
          </a:stretch>
        </p:blipFill>
        <p:spPr>
          <a:xfrm>
            <a:off x="7974434" y="1613594"/>
            <a:ext cx="2520108" cy="487561"/>
          </a:xfrm>
          <a:prstGeom prst="rect">
            <a:avLst/>
          </a:prstGeom>
        </p:spPr>
      </p:pic>
      <p:pic>
        <p:nvPicPr>
          <p:cNvPr id="93" name="!!tech-logo-supabase-storage" descr="Official Supabase wordmark for storage"/>
          <p:cNvPicPr>
            <a:picLocks noChangeAspect="1"/>
          </p:cNvPicPr>
          <p:nvPr/>
        </p:nvPicPr>
        <p:blipFill>
          <a:blip r:embed="rId11"/>
          <a:srcRect r="83" b="637"/>
          <a:stretch>
            <a:fillRect/>
          </a:stretch>
        </p:blipFill>
        <p:spPr>
          <a:xfrm>
            <a:off x="5007945" y="3667125"/>
            <a:ext cx="2400101" cy="464344"/>
          </a:xfrm>
          <a:prstGeom prst="rect">
            <a:avLst/>
          </a:prstGeom>
        </p:spPr>
      </p:pic>
      <p:pic>
        <p:nvPicPr>
          <p:cNvPr id="91" name="!!tech-logo-google-auth" descr="Google G logo for Google OAuth"/>
          <p:cNvPicPr>
            <a:picLocks noChangeAspect="1"/>
          </p:cNvPicPr>
          <p:nvPr/>
        </p:nvPicPr>
        <p:blipFill>
          <a:blip r:embed="rId12"/>
          <a:srcRect/>
          <a:stretch>
            <a:fillRect/>
          </a:stretch>
        </p:blipFill>
        <p:spPr>
          <a:xfrm>
            <a:off x="1141337" y="3657293"/>
            <a:ext cx="448235" cy="457200"/>
          </a:xfrm>
          <a:prstGeom prst="rect">
            <a:avLst/>
          </a:prstGeom>
        </p:spPr>
      </p:pic>
    </p:spTree>
    <p:extLst>
      <p:ext uri="{BB962C8B-B14F-4D97-AF65-F5344CB8AC3E}">
        <p14:creationId xmlns:p14="http://schemas.microsoft.com/office/powerpoint/2010/main" val="847786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7"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E54621B2-4894-4F87-8A65-4701A2A74B1F}"/>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a:ext uri="{FF2B5EF4-FFF2-40B4-BE49-F238E27FC236}">
                <a16:creationId xmlns:a16="http://schemas.microsoft.com/office/drawing/2014/main" id="{006F0FA2-56F9-43A1-ADCF-F7963F710867}"/>
              </a:ext>
            </a:extLst>
          </p:cNvPr>
          <p:cNvSpPr>
            <a:spLocks noGrp="1"/>
          </p:cNvSpPr>
          <p:nvPr/>
        </p:nvSpPr>
        <p:spPr>
          <a:xfrm>
            <a:off x="657225" y="2047875"/>
            <a:ext cx="571500" cy="571500"/>
          </a:xfrm>
          <a:prstGeom prst="ellipse">
            <a:avLst/>
          </a:prstGeom>
          <a:solidFill>
            <a:srgbClr val="E5EBDD"/>
          </a:solidFill>
          <a:ln w="9525">
            <a:solidFill>
              <a:srgbClr val="166447"/>
            </a:solidFill>
          </a:ln>
        </p:spPr>
        <p:txBody>
          <a:bodyPr/>
          <a:lstStyle/>
          <a:p>
            <a:endParaRPr lang="en-US"/>
          </a:p>
        </p:txBody>
      </p:sp>
      <p:sp>
        <p:nvSpPr>
          <p:cNvPr id="5" name="!!custody-0-icon-0">
            <a:extLst>
              <a:ext uri="{FF2B5EF4-FFF2-40B4-BE49-F238E27FC236}">
                <a16:creationId xmlns:a16="http://schemas.microsoft.com/office/drawing/2014/main" id="{4D47B876-F4ED-4AA3-AE56-1039B422A770}"/>
              </a:ext>
            </a:extLst>
          </p:cNvPr>
          <p:cNvSpPr>
            <a:spLocks noGrp="1"/>
          </p:cNvSpPr>
          <p:nvPr/>
        </p:nvSpPr>
        <p:spPr>
          <a:xfrm>
            <a:off x="788670" y="2179320"/>
            <a:ext cx="308610" cy="308610"/>
          </a:xfrm>
          <a:custGeom>
            <a:avLst/>
            <a:gdLst/>
            <a:ahLst/>
            <a:cxnLst/>
            <a:rect l="0" t="0" r="0" b="0"/>
            <a:pathLst>
              <a:path w="228600" h="228600">
                <a:moveTo>
                  <a:pt x="38100" y="161925"/>
                </a:moveTo>
                <a:lnTo>
                  <a:pt x="28575" y="209550"/>
                </a:lnTo>
                <a:lnTo>
                  <a:pt x="76200" y="200025"/>
                </a:lnTo>
                <a:lnTo>
                  <a:pt x="200025" y="76200"/>
                </a:lnTo>
                <a:lnTo>
                  <a:pt x="152400" y="28575"/>
                </a:lnTo>
                <a:close/>
              </a:path>
            </a:pathLst>
          </a:custGeom>
          <a:noFill/>
          <a:ln w="19050">
            <a:solidFill>
              <a:srgbClr val="166447"/>
            </a:solidFill>
            <a:prstDash val="solid"/>
          </a:ln>
        </p:spPr>
        <p:txBody>
          <a:bodyPr/>
          <a:lstStyle/>
          <a:p>
            <a:endParaRPr lang="en-US"/>
          </a:p>
        </p:txBody>
      </p:sp>
      <p:sp>
        <p:nvSpPr>
          <p:cNvPr id="6" name="!!custody-0-icon-1">
            <a:extLst>
              <a:ext uri="{FF2B5EF4-FFF2-40B4-BE49-F238E27FC236}">
                <a16:creationId xmlns:a16="http://schemas.microsoft.com/office/drawing/2014/main" id="{46777233-96D4-44E2-B924-4581551F5279}"/>
              </a:ext>
            </a:extLst>
          </p:cNvPr>
          <p:cNvSpPr>
            <a:spLocks noGrp="1"/>
          </p:cNvSpPr>
          <p:nvPr/>
        </p:nvSpPr>
        <p:spPr>
          <a:xfrm>
            <a:off x="788670" y="2179320"/>
            <a:ext cx="308610" cy="308610"/>
          </a:xfrm>
          <a:custGeom>
            <a:avLst/>
            <a:gdLst/>
            <a:ahLst/>
            <a:cxnLst/>
            <a:rect l="0" t="0" r="0" b="0"/>
            <a:pathLst>
              <a:path w="228600" h="228600">
                <a:moveTo>
                  <a:pt x="133350" y="47625"/>
                </a:moveTo>
                <a:lnTo>
                  <a:pt x="180975" y="95250"/>
                </a:lnTo>
              </a:path>
            </a:pathLst>
          </a:custGeom>
          <a:noFill/>
          <a:ln w="19050">
            <a:solidFill>
              <a:srgbClr val="166447"/>
            </a:solidFill>
            <a:prstDash val="solid"/>
          </a:ln>
        </p:spPr>
        <p:txBody>
          <a:bodyPr/>
          <a:lstStyle/>
          <a:p>
            <a:endParaRPr lang="en-US"/>
          </a:p>
        </p:txBody>
      </p:sp>
      <p:sp>
        <p:nvSpPr>
          <p:cNvPr id="7" name="!!custody-0-icon-2">
            <a:extLst>
              <a:ext uri="{FF2B5EF4-FFF2-40B4-BE49-F238E27FC236}">
                <a16:creationId xmlns:a16="http://schemas.microsoft.com/office/drawing/2014/main" id="{6B5979E6-9DBB-4B2F-A5E3-DF1228BBE1B3}"/>
              </a:ext>
            </a:extLst>
          </p:cNvPr>
          <p:cNvSpPr>
            <a:spLocks noGrp="1"/>
          </p:cNvSpPr>
          <p:nvPr/>
        </p:nvSpPr>
        <p:spPr>
          <a:xfrm>
            <a:off x="788670" y="2179320"/>
            <a:ext cx="308610" cy="308610"/>
          </a:xfrm>
          <a:custGeom>
            <a:avLst/>
            <a:gdLst/>
            <a:ahLst/>
            <a:cxnLst/>
            <a:rect l="0" t="0" r="0" b="0"/>
            <a:pathLst>
              <a:path w="228600" h="228600">
                <a:moveTo>
                  <a:pt x="95250" y="209550"/>
                </a:moveTo>
                <a:lnTo>
                  <a:pt x="209550" y="209550"/>
                </a:lnTo>
              </a:path>
            </a:pathLst>
          </a:custGeom>
          <a:noFill/>
          <a:ln w="19050">
            <a:solidFill>
              <a:srgbClr val="166447"/>
            </a:solidFill>
            <a:prstDash val="solid"/>
          </a:ln>
        </p:spPr>
        <p:txBody>
          <a:bodyPr/>
          <a:lstStyle/>
          <a:p>
            <a:endParaRPr lang="en-US"/>
          </a:p>
        </p:txBody>
      </p:sp>
      <p:sp>
        <p:nvSpPr>
          <p:cNvPr id="8" name="!!custody-0-label">
            <a:extLst>
              <a:ext uri="{FF2B5EF4-FFF2-40B4-BE49-F238E27FC236}">
                <a16:creationId xmlns:a16="http://schemas.microsoft.com/office/drawing/2014/main" id="{56B6A162-448F-400C-95C1-0FDB08CC0475}"/>
              </a:ext>
            </a:extLst>
          </p:cNvPr>
          <p:cNvSpPr>
            <a:spLocks noGrp="1"/>
          </p:cNvSpPr>
          <p:nvPr/>
        </p:nvSpPr>
        <p:spPr>
          <a:xfrm>
            <a:off x="1447800" y="2028825"/>
            <a:ext cx="4095750" cy="55245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a:ext uri="{FF2B5EF4-FFF2-40B4-BE49-F238E27FC236}">
                <a16:creationId xmlns:a16="http://schemas.microsoft.com/office/drawing/2014/main" id="{3E867154-B1F2-4584-9DA5-BF17872CC1C7}"/>
              </a:ext>
            </a:extLst>
          </p:cNvPr>
          <p:cNvSpPr>
            <a:spLocks noGrp="1"/>
          </p:cNvSpPr>
          <p:nvPr/>
        </p:nvSpPr>
        <p:spPr>
          <a:xfrm>
            <a:off x="1447800" y="2600325"/>
            <a:ext cx="4095750" cy="5143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a:ext uri="{FF2B5EF4-FFF2-40B4-BE49-F238E27FC236}">
                <a16:creationId xmlns:a16="http://schemas.microsoft.com/office/drawing/2014/main" id="{B4215335-A601-4301-B915-34605D2CA208}"/>
              </a:ext>
            </a:extLst>
          </p:cNvPr>
          <p:cNvSpPr>
            <a:spLocks noGrp="1"/>
          </p:cNvSpPr>
          <p:nvPr/>
        </p:nvSpPr>
        <p:spPr>
          <a:xfrm>
            <a:off x="657225" y="3190875"/>
            <a:ext cx="571500" cy="571500"/>
          </a:xfrm>
          <a:prstGeom prst="ellipse">
            <a:avLst/>
          </a:prstGeom>
          <a:solidFill>
            <a:srgbClr val="E5EBDD"/>
          </a:solidFill>
          <a:ln w="9525">
            <a:solidFill>
              <a:srgbClr val="166447"/>
            </a:solidFill>
          </a:ln>
        </p:spPr>
        <p:txBody>
          <a:bodyPr/>
          <a:lstStyle/>
          <a:p>
            <a:endParaRPr lang="en-US"/>
          </a:p>
        </p:txBody>
      </p:sp>
      <p:sp>
        <p:nvSpPr>
          <p:cNvPr id="11" name="!!custody-1-icon-0">
            <a:extLst>
              <a:ext uri="{FF2B5EF4-FFF2-40B4-BE49-F238E27FC236}">
                <a16:creationId xmlns:a16="http://schemas.microsoft.com/office/drawing/2014/main" id="{78261A1C-C772-4C4C-BFAB-E9440EA7116F}"/>
              </a:ext>
            </a:extLst>
          </p:cNvPr>
          <p:cNvSpPr>
            <a:spLocks noGrp="1"/>
          </p:cNvSpPr>
          <p:nvPr/>
        </p:nvSpPr>
        <p:spPr>
          <a:xfrm>
            <a:off x="788670" y="3322320"/>
            <a:ext cx="308610" cy="308610"/>
          </a:xfrm>
          <a:custGeom>
            <a:avLst/>
            <a:gdLst/>
            <a:ahLst/>
            <a:cxnLst/>
            <a:rect l="0" t="0" r="0" b="0"/>
            <a:pathLst>
              <a:path w="228600" h="228600">
                <a:moveTo>
                  <a:pt x="38100" y="161925"/>
                </a:moveTo>
                <a:lnTo>
                  <a:pt x="28575" y="209550"/>
                </a:lnTo>
                <a:lnTo>
                  <a:pt x="76200" y="200025"/>
                </a:lnTo>
                <a:lnTo>
                  <a:pt x="200025" y="76200"/>
                </a:lnTo>
                <a:lnTo>
                  <a:pt x="152400" y="28575"/>
                </a:lnTo>
                <a:close/>
              </a:path>
            </a:pathLst>
          </a:custGeom>
          <a:noFill/>
          <a:ln w="19050">
            <a:solidFill>
              <a:srgbClr val="166447"/>
            </a:solidFill>
            <a:prstDash val="solid"/>
          </a:ln>
        </p:spPr>
        <p:txBody>
          <a:bodyPr/>
          <a:lstStyle/>
          <a:p>
            <a:endParaRPr lang="en-US"/>
          </a:p>
        </p:txBody>
      </p:sp>
      <p:sp>
        <p:nvSpPr>
          <p:cNvPr id="12" name="!!custody-1-icon-1">
            <a:extLst>
              <a:ext uri="{FF2B5EF4-FFF2-40B4-BE49-F238E27FC236}">
                <a16:creationId xmlns:a16="http://schemas.microsoft.com/office/drawing/2014/main" id="{AF85FA0C-C87E-4A9D-81B8-C0BD0C60BF5D}"/>
              </a:ext>
            </a:extLst>
          </p:cNvPr>
          <p:cNvSpPr>
            <a:spLocks noGrp="1"/>
          </p:cNvSpPr>
          <p:nvPr/>
        </p:nvSpPr>
        <p:spPr>
          <a:xfrm>
            <a:off x="788670" y="3322320"/>
            <a:ext cx="308610" cy="308610"/>
          </a:xfrm>
          <a:custGeom>
            <a:avLst/>
            <a:gdLst/>
            <a:ahLst/>
            <a:cxnLst/>
            <a:rect l="0" t="0" r="0" b="0"/>
            <a:pathLst>
              <a:path w="228600" h="228600">
                <a:moveTo>
                  <a:pt x="133350" y="47625"/>
                </a:moveTo>
                <a:lnTo>
                  <a:pt x="180975" y="95250"/>
                </a:lnTo>
              </a:path>
            </a:pathLst>
          </a:custGeom>
          <a:noFill/>
          <a:ln w="19050">
            <a:solidFill>
              <a:srgbClr val="166447"/>
            </a:solidFill>
            <a:prstDash val="solid"/>
          </a:ln>
        </p:spPr>
        <p:txBody>
          <a:bodyPr/>
          <a:lstStyle/>
          <a:p>
            <a:endParaRPr lang="en-US"/>
          </a:p>
        </p:txBody>
      </p:sp>
      <p:sp>
        <p:nvSpPr>
          <p:cNvPr id="13" name="!!custody-1-icon-2">
            <a:extLst>
              <a:ext uri="{FF2B5EF4-FFF2-40B4-BE49-F238E27FC236}">
                <a16:creationId xmlns:a16="http://schemas.microsoft.com/office/drawing/2014/main" id="{CC83A4E3-066F-46F6-AD60-DCA42988CE1E}"/>
              </a:ext>
            </a:extLst>
          </p:cNvPr>
          <p:cNvSpPr>
            <a:spLocks noGrp="1"/>
          </p:cNvSpPr>
          <p:nvPr/>
        </p:nvSpPr>
        <p:spPr>
          <a:xfrm>
            <a:off x="788670" y="3322320"/>
            <a:ext cx="308610" cy="308610"/>
          </a:xfrm>
          <a:custGeom>
            <a:avLst/>
            <a:gdLst/>
            <a:ahLst/>
            <a:cxnLst/>
            <a:rect l="0" t="0" r="0" b="0"/>
            <a:pathLst>
              <a:path w="228600" h="228600">
                <a:moveTo>
                  <a:pt x="95250" y="209550"/>
                </a:moveTo>
                <a:lnTo>
                  <a:pt x="209550" y="209550"/>
                </a:lnTo>
              </a:path>
            </a:pathLst>
          </a:custGeom>
          <a:noFill/>
          <a:ln w="19050">
            <a:solidFill>
              <a:srgbClr val="166447"/>
            </a:solidFill>
            <a:prstDash val="solid"/>
          </a:ln>
        </p:spPr>
        <p:txBody>
          <a:bodyPr/>
          <a:lstStyle/>
          <a:p>
            <a:endParaRPr lang="en-US"/>
          </a:p>
        </p:txBody>
      </p:sp>
      <p:cxnSp>
        <p:nvCxnSpPr>
          <p:cNvPr id="40" name="!!connector-12-0"/>
          <p:cNvCxnSpPr>
            <a:stCxn id="4" idx="4"/>
            <a:endCxn id="10" idx="0"/>
          </p:cNvCxnSpPr>
          <p:nvPr/>
        </p:nvCxnSpPr>
        <p:spPr>
          <a:xfrm>
            <a:off x="942975" y="2619375"/>
            <a:ext cx="0" cy="571500"/>
          </a:xfrm>
          <a:prstGeom prst="straightConnector1">
            <a:avLst/>
          </a:prstGeom>
          <a:ln w="19050">
            <a:solidFill>
              <a:srgbClr val="166447"/>
            </a:solidFill>
            <a:prstDash val="solid"/>
            <a:tailEnd type="arrow" w="med" len="med"/>
          </a:ln>
        </p:spPr>
      </p:cxnSp>
      <p:sp>
        <p:nvSpPr>
          <p:cNvPr id="15" name="!!custody-1-label">
            <a:extLst>
              <a:ext uri="{FF2B5EF4-FFF2-40B4-BE49-F238E27FC236}">
                <a16:creationId xmlns:a16="http://schemas.microsoft.com/office/drawing/2014/main" id="{F393BCD2-C40B-46A3-B99F-7265222616A5}"/>
              </a:ext>
            </a:extLst>
          </p:cNvPr>
          <p:cNvSpPr>
            <a:spLocks noGrp="1"/>
          </p:cNvSpPr>
          <p:nvPr/>
        </p:nvSpPr>
        <p:spPr>
          <a:xfrm>
            <a:off x="1447800" y="3171825"/>
            <a:ext cx="4095750" cy="55245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a:ext uri="{FF2B5EF4-FFF2-40B4-BE49-F238E27FC236}">
                <a16:creationId xmlns:a16="http://schemas.microsoft.com/office/drawing/2014/main" id="{1B93A061-C630-46C5-AD5A-791A14144454}"/>
              </a:ext>
            </a:extLst>
          </p:cNvPr>
          <p:cNvSpPr>
            <a:spLocks noGrp="1"/>
          </p:cNvSpPr>
          <p:nvPr/>
        </p:nvSpPr>
        <p:spPr>
          <a:xfrm>
            <a:off x="1447800" y="3743325"/>
            <a:ext cx="4095750" cy="5143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a:ext uri="{FF2B5EF4-FFF2-40B4-BE49-F238E27FC236}">
                <a16:creationId xmlns:a16="http://schemas.microsoft.com/office/drawing/2014/main" id="{BB079700-BCE0-48A5-9C65-B4D79722D56C}"/>
              </a:ext>
            </a:extLst>
          </p:cNvPr>
          <p:cNvSpPr>
            <a:spLocks noGrp="1"/>
          </p:cNvSpPr>
          <p:nvPr/>
        </p:nvSpPr>
        <p:spPr>
          <a:xfrm>
            <a:off x="581025" y="4257675"/>
            <a:ext cx="723900" cy="723900"/>
          </a:xfrm>
          <a:prstGeom prst="ellipse">
            <a:avLst/>
          </a:prstGeom>
          <a:solidFill>
            <a:srgbClr val="166447"/>
          </a:solidFill>
          <a:ln w="28575">
            <a:solidFill>
              <a:srgbClr val="C8A45B"/>
            </a:solidFill>
          </a:ln>
        </p:spPr>
        <p:txBody>
          <a:bodyPr/>
          <a:lstStyle/>
          <a:p>
            <a:endParaRPr lang="en-US"/>
          </a:p>
        </p:txBody>
      </p:sp>
      <p:sp>
        <p:nvSpPr>
          <p:cNvPr id="18" name="!!custody-2-icon-0">
            <a:extLst>
              <a:ext uri="{FF2B5EF4-FFF2-40B4-BE49-F238E27FC236}">
                <a16:creationId xmlns:a16="http://schemas.microsoft.com/office/drawing/2014/main" id="{F748C772-C275-4FA5-BBD5-44B8A5A6899D}"/>
              </a:ext>
            </a:extLst>
          </p:cNvPr>
          <p:cNvSpPr>
            <a:spLocks noGrp="1"/>
          </p:cNvSpPr>
          <p:nvPr/>
        </p:nvSpPr>
        <p:spPr>
          <a:xfrm>
            <a:off x="747522" y="4424172"/>
            <a:ext cx="390906" cy="390906"/>
          </a:xfrm>
          <a:custGeom>
            <a:avLst/>
            <a:gdLst/>
            <a:ahLst/>
            <a:cxnLst/>
            <a:rect l="0" t="0" r="0" b="0"/>
            <a:pathLst>
              <a:path w="228600" h="228600">
                <a:moveTo>
                  <a:pt x="28575" y="66675"/>
                </a:moveTo>
                <a:lnTo>
                  <a:pt x="114300" y="19050"/>
                </a:lnTo>
                <a:lnTo>
                  <a:pt x="200025" y="66675"/>
                </a:lnTo>
                <a:lnTo>
                  <a:pt x="200025" y="161925"/>
                </a:lnTo>
                <a:lnTo>
                  <a:pt x="114300" y="209550"/>
                </a:lnTo>
                <a:lnTo>
                  <a:pt x="28575" y="161925"/>
                </a:lnTo>
                <a:close/>
              </a:path>
            </a:pathLst>
          </a:custGeom>
          <a:noFill/>
          <a:ln w="19050">
            <a:solidFill>
              <a:srgbClr val="FFFFFF"/>
            </a:solidFill>
            <a:prstDash val="solid"/>
          </a:ln>
        </p:spPr>
        <p:txBody>
          <a:bodyPr/>
          <a:lstStyle/>
          <a:p>
            <a:endParaRPr lang="en-US"/>
          </a:p>
        </p:txBody>
      </p:sp>
      <p:sp>
        <p:nvSpPr>
          <p:cNvPr id="19" name="!!custody-2-icon-1">
            <a:extLst>
              <a:ext uri="{FF2B5EF4-FFF2-40B4-BE49-F238E27FC236}">
                <a16:creationId xmlns:a16="http://schemas.microsoft.com/office/drawing/2014/main" id="{4AD3AF33-FEF7-4DB0-96A7-5EB815F9C509}"/>
              </a:ext>
            </a:extLst>
          </p:cNvPr>
          <p:cNvSpPr>
            <a:spLocks noGrp="1"/>
          </p:cNvSpPr>
          <p:nvPr/>
        </p:nvSpPr>
        <p:spPr>
          <a:xfrm>
            <a:off x="747522" y="4424172"/>
            <a:ext cx="390906" cy="390906"/>
          </a:xfrm>
          <a:custGeom>
            <a:avLst/>
            <a:gdLst/>
            <a:ahLst/>
            <a:cxnLst/>
            <a:rect l="0" t="0" r="0" b="0"/>
            <a:pathLst>
              <a:path w="228600" h="228600">
                <a:moveTo>
                  <a:pt x="28575" y="66675"/>
                </a:moveTo>
                <a:lnTo>
                  <a:pt x="114300" y="114300"/>
                </a:lnTo>
                <a:lnTo>
                  <a:pt x="200025" y="66675"/>
                </a:lnTo>
              </a:path>
            </a:pathLst>
          </a:custGeom>
          <a:noFill/>
          <a:ln w="19050">
            <a:solidFill>
              <a:srgbClr val="FFFFFF"/>
            </a:solidFill>
            <a:prstDash val="solid"/>
          </a:ln>
        </p:spPr>
        <p:txBody>
          <a:bodyPr/>
          <a:lstStyle/>
          <a:p>
            <a:endParaRPr lang="en-US"/>
          </a:p>
        </p:txBody>
      </p:sp>
      <p:sp>
        <p:nvSpPr>
          <p:cNvPr id="20" name="!!custody-2-icon-2">
            <a:extLst>
              <a:ext uri="{FF2B5EF4-FFF2-40B4-BE49-F238E27FC236}">
                <a16:creationId xmlns:a16="http://schemas.microsoft.com/office/drawing/2014/main" id="{774A27F5-84C4-447B-80A1-E4279CCCF50E}"/>
              </a:ext>
            </a:extLst>
          </p:cNvPr>
          <p:cNvSpPr>
            <a:spLocks noGrp="1"/>
          </p:cNvSpPr>
          <p:nvPr/>
        </p:nvSpPr>
        <p:spPr>
          <a:xfrm>
            <a:off x="747522" y="4424172"/>
            <a:ext cx="390906" cy="390906"/>
          </a:xfrm>
          <a:custGeom>
            <a:avLst/>
            <a:gdLst/>
            <a:ahLst/>
            <a:cxnLst/>
            <a:rect l="0" t="0" r="0" b="0"/>
            <a:pathLst>
              <a:path w="228600" h="228600">
                <a:moveTo>
                  <a:pt x="114300" y="114300"/>
                </a:moveTo>
                <a:lnTo>
                  <a:pt x="114300" y="209550"/>
                </a:lnTo>
              </a:path>
            </a:pathLst>
          </a:custGeom>
          <a:noFill/>
          <a:ln w="19050">
            <a:solidFill>
              <a:srgbClr val="FFFFFF"/>
            </a:solidFill>
            <a:prstDash val="solid"/>
          </a:ln>
        </p:spPr>
        <p:txBody>
          <a:bodyPr/>
          <a:lstStyle/>
          <a:p>
            <a:endParaRPr lang="en-US"/>
          </a:p>
        </p:txBody>
      </p:sp>
      <p:cxnSp>
        <p:nvCxnSpPr>
          <p:cNvPr id="47" name="!!connector-12-1"/>
          <p:cNvCxnSpPr>
            <a:stCxn id="10" idx="4"/>
            <a:endCxn id="17" idx="0"/>
          </p:cNvCxnSpPr>
          <p:nvPr/>
        </p:nvCxnSpPr>
        <p:spPr>
          <a:xfrm>
            <a:off x="942975" y="3762375"/>
            <a:ext cx="0" cy="495300"/>
          </a:xfrm>
          <a:prstGeom prst="straightConnector1">
            <a:avLst/>
          </a:prstGeom>
          <a:ln w="19050">
            <a:solidFill>
              <a:srgbClr val="166447"/>
            </a:solidFill>
            <a:prstDash val="solid"/>
            <a:tailEnd type="arrow" w="med" len="med"/>
          </a:ln>
        </p:spPr>
      </p:cxnSp>
      <p:sp>
        <p:nvSpPr>
          <p:cNvPr id="22" name="!!custody-2-label">
            <a:extLst>
              <a:ext uri="{FF2B5EF4-FFF2-40B4-BE49-F238E27FC236}">
                <a16:creationId xmlns:a16="http://schemas.microsoft.com/office/drawing/2014/main" id="{12F8FF10-2972-4A69-9C53-BC2E1767D3E8}"/>
              </a:ext>
            </a:extLst>
          </p:cNvPr>
          <p:cNvSpPr>
            <a:spLocks noGrp="1"/>
          </p:cNvSpPr>
          <p:nvPr/>
        </p:nvSpPr>
        <p:spPr>
          <a:xfrm>
            <a:off x="1447800" y="4314825"/>
            <a:ext cx="4095750" cy="552450"/>
          </a:xfrm>
          <a:prstGeom prst="rect">
            <a:avLst/>
          </a:prstGeom>
          <a:noFill/>
          <a:ln w="0">
            <a:noFill/>
          </a:ln>
        </p:spPr>
        <p:txBody>
          <a:bodyPr wrap="square" lIns="0" tIns="0" rIns="0" bIns="0" anchor="t">
            <a:normAutofit/>
          </a:bodyPr>
          <a:lstStyle/>
          <a:p>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a:ext uri="{FF2B5EF4-FFF2-40B4-BE49-F238E27FC236}">
                <a16:creationId xmlns:a16="http://schemas.microsoft.com/office/drawing/2014/main" id="{134A8239-6CF5-4C07-B2B2-33C145D92028}"/>
              </a:ext>
            </a:extLst>
          </p:cNvPr>
          <p:cNvSpPr>
            <a:spLocks noGrp="1"/>
          </p:cNvSpPr>
          <p:nvPr/>
        </p:nvSpPr>
        <p:spPr>
          <a:xfrm>
            <a:off x="1447800" y="4886325"/>
            <a:ext cx="4095750" cy="5143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a:ext uri="{FF2B5EF4-FFF2-40B4-BE49-F238E27FC236}">
                <a16:creationId xmlns:a16="http://schemas.microsoft.com/office/drawing/2014/main" id="{44DE6038-108E-461E-89F2-709B6BE4642A}"/>
              </a:ext>
            </a:extLst>
          </p:cNvPr>
          <p:cNvSpPr>
            <a:spLocks noGrp="1"/>
          </p:cNvSpPr>
          <p:nvPr/>
        </p:nvSpPr>
        <p:spPr>
          <a:xfrm>
            <a:off x="609600" y="5581650"/>
            <a:ext cx="5619750" cy="723900"/>
          </a:xfrm>
          <a:prstGeom prst="rect">
            <a:avLst/>
          </a:prstGeom>
          <a:noFill/>
          <a:ln w="0">
            <a:noFill/>
          </a:ln>
        </p:spPr>
        <p:txBody>
          <a:bodyPr wrap="square" lIns="0" tIns="0" rIns="0" bIns="0" anchor="t">
            <a:normAutofit/>
          </a:bodyPr>
          <a:lstStyle/>
          <a:p>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a:ext uri="{FF2B5EF4-FFF2-40B4-BE49-F238E27FC236}">
                <a16:creationId xmlns:a16="http://schemas.microsoft.com/office/drawing/2014/main" id="{47F99256-C6CB-489B-9756-A39B2ADF5D65}"/>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07 / 10</a:t>
            </a:r>
          </a:p>
        </p:txBody>
      </p:sp>
      <p:sp>
        <p:nvSpPr>
          <p:cNvPr id="26" name="!!caption">
            <a:extLst>
              <a:ext uri="{FF2B5EF4-FFF2-40B4-BE49-F238E27FC236}">
                <a16:creationId xmlns:a16="http://schemas.microsoft.com/office/drawing/2014/main" id="{587A06B3-5A8F-4095-B069-D2E0910C9C62}"/>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noChangeAspect="1"/>
          </p:cNvPicPr>
          <p:nvPr/>
        </p:nvPicPr>
        <p:blipFill>
          <a:blip r:embed="rId4"/>
          <a:srcRect/>
          <a:stretch>
            <a:fillRect/>
          </a:stretch>
        </p:blipFill>
        <p:spPr>
          <a:xfrm>
            <a:off x="686685" y="1544433"/>
            <a:ext cx="304800" cy="304800"/>
          </a:xfrm>
          <a:prstGeom prst="rect">
            <a:avLst/>
          </a:prstGeom>
        </p:spPr>
      </p:pic>
      <p:sp>
        <p:nvSpPr>
          <p:cNvPr id="49" name="!!tech-label-rust">
            <a:extLst>
              <a:ext uri="{FF2B5EF4-FFF2-40B4-BE49-F238E27FC236}">
                <a16:creationId xmlns:a16="http://schemas.microsoft.com/office/drawing/2014/main" id="{C0B316C9-FB1F-47D6-89DD-A327E9D0299F}"/>
              </a:ext>
            </a:extLst>
          </p:cNvPr>
          <p:cNvSpPr>
            <a:spLocks noGrp="1"/>
          </p:cNvSpPr>
          <p:nvPr/>
        </p:nvSpPr>
        <p:spPr>
          <a:xfrm>
            <a:off x="942975" y="1504950"/>
            <a:ext cx="647700" cy="352425"/>
          </a:xfrm>
          <a:prstGeom prst="rect">
            <a:avLst/>
          </a:prstGeom>
          <a:noFill/>
          <a:ln w="0">
            <a:noFill/>
          </a:ln>
        </p:spPr>
        <p:txBody>
          <a:bodyPr>
            <a:noAutofit/>
          </a:bodyPr>
          <a:lstStyle/>
          <a:p>
            <a:pPr>
              <a:defRPr sz="1575" b="1">
                <a:solidFill>
                  <a:srgbClr val="176F52"/>
                </a:solidFill>
                <a:latin typeface="Aptos"/>
                <a:ea typeface="Aptos"/>
                <a:cs typeface="Aptos"/>
              </a:defRPr>
            </a:pPr>
            <a:r>
              <a:rPr sz="1575" b="1" dirty="0">
                <a:solidFill>
                  <a:srgbClr val="176F52"/>
                </a:solidFill>
                <a:latin typeface="Aptos"/>
                <a:ea typeface="Aptos"/>
                <a:cs typeface="Aptos"/>
              </a:rPr>
              <a:t>Rust</a:t>
            </a:r>
          </a:p>
        </p:txBody>
      </p:sp>
      <p:pic>
        <p:nvPicPr>
          <p:cNvPr id="50" name="!!tech-logo-anchor" descr="anchor technology logo"/>
          <p:cNvPicPr>
            <a:picLocks noChangeAspect="1"/>
          </p:cNvPicPr>
          <p:nvPr/>
        </p:nvPicPr>
        <p:blipFill>
          <a:blip r:embed="rId5"/>
          <a:srcRect/>
          <a:stretch>
            <a:fillRect/>
          </a:stretch>
        </p:blipFill>
        <p:spPr>
          <a:xfrm>
            <a:off x="1738393" y="1495425"/>
            <a:ext cx="304800" cy="304800"/>
          </a:xfrm>
          <a:prstGeom prst="rect">
            <a:avLst/>
          </a:prstGeom>
        </p:spPr>
      </p:pic>
      <p:sp>
        <p:nvSpPr>
          <p:cNvPr id="51" name="!!tech-label-anchor">
            <a:extLst>
              <a:ext uri="{FF2B5EF4-FFF2-40B4-BE49-F238E27FC236}">
                <a16:creationId xmlns:a16="http://schemas.microsoft.com/office/drawing/2014/main" id="{82178C72-A994-4D6C-A18E-7CA5B5309412}"/>
              </a:ext>
            </a:extLst>
          </p:cNvPr>
          <p:cNvSpPr>
            <a:spLocks noGrp="1"/>
          </p:cNvSpPr>
          <p:nvPr/>
        </p:nvSpPr>
        <p:spPr>
          <a:xfrm>
            <a:off x="2047875" y="1504950"/>
            <a:ext cx="1362075" cy="352425"/>
          </a:xfrm>
          <a:prstGeom prst="rect">
            <a:avLst/>
          </a:prstGeom>
          <a:noFill/>
          <a:ln w="0">
            <a:noFill/>
          </a:ln>
        </p:spPr>
        <p:txBody>
          <a:bodyPr>
            <a:noAutofit/>
          </a:bodyPr>
          <a:lstStyle/>
          <a:p>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noChangeAspect="1"/>
          </p:cNvPicPr>
          <p:nvPr/>
        </p:nvPicPr>
        <p:blipFill>
          <a:blip r:embed="rId6"/>
          <a:srcRect/>
          <a:stretch>
            <a:fillRect/>
          </a:stretch>
        </p:blipFill>
        <p:spPr>
          <a:xfrm>
            <a:off x="3495675" y="1514973"/>
            <a:ext cx="304800" cy="265705"/>
          </a:xfrm>
          <a:prstGeom prst="rect">
            <a:avLst/>
          </a:prstGeom>
        </p:spPr>
      </p:pic>
      <p:sp>
        <p:nvSpPr>
          <p:cNvPr id="53" name="!!tech-label-solana">
            <a:extLst>
              <a:ext uri="{FF2B5EF4-FFF2-40B4-BE49-F238E27FC236}">
                <a16:creationId xmlns:a16="http://schemas.microsoft.com/office/drawing/2014/main" id="{06A2388B-CCED-42E4-BF8A-BA8B5E2D6D3F}"/>
              </a:ext>
            </a:extLst>
          </p:cNvPr>
          <p:cNvSpPr>
            <a:spLocks noGrp="1"/>
          </p:cNvSpPr>
          <p:nvPr/>
        </p:nvSpPr>
        <p:spPr>
          <a:xfrm>
            <a:off x="3895725" y="1504950"/>
            <a:ext cx="1866900" cy="352425"/>
          </a:xfrm>
          <a:prstGeom prst="rect">
            <a:avLst/>
          </a:prstGeom>
          <a:noFill/>
          <a:ln w="0">
            <a:noFill/>
          </a:ln>
        </p:spPr>
        <p:txBody>
          <a:bodyPr>
            <a:noAutofit/>
          </a:bodyPr>
          <a:lstStyle/>
          <a:p>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06438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0"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E7FA9518-BF3F-437B-A6E7-5AE5E2E1135B}"/>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noChangeAspect="1"/>
          </p:cNvPicPr>
          <p:nvPr/>
        </p:nvPicPr>
        <p:blipFill>
          <a:blip r:embed="rId4"/>
          <a:stretch/>
        </p:blipFill>
        <p:spPr>
          <a:xfrm>
            <a:off x="5524500" y="2078543"/>
            <a:ext cx="6000750" cy="3377188"/>
          </a:xfrm>
          <a:prstGeom prst="rect">
            <a:avLst/>
          </a:prstGeom>
        </p:spPr>
      </p:pic>
      <p:sp>
        <p:nvSpPr>
          <p:cNvPr id="16" name="!!leaf-limit">
            <a:extLst>
              <a:ext uri="{FF2B5EF4-FFF2-40B4-BE49-F238E27FC236}">
                <a16:creationId xmlns:a16="http://schemas.microsoft.com/office/drawing/2014/main" id="{627D00F8-E261-4033-BDF6-9135197D9B52}"/>
              </a:ext>
            </a:extLst>
          </p:cNvPr>
          <p:cNvSpPr>
            <a:spLocks noGrp="1"/>
          </p:cNvSpPr>
          <p:nvPr/>
        </p:nvSpPr>
        <p:spPr>
          <a:xfrm>
            <a:off x="609600" y="2400300"/>
            <a:ext cx="4495800" cy="1200150"/>
          </a:xfrm>
          <a:prstGeom prst="rect">
            <a:avLst/>
          </a:prstGeom>
          <a:noFill/>
          <a:ln w="0">
            <a:noFill/>
          </a:ln>
        </p:spPr>
        <p:txBody>
          <a:bodyPr wrap="square" lIns="0" tIns="0" rIns="0" bIns="0" anchor="t">
            <a:normAutofit/>
          </a:bodyPr>
          <a:lstStyle/>
          <a:p>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a:ext uri="{FF2B5EF4-FFF2-40B4-BE49-F238E27FC236}">
                <a16:creationId xmlns:a16="http://schemas.microsoft.com/office/drawing/2014/main" id="{D9C1DA34-3783-49BD-A4AD-C0FCE06F74F1}"/>
              </a:ext>
            </a:extLst>
          </p:cNvPr>
          <p:cNvSpPr>
            <a:spLocks noGrp="1"/>
          </p:cNvSpPr>
          <p:nvPr/>
        </p:nvSpPr>
        <p:spPr>
          <a:xfrm>
            <a:off x="609600" y="4171950"/>
            <a:ext cx="4495800" cy="1095375"/>
          </a:xfrm>
          <a:prstGeom prst="rect">
            <a:avLst/>
          </a:prstGeom>
          <a:noFill/>
          <a:ln w="0">
            <a:noFill/>
          </a:ln>
        </p:spPr>
        <p:txBody>
          <a:bodyPr wrap="square" lIns="0" tIns="0" rIns="0" bIns="0" anchor="t">
            <a:normAutofit/>
          </a:bodyPr>
          <a:lstStyle/>
          <a:p>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a:ext uri="{FF2B5EF4-FFF2-40B4-BE49-F238E27FC236}">
                <a16:creationId xmlns:a16="http://schemas.microsoft.com/office/drawing/2014/main" id="{7ABAD889-7375-425D-B909-7E0C5C864CF8}"/>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08 / 10</a:t>
            </a:r>
          </a:p>
        </p:txBody>
      </p:sp>
      <p:sp>
        <p:nvSpPr>
          <p:cNvPr id="19" name="!!caption">
            <a:extLst>
              <a:ext uri="{FF2B5EF4-FFF2-40B4-BE49-F238E27FC236}">
                <a16:creationId xmlns:a16="http://schemas.microsoft.com/office/drawing/2014/main" id="{5129D993-F0EB-4E45-99B0-58A7D1224AC8}"/>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noChangeAspect="1"/>
          </p:cNvPicPr>
          <p:nvPr/>
        </p:nvPicPr>
        <p:blipFill>
          <a:blip r:embed="rId5"/>
          <a:srcRect l="9924" t="23439" r="9336" b="27816"/>
          <a:stretch>
            <a:fillRect/>
          </a:stretch>
        </p:blipFill>
        <p:spPr>
          <a:xfrm>
            <a:off x="930289" y="1571625"/>
            <a:ext cx="1682721" cy="571500"/>
          </a:xfrm>
          <a:prstGeom prst="rect">
            <a:avLst/>
          </a:prstGeom>
        </p:spPr>
      </p:pic>
      <p:pic>
        <p:nvPicPr>
          <p:cNvPr id="36" name="!!tech-logo-fastapi-teal" descr="fastapi-teal technology logo"/>
          <p:cNvPicPr>
            <a:picLocks noChangeAspect="1"/>
          </p:cNvPicPr>
          <p:nvPr/>
        </p:nvPicPr>
        <p:blipFill>
          <a:blip r:embed="rId6"/>
          <a:srcRect l="11621" t="30352" r="11621" b="30352"/>
          <a:stretch>
            <a:fillRect/>
          </a:stretch>
        </p:blipFill>
        <p:spPr>
          <a:xfrm>
            <a:off x="3238500" y="1653824"/>
            <a:ext cx="2000250" cy="369003"/>
          </a:xfrm>
          <a:prstGeom prst="rect">
            <a:avLst/>
          </a:prstGeom>
        </p:spPr>
      </p:pic>
    </p:spTree>
    <p:extLst>
      <p:ext uri="{BB962C8B-B14F-4D97-AF65-F5344CB8AC3E}">
        <p14:creationId xmlns:p14="http://schemas.microsoft.com/office/powerpoint/2010/main" val="381413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22"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C7A8D730-FB06-4E4E-AED6-C59D68D9B00B}"/>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FDCA456E-BDBE-4F6F-92A4-89FAD96F9C90}"/>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Trạng thái MVP và pilot</a:t>
            </a:r>
          </a:p>
        </p:txBody>
      </p:sp>
      <p:sp>
        <p:nvSpPr>
          <p:cNvPr id="4" name="!!pilot-start-selection">
            <a:extLst>
              <a:ext uri="{FF2B5EF4-FFF2-40B4-BE49-F238E27FC236}">
                <a16:creationId xmlns:a16="http://schemas.microsoft.com/office/drawing/2014/main" id="{BB66DD87-D841-4F07-B1A2-3FF723B3DE65}"/>
              </a:ext>
            </a:extLst>
          </p:cNvPr>
          <p:cNvSpPr>
            <a:spLocks noGrp="1"/>
          </p:cNvSpPr>
          <p:nvPr/>
        </p:nvSpPr>
        <p:spPr>
          <a:xfrm>
            <a:off x="666750" y="2190750"/>
            <a:ext cx="571500" cy="571500"/>
          </a:xfrm>
          <a:prstGeom prst="ellipse">
            <a:avLst/>
          </a:prstGeom>
          <a:solidFill>
            <a:srgbClr val="183A2C"/>
          </a:solidFill>
          <a:ln w="9525">
            <a:solidFill>
              <a:srgbClr val="A3BCAB"/>
            </a:solidFill>
          </a:ln>
        </p:spPr>
        <p:txBody>
          <a:bodyPr/>
          <a:lstStyle/>
          <a:p>
            <a:endParaRPr lang="en-US"/>
          </a:p>
        </p:txBody>
      </p:sp>
      <p:sp>
        <p:nvSpPr>
          <p:cNvPr id="5" name="!!pilot-start-icon-0">
            <a:extLst>
              <a:ext uri="{FF2B5EF4-FFF2-40B4-BE49-F238E27FC236}">
                <a16:creationId xmlns:a16="http://schemas.microsoft.com/office/drawing/2014/main" id="{CA565E7F-7304-4776-8400-32C1056D4EDE}"/>
              </a:ext>
            </a:extLst>
          </p:cNvPr>
          <p:cNvSpPr>
            <a:spLocks noGrp="1"/>
          </p:cNvSpPr>
          <p:nvPr/>
        </p:nvSpPr>
        <p:spPr>
          <a:xfrm>
            <a:off x="901065" y="2347913"/>
            <a:ext cx="102870" cy="102870"/>
          </a:xfrm>
          <a:prstGeom prst="ellipse">
            <a:avLst/>
          </a:prstGeom>
          <a:noFill/>
          <a:ln w="19050">
            <a:solidFill>
              <a:srgbClr val="A3BCAB"/>
            </a:solidFill>
            <a:prstDash val="solid"/>
          </a:ln>
        </p:spPr>
        <p:txBody>
          <a:bodyPr/>
          <a:lstStyle/>
          <a:p>
            <a:endParaRPr lang="en-US"/>
          </a:p>
        </p:txBody>
      </p:sp>
      <p:sp>
        <p:nvSpPr>
          <p:cNvPr id="6" name="!!pilot-start-icon-1">
            <a:extLst>
              <a:ext uri="{FF2B5EF4-FFF2-40B4-BE49-F238E27FC236}">
                <a16:creationId xmlns:a16="http://schemas.microsoft.com/office/drawing/2014/main" id="{63133A5D-E4B4-4623-9F86-A1734BAD9AE1}"/>
              </a:ext>
            </a:extLst>
          </p:cNvPr>
          <p:cNvSpPr>
            <a:spLocks noGrp="1"/>
          </p:cNvSpPr>
          <p:nvPr/>
        </p:nvSpPr>
        <p:spPr>
          <a:xfrm>
            <a:off x="849630" y="2489359"/>
            <a:ext cx="205740" cy="115729"/>
          </a:xfrm>
          <a:prstGeom prst="roundRect">
            <a:avLst>
              <a:gd name="adj" fmla="val 50000"/>
            </a:avLst>
          </a:prstGeom>
          <a:noFill/>
          <a:ln w="19050">
            <a:solidFill>
              <a:srgbClr val="A3BCAB"/>
            </a:solidFill>
            <a:prstDash val="solid"/>
          </a:ln>
        </p:spPr>
        <p:txBody>
          <a:bodyPr/>
          <a:lstStyle/>
          <a:p>
            <a:endParaRPr lang="en-US"/>
          </a:p>
        </p:txBody>
      </p:sp>
      <p:sp>
        <p:nvSpPr>
          <p:cNvPr id="7" name="!!pilot-start-label">
            <a:extLst>
              <a:ext uri="{FF2B5EF4-FFF2-40B4-BE49-F238E27FC236}">
                <a16:creationId xmlns:a16="http://schemas.microsoft.com/office/drawing/2014/main" id="{B3AADED3-5533-4224-BE8C-996B55865D40}"/>
              </a:ext>
            </a:extLst>
          </p:cNvPr>
          <p:cNvSpPr>
            <a:spLocks noGrp="1"/>
          </p:cNvSpPr>
          <p:nvPr/>
        </p:nvSpPr>
        <p:spPr>
          <a:xfrm>
            <a:off x="1524000" y="2133600"/>
            <a:ext cx="4562475"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a:ext uri="{FF2B5EF4-FFF2-40B4-BE49-F238E27FC236}">
                <a16:creationId xmlns:a16="http://schemas.microsoft.com/office/drawing/2014/main" id="{81643FEF-AD59-4DE1-91D9-A504E7D19C1C}"/>
              </a:ext>
            </a:extLst>
          </p:cNvPr>
          <p:cNvSpPr>
            <a:spLocks noGrp="1"/>
          </p:cNvSpPr>
          <p:nvPr/>
        </p:nvSpPr>
        <p:spPr>
          <a:xfrm>
            <a:off x="1524000" y="2705100"/>
            <a:ext cx="4562475"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a:ext uri="{FF2B5EF4-FFF2-40B4-BE49-F238E27FC236}">
                <a16:creationId xmlns:a16="http://schemas.microsoft.com/office/drawing/2014/main" id="{E962CE5C-09BF-4686-8250-D57E1D803620}"/>
              </a:ext>
            </a:extLst>
          </p:cNvPr>
          <p:cNvSpPr>
            <a:spLocks noGrp="1"/>
          </p:cNvSpPr>
          <p:nvPr/>
        </p:nvSpPr>
        <p:spPr>
          <a:xfrm>
            <a:off x="666750" y="3429000"/>
            <a:ext cx="571500" cy="571500"/>
          </a:xfrm>
          <a:prstGeom prst="ellipse">
            <a:avLst/>
          </a:prstGeom>
          <a:solidFill>
            <a:srgbClr val="183A2C"/>
          </a:solidFill>
          <a:ln w="9525">
            <a:solidFill>
              <a:srgbClr val="A3BCAB"/>
            </a:solidFill>
          </a:ln>
        </p:spPr>
        <p:txBody>
          <a:bodyPr/>
          <a:lstStyle/>
          <a:p>
            <a:endParaRPr lang="en-US"/>
          </a:p>
        </p:txBody>
      </p:sp>
      <p:sp>
        <p:nvSpPr>
          <p:cNvPr id="10" name="!!pilot-measure-icon-0">
            <a:extLst>
              <a:ext uri="{FF2B5EF4-FFF2-40B4-BE49-F238E27FC236}">
                <a16:creationId xmlns:a16="http://schemas.microsoft.com/office/drawing/2014/main" id="{10F0826C-7FB0-4041-A2C1-C05FC98BBD55}"/>
              </a:ext>
            </a:extLst>
          </p:cNvPr>
          <p:cNvSpPr>
            <a:spLocks noGrp="1"/>
          </p:cNvSpPr>
          <p:nvPr/>
        </p:nvSpPr>
        <p:spPr>
          <a:xfrm>
            <a:off x="823913" y="3586163"/>
            <a:ext cx="257175" cy="257175"/>
          </a:xfrm>
          <a:prstGeom prst="ellipse">
            <a:avLst/>
          </a:prstGeom>
          <a:noFill/>
          <a:ln w="19050">
            <a:solidFill>
              <a:srgbClr val="A3BCAB"/>
            </a:solidFill>
            <a:prstDash val="solid"/>
          </a:ln>
        </p:spPr>
        <p:txBody>
          <a:bodyPr/>
          <a:lstStyle/>
          <a:p>
            <a:endParaRPr lang="en-US"/>
          </a:p>
        </p:txBody>
      </p:sp>
      <p:sp>
        <p:nvSpPr>
          <p:cNvPr id="11" name="!!pilot-measure-icon-1">
            <a:extLst>
              <a:ext uri="{FF2B5EF4-FFF2-40B4-BE49-F238E27FC236}">
                <a16:creationId xmlns:a16="http://schemas.microsoft.com/office/drawing/2014/main" id="{ED966982-A8E2-413E-A343-B7534B96A1DC}"/>
              </a:ext>
            </a:extLst>
          </p:cNvPr>
          <p:cNvSpPr>
            <a:spLocks noGrp="1"/>
          </p:cNvSpPr>
          <p:nvPr/>
        </p:nvSpPr>
        <p:spPr>
          <a:xfrm>
            <a:off x="798195" y="3560445"/>
            <a:ext cx="308610" cy="308610"/>
          </a:xfrm>
          <a:custGeom>
            <a:avLst/>
            <a:gdLst/>
            <a:ahLst/>
            <a:cxnLst/>
            <a:rect l="0" t="0" r="0" b="0"/>
            <a:pathLst>
              <a:path w="228600" h="228600">
                <a:moveTo>
                  <a:pt x="114300" y="47625"/>
                </a:moveTo>
                <a:lnTo>
                  <a:pt x="114300" y="114300"/>
                </a:lnTo>
                <a:lnTo>
                  <a:pt x="161925" y="142875"/>
                </a:lnTo>
              </a:path>
            </a:pathLst>
          </a:custGeom>
          <a:noFill/>
          <a:ln w="19050">
            <a:solidFill>
              <a:srgbClr val="A3BCAB"/>
            </a:solidFill>
            <a:prstDash val="solid"/>
          </a:ln>
        </p:spPr>
        <p:txBody>
          <a:bodyPr/>
          <a:lstStyle/>
          <a:p>
            <a:endParaRPr lang="en-US"/>
          </a:p>
        </p:txBody>
      </p:sp>
      <p:sp>
        <p:nvSpPr>
          <p:cNvPr id="12" name="!!pilot-measure-label">
            <a:extLst>
              <a:ext uri="{FF2B5EF4-FFF2-40B4-BE49-F238E27FC236}">
                <a16:creationId xmlns:a16="http://schemas.microsoft.com/office/drawing/2014/main" id="{BBC75C94-F322-43F2-9D63-DABFEADD2585}"/>
              </a:ext>
            </a:extLst>
          </p:cNvPr>
          <p:cNvSpPr>
            <a:spLocks noGrp="1"/>
          </p:cNvSpPr>
          <p:nvPr/>
        </p:nvSpPr>
        <p:spPr>
          <a:xfrm>
            <a:off x="1524000" y="3371850"/>
            <a:ext cx="4562475"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a:ext uri="{FF2B5EF4-FFF2-40B4-BE49-F238E27FC236}">
                <a16:creationId xmlns:a16="http://schemas.microsoft.com/office/drawing/2014/main" id="{CE29CEE1-9A7F-42C9-819B-1CD680FA8220}"/>
              </a:ext>
            </a:extLst>
          </p:cNvPr>
          <p:cNvSpPr>
            <a:spLocks noGrp="1"/>
          </p:cNvSpPr>
          <p:nvPr/>
        </p:nvSpPr>
        <p:spPr>
          <a:xfrm>
            <a:off x="1524000" y="3943350"/>
            <a:ext cx="4562475"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a:ext uri="{FF2B5EF4-FFF2-40B4-BE49-F238E27FC236}">
                <a16:creationId xmlns:a16="http://schemas.microsoft.com/office/drawing/2014/main" id="{08B75FF3-7F29-4084-A8DD-6392F80B2895}"/>
              </a:ext>
            </a:extLst>
          </p:cNvPr>
          <p:cNvSpPr>
            <a:spLocks noGrp="1"/>
          </p:cNvSpPr>
          <p:nvPr/>
        </p:nvSpPr>
        <p:spPr>
          <a:xfrm>
            <a:off x="600075" y="4953000"/>
            <a:ext cx="723900" cy="723900"/>
          </a:xfrm>
          <a:prstGeom prst="ellipse">
            <a:avLst/>
          </a:prstGeom>
          <a:solidFill>
            <a:srgbClr val="166447"/>
          </a:solidFill>
          <a:ln w="28575">
            <a:solidFill>
              <a:srgbClr val="C8A45B"/>
            </a:solidFill>
          </a:ln>
        </p:spPr>
        <p:txBody>
          <a:bodyPr/>
          <a:lstStyle/>
          <a:p>
            <a:endParaRPr lang="en-US"/>
          </a:p>
        </p:txBody>
      </p:sp>
      <p:sp>
        <p:nvSpPr>
          <p:cNvPr id="15" name="!!payer-symbol-icon-0">
            <a:extLst>
              <a:ext uri="{FF2B5EF4-FFF2-40B4-BE49-F238E27FC236}">
                <a16:creationId xmlns:a16="http://schemas.microsoft.com/office/drawing/2014/main" id="{BE23DA3D-C2C1-4E3A-BDF6-FBF1479AE567}"/>
              </a:ext>
            </a:extLst>
          </p:cNvPr>
          <p:cNvSpPr>
            <a:spLocks noGrp="1"/>
          </p:cNvSpPr>
          <p:nvPr/>
        </p:nvSpPr>
        <p:spPr>
          <a:xfrm>
            <a:off x="799147" y="5200936"/>
            <a:ext cx="325755" cy="260604"/>
          </a:xfrm>
          <a:prstGeom prst="roundRect">
            <a:avLst>
              <a:gd name="adj" fmla="val 29240"/>
            </a:avLst>
          </a:prstGeom>
          <a:noFill/>
          <a:ln w="19050">
            <a:solidFill>
              <a:srgbClr val="FFFFFF"/>
            </a:solidFill>
            <a:prstDash val="solid"/>
          </a:ln>
        </p:spPr>
        <p:txBody>
          <a:bodyPr/>
          <a:lstStyle/>
          <a:p>
            <a:endParaRPr lang="en-US"/>
          </a:p>
        </p:txBody>
      </p:sp>
      <p:sp>
        <p:nvSpPr>
          <p:cNvPr id="16" name="!!payer-symbol-icon-1">
            <a:extLst>
              <a:ext uri="{FF2B5EF4-FFF2-40B4-BE49-F238E27FC236}">
                <a16:creationId xmlns:a16="http://schemas.microsoft.com/office/drawing/2014/main" id="{B1B0001B-07EF-4366-A9E0-F851E51DD4D1}"/>
              </a:ext>
            </a:extLst>
          </p:cNvPr>
          <p:cNvSpPr>
            <a:spLocks noGrp="1"/>
          </p:cNvSpPr>
          <p:nvPr/>
        </p:nvSpPr>
        <p:spPr>
          <a:xfrm>
            <a:off x="1010888" y="5298662"/>
            <a:ext cx="114014" cy="97727"/>
          </a:xfrm>
          <a:prstGeom prst="rect">
            <a:avLst/>
          </a:prstGeom>
          <a:noFill/>
          <a:ln w="19050">
            <a:solidFill>
              <a:srgbClr val="FFFFFF"/>
            </a:solidFill>
            <a:prstDash val="solid"/>
          </a:ln>
        </p:spPr>
        <p:txBody>
          <a:bodyPr/>
          <a:lstStyle/>
          <a:p>
            <a:endParaRPr lang="en-US"/>
          </a:p>
        </p:txBody>
      </p:sp>
      <p:sp>
        <p:nvSpPr>
          <p:cNvPr id="17" name="!!payer-symbol-icon-2">
            <a:extLst>
              <a:ext uri="{FF2B5EF4-FFF2-40B4-BE49-F238E27FC236}">
                <a16:creationId xmlns:a16="http://schemas.microsoft.com/office/drawing/2014/main" id="{5228A420-DFB9-48F4-9108-62D5012EF895}"/>
              </a:ext>
            </a:extLst>
          </p:cNvPr>
          <p:cNvSpPr>
            <a:spLocks noGrp="1"/>
          </p:cNvSpPr>
          <p:nvPr/>
        </p:nvSpPr>
        <p:spPr>
          <a:xfrm>
            <a:off x="1043464" y="5331238"/>
            <a:ext cx="32576" cy="32576"/>
          </a:xfrm>
          <a:prstGeom prst="ellipse">
            <a:avLst/>
          </a:prstGeom>
          <a:noFill/>
          <a:ln w="19050">
            <a:solidFill>
              <a:srgbClr val="FFFFFF"/>
            </a:solidFill>
            <a:prstDash val="solid"/>
          </a:ln>
        </p:spPr>
        <p:txBody>
          <a:bodyPr/>
          <a:lstStyle/>
          <a:p>
            <a:endParaRPr lang="en-US"/>
          </a:p>
        </p:txBody>
      </p:sp>
      <p:sp>
        <p:nvSpPr>
          <p:cNvPr id="18" name="!!payer">
            <a:extLst>
              <a:ext uri="{FF2B5EF4-FFF2-40B4-BE49-F238E27FC236}">
                <a16:creationId xmlns:a16="http://schemas.microsoft.com/office/drawing/2014/main" id="{93A40949-8097-434D-AB6D-9C653EF7C8D7}"/>
              </a:ext>
            </a:extLst>
          </p:cNvPr>
          <p:cNvSpPr>
            <a:spLocks noGrp="1"/>
          </p:cNvSpPr>
          <p:nvPr/>
        </p:nvSpPr>
        <p:spPr>
          <a:xfrm>
            <a:off x="1524000" y="4972050"/>
            <a:ext cx="4381500" cy="523875"/>
          </a:xfrm>
          <a:prstGeom prst="rect">
            <a:avLst/>
          </a:prstGeom>
          <a:noFill/>
          <a:ln w="0">
            <a:noFill/>
          </a:ln>
        </p:spPr>
        <p:txBody>
          <a:bodyPr wrap="square" lIns="0" tIns="0" rIns="0" bIns="0" anchor="t">
            <a:normAutofit/>
          </a:bodyPr>
          <a:lstStyle/>
          <a:p>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a:ext uri="{FF2B5EF4-FFF2-40B4-BE49-F238E27FC236}">
                <a16:creationId xmlns:a16="http://schemas.microsoft.com/office/drawing/2014/main" id="{8DA82F7A-6A59-4DA9-B2C1-E3D31C0FD748}"/>
              </a:ext>
            </a:extLst>
          </p:cNvPr>
          <p:cNvSpPr>
            <a:spLocks noGrp="1"/>
          </p:cNvSpPr>
          <p:nvPr/>
        </p:nvSpPr>
        <p:spPr>
          <a:xfrm>
            <a:off x="1524000" y="5572125"/>
            <a:ext cx="4362450" cy="666750"/>
          </a:xfrm>
          <a:prstGeom prst="rect">
            <a:avLst/>
          </a:prstGeom>
          <a:noFill/>
          <a:ln w="0">
            <a:noFill/>
          </a:ln>
        </p:spPr>
        <p:txBody>
          <a:bodyPr wrap="square" lIns="0" tIns="0" rIns="0" bIns="0" anchor="t">
            <a:normAutofit/>
          </a:bodyPr>
          <a:lstStyle/>
          <a:p>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a:ext uri="{FF2B5EF4-FFF2-40B4-BE49-F238E27FC236}">
                <a16:creationId xmlns:a16="http://schemas.microsoft.com/office/drawing/2014/main" id="{F648EFDF-5D5E-4B1D-9615-20F6508B6A5A}"/>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10</a:t>
            </a:r>
          </a:p>
        </p:txBody>
      </p:sp>
      <p:sp>
        <p:nvSpPr>
          <p:cNvPr id="21" name="!!caption">
            <a:extLst>
              <a:ext uri="{FF2B5EF4-FFF2-40B4-BE49-F238E27FC236}">
                <a16:creationId xmlns:a16="http://schemas.microsoft.com/office/drawing/2014/main" id="{C34CFB29-F6C1-4700-B35E-303EA94D0A4A}"/>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266612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9"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closing-brand">
            <a:extLst>
              <a:ext uri="{FF2B5EF4-FFF2-40B4-BE49-F238E27FC236}">
                <a16:creationId xmlns:a16="http://schemas.microsoft.com/office/drawing/2014/main" id="{40C3DCCC-F84F-43F5-A1EA-55DDDB27BE6C}"/>
              </a:ext>
            </a:extLst>
          </p:cNvPr>
          <p:cNvSpPr>
            <a:spLocks noGrp="1"/>
          </p:cNvSpPr>
          <p:nvPr/>
        </p:nvSpPr>
        <p:spPr>
          <a:xfrm>
            <a:off x="609600" y="1838325"/>
            <a:ext cx="6858000" cy="1104900"/>
          </a:xfrm>
          <a:prstGeom prst="rect">
            <a:avLst/>
          </a:prstGeom>
          <a:noFill/>
          <a:ln w="0">
            <a:noFill/>
          </a:ln>
        </p:spPr>
        <p:txBody>
          <a:bodyPr wrap="square" lIns="0" tIns="0" rIns="0" bIns="0" anchor="t">
            <a:normAutofit/>
          </a:bodyPr>
          <a:lstStyle/>
          <a:p>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a:ext uri="{FF2B5EF4-FFF2-40B4-BE49-F238E27FC236}">
                <a16:creationId xmlns:a16="http://schemas.microsoft.com/office/drawing/2014/main" id="{39A50B97-0822-4558-9957-9F0B95328E4C}"/>
              </a:ext>
            </a:extLst>
          </p:cNvPr>
          <p:cNvSpPr>
            <a:spLocks noGrp="1"/>
          </p:cNvSpPr>
          <p:nvPr/>
        </p:nvSpPr>
        <p:spPr>
          <a:xfrm>
            <a:off x="609600" y="3105150"/>
            <a:ext cx="6096000" cy="1066800"/>
          </a:xfrm>
          <a:prstGeom prst="rect">
            <a:avLst/>
          </a:prstGeom>
          <a:noFill/>
          <a:ln w="0">
            <a:noFill/>
          </a:ln>
        </p:spPr>
        <p:txBody>
          <a:bodyPr wrap="square" lIns="0" tIns="0" rIns="0" bIns="0" anchor="t">
            <a:normAutofit/>
          </a:bodyPr>
          <a:lstStyle/>
          <a:p>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noChangeAspect="1"/>
          </p:cNvPicPr>
          <p:nvPr/>
        </p:nvPicPr>
        <p:blipFill>
          <a:blip r:embed="rId4"/>
          <a:stretch/>
        </p:blipFill>
        <p:spPr>
          <a:xfrm>
            <a:off x="9039225" y="2981325"/>
            <a:ext cx="2371725" cy="2371725"/>
          </a:xfrm>
          <a:prstGeom prst="rect">
            <a:avLst/>
          </a:prstGeom>
        </p:spPr>
      </p:pic>
      <p:sp>
        <p:nvSpPr>
          <p:cNvPr id="5" name="!!website">
            <a:extLst>
              <a:ext uri="{FF2B5EF4-FFF2-40B4-BE49-F238E27FC236}">
                <a16:creationId xmlns:a16="http://schemas.microsoft.com/office/drawing/2014/main" id="{1C56BB14-FC3F-4BF0-A25A-1A7658FE8117}"/>
              </a:ext>
            </a:extLst>
          </p:cNvPr>
          <p:cNvSpPr>
            <a:spLocks noGrp="1"/>
          </p:cNvSpPr>
          <p:nvPr/>
        </p:nvSpPr>
        <p:spPr>
          <a:xfrm>
            <a:off x="609600" y="4714875"/>
            <a:ext cx="6096000" cy="438150"/>
          </a:xfrm>
          <a:prstGeom prst="rect">
            <a:avLst/>
          </a:prstGeom>
          <a:noFill/>
          <a:ln w="0">
            <a:noFill/>
          </a:ln>
        </p:spPr>
        <p:txBody>
          <a:bodyPr wrap="square" lIns="0" tIns="0" rIns="0" bIns="0" anchor="t">
            <a:normAutofit/>
          </a:bodyPr>
          <a:lstStyle/>
          <a:p>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r:id="rId5"/>
              </a:rPr>
              <a:t>durian-web3.vercel.app</a:t>
            </a:r>
          </a:p>
        </p:txBody>
      </p:sp>
      <p:sp>
        <p:nvSpPr>
          <p:cNvPr id="6" name="!!repository">
            <a:extLst>
              <a:ext uri="{FF2B5EF4-FFF2-40B4-BE49-F238E27FC236}">
                <a16:creationId xmlns:a16="http://schemas.microsoft.com/office/drawing/2014/main" id="{94874AB4-129E-4533-85FC-D6B5A99FB967}"/>
              </a:ext>
            </a:extLst>
          </p:cNvPr>
          <p:cNvSpPr>
            <a:spLocks noGrp="1"/>
          </p:cNvSpPr>
          <p:nvPr/>
        </p:nvSpPr>
        <p:spPr>
          <a:xfrm>
            <a:off x="609600" y="5295900"/>
            <a:ext cx="7162800" cy="457200"/>
          </a:xfrm>
          <a:prstGeom prst="rect">
            <a:avLst/>
          </a:prstGeom>
          <a:noFill/>
          <a:ln w="0">
            <a:noFill/>
          </a:ln>
        </p:spPr>
        <p:txBody>
          <a:bodyPr wrap="square" lIns="0" tIns="0" rIns="0" bIns="0" anchor="t">
            <a:normAutofit/>
          </a:bodyPr>
          <a:lstStyle/>
          <a:p>
            <a:pPr>
              <a:defRPr sz="1950" b="0">
                <a:solidFill>
                  <a:srgbClr val="F4F1E8"/>
                </a:solidFill>
                <a:latin typeface="Segoe UI"/>
                <a:ea typeface="Segoe UI"/>
                <a:cs typeface="Segoe UI"/>
              </a:defRPr>
            </a:pPr>
            <a:endParaRPr sz="1950" b="0" dirty="0">
              <a:solidFill>
                <a:srgbClr val="F4F1E8"/>
              </a:solidFill>
              <a:latin typeface="Segoe UI"/>
              <a:ea typeface="Segoe UI"/>
              <a:cs typeface="Segoe UI"/>
              <a:hlinkClick r:id="rId6"/>
            </a:endParaRPr>
          </a:p>
        </p:txBody>
      </p:sp>
      <p:sp>
        <p:nvSpPr>
          <p:cNvPr id="7" name="!!page">
            <a:extLst>
              <a:ext uri="{FF2B5EF4-FFF2-40B4-BE49-F238E27FC236}">
                <a16:creationId xmlns:a16="http://schemas.microsoft.com/office/drawing/2014/main" id="{217EA964-7D4B-41EA-B22C-44949ADC8321}"/>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10</a:t>
            </a:r>
          </a:p>
        </p:txBody>
      </p:sp>
      <p:sp>
        <p:nvSpPr>
          <p:cNvPr id="8" name="!!caption">
            <a:extLst>
              <a:ext uri="{FF2B5EF4-FFF2-40B4-BE49-F238E27FC236}">
                <a16:creationId xmlns:a16="http://schemas.microsoft.com/office/drawing/2014/main" id="{CF35A46F-7764-4770-BEFD-C234E0719A2C}"/>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961502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4378</Words>
  <Application>Microsoft Office PowerPoint</Application>
  <DocSecurity>0</DocSecurity>
  <PresentationFormat>Widescreen</PresentationFormat>
  <Paragraphs>236</Paragraphs>
  <Slides>10</Slides>
  <Notes>10</Notes>
  <HiddenSlides>0</HiddenSlides>
  <MMClips>1</MMClips>
  <ScaleCrop>false</ScaleCrop>
  <HeadingPairs>
    <vt:vector size="8" baseType="variant">
      <vt:variant>
        <vt:lpstr>Fonts Used</vt:lpstr>
      </vt:variant>
      <vt:variant>
        <vt:i4>3</vt:i4>
      </vt:variant>
      <vt:variant>
        <vt:lpstr>Theme</vt:lpstr>
      </vt:variant>
      <vt:variant>
        <vt:i4>1</vt:i4>
      </vt:variant>
      <vt:variant>
        <vt:lpstr>Slide Titles</vt:lpstr>
      </vt:variant>
      <vt:variant>
        <vt:i4>19</vt:i4>
      </vt:variant>
      <vt:variant>
        <vt:lpstr>Custom Shows</vt:lpstr>
      </vt:variant>
      <vt:variant>
        <vt:i4>1</vt:i4>
      </vt:variant>
    </vt:vector>
  </HeadingPairs>
  <TitlesOfParts>
    <vt:vector size="24" baseType="lpstr">
      <vt:lpstr>Aptos</vt:lpstr>
      <vt:lpstr>Calibri</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19 y chinh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ero Z</cp:lastModifiedBy>
  <cp:revision>3</cp:revision>
  <dcterms:created xsi:type="dcterms:W3CDTF">2026-09-28T16:42:58Z</dcterms:created>
  <dcterms:modified xsi:type="dcterms:W3CDTF">2026-09-30T06:32:00Z</dcterms:modified>
</cp:coreProperties>
</file>