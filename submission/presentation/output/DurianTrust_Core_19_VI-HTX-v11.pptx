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custShowLst>
    <p:custShow name="19 y chinh" id="0">
      <p:sldLst>
        <p:sld r:id="rId2"/>
        <p:sld r:id="rId3"/>
        <p:sld r:id="rId4"/>
        <p:sld r:id="rId5"/>
        <p:sld r:id="rId6"/>
        <p:sld r:id="rId7"/>
        <p:sld r:id="rId8"/>
        <p:sld r:id="rId9"/>
        <p:sld r:id="rId10"/>
        <p:sld r:id="rId11"/>
        <p:sld r:id="rId12"/>
        <p:sld r:id="rId13"/>
        <p:sld r:id="rId14"/>
        <p:sld r:id="rId15"/>
        <p:sld r:id="rId16"/>
        <p:sld r:id="rId17"/>
        <p:sld r:id="rId18"/>
        <p:sld r:id="rId19"/>
        <p:sld r:id="rId20"/>
      </p:sldLst>
    </p:custShow>
  </p:custShow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KỊCH BẢN v10 (35 giây mục tiêu, cần bấm giờ khi luyện): Hãy hình dung một hợp tác xã ở Lâm Đồng chuẩn bị giao 850 ký sầu riêng. Bên mua hỏi: lô này của vườn nào, thu hoạch ngày nào, có tài liệu gì? Trong tình huống giả định này, câu trả lời nằm rải rác trong Zalo, Drive và sổ tay. DurianTrust gom chúng thành một hồ sơ theo từng lô. Chủ hồ sơ chọn công khai hồ sơ, bên mua mở bằng QR. Solana và AI là hai thử nghiệm riêng, chúng tôi sẽ nói rõ phạm vi ở phần sau.</a:t>
            </a:r>
          </a:p>
          <a:p>
            <a:r>
              <a:t>Nguồn: https://github.com/vinhelysia/DurainCheckerDemo (source hiện tại), README.md, backend/README.md và hồ sơ kiểm thử ngày 23–29/09/2026. Hình nền là minh họa tạo bằng AI, không phải ảnh thực địa.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KỊCH BẢN v10 (40 giây mục tiêu, cần bấm giờ khi luyện): Trong tám tháng đầu năm 2026, khoảng 95% kim ngạch xuất khẩu sầu riêng Việt Nam đến từ Trung Quốc. Họp báo Chính phủ ngày 3 tháng 9 nêu khoảng 1,85 tỷ USD từ thị trường này trên tổng 1,95 tỷ USD ước tính. Mức phụ thuộc lớn khiến yêu cầu chất lượng và truy xuất của Trung Quốc đặc biệt quan trọng. DurianTrust chọn hỗ trợ phần hồ sơ: gắn thông tin vườn, phiếu lab và lịch sử với đúng lô để HTX và bên mua đối chiếu. Cadimi và Vàng O vẫn cần lấy mẫu, kiểm nghiệm. Nhóm chưa có pilot, nên tác động của website còn cần đo.</a:t>
            </a:r>
          </a:p>
          <a:p>
            <a:r>
              <a:t>Nguồn: https://github.com/vinhelysia/DurainCheckerDemo (source hiện tại), README.md, backend/README.md và hồ sơ kiểm thử ngày 23–29/09/2026. </a:t>
            </a:r>
          </a:p>
          <a:p>
            <a:r>
              <a:t>https://baochinhphu.vn/hop-bao-chinh-phu-thuong-ky-thang-8-dai-dien-bo-cong-an-lam-ro-nhieu-van-de-duoc-quan-tam-102260903170016698.htm</a:t>
            </a:r>
          </a:p>
          <a:p>
            <a:r>
              <a:t>https://vntr.moit.gov.vn/news/china-tightens-import-rules-on-vietnamese-durians</a:t>
            </a:r>
          </a:p>
          <a:p>
            <a:r>
              <a:t>https://sansangxuatkhau.ppd.gov.vn/tin-tuc-su-kien/sau-rieng-duoc-xuat-khau-chinh-ngach-sang-trung-quoc.html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KỊCH BẢN v10 (30 giây mục tiêu, cần bấm giờ khi luyện): Người chuẩn bị hồ sơ dự kiến là nông hộ hoặc HTX; bên mua đầu tiên có thể là đơn vị thu mua hay doanh nghiệp xuất khẩu nhận lô từ HTX. Đây chưa phải khách hàng đã xác nhận. Zalo và Drive có thể đủ để trao đổi, lưu tệp. Điều nhóm muốn kiểm chứng là hồ sơ có cấu trúc theo lô giúp tìm và đối chiếu tài liệu dễ hơn. Đơn vị kiểm nghiệm có thể phát hành tài liệu; hệ thống hiện chỉ lưu tệp do chủ hồ sơ cung cấp.</a:t>
            </a:r>
          </a:p>
          <a:p>
            <a:r>
              <a:t>Nguồn: https://github.com/vinhelysia/DurainCheckerDemo (source hiện tại), README.md, backend/README.md và hồ sơ kiểm thử ngày 23–29/09/2026. Hình nền là minh họa tạo bằng AI, không phải ảnh thực địa.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KỊCH BẢN v10 (25 giây mục tiêu, cần bấm giờ khi luyện): Luồng chính gồm bốn bước. Chủ hồ sơ tạo lô riêng tư. Tiếp theo họ thêm ảnh hoặc tài liệu, kèm nguồn và ngày. Mỗi mốc hành trình lưu thành một bản ghi mới. Khi sẵn sàng, chủ hồ sơ công khai QR cho bên mua. Mỗi bước bổ sung một phần cần thiết để trao đổi về cùng lô. Đăng nhập Google phục vụ workspace này và không yêu cầu ví Solana.</a:t>
            </a:r>
          </a:p>
          <a:p>
            <a:r>
              <a:t>Nguồn: https://github.com/vinhelysia/DurainCheckerDemo (source hiện tại), README.md, backend/README.md và hồ sơ kiểm thử ngày 23–29/09/2026. Hình nền là minh họa tạo bằng AI, không phải ảnh thực địa.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KỊCH BẢN v10 (20 giây mục tiêu, cần bấm giờ khi luyện): Tình huống minh họa dùng HTX chuẩn bị lô MAU-2026-01 tại Lâm Đồng, giống Ri6, khối lượng 850 kg và ngày thu hoạch 29/09/2026. Lô mới mặc định riêng tư. Màn quản lý tách thông tin, tài liệu, lịch sử và chia sẻ QR. Ảnh dùng giao diện compact chạy local với dữ liệu TEST và Auth/API mô phỏng. Chưa có kiểm chứng đầy đủ lượt ghi trên production.</a:t>
            </a:r>
          </a:p>
          <a:p>
            <a:r>
              <a:t>Nguồn: https://github.com/vinhelysia/DurainCheckerDemo (source hiện tại), README.md, backend/README.md và hồ sơ kiểm thử ngày 23–29/09/2026. Hình nền là minh họa tạo bằng AI, không phải ảnh thực địa. Ảnh workspace dùng fixture local.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KỊCH BẢN v10 (20 giây mục tiêu, cần bấm giờ khi luyện): Mỗi lô có thể đính kèm ảnh JPG, PNG hoặc tài liệu PDF, cùng nguồn và ngày. Tài liệu TEST trong demo mô tả lô minh họa, không phải phiếu kiểm nghiệm. Hệ thống kiểm tra loại tệp và dung lượng tối đa 5 MB. Việc đính kèm chưa xác minh người phát hành hoặc tính thật của phiếu.</a:t>
            </a:r>
          </a:p>
          <a:p>
            <a:r>
              <a:t>Nguồn: https://github.com/vinhelysia/DurainCheckerDemo (source hiện tại), README.md, backend/README.md và hồ sơ kiểm thử ngày 23–29/09/2026. Hình nền là minh họa tạo bằng AI, không phải ảnh thực địa.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KỊCH BẢN v10 (18 giây mục tiêu, cần bấm giờ khi luyện): Mỗi mốc lưu tên, ngày, địa điểm và ghi chú thành một bản ghi mới. Ngày sự kiện do người dùng khai báo. Giao hàng trên cloud là ghi nhận một phía, chưa phải chữ ký chấp nhận của bên nhận.</a:t>
            </a:r>
          </a:p>
          <a:p>
            <a:r>
              <a:t>Nguồn: https://github.com/vinhelysia/DurainCheckerDemo (source hiện tại), README.md, backend/README.md và hồ sơ kiểm thử ngày 23–29/09/2026. Hình nền là minh họa tạo bằng AI, không phải ảnh thực địa.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KỊCH BẢN v10 (20 giây mục tiêu, cần bấm giờ khi luyện): Bên mua mở hồ sơ công khai qua QR mà không cần đăng nhập. QR trên slide dẫn đến hồ sơ mẫu. Với lô thật, chủ hồ sơ chọn công khai cả thông tin và tài liệu. QR có thể bị sao chép, nên không xác thực trái sầu riêng.</a:t>
            </a:r>
          </a:p>
          <a:p>
            <a:r>
              <a:t>Nguồn: https://github.com/vinhelysia/DurainCheckerDemo (source hiện tại), README.md, backend/README.md và hồ sơ kiểm thử ngày 23–29/09/2026. Hình nền là minh họa tạo bằng AI, không phải ảnh thực địa. QR: https://durian-web3.vercel.app/#/records/example. Ảnh buyer là fixture local.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KỊCH BẢN v10 (20 giây mục tiêu, cần bấm giờ khi luyện): Hồ sơ mới riêng tư. Chủ hồ sơ có thể công khai, rồi chuyển lại riêng tư để chặn lượt đọc mới. Hệ thống không thu hồi được bản đã tải. RLS kiểm tra quyền ở database và Storage. Kiểm thử end-to-end trên production vẫn cần hoàn tất.</a:t>
            </a:r>
          </a:p>
          <a:p>
            <a:r>
              <a:t>Nguồn: https://github.com/vinhelysia/DurainCheckerDemo (source hiện tại), README.md, backend/README.md và hồ sơ kiểm thử ngày 23–29/09/2026. Hình nền là minh họa tạo bằng AI, không phải ảnh thực địa.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KỊCH BẢN v10 (90 giây mục tiêu, cần bấm giờ khi luyện): Bấm vào video 90 giây đã nhúng. HTX minh họa tạo lô riêng tư MAU-2026-01, thêm tài liệu TEST mô tả lô, rồi thêm mốc đóng gói. Chủ hồ sơ kiểm tra nội dung trước khi công khai QR. Bên mua mở hồ sơ chỉ đọc và tìm tài liệu đúng lô. Cuối video, HTX chuyển lại riêng tư để chặn lượt đọc mới. Video dùng ảnh chụp giao diện compact app local cùng con trỏ và highlight minh họa. Auth/API dùng fixture mô phỏng. Đây chưa phải ghi hình liên tục hoặc bằng chứng hoàn tất flow production. PDF là tài liệu demo, không phải phiếu kiểm nghiệm. Nếu PowerPoint không phát, dùng link video dự phòng hoặc file MP4 đi kèm.</a:t>
            </a:r>
          </a:p>
          <a:p>
            <a:r>
              <a:t>Nguồn: https://github.com/vinhelysia/DurainCheckerDemo (source hiện tại), README.md, backend/README.md và hồ sơ kiểm thử ngày 23–29/09/2026. </a:t>
            </a:r>
          </a:p>
          <a:p>
            <a:r>
              <a:t>https://durian-web3.vercel.app/submission/DurianTrust_HTX_Demo_90s.mp4</a:t>
            </a:r>
          </a:p>
          <a:p>
            <a:r>
              <a:t>Ảnh giao diện do submission/review/capture-cloud-workflow.mjs ghi từ app local. Video dựng bởi submission/review/render-cloud-demo.py. Ảnh sầu riêng: Sodanie Chea, CC BY 2.0, https://commons.wikimedia.org/wiki/File:Durian_(8425934020).jpg. Native video theo tài liệu Microsoft: https://learn.microsoft.com/en-us/office/open-xml/presentation/how-to-add-a-video-to-a-slide-in-a-presentation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KỊCH BẢN v10 (25 giây mục tiêu, cần bấm giờ khi luyện): Giao diện dùng React 19 và Vite 8, triển khai trên Vercel. API Python dùng FastAPI trên Render. Google login qua Supabase cấp phiên đăng nhập; PostgreSQL áp dụng RLS theo tài khoản. Database giữ thông tin lô và lịch sử, còn ảnh và PDF ở Supabase Storage. Đây là luồng cloud, chưa tự đồng bộ với Solana hay AI.</a:t>
            </a:r>
          </a:p>
          <a:p>
            <a:r>
              <a:t>Nguồn: https://github.com/vinhelysia/DurainCheckerDemo (source hiện tại), README.md, backend/README.md và hồ sơ kiểm thử ngày 23–29/09/2026. </a:t>
            </a:r>
          </a:p>
          <a:p>
            <a:r>
              <a:t>Logo React: https://react.dev/ (header SVG, màu dark theme #58C4DC); Vite: https://vite.dev/logo-without-border.svg ; FastAPI: https://fastapi.tiangolo.com/ ; Python: https://www.python.org/community/logos/ ; Supabase: https://supabase.com/brand-assets ; PostgreSQL: https://wiki.postgresql.org/wiki/Logo ; Render: https://render.com/newsroom (brand kit); Vercel: https://vercel.com/geist/brands . Các logo giữ artwork/tỷ lệ gốc; chỉ crop phần canvas trong suốt. Logo dùng để xác định công nghệ thực sự dùng trong dự án, không thể hiện tài trợ hay endorsement. Vercel, the Vercel design, Next.js and related marks, designs and logos are trademarks or registered trademarks of Vercel, Inc. or its affiliates in the US and other countries.</a:t>
            </a:r>
          </a:p>
          <a:p>
            <a:r>
              <a:t>Google logo: https://developers.google.com/identity/branding-guidelines . Logo G gốc dùng cùng nền trắng để nhận diện Google OAuth. Supabase vẫn quản lý session/JWT phía sau Google login; nhãn đăng nhập trên sơ đồ được rút gọn, cấu hình xác thực không thay đổi.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KỊCH BẢN v10 (34 giây mục tiêu, cần bấm giờ khi luyện): Program Solana viết bằng Rust với framework Anchor 0.31.1. Frontend gọi program qua Anchor JavaScript client và solana/web3.js; Wallet Adapter kết nối ví để ký. Người đang giữ lô ký đề xuất ví nhận, người nhận ký chấp nhận, rồi custody mới đổi. Chữ ký xác nhận trạng thái số, chưa thiết lập quyền sở hữu pháp lý hoặc chứng minh giao hàng vật lý. Luồng thử nghiệm cấu hình trên Devnet, không tự đồng bộ với cloud. Đã có kiểm thử local; chưa xác nhận binary Devnet khớp toàn bộ source hiện tại.</a:t>
            </a:r>
          </a:p>
          <a:p>
            <a:r>
              <a:t>Nguồn: https://github.com/vinhelysia/DurainCheckerDemo (source hiện tại), README.md, backend/README.md và hồ sơ kiểm thử ngày 23–29/09/2026. </a:t>
            </a:r>
          </a:p>
          <a:p>
            <a:r>
              <a:t>Logo Rust: https://rustfoundation.org/policy/rust-trademark-policy/ ; artwork thuộc Rust Foundation, CC BY https://creativecommons.org/licenses/by/4.0/ , không sửa artwork. Anchor: https://www.anchor-lang.com/icons/anchor.png . Solana: https://solana.com/branding . Logo thể hiện stack thử nghiệm, không thể hiện tài trợ/endorsement.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KỊCH BẢN v10 (35 giây mục tiêu, cần bấm giờ khi luyện): Chữ ký xác định ví nào đã gửi hoặc chấp nhận một bản ghi số. Lịch sử on-chain giúp đối chiếu các giao dịch liên quan. Giá trị này có giới hạn: giấy tờ do người dùng nhập có thể sai, QR có thể được gắn lên lô khác, và trách nhiệm pháp lý cần thỏa thuận ngoài hệ thống. Bởi vậy chúng tôi trình bày bằng chứng số đúng phạm vi của nó, đồng thời tách các mục cần xác minh bằng người hoặc tổ chức độc lập.</a:t>
            </a:r>
          </a:p>
          <a:p>
            <a:r>
              <a:t>Nguồn: https://github.com/vinhelysia/DurainCheckerDemo (source hiện tại), README.md, backend/README.md và hồ sơ kiểm thử ngày 23–29/09/2026. Hình nền là minh họa tạo bằng AI, không phải ảnh thực địa.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KỊCH BẢN v10 (35 giây mục tiêu, cần bấm giờ khi luyện): API Python dùng Pillow/NumPy và ONNX Runtime để xử lý ảnh lá và đưa ra gợi ý trong năm nhóm đã định nghĩa. Giao diện hiển thị điểm của model và yêu cầu người có chuyên môn kiểm tra trước khi xử lý bệnh. Điểm model trên một ảnh chưa phải accuracy. Chúng tôi giữ model cũ; bản fine-tune chưa đáp ứng tiêu chí thay thế. Các phép đo, dataset và giới hạn nằm ở phụ lục để đối chiếu khi hỏi đáp. Ảnh lá không đo Cadimi hoặc Vàng O, và chưa có đánh giá độc lập theo vườn/cây để khẳng định hiệu quả ngoài thực tế.</a:t>
            </a:r>
          </a:p>
          <a:p>
            <a:r>
              <a:t>Nguồn: https://data.mendeley.com/datasets/pxzvksbwnj/2 (CC BY 4.0); https://github.com/vinhelysia/DurainCheckerDemo/blob/main/submission/review/ai-training/MENDELEY_EXTERNAL_EVAL.md.</a:t>
            </a:r>
          </a:p>
          <a:p>
            <a:r>
              <a:t>Logo ONNX Runtime: https://github.com/microsoft/onnxruntime/blob/main/docs/images/ONNX_Runtime_logo.png ; FastAPI: https://fastapi.tiangolo.com/img/logo-margin/logo-teal.png . Giữ artwork/tỷ lệ gốc, chỉ crop phần canvas trong suốt.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KỊCH BẢN v10 (18 giây mục tiêu, cần bấm giờ khi luyện): Hai thử nghiệm dạng bảng dùng scikit-learn và ONNX Runtime, nhưng dữ liệu là synthetic, chưa chứng minh dự đoán đúng Cadimi thực tế. Phần đối chiếu số đo với ngưỡng demo là rule xác định, không phải AI. Nhóm chưa xác minh ngưỡng minh họa cho thị trường đích.</a:t>
            </a:r>
          </a:p>
          <a:p>
            <a:r>
              <a:t>Nguồn: https://github.com/vinhelysia/DurainCheckerDemo (source hiện tại), README.md, backend/README.md và hồ sơ kiểm thử ngày 23–29/09/2026.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KỊCH BẢN v10 (35 giây mục tiêu, cần bấm giờ khi luyện): MVP có website và API đã deploy. Người dùng đã xác nhận đăng nhập Google vào được màn quản lý. Local tests cho cloud client và backend pass, nhưng chưa hoàn tất lượt kiểm thử tạo lô, upload, công khai và thu hồi trên production. Các thử nghiệm Solana có source và local validator. AI ảnh lá giữ model cũ với yêu cầu kiểm tra thủ công; kết quả đánh giá chi tiết nằm ở phụ lục. Hiệu năng ngoài vườn và hash model đang chạy trên Render chưa được xác minh. Mốc tiếp theo là kiểm chứng flow thật và xin một pilot nhỏ.</a:t>
            </a:r>
          </a:p>
          <a:p>
            <a:r>
              <a:t>Nguồn: https://github.com/vinhelysia/DurainCheckerDemo; https://github.com/vinhelysia/DurainCheckerDemo/blob/main/submission/review/ai-training/MENDELEY_EXTERNAL_EVAL.md. Hình nền minh họa tạo bằng AI, không phải ảnh thực địa.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KỊCH BẢN v10 (35 giây mục tiêu, cần bấm giờ khi luyện): Đề xuất pilot bắt đầu với một hợp tác xã và một nhóm lô nhỏ. Trước tiên cần đo thời gian chuẩn bị hồ sơ và tìm tài liệu bằng cách làm hiện tại. Sau đó dùng DurianTrust để so sánh cùng công việc. Các chỉ số cần theo dõi là thời gian tìm hồ sơ, tài liệu còn thiếu và số lần bên mua phải hỏi lại. Hợp tác xã là bên có thể trả phí cho workspace nếu pilot cho thấy giá trị. Chúng tôi chưa xác nhận khách hàng, giá bán hay mức tiết kiệm.</a:t>
            </a:r>
          </a:p>
          <a:p>
            <a:r>
              <a:t>Nguồn: https://github.com/vinhelysia/DurainCheckerDemo (source hiện tại), README.md, backend/README.md và hồ sơ kiểm thử ngày 23–29/09/2026. Hình nền là minh họa tạo bằng AI, không phải ảnh thực địa.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KỊCH BẢN v10 (30 giây mục tiêu, cần bấm giờ khi luyện): Ưu tiên gần nhất là kiểm thử end-to-end cloud trên production với hai tài khoản và một phiên ẩn danh. Tiếp theo là pilot để xác nhận người dùng thực sự cần quy trình nào. Giai đoạn sau cần đối tác phát hành tài liệu hoặc cơ chế attestation để kiểm tra nguồn bằng chứng. AI cần tập dữ liệu thực có provenance và đánh giá độc lập. Liên kết giữa cloud và Solana chỉ nên làm khi pilot chứng minh nhu cầu về bàn giao có chữ ký.</a:t>
            </a:r>
          </a:p>
          <a:p>
            <a:r>
              <a:t>Nguồn: https://github.com/vinhelysia/DurainCheckerDemo (source hiện tại), README.md, backend/README.md và hồ sơ kiểm thử ngày 23–29/09/2026. Hình nền là minh họa tạo bằng AI, không phải ảnh thực địa.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KỊCH BẢN v10 (35 giây mục tiêu, cần bấm giờ khi luyện): Chúng tôi xin để lại ba ý. Một: hồ sơ theo từng lô thay cho tài liệu rải rác. Hai: QR chỉ đọc, do chủ hồ sơ quyết định công khai. Ba: giá trị sẽ được đo bằng pilot, không phải bằng lời hứa. Bước tiếp theo là kiểm chứng luồng trên production và chạy thử với một hợp tác xã. Nếu ban giám khảo biết hợp tác xã sẵn sàng thử, hoặc đơn vị có thể phát hành tài liệu kiểm nghiệm, chúng tôi rất mong được kết nối. Xin cảm ơn.</a:t>
            </a:r>
          </a:p>
          <a:p>
            <a:r>
              <a:t>Nguồn: https://github.com/vinhelysia/DurainCheckerDemo (source hiện tại), README.md, backend/README.md và hồ sơ kiểm thử ngày 23–29/09/2026. Hình nền là minh họa tạo bằng AI, không phải ảnh thực địa.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xml"/><Relationship Id="rId7" Type="http://schemas.openxmlformats.org/officeDocument/2006/relationships/hyperlink" Target="https://durian-web3.vercel.app/submission/DurianTrust_HTX_Demo_90s.mp4" TargetMode="Externa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9.png"/><Relationship Id="rId5" Type="http://schemas.openxmlformats.org/officeDocument/2006/relationships/image" Target="../media/image5.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5.png"/><Relationship Id="rId7" Type="http://schemas.openxmlformats.org/officeDocument/2006/relationships/image" Target="../media/image13.png"/><Relationship Id="rId12"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hyperlink" Target="https://github.com/vinhelysia/DurainCheckerDemo" TargetMode="External"/><Relationship Id="rId5" Type="http://schemas.openxmlformats.org/officeDocument/2006/relationships/hyperlink" Target="https://durian-web3.vercel.app/#/records/example" TargetMode="External"/><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2C21"/>
        </a:solidFill>
        <a:effectLst/>
      </p:bgPr>
    </p:bg>
    <p:spTree>
      <p:nvGrpSpPr>
        <p:cNvPr id="1" name=""/>
        <p:cNvGrpSpPr/>
        <p:nvPr/>
      </p:nvGrpSpPr>
      <p:grpSpPr>
        <a:xfrm>
          <a:off x="0" y="0"/>
          <a:ext cx="0" cy="0"/>
          <a:chOff x="0" y="0"/>
          <a:chExt cx="0" cy="0"/>
        </a:xfrm>
      </p:grpSpPr>
      <p:pic>
        <p:nvPicPr>
          <p:cNvPr id="8" name="!!backdrop"/>
          <p:cNvPicPr>
            <a:picLocks noChangeAspect="1"/>
          </p:cNvPicPr>
          <p:nvPr/>
        </p:nvPicPr>
        <p:blipFill>
          <a:blip r:embed="rId3"/>
          <a:srcRect t="27" b="27"/>
          <a:stretch>
            <a:fillRect/>
          </a:stretch>
        </p:blipFill>
        <p:spPr>
          <a:xfrm>
            <a:off x="0" y="0"/>
            <a:ext cx="12192000" cy="6858000"/>
          </a:xfrm>
          <a:prstGeom prst="rect">
            <a:avLst/>
          </a:prstGeom>
        </p:spPr>
      </p:pic>
      <p:sp>
        <p:nvSpPr>
          <p:cNvPr id="2" name="!!brand">
            <a:extLst>
              <a:ext uri="{FF2B5EF4-FFF2-40B4-BE49-F238E27FC236}">
                <a16:creationId xmlns:a16="http://schemas.microsoft.com/office/drawing/2014/main" id="{F2A77A16-825F-4FE0-A4D0-A4306B5D6E0A}"/>
              </a:ext>
            </a:extLst>
          </p:cNvPr>
          <p:cNvSpPr>
            <a:spLocks noGrp="1"/>
          </p:cNvSpPr>
          <p:nvPr/>
        </p:nvSpPr>
        <p:spPr>
          <a:xfrm>
            <a:off x="609600" y="2228850"/>
            <a:ext cx="7143750" cy="1181100"/>
          </a:xfrm>
          <a:prstGeom prst="rect">
            <a:avLst/>
          </a:prstGeom>
          <a:noFill/>
          <a:ln w="0">
            <a:noFill/>
          </a:ln>
        </p:spPr>
        <p:txBody>
          <a:bodyPr wrap="square" lIns="0" tIns="0" rIns="0" bIns="0" anchor="t">
            <a:normAutofit/>
          </a:bodyPr>
          <a:lstStyle/>
          <a:p>
            <a:pPr>
              <a:defRPr sz="6300" b="1">
                <a:solidFill>
                  <a:srgbClr val="F4F1E8"/>
                </a:solidFill>
                <a:latin typeface="Segoe UI"/>
                <a:ea typeface="Segoe UI"/>
                <a:cs typeface="Segoe UI"/>
              </a:defRPr>
            </a:pPr>
            <a:r>
              <a:rPr sz="6300" b="1">
                <a:solidFill>
                  <a:srgbClr val="F4F1E8"/>
                </a:solidFill>
                <a:latin typeface="Segoe UI"/>
                <a:ea typeface="Segoe UI"/>
                <a:cs typeface="Segoe UI"/>
              </a:rPr>
              <a:t>DurianTrust</a:t>
            </a:r>
          </a:p>
        </p:txBody>
      </p:sp>
      <p:sp>
        <p:nvSpPr>
          <p:cNvPr id="3" name="!!promise">
            <a:extLst>
              <a:ext uri="{FF2B5EF4-FFF2-40B4-BE49-F238E27FC236}">
                <a16:creationId xmlns:a16="http://schemas.microsoft.com/office/drawing/2014/main" id="{B0A20E54-8F13-4E8D-A4F4-6BD38148938D}"/>
              </a:ext>
            </a:extLst>
          </p:cNvPr>
          <p:cNvSpPr>
            <a:spLocks noGrp="1"/>
          </p:cNvSpPr>
          <p:nvPr/>
        </p:nvSpPr>
        <p:spPr>
          <a:xfrm>
            <a:off x="647700" y="3524250"/>
            <a:ext cx="6000750" cy="1219200"/>
          </a:xfrm>
          <a:prstGeom prst="rect">
            <a:avLst/>
          </a:prstGeom>
          <a:noFill/>
          <a:ln w="0">
            <a:noFill/>
          </a:ln>
        </p:spPr>
        <p:txBody>
          <a:bodyPr wrap="square" lIns="0" tIns="0" rIns="0" bIns="0" anchor="t">
            <a:normAutofit/>
          </a:bodyPr>
          <a:lstStyle/>
          <a:p>
            <a:pPr>
              <a:defRPr sz="2700" b="0">
                <a:solidFill>
                  <a:srgbClr val="F4F1E8"/>
                </a:solidFill>
                <a:latin typeface="Segoe UI"/>
                <a:ea typeface="Segoe UI"/>
                <a:cs typeface="Segoe UI"/>
              </a:defRPr>
            </a:pPr>
            <a:r>
              <a:rPr sz="2700" b="0">
                <a:solidFill>
                  <a:srgbClr val="F4F1E8"/>
                </a:solidFill>
                <a:latin typeface="Segoe UI"/>
                <a:ea typeface="Segoe UI"/>
                <a:cs typeface="Segoe UI"/>
              </a:rPr>
              <a:t>Hồ sơ lô sầu riêng</a:t>
            </a:r>
          </a:p>
          <a:p>
            <a:pPr>
              <a:defRPr sz="2700" b="0">
                <a:solidFill>
                  <a:srgbClr val="F4F1E8"/>
                </a:solidFill>
                <a:latin typeface="Segoe UI"/>
                <a:ea typeface="Segoe UI"/>
                <a:cs typeface="Segoe UI"/>
              </a:defRPr>
            </a:pPr>
            <a:r>
              <a:rPr sz="2700" b="0">
                <a:solidFill>
                  <a:srgbClr val="F4F1E8"/>
                </a:solidFill>
                <a:latin typeface="Segoe UI"/>
                <a:ea typeface="Segoe UI"/>
                <a:cs typeface="Segoe UI"/>
              </a:rPr>
              <a:t>cho hợp tác xã và bên mua</a:t>
            </a:r>
          </a:p>
        </p:txBody>
      </p:sp>
      <p:sp>
        <p:nvSpPr>
          <p:cNvPr id="4" name="!!competition">
            <a:extLst>
              <a:ext uri="{FF2B5EF4-FFF2-40B4-BE49-F238E27FC236}">
                <a16:creationId xmlns:a16="http://schemas.microsoft.com/office/drawing/2014/main" id="{C45F701D-1C11-4B00-ACA3-F186F8084065}"/>
              </a:ext>
            </a:extLst>
          </p:cNvPr>
          <p:cNvSpPr>
            <a:spLocks noGrp="1"/>
          </p:cNvSpPr>
          <p:nvPr/>
        </p:nvSpPr>
        <p:spPr>
          <a:xfrm>
            <a:off x="647700" y="895350"/>
            <a:ext cx="4095750" cy="333375"/>
          </a:xfrm>
          <a:prstGeom prst="rect">
            <a:avLst/>
          </a:prstGeom>
          <a:noFill/>
          <a:ln w="0">
            <a:noFill/>
          </a:ln>
        </p:spPr>
        <p:txBody>
          <a:bodyPr wrap="square" lIns="0" tIns="0" rIns="0" bIns="0" anchor="t">
            <a:normAutofit/>
          </a:bodyPr>
          <a:lstStyle/>
          <a:p>
            <a:pPr>
              <a:defRPr sz="1650" b="1">
                <a:solidFill>
                  <a:srgbClr val="C8A45B"/>
                </a:solidFill>
                <a:latin typeface="Segoe UI"/>
                <a:ea typeface="Segoe UI"/>
                <a:cs typeface="Segoe UI"/>
              </a:defRPr>
            </a:pPr>
            <a:r>
              <a:rPr sz="1650" b="1">
                <a:solidFill>
                  <a:srgbClr val="C8A45B"/>
                </a:solidFill>
                <a:latin typeface="Segoe UI"/>
                <a:ea typeface="Segoe UI"/>
                <a:cs typeface="Segoe UI"/>
              </a:rPr>
              <a:t>UniHackFest 2026</a:t>
            </a:r>
          </a:p>
        </p:txBody>
      </p:sp>
      <p:pic>
        <p:nvPicPr>
          <p:cNvPr id="12" name="!!logo"/>
          <p:cNvPicPr>
            <a:picLocks noChangeAspect="1"/>
          </p:cNvPicPr>
          <p:nvPr/>
        </p:nvPicPr>
        <p:blipFill>
          <a:blip r:embed="rId4"/>
          <a:stretch/>
        </p:blipFill>
        <p:spPr>
          <a:xfrm>
            <a:off x="628650" y="1466850"/>
            <a:ext cx="533400" cy="533400"/>
          </a:xfrm>
          <a:prstGeom prst="rect">
            <a:avLst/>
          </a:prstGeom>
        </p:spPr>
      </p:pic>
      <p:sp>
        <p:nvSpPr>
          <p:cNvPr id="6" name="!!page">
            <a:extLst>
              <a:ext uri="{FF2B5EF4-FFF2-40B4-BE49-F238E27FC236}">
                <a16:creationId xmlns:a16="http://schemas.microsoft.com/office/drawing/2014/main" id="{F3D6199A-2ADD-4F7A-A1B0-E2E520321305}"/>
              </a:ext>
            </a:extLst>
          </p:cNvPr>
          <p:cNvSpPr>
            <a:spLocks noGrp="1"/>
          </p:cNvSpPr>
          <p:nvPr/>
        </p:nvSpPr>
        <p:spPr>
          <a:xfrm>
            <a:off x="10706100" y="6381750"/>
            <a:ext cx="876300" cy="228600"/>
          </a:xfrm>
          <a:prstGeom prst="rect">
            <a:avLst/>
          </a:prstGeom>
          <a:noFill/>
          <a:ln w="0">
            <a:noFill/>
          </a:ln>
        </p:spPr>
        <p:txBody>
          <a:bodyPr wrap="square" lIns="0" tIns="0" rIns="0" bIns="0" anchor="t">
            <a:normAutofit/>
          </a:bodyPr>
          <a:lstStyle/>
          <a:p>
            <a:pPr>
              <a:defRPr sz="1275" b="0">
                <a:solidFill>
                  <a:srgbClr val="A3BCAB"/>
                </a:solidFill>
                <a:latin typeface="Segoe UI"/>
                <a:ea typeface="Segoe UI"/>
                <a:cs typeface="Segoe UI"/>
              </a:defRPr>
            </a:pPr>
            <a:r>
              <a:rPr sz="1275" b="0">
                <a:solidFill>
                  <a:srgbClr val="A3BCAB"/>
                </a:solidFill>
                <a:latin typeface="Segoe UI"/>
                <a:ea typeface="Segoe UI"/>
                <a:cs typeface="Segoe UI"/>
              </a:rPr>
              <a:t>01 / 19</a:t>
            </a:r>
          </a:p>
        </p:txBody>
      </p:sp>
      <p:sp>
        <p:nvSpPr>
          <p:cNvPr id="7" name="!!caption">
            <a:extLst>
              <a:ext uri="{FF2B5EF4-FFF2-40B4-BE49-F238E27FC236}">
                <a16:creationId xmlns:a16="http://schemas.microsoft.com/office/drawing/2014/main" id="{2FE4368B-771D-49CE-B2F5-777481FC7F84}"/>
              </a:ext>
            </a:extLst>
          </p:cNvPr>
          <p:cNvSpPr>
            <a:spLocks noGrp="1"/>
          </p:cNvSpPr>
          <p:nvPr/>
        </p:nvSpPr>
        <p:spPr>
          <a:xfrm>
            <a:off x="609600" y="6381750"/>
            <a:ext cx="9525000" cy="228600"/>
          </a:xfrm>
          <a:prstGeom prst="rect">
            <a:avLst/>
          </a:prstGeom>
          <a:noFill/>
          <a:ln w="0">
            <a:noFill/>
          </a:ln>
        </p:spPr>
        <p:txBody>
          <a:bodyPr wrap="square" lIns="0" tIns="0" rIns="0" bIns="0" anchor="t">
            <a:normAutofit/>
          </a:bodyPr>
          <a:lstStyle/>
          <a:p>
            <a:pPr>
              <a:defRPr sz="1275" b="0">
                <a:solidFill>
                  <a:srgbClr val="A3BCAB"/>
                </a:solidFill>
                <a:latin typeface="Segoe UI"/>
                <a:ea typeface="Segoe UI"/>
                <a:cs typeface="Segoe UI"/>
              </a:defRPr>
            </a:pPr>
            <a:endParaRPr sz="1275" b="0" dirty="0">
              <a:solidFill>
                <a:srgbClr val="A3BCAB"/>
              </a:solidFill>
              <a:latin typeface="Segoe UI"/>
              <a:ea typeface="Segoe UI"/>
              <a:cs typeface="Segoe UI"/>
            </a:endParaRPr>
          </a:p>
        </p:txBody>
      </p:sp>
    </p:spTree>
    <p:extLst>
      <p:ext uri="{BB962C8B-B14F-4D97-AF65-F5344CB8AC3E}">
        <p14:creationId xmlns:p14="http://schemas.microsoft.com/office/powerpoint/2010/main" val="46912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1E8"/>
        </a:solidFill>
        <a:effectLst/>
      </p:bgPr>
    </p:bg>
    <p:spTree>
      <p:nvGrpSpPr>
        <p:cNvPr id="1" name=""/>
        <p:cNvGrpSpPr/>
        <p:nvPr/>
      </p:nvGrpSpPr>
      <p:grpSpPr>
        <a:xfrm>
          <a:off x="0" y="0"/>
          <a:ext cx="0" cy="0"/>
          <a:chOff x="0" y="0"/>
          <a:chExt cx="0" cy="0"/>
        </a:xfrm>
      </p:grpSpPr>
      <p:pic>
        <p:nvPicPr>
          <p:cNvPr id="25" name="!!backdrop"/>
          <p:cNvPicPr>
            <a:picLocks noChangeAspect="1"/>
          </p:cNvPicPr>
          <p:nvPr/>
        </p:nvPicPr>
        <p:blipFill>
          <a:blip r:embed="rId3"/>
          <a:srcRect t="27" b="27"/>
          <a:stretch>
            <a:fillRect/>
          </a:stretch>
        </p:blipFill>
        <p:spPr>
          <a:xfrm>
            <a:off x="0" y="0"/>
            <a:ext cx="12192000" cy="6858000"/>
          </a:xfrm>
          <a:prstGeom prst="rect">
            <a:avLst/>
          </a:prstGeom>
        </p:spPr>
      </p:pic>
      <p:sp>
        <p:nvSpPr>
          <p:cNvPr id="2" name="!!headline">
            <a:extLst>
              <a:ext uri="{FF2B5EF4-FFF2-40B4-BE49-F238E27FC236}">
                <a16:creationId xmlns:a16="http://schemas.microsoft.com/office/drawing/2014/main" id="{5479B50E-3565-467A-BCA9-C9243634D51A}"/>
              </a:ext>
            </a:extLst>
          </p:cNvPr>
          <p:cNvSpPr>
            <a:spLocks noGrp="1"/>
          </p:cNvSpPr>
          <p:nvPr/>
        </p:nvSpPr>
        <p:spPr>
          <a:xfrm>
            <a:off x="609600" y="533400"/>
            <a:ext cx="6238875" cy="1104900"/>
          </a:xfrm>
          <a:prstGeom prst="rect">
            <a:avLst/>
          </a:prstGeom>
          <a:noFill/>
          <a:ln w="0">
            <a:noFill/>
          </a:ln>
        </p:spPr>
        <p:txBody>
          <a:bodyPr wrap="square" lIns="0" tIns="0" rIns="0" bIns="0" anchor="t">
            <a:normAutofit/>
          </a:bodyPr>
          <a:lstStyle/>
          <a:p>
            <a:pPr>
              <a:defRPr sz="3450" b="1">
                <a:solidFill>
                  <a:srgbClr val="142F24"/>
                </a:solidFill>
                <a:latin typeface="Segoe UI"/>
                <a:ea typeface="Segoe UI"/>
                <a:cs typeface="Segoe UI"/>
              </a:defRPr>
            </a:pPr>
            <a:r>
              <a:rPr sz="3450" b="1">
                <a:solidFill>
                  <a:srgbClr val="142F24"/>
                </a:solidFill>
                <a:latin typeface="Segoe UI"/>
                <a:ea typeface="Segoe UI"/>
                <a:cs typeface="Segoe UI"/>
              </a:rPr>
              <a:t>Vì sao DurianTrust ra đời?</a:t>
            </a:r>
          </a:p>
        </p:txBody>
      </p:sp>
      <p:sp>
        <p:nvSpPr>
          <p:cNvPr id="3" name="!!fragment-0-selection">
            <a:extLst>
              <a:ext uri="{FF2B5EF4-FFF2-40B4-BE49-F238E27FC236}">
                <a16:creationId xmlns:a16="http://schemas.microsoft.com/office/drawing/2014/main" id="{CBB47E37-E9EA-43BD-8891-028D2D606757}"/>
              </a:ext>
            </a:extLst>
          </p:cNvPr>
          <p:cNvSpPr>
            <a:spLocks noGrp="1"/>
          </p:cNvSpPr>
          <p:nvPr/>
        </p:nvSpPr>
        <p:spPr>
          <a:xfrm>
            <a:off x="647700" y="1943100"/>
            <a:ext cx="571500" cy="571500"/>
          </a:xfrm>
          <a:prstGeom prst="ellipse">
            <a:avLst/>
          </a:prstGeom>
          <a:solidFill>
            <a:srgbClr val="E5EBDD"/>
          </a:solidFill>
          <a:ln w="9525">
            <a:solidFill>
              <a:srgbClr val="166447"/>
            </a:solidFill>
          </a:ln>
        </p:spPr>
        <p:txBody>
          <a:bodyPr/>
          <a:lstStyle/>
          <a:p>
            <a:endParaRPr lang="en-US"/>
          </a:p>
        </p:txBody>
      </p:sp>
      <p:sp>
        <p:nvSpPr>
          <p:cNvPr id="4" name="!!fragment-0-icon-0">
            <a:extLst>
              <a:ext uri="{FF2B5EF4-FFF2-40B4-BE49-F238E27FC236}">
                <a16:creationId xmlns:a16="http://schemas.microsoft.com/office/drawing/2014/main" id="{95D4136F-3D83-4D9E-846B-E93779B28646}"/>
              </a:ext>
            </a:extLst>
          </p:cNvPr>
          <p:cNvSpPr>
            <a:spLocks noGrp="1"/>
          </p:cNvSpPr>
          <p:nvPr/>
        </p:nvSpPr>
        <p:spPr>
          <a:xfrm>
            <a:off x="804863" y="2100263"/>
            <a:ext cx="257175" cy="257175"/>
          </a:xfrm>
          <a:prstGeom prst="ellipse">
            <a:avLst/>
          </a:prstGeom>
          <a:noFill/>
          <a:ln w="19050">
            <a:solidFill>
              <a:srgbClr val="166447"/>
            </a:solidFill>
            <a:prstDash val="solid"/>
          </a:ln>
        </p:spPr>
        <p:txBody>
          <a:bodyPr/>
          <a:lstStyle/>
          <a:p>
            <a:endParaRPr lang="en-US"/>
          </a:p>
        </p:txBody>
      </p:sp>
      <p:sp>
        <p:nvSpPr>
          <p:cNvPr id="5" name="!!fragment-0-icon-1">
            <a:extLst>
              <a:ext uri="{FF2B5EF4-FFF2-40B4-BE49-F238E27FC236}">
                <a16:creationId xmlns:a16="http://schemas.microsoft.com/office/drawing/2014/main" id="{2F069339-62FE-4E14-A086-E4F870003FAA}"/>
              </a:ext>
            </a:extLst>
          </p:cNvPr>
          <p:cNvSpPr>
            <a:spLocks noGrp="1"/>
          </p:cNvSpPr>
          <p:nvPr/>
        </p:nvSpPr>
        <p:spPr>
          <a:xfrm>
            <a:off x="882015" y="2100263"/>
            <a:ext cx="102870" cy="257175"/>
          </a:xfrm>
          <a:prstGeom prst="ellipse">
            <a:avLst/>
          </a:prstGeom>
          <a:noFill/>
          <a:ln w="19050">
            <a:solidFill>
              <a:srgbClr val="166447"/>
            </a:solidFill>
            <a:prstDash val="solid"/>
          </a:ln>
        </p:spPr>
        <p:txBody>
          <a:bodyPr/>
          <a:lstStyle/>
          <a:p>
            <a:endParaRPr lang="en-US"/>
          </a:p>
        </p:txBody>
      </p:sp>
      <p:sp>
        <p:nvSpPr>
          <p:cNvPr id="6" name="!!fragment-0-icon-2">
            <a:extLst>
              <a:ext uri="{FF2B5EF4-FFF2-40B4-BE49-F238E27FC236}">
                <a16:creationId xmlns:a16="http://schemas.microsoft.com/office/drawing/2014/main" id="{42B796DC-9EF8-4D78-8AD5-DF9F072C5431}"/>
              </a:ext>
            </a:extLst>
          </p:cNvPr>
          <p:cNvSpPr>
            <a:spLocks noGrp="1"/>
          </p:cNvSpPr>
          <p:nvPr/>
        </p:nvSpPr>
        <p:spPr>
          <a:xfrm>
            <a:off x="779145" y="2074545"/>
            <a:ext cx="308610" cy="308610"/>
          </a:xfrm>
          <a:custGeom>
            <a:avLst/>
            <a:gdLst/>
            <a:ahLst/>
            <a:cxnLst/>
            <a:rect l="0" t="0" r="0" b="0"/>
            <a:pathLst>
              <a:path w="228600" h="228600">
                <a:moveTo>
                  <a:pt x="19050" y="114300"/>
                </a:moveTo>
                <a:lnTo>
                  <a:pt x="209550" y="114300"/>
                </a:lnTo>
              </a:path>
            </a:pathLst>
          </a:custGeom>
          <a:noFill/>
          <a:ln w="19050">
            <a:solidFill>
              <a:srgbClr val="166447"/>
            </a:solidFill>
            <a:prstDash val="solid"/>
          </a:ln>
        </p:spPr>
        <p:txBody>
          <a:bodyPr/>
          <a:lstStyle/>
          <a:p>
            <a:endParaRPr lang="en-US"/>
          </a:p>
        </p:txBody>
      </p:sp>
      <p:sp>
        <p:nvSpPr>
          <p:cNvPr id="7" name="!!fragment-0">
            <a:extLst>
              <a:ext uri="{FF2B5EF4-FFF2-40B4-BE49-F238E27FC236}">
                <a16:creationId xmlns:a16="http://schemas.microsoft.com/office/drawing/2014/main" id="{60875367-0F09-4DC3-B792-71BF59B926D1}"/>
              </a:ext>
            </a:extLst>
          </p:cNvPr>
          <p:cNvSpPr>
            <a:spLocks noGrp="1"/>
          </p:cNvSpPr>
          <p:nvPr/>
        </p:nvSpPr>
        <p:spPr>
          <a:xfrm>
            <a:off x="1447800" y="1847850"/>
            <a:ext cx="4333875" cy="800100"/>
          </a:xfrm>
          <a:prstGeom prst="rect">
            <a:avLst/>
          </a:prstGeom>
          <a:noFill/>
          <a:ln w="0">
            <a:noFill/>
          </a:ln>
        </p:spPr>
        <p:txBody>
          <a:bodyPr wrap="square" lIns="0" tIns="0" rIns="0" bIns="0" anchor="t">
            <a:normAutofit/>
          </a:bodyPr>
          <a:lstStyle/>
          <a:p>
            <a:pPr>
              <a:defRPr sz="3900" b="1">
                <a:solidFill>
                  <a:srgbClr val="142F24"/>
                </a:solidFill>
                <a:latin typeface="Segoe UI"/>
                <a:ea typeface="Segoe UI"/>
                <a:cs typeface="Segoe UI"/>
              </a:defRPr>
            </a:pPr>
            <a:r>
              <a:rPr sz="3900" b="1">
                <a:solidFill>
                  <a:srgbClr val="142F24"/>
                </a:solidFill>
                <a:latin typeface="Segoe UI"/>
                <a:ea typeface="Segoe UI"/>
                <a:cs typeface="Segoe UI"/>
              </a:rPr>
              <a:t>≈95%</a:t>
            </a:r>
          </a:p>
        </p:txBody>
      </p:sp>
      <p:sp>
        <p:nvSpPr>
          <p:cNvPr id="8" name="!!fragment-detail-0">
            <a:extLst>
              <a:ext uri="{FF2B5EF4-FFF2-40B4-BE49-F238E27FC236}">
                <a16:creationId xmlns:a16="http://schemas.microsoft.com/office/drawing/2014/main" id="{8C8280F5-BBC2-4F8A-B946-A5FA520317D4}"/>
              </a:ext>
            </a:extLst>
          </p:cNvPr>
          <p:cNvSpPr>
            <a:spLocks noGrp="1"/>
          </p:cNvSpPr>
          <p:nvPr/>
        </p:nvSpPr>
        <p:spPr>
          <a:xfrm>
            <a:off x="1447800" y="2705100"/>
            <a:ext cx="4333875" cy="628650"/>
          </a:xfrm>
          <a:prstGeom prst="rect">
            <a:avLst/>
          </a:prstGeom>
          <a:noFill/>
          <a:ln w="0">
            <a:noFill/>
          </a:ln>
        </p:spPr>
        <p:txBody>
          <a:bodyPr wrap="square" lIns="0" tIns="0" rIns="0" bIns="0" anchor="t">
            <a:normAutofit/>
          </a:bodyPr>
          <a:lstStyle/>
          <a:p>
            <a:pPr>
              <a:defRPr sz="1650" b="0">
                <a:solidFill>
                  <a:srgbClr val="53685B"/>
                </a:solidFill>
                <a:latin typeface="Segoe UI"/>
                <a:ea typeface="Segoe UI"/>
                <a:cs typeface="Segoe UI"/>
              </a:defRPr>
            </a:pPr>
            <a:r>
              <a:rPr sz="1650" b="0">
                <a:solidFill>
                  <a:srgbClr val="53685B"/>
                </a:solidFill>
                <a:latin typeface="Segoe UI"/>
                <a:ea typeface="Segoe UI"/>
                <a:cs typeface="Segoe UI"/>
              </a:rPr>
              <a:t>Kim ngạch xuất khẩu sầu riêng Việt Nam</a:t>
            </a:r>
          </a:p>
          <a:p>
            <a:pPr>
              <a:defRPr sz="1650" b="0">
                <a:solidFill>
                  <a:srgbClr val="53685B"/>
                </a:solidFill>
                <a:latin typeface="Segoe UI"/>
                <a:ea typeface="Segoe UI"/>
                <a:cs typeface="Segoe UI"/>
              </a:defRPr>
            </a:pPr>
            <a:r>
              <a:rPr sz="1650" b="0">
                <a:solidFill>
                  <a:srgbClr val="53685B"/>
                </a:solidFill>
                <a:latin typeface="Segoe UI"/>
                <a:ea typeface="Segoe UI"/>
                <a:cs typeface="Segoe UI"/>
              </a:rPr>
              <a:t>sang Trung Quốc, 8 tháng 2026</a:t>
            </a:r>
          </a:p>
        </p:txBody>
      </p:sp>
      <p:sp>
        <p:nvSpPr>
          <p:cNvPr id="9" name="!!fragment-1-selection">
            <a:extLst>
              <a:ext uri="{FF2B5EF4-FFF2-40B4-BE49-F238E27FC236}">
                <a16:creationId xmlns:a16="http://schemas.microsoft.com/office/drawing/2014/main" id="{5D180CC4-B13E-4D36-8AFC-85CB12C927B0}"/>
              </a:ext>
            </a:extLst>
          </p:cNvPr>
          <p:cNvSpPr>
            <a:spLocks noGrp="1"/>
          </p:cNvSpPr>
          <p:nvPr/>
        </p:nvSpPr>
        <p:spPr>
          <a:xfrm>
            <a:off x="647700" y="3429000"/>
            <a:ext cx="571500" cy="571500"/>
          </a:xfrm>
          <a:prstGeom prst="ellipse">
            <a:avLst/>
          </a:prstGeom>
          <a:solidFill>
            <a:srgbClr val="E5EBDD"/>
          </a:solidFill>
          <a:ln w="9525">
            <a:solidFill>
              <a:srgbClr val="166447"/>
            </a:solidFill>
          </a:ln>
        </p:spPr>
        <p:txBody>
          <a:bodyPr/>
          <a:lstStyle/>
          <a:p>
            <a:endParaRPr lang="en-US"/>
          </a:p>
        </p:txBody>
      </p:sp>
      <p:sp>
        <p:nvSpPr>
          <p:cNvPr id="10" name="!!fragment-1-icon-0">
            <a:extLst>
              <a:ext uri="{FF2B5EF4-FFF2-40B4-BE49-F238E27FC236}">
                <a16:creationId xmlns:a16="http://schemas.microsoft.com/office/drawing/2014/main" id="{AC6DF858-0E8A-4EAF-B0B2-38B4A7E9443E}"/>
              </a:ext>
            </a:extLst>
          </p:cNvPr>
          <p:cNvSpPr>
            <a:spLocks noGrp="1"/>
          </p:cNvSpPr>
          <p:nvPr/>
        </p:nvSpPr>
        <p:spPr>
          <a:xfrm>
            <a:off x="804863" y="3586163"/>
            <a:ext cx="180023" cy="180023"/>
          </a:xfrm>
          <a:prstGeom prst="ellipse">
            <a:avLst/>
          </a:prstGeom>
          <a:noFill/>
          <a:ln w="19050">
            <a:solidFill>
              <a:srgbClr val="166447"/>
            </a:solidFill>
            <a:prstDash val="solid"/>
          </a:ln>
        </p:spPr>
        <p:txBody>
          <a:bodyPr/>
          <a:lstStyle/>
          <a:p>
            <a:endParaRPr lang="en-US"/>
          </a:p>
        </p:txBody>
      </p:sp>
      <p:sp>
        <p:nvSpPr>
          <p:cNvPr id="11" name="!!fragment-1-icon-1">
            <a:extLst>
              <a:ext uri="{FF2B5EF4-FFF2-40B4-BE49-F238E27FC236}">
                <a16:creationId xmlns:a16="http://schemas.microsoft.com/office/drawing/2014/main" id="{CD94D742-11D9-44FC-88F4-BA3E2B1CE3F5}"/>
              </a:ext>
            </a:extLst>
          </p:cNvPr>
          <p:cNvSpPr>
            <a:spLocks noGrp="1"/>
          </p:cNvSpPr>
          <p:nvPr/>
        </p:nvSpPr>
        <p:spPr>
          <a:xfrm>
            <a:off x="779145" y="3560445"/>
            <a:ext cx="308610" cy="308610"/>
          </a:xfrm>
          <a:custGeom>
            <a:avLst/>
            <a:gdLst/>
            <a:ahLst/>
            <a:cxnLst/>
            <a:rect l="0" t="0" r="0" b="0"/>
            <a:pathLst>
              <a:path w="228600" h="228600">
                <a:moveTo>
                  <a:pt x="133350" y="133350"/>
                </a:moveTo>
                <a:lnTo>
                  <a:pt x="209550" y="209550"/>
                </a:lnTo>
              </a:path>
            </a:pathLst>
          </a:custGeom>
          <a:noFill/>
          <a:ln w="19050">
            <a:solidFill>
              <a:srgbClr val="166447"/>
            </a:solidFill>
            <a:prstDash val="solid"/>
          </a:ln>
        </p:spPr>
        <p:txBody>
          <a:bodyPr/>
          <a:lstStyle/>
          <a:p>
            <a:endParaRPr lang="en-US"/>
          </a:p>
        </p:txBody>
      </p:sp>
      <p:sp>
        <p:nvSpPr>
          <p:cNvPr id="12" name="!!fragment-1">
            <a:extLst>
              <a:ext uri="{FF2B5EF4-FFF2-40B4-BE49-F238E27FC236}">
                <a16:creationId xmlns:a16="http://schemas.microsoft.com/office/drawing/2014/main" id="{E673D880-131F-45D7-B5EC-C9E0A44CF8EE}"/>
              </a:ext>
            </a:extLst>
          </p:cNvPr>
          <p:cNvSpPr>
            <a:spLocks noGrp="1"/>
          </p:cNvSpPr>
          <p:nvPr/>
        </p:nvSpPr>
        <p:spPr>
          <a:xfrm>
            <a:off x="1447800" y="3495675"/>
            <a:ext cx="4333875" cy="457200"/>
          </a:xfrm>
          <a:prstGeom prst="rect">
            <a:avLst/>
          </a:prstGeom>
          <a:noFill/>
          <a:ln w="0">
            <a:noFill/>
          </a:ln>
        </p:spPr>
        <p:txBody>
          <a:bodyPr wrap="square" lIns="0" tIns="0" rIns="0" bIns="0" anchor="t">
            <a:normAutofit/>
          </a:bodyPr>
          <a:lstStyle/>
          <a:p>
            <a:pPr>
              <a:defRPr sz="2175" b="1">
                <a:solidFill>
                  <a:srgbClr val="142F24"/>
                </a:solidFill>
                <a:latin typeface="Segoe UI"/>
                <a:ea typeface="Segoe UI"/>
                <a:cs typeface="Segoe UI"/>
              </a:defRPr>
            </a:pPr>
            <a:r>
              <a:rPr sz="2175" b="1">
                <a:solidFill>
                  <a:srgbClr val="142F24"/>
                </a:solidFill>
                <a:latin typeface="Segoe UI"/>
                <a:ea typeface="Segoe UI"/>
                <a:cs typeface="Segoe UI"/>
              </a:rPr>
              <a:t>Kiểm soát theo lô</a:t>
            </a:r>
          </a:p>
        </p:txBody>
      </p:sp>
      <p:sp>
        <p:nvSpPr>
          <p:cNvPr id="13" name="!!fragment-detail-1">
            <a:extLst>
              <a:ext uri="{FF2B5EF4-FFF2-40B4-BE49-F238E27FC236}">
                <a16:creationId xmlns:a16="http://schemas.microsoft.com/office/drawing/2014/main" id="{6C44A08E-F126-44B1-AE1B-2E429D8411D9}"/>
              </a:ext>
            </a:extLst>
          </p:cNvPr>
          <p:cNvSpPr>
            <a:spLocks noGrp="1"/>
          </p:cNvSpPr>
          <p:nvPr/>
        </p:nvSpPr>
        <p:spPr>
          <a:xfrm>
            <a:off x="1447800" y="3990975"/>
            <a:ext cx="4333875" cy="381000"/>
          </a:xfrm>
          <a:prstGeom prst="rect">
            <a:avLst/>
          </a:prstGeom>
          <a:noFill/>
          <a:ln w="0">
            <a:noFill/>
          </a:ln>
        </p:spPr>
        <p:txBody>
          <a:bodyPr wrap="square" lIns="0" tIns="0" rIns="0" bIns="0" anchor="t">
            <a:normAutofit/>
          </a:bodyPr>
          <a:lstStyle/>
          <a:p>
            <a:pPr>
              <a:defRPr sz="1650" b="0">
                <a:solidFill>
                  <a:srgbClr val="53685B"/>
                </a:solidFill>
                <a:latin typeface="Segoe UI"/>
                <a:ea typeface="Segoe UI"/>
                <a:cs typeface="Segoe UI"/>
              </a:defRPr>
            </a:pPr>
            <a:r>
              <a:rPr sz="1650" b="0">
                <a:solidFill>
                  <a:srgbClr val="53685B"/>
                </a:solidFill>
                <a:latin typeface="Segoe UI"/>
                <a:ea typeface="Segoe UI"/>
                <a:cs typeface="Segoe UI"/>
              </a:rPr>
              <a:t>Cadimi, Vàng O và nguồn gốc</a:t>
            </a:r>
          </a:p>
        </p:txBody>
      </p:sp>
      <p:sp>
        <p:nvSpPr>
          <p:cNvPr id="14" name="!!fragment-2-selection">
            <a:extLst>
              <a:ext uri="{FF2B5EF4-FFF2-40B4-BE49-F238E27FC236}">
                <a16:creationId xmlns:a16="http://schemas.microsoft.com/office/drawing/2014/main" id="{2BB4F16B-FAB5-41F9-8C2D-209BE3C5BE99}"/>
              </a:ext>
            </a:extLst>
          </p:cNvPr>
          <p:cNvSpPr>
            <a:spLocks noGrp="1"/>
          </p:cNvSpPr>
          <p:nvPr/>
        </p:nvSpPr>
        <p:spPr>
          <a:xfrm>
            <a:off x="647700" y="4514850"/>
            <a:ext cx="571500" cy="571500"/>
          </a:xfrm>
          <a:prstGeom prst="ellipse">
            <a:avLst/>
          </a:prstGeom>
          <a:solidFill>
            <a:srgbClr val="E5EBDD"/>
          </a:solidFill>
          <a:ln w="9525">
            <a:solidFill>
              <a:srgbClr val="166447"/>
            </a:solidFill>
          </a:ln>
        </p:spPr>
        <p:txBody>
          <a:bodyPr/>
          <a:lstStyle/>
          <a:p>
            <a:endParaRPr lang="en-US"/>
          </a:p>
        </p:txBody>
      </p:sp>
      <p:sp>
        <p:nvSpPr>
          <p:cNvPr id="15" name="!!fragment-2-icon-0">
            <a:extLst>
              <a:ext uri="{FF2B5EF4-FFF2-40B4-BE49-F238E27FC236}">
                <a16:creationId xmlns:a16="http://schemas.microsoft.com/office/drawing/2014/main" id="{927BD5FF-9654-435A-B53F-5C3A8E8A0507}"/>
              </a:ext>
            </a:extLst>
          </p:cNvPr>
          <p:cNvSpPr>
            <a:spLocks noGrp="1"/>
          </p:cNvSpPr>
          <p:nvPr/>
        </p:nvSpPr>
        <p:spPr>
          <a:xfrm>
            <a:off x="882015" y="4672013"/>
            <a:ext cx="102870" cy="102870"/>
          </a:xfrm>
          <a:prstGeom prst="ellipse">
            <a:avLst/>
          </a:prstGeom>
          <a:noFill/>
          <a:ln w="19050">
            <a:solidFill>
              <a:srgbClr val="166447"/>
            </a:solidFill>
            <a:prstDash val="solid"/>
          </a:ln>
        </p:spPr>
        <p:txBody>
          <a:bodyPr/>
          <a:lstStyle/>
          <a:p>
            <a:endParaRPr lang="en-US"/>
          </a:p>
        </p:txBody>
      </p:sp>
      <p:sp>
        <p:nvSpPr>
          <p:cNvPr id="16" name="!!fragment-2-icon-1">
            <a:extLst>
              <a:ext uri="{FF2B5EF4-FFF2-40B4-BE49-F238E27FC236}">
                <a16:creationId xmlns:a16="http://schemas.microsoft.com/office/drawing/2014/main" id="{C6363D71-5A7C-43F1-A30E-5FD5A90CC305}"/>
              </a:ext>
            </a:extLst>
          </p:cNvPr>
          <p:cNvSpPr>
            <a:spLocks noGrp="1"/>
          </p:cNvSpPr>
          <p:nvPr/>
        </p:nvSpPr>
        <p:spPr>
          <a:xfrm>
            <a:off x="830580" y="4813459"/>
            <a:ext cx="205740" cy="115729"/>
          </a:xfrm>
          <a:prstGeom prst="roundRect">
            <a:avLst>
              <a:gd name="adj" fmla="val 50000"/>
            </a:avLst>
          </a:prstGeom>
          <a:noFill/>
          <a:ln w="19050">
            <a:solidFill>
              <a:srgbClr val="166447"/>
            </a:solidFill>
            <a:prstDash val="solid"/>
          </a:ln>
        </p:spPr>
        <p:txBody>
          <a:bodyPr/>
          <a:lstStyle/>
          <a:p>
            <a:endParaRPr lang="en-US"/>
          </a:p>
        </p:txBody>
      </p:sp>
      <p:sp>
        <p:nvSpPr>
          <p:cNvPr id="17" name="!!fragment-2">
            <a:extLst>
              <a:ext uri="{FF2B5EF4-FFF2-40B4-BE49-F238E27FC236}">
                <a16:creationId xmlns:a16="http://schemas.microsoft.com/office/drawing/2014/main" id="{1F9CA28A-6829-4853-B295-3A5302701854}"/>
              </a:ext>
            </a:extLst>
          </p:cNvPr>
          <p:cNvSpPr>
            <a:spLocks noGrp="1"/>
          </p:cNvSpPr>
          <p:nvPr/>
        </p:nvSpPr>
        <p:spPr>
          <a:xfrm>
            <a:off x="1447800" y="4581525"/>
            <a:ext cx="4333875" cy="457200"/>
          </a:xfrm>
          <a:prstGeom prst="rect">
            <a:avLst/>
          </a:prstGeom>
          <a:noFill/>
          <a:ln w="0">
            <a:noFill/>
          </a:ln>
        </p:spPr>
        <p:txBody>
          <a:bodyPr wrap="square" lIns="0" tIns="0" rIns="0" bIns="0" anchor="t">
            <a:normAutofit/>
          </a:bodyPr>
          <a:lstStyle/>
          <a:p>
            <a:pPr>
              <a:defRPr sz="2175" b="1">
                <a:solidFill>
                  <a:srgbClr val="142F24"/>
                </a:solidFill>
                <a:latin typeface="Segoe UI"/>
                <a:ea typeface="Segoe UI"/>
                <a:cs typeface="Segoe UI"/>
              </a:defRPr>
            </a:pPr>
            <a:r>
              <a:rPr sz="2175" b="1">
                <a:solidFill>
                  <a:srgbClr val="142F24"/>
                </a:solidFill>
                <a:latin typeface="Segoe UI"/>
                <a:ea typeface="Segoe UI"/>
                <a:cs typeface="Segoe UI"/>
              </a:rPr>
              <a:t>Đối chiếu hồ sơ</a:t>
            </a:r>
          </a:p>
        </p:txBody>
      </p:sp>
      <p:sp>
        <p:nvSpPr>
          <p:cNvPr id="18" name="!!fragment-detail-2">
            <a:extLst>
              <a:ext uri="{FF2B5EF4-FFF2-40B4-BE49-F238E27FC236}">
                <a16:creationId xmlns:a16="http://schemas.microsoft.com/office/drawing/2014/main" id="{5377DA09-5827-4D76-BFE0-BB8A33EAE4FB}"/>
              </a:ext>
            </a:extLst>
          </p:cNvPr>
          <p:cNvSpPr>
            <a:spLocks noGrp="1"/>
          </p:cNvSpPr>
          <p:nvPr/>
        </p:nvSpPr>
        <p:spPr>
          <a:xfrm>
            <a:off x="1447800" y="5076825"/>
            <a:ext cx="4333875" cy="381000"/>
          </a:xfrm>
          <a:prstGeom prst="rect">
            <a:avLst/>
          </a:prstGeom>
          <a:noFill/>
          <a:ln w="0">
            <a:noFill/>
          </a:ln>
        </p:spPr>
        <p:txBody>
          <a:bodyPr wrap="square" lIns="0" tIns="0" rIns="0" bIns="0" anchor="t">
            <a:normAutofit/>
          </a:bodyPr>
          <a:lstStyle/>
          <a:p>
            <a:pPr>
              <a:defRPr sz="1650" b="0">
                <a:solidFill>
                  <a:srgbClr val="53685B"/>
                </a:solidFill>
                <a:latin typeface="Segoe UI"/>
                <a:ea typeface="Segoe UI"/>
                <a:cs typeface="Segoe UI"/>
              </a:defRPr>
            </a:pPr>
            <a:r>
              <a:rPr sz="1650" b="0">
                <a:solidFill>
                  <a:srgbClr val="53685B"/>
                </a:solidFill>
                <a:latin typeface="Segoe UI"/>
                <a:ea typeface="Segoe UI"/>
                <a:cs typeface="Segoe UI"/>
              </a:rPr>
              <a:t>HTX chuẩn bị, bên mua xem qua QR</a:t>
            </a:r>
          </a:p>
        </p:txBody>
      </p:sp>
      <p:sp>
        <p:nvSpPr>
          <p:cNvPr id="19" name="!!join-rule">
            <a:extLst>
              <a:ext uri="{FF2B5EF4-FFF2-40B4-BE49-F238E27FC236}">
                <a16:creationId xmlns:a16="http://schemas.microsoft.com/office/drawing/2014/main" id="{F76272F1-F6E8-4C2D-805A-5EF0AB53E775}"/>
              </a:ext>
            </a:extLst>
          </p:cNvPr>
          <p:cNvSpPr>
            <a:spLocks noGrp="1"/>
          </p:cNvSpPr>
          <p:nvPr/>
        </p:nvSpPr>
        <p:spPr>
          <a:xfrm>
            <a:off x="609600" y="5600700"/>
            <a:ext cx="5143500" cy="19050"/>
          </a:xfrm>
          <a:prstGeom prst="rect">
            <a:avLst/>
          </a:prstGeom>
          <a:solidFill>
            <a:srgbClr val="166447"/>
          </a:solidFill>
          <a:ln w="0">
            <a:noFill/>
          </a:ln>
        </p:spPr>
        <p:txBody>
          <a:bodyPr/>
          <a:lstStyle/>
          <a:p>
            <a:endParaRPr lang="en-US"/>
          </a:p>
        </p:txBody>
      </p:sp>
      <p:sp>
        <p:nvSpPr>
          <p:cNvPr id="20" name="!!joined-file-selection">
            <a:extLst>
              <a:ext uri="{FF2B5EF4-FFF2-40B4-BE49-F238E27FC236}">
                <a16:creationId xmlns:a16="http://schemas.microsoft.com/office/drawing/2014/main" id="{2D22C641-26E2-4246-8F07-EFFAD378A55D}"/>
              </a:ext>
            </a:extLst>
          </p:cNvPr>
          <p:cNvSpPr>
            <a:spLocks noGrp="1"/>
          </p:cNvSpPr>
          <p:nvPr/>
        </p:nvSpPr>
        <p:spPr>
          <a:xfrm>
            <a:off x="647700" y="5657850"/>
            <a:ext cx="590550" cy="590550"/>
          </a:xfrm>
          <a:prstGeom prst="ellipse">
            <a:avLst/>
          </a:prstGeom>
          <a:solidFill>
            <a:srgbClr val="166447"/>
          </a:solidFill>
          <a:ln w="28575">
            <a:solidFill>
              <a:srgbClr val="C8A45B"/>
            </a:solidFill>
          </a:ln>
        </p:spPr>
        <p:txBody>
          <a:bodyPr/>
          <a:lstStyle/>
          <a:p>
            <a:endParaRPr lang="en-US"/>
          </a:p>
        </p:txBody>
      </p:sp>
      <p:sp>
        <p:nvSpPr>
          <p:cNvPr id="21" name="!!joined-file-icon-0">
            <a:extLst>
              <a:ext uri="{FF2B5EF4-FFF2-40B4-BE49-F238E27FC236}">
                <a16:creationId xmlns:a16="http://schemas.microsoft.com/office/drawing/2014/main" id="{61CCBEA7-CB47-479E-93E6-1DCB45A58066}"/>
              </a:ext>
            </a:extLst>
          </p:cNvPr>
          <p:cNvSpPr>
            <a:spLocks noGrp="1"/>
          </p:cNvSpPr>
          <p:nvPr/>
        </p:nvSpPr>
        <p:spPr>
          <a:xfrm>
            <a:off x="783526" y="5793677"/>
            <a:ext cx="318897" cy="318897"/>
          </a:xfrm>
          <a:custGeom>
            <a:avLst/>
            <a:gdLst/>
            <a:ahLst/>
            <a:cxnLst/>
            <a:rect l="0" t="0" r="0" b="0"/>
            <a:pathLst>
              <a:path w="228600" h="228600">
                <a:moveTo>
                  <a:pt x="19050" y="57150"/>
                </a:moveTo>
                <a:lnTo>
                  <a:pt x="85725" y="57150"/>
                </a:lnTo>
                <a:lnTo>
                  <a:pt x="114300" y="85725"/>
                </a:lnTo>
                <a:lnTo>
                  <a:pt x="209550" y="85725"/>
                </a:lnTo>
                <a:lnTo>
                  <a:pt x="209550" y="200025"/>
                </a:lnTo>
                <a:lnTo>
                  <a:pt x="19050" y="200025"/>
                </a:lnTo>
                <a:close/>
              </a:path>
            </a:pathLst>
          </a:custGeom>
          <a:noFill/>
          <a:ln w="19050">
            <a:solidFill>
              <a:srgbClr val="FFFFFF"/>
            </a:solidFill>
            <a:prstDash val="solid"/>
          </a:ln>
        </p:spPr>
        <p:txBody>
          <a:bodyPr/>
          <a:lstStyle/>
          <a:p>
            <a:endParaRPr lang="en-US"/>
          </a:p>
        </p:txBody>
      </p:sp>
      <p:sp>
        <p:nvSpPr>
          <p:cNvPr id="22" name="!!join">
            <a:extLst>
              <a:ext uri="{FF2B5EF4-FFF2-40B4-BE49-F238E27FC236}">
                <a16:creationId xmlns:a16="http://schemas.microsoft.com/office/drawing/2014/main" id="{3DF30464-C758-4134-8135-B7FAF7D60943}"/>
              </a:ext>
            </a:extLst>
          </p:cNvPr>
          <p:cNvSpPr>
            <a:spLocks noGrp="1"/>
          </p:cNvSpPr>
          <p:nvPr/>
        </p:nvSpPr>
        <p:spPr>
          <a:xfrm>
            <a:off x="1447800" y="5819775"/>
            <a:ext cx="4333875" cy="438150"/>
          </a:xfrm>
          <a:prstGeom prst="rect">
            <a:avLst/>
          </a:prstGeom>
          <a:noFill/>
          <a:ln w="0">
            <a:noFill/>
          </a:ln>
        </p:spPr>
        <p:txBody>
          <a:bodyPr wrap="square" lIns="0" tIns="0" rIns="0" bIns="0" anchor="t">
            <a:normAutofit/>
          </a:bodyPr>
          <a:lstStyle/>
          <a:p>
            <a:pPr>
              <a:defRPr sz="2250" b="1">
                <a:solidFill>
                  <a:srgbClr val="166447"/>
                </a:solidFill>
                <a:latin typeface="Segoe UI"/>
                <a:ea typeface="Segoe UI"/>
                <a:cs typeface="Segoe UI"/>
              </a:defRPr>
            </a:pPr>
            <a:r>
              <a:rPr sz="2250" b="1">
                <a:solidFill>
                  <a:srgbClr val="166447"/>
                </a:solidFill>
                <a:latin typeface="Segoe UI"/>
                <a:ea typeface="Segoe UI"/>
                <a:cs typeface="Segoe UI"/>
              </a:rPr>
              <a:t>Website liên kết hồ sơ lô</a:t>
            </a:r>
          </a:p>
        </p:txBody>
      </p:sp>
      <p:sp>
        <p:nvSpPr>
          <p:cNvPr id="23" name="!!page">
            <a:extLst>
              <a:ext uri="{FF2B5EF4-FFF2-40B4-BE49-F238E27FC236}">
                <a16:creationId xmlns:a16="http://schemas.microsoft.com/office/drawing/2014/main" id="{DADD512B-EE87-40CF-92E7-9EA688F2A10C}"/>
              </a:ext>
            </a:extLst>
          </p:cNvPr>
          <p:cNvSpPr>
            <a:spLocks noGrp="1"/>
          </p:cNvSpPr>
          <p:nvPr/>
        </p:nvSpPr>
        <p:spPr>
          <a:xfrm>
            <a:off x="10706100" y="6381750"/>
            <a:ext cx="876300" cy="228600"/>
          </a:xfrm>
          <a:prstGeom prst="rect">
            <a:avLst/>
          </a:prstGeom>
          <a:noFill/>
          <a:ln w="0">
            <a:noFill/>
          </a:ln>
        </p:spPr>
        <p:txBody>
          <a:bodyPr wrap="square" lIns="0" tIns="0" rIns="0" bIns="0" anchor="t">
            <a:normAutofit/>
          </a:bodyPr>
          <a:lstStyle/>
          <a:p>
            <a:pPr>
              <a:defRPr sz="1275" b="0">
                <a:solidFill>
                  <a:srgbClr val="53685B"/>
                </a:solidFill>
                <a:latin typeface="Segoe UI"/>
                <a:ea typeface="Segoe UI"/>
                <a:cs typeface="Segoe UI"/>
              </a:defRPr>
            </a:pPr>
            <a:r>
              <a:rPr sz="1275" b="0">
                <a:solidFill>
                  <a:srgbClr val="53685B"/>
                </a:solidFill>
                <a:latin typeface="Segoe UI"/>
                <a:ea typeface="Segoe UI"/>
                <a:cs typeface="Segoe UI"/>
              </a:rPr>
              <a:t>02 / 19</a:t>
            </a:r>
          </a:p>
        </p:txBody>
      </p:sp>
      <p:sp>
        <p:nvSpPr>
          <p:cNvPr id="24" name="!!caption">
            <a:extLst>
              <a:ext uri="{FF2B5EF4-FFF2-40B4-BE49-F238E27FC236}">
                <a16:creationId xmlns:a16="http://schemas.microsoft.com/office/drawing/2014/main" id="{985451AB-3936-40B0-9CD7-1E0A1C7845A6}"/>
              </a:ext>
            </a:extLst>
          </p:cNvPr>
          <p:cNvSpPr>
            <a:spLocks noGrp="1"/>
          </p:cNvSpPr>
          <p:nvPr/>
        </p:nvSpPr>
        <p:spPr>
          <a:xfrm>
            <a:off x="609600" y="6381750"/>
            <a:ext cx="9525000" cy="228600"/>
          </a:xfrm>
          <a:prstGeom prst="rect">
            <a:avLst/>
          </a:prstGeom>
          <a:noFill/>
          <a:ln w="0">
            <a:noFill/>
          </a:ln>
        </p:spPr>
        <p:txBody>
          <a:bodyPr wrap="square" lIns="0" tIns="0" rIns="0" bIns="0" anchor="t">
            <a:normAutofit/>
          </a:bodyPr>
          <a:lstStyle/>
          <a:p>
            <a:pPr>
              <a:defRPr sz="1275" b="0">
                <a:solidFill>
                  <a:srgbClr val="53685B"/>
                </a:solidFill>
                <a:latin typeface="Segoe UI"/>
                <a:ea typeface="Segoe UI"/>
                <a:cs typeface="Segoe UI"/>
              </a:defRPr>
            </a:pPr>
            <a:r>
              <a:rPr sz="1275" b="0">
                <a:solidFill>
                  <a:srgbClr val="53685B"/>
                </a:solidFill>
                <a:latin typeface="Segoe UI"/>
                <a:ea typeface="Segoe UI"/>
                <a:cs typeface="Segoe UI"/>
              </a:rPr>
              <a:t>Nguồn: Báo Điện tử Chính phủ, 03/09/2026. Số liệu ước tính. Nền AI</a:t>
            </a:r>
          </a:p>
        </p:txBody>
      </p:sp>
    </p:spTree>
    <p:extLst>
      <p:ext uri="{BB962C8B-B14F-4D97-AF65-F5344CB8AC3E}">
        <p14:creationId xmlns:p14="http://schemas.microsoft.com/office/powerpoint/2010/main" val="12398238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00">
        <p159:morph option="byObject"/>
      </p:transition>
    </mc:Choice>
    <mc:Fallback xmlns="" xmlns:p14="http://schemas.microsoft.com/office/powerpoint/2010/main">
      <p:transition advClick="1" spd="fast">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02C21"/>
        </a:solidFill>
        <a:effectLst/>
      </p:bgPr>
    </p:bg>
    <p:spTree>
      <p:nvGrpSpPr>
        <p:cNvPr id="1" name=""/>
        <p:cNvGrpSpPr/>
        <p:nvPr/>
      </p:nvGrpSpPr>
      <p:grpSpPr>
        <a:xfrm>
          <a:off x="0" y="0"/>
          <a:ext cx="0" cy="0"/>
          <a:chOff x="0" y="0"/>
          <a:chExt cx="0" cy="0"/>
        </a:xfrm>
      </p:grpSpPr>
      <p:pic>
        <p:nvPicPr>
          <p:cNvPr id="22" name="!!backdrop"/>
          <p:cNvPicPr>
            <a:picLocks noChangeAspect="1"/>
          </p:cNvPicPr>
          <p:nvPr/>
        </p:nvPicPr>
        <p:blipFill>
          <a:blip r:embed="rId3"/>
          <a:srcRect t="27" b="27"/>
          <a:stretch>
            <a:fillRect/>
          </a:stretch>
        </p:blipFill>
        <p:spPr>
          <a:xfrm>
            <a:off x="0" y="0"/>
            <a:ext cx="12192000" cy="6858000"/>
          </a:xfrm>
          <a:prstGeom prst="rect">
            <a:avLst/>
          </a:prstGeom>
        </p:spPr>
      </p:pic>
      <p:sp>
        <p:nvSpPr>
          <p:cNvPr id="2" name="!!backdrop-tint">
            <a:extLst>
              <a:ext uri="{FF2B5EF4-FFF2-40B4-BE49-F238E27FC236}">
                <a16:creationId xmlns:a16="http://schemas.microsoft.com/office/drawing/2014/main" id="{C9DDB6CC-CD48-4345-A125-8CA2D7133FF4}"/>
              </a:ext>
            </a:extLst>
          </p:cNvPr>
          <p:cNvSpPr>
            <a:spLocks noGrp="1"/>
          </p:cNvSpPr>
          <p:nvPr/>
        </p:nvSpPr>
        <p:spPr>
          <a:xfrm>
            <a:off x="0" y="0"/>
            <a:ext cx="12192000" cy="6858000"/>
          </a:xfrm>
          <a:prstGeom prst="rect">
            <a:avLst/>
          </a:prstGeom>
          <a:solidFill>
            <a:srgbClr val="102C21">
              <a:alpha val="35000"/>
            </a:srgbClr>
          </a:solidFill>
          <a:ln w="0">
            <a:noFill/>
          </a:ln>
        </p:spPr>
        <p:txBody>
          <a:bodyPr/>
          <a:lstStyle/>
          <a:p>
            <a:endParaRPr lang="en-US"/>
          </a:p>
        </p:txBody>
      </p:sp>
      <p:sp>
        <p:nvSpPr>
          <p:cNvPr id="3" name="!!headline">
            <a:extLst>
              <a:ext uri="{FF2B5EF4-FFF2-40B4-BE49-F238E27FC236}">
                <a16:creationId xmlns:a16="http://schemas.microsoft.com/office/drawing/2014/main" id="{2E53A772-59C5-4CED-8D0C-B4E897657F82}"/>
              </a:ext>
            </a:extLst>
          </p:cNvPr>
          <p:cNvSpPr>
            <a:spLocks noGrp="1"/>
          </p:cNvSpPr>
          <p:nvPr/>
        </p:nvSpPr>
        <p:spPr>
          <a:xfrm>
            <a:off x="609600" y="533400"/>
            <a:ext cx="10953750" cy="1104900"/>
          </a:xfrm>
          <a:prstGeom prst="rect">
            <a:avLst/>
          </a:prstGeom>
          <a:noFill/>
          <a:ln w="0">
            <a:noFill/>
          </a:ln>
        </p:spPr>
        <p:txBody>
          <a:bodyPr wrap="square" lIns="0" tIns="0" rIns="0" bIns="0" anchor="t">
            <a:normAutofit/>
          </a:bodyPr>
          <a:lstStyle/>
          <a:p>
            <a:pPr>
              <a:defRPr sz="3450" b="1">
                <a:solidFill>
                  <a:srgbClr val="F4F1E8"/>
                </a:solidFill>
                <a:latin typeface="Segoe UI"/>
                <a:ea typeface="Segoe UI"/>
                <a:cs typeface="Segoe UI"/>
              </a:defRPr>
            </a:pPr>
            <a:r>
              <a:rPr sz="3450" b="1">
                <a:solidFill>
                  <a:srgbClr val="F4F1E8"/>
                </a:solidFill>
                <a:latin typeface="Segoe UI"/>
                <a:ea typeface="Segoe UI"/>
                <a:cs typeface="Segoe UI"/>
              </a:rPr>
              <a:t>Người dùng đầu tiên</a:t>
            </a:r>
          </a:p>
        </p:txBody>
      </p:sp>
      <p:sp>
        <p:nvSpPr>
          <p:cNvPr id="4" name="!!grower-selection">
            <a:extLst>
              <a:ext uri="{FF2B5EF4-FFF2-40B4-BE49-F238E27FC236}">
                <a16:creationId xmlns:a16="http://schemas.microsoft.com/office/drawing/2014/main" id="{419E23E9-E0A2-4737-9057-7F0707E583AB}"/>
              </a:ext>
            </a:extLst>
          </p:cNvPr>
          <p:cNvSpPr>
            <a:spLocks noGrp="1"/>
          </p:cNvSpPr>
          <p:nvPr/>
        </p:nvSpPr>
        <p:spPr>
          <a:xfrm>
            <a:off x="666750" y="2190750"/>
            <a:ext cx="571500" cy="571500"/>
          </a:xfrm>
          <a:prstGeom prst="ellipse">
            <a:avLst/>
          </a:prstGeom>
          <a:solidFill>
            <a:srgbClr val="183A2C"/>
          </a:solidFill>
          <a:ln w="9525">
            <a:solidFill>
              <a:srgbClr val="A3BCAB"/>
            </a:solidFill>
          </a:ln>
        </p:spPr>
        <p:txBody>
          <a:bodyPr/>
          <a:lstStyle/>
          <a:p>
            <a:endParaRPr lang="en-US"/>
          </a:p>
        </p:txBody>
      </p:sp>
      <p:sp>
        <p:nvSpPr>
          <p:cNvPr id="5" name="!!grower-icon-0">
            <a:extLst>
              <a:ext uri="{FF2B5EF4-FFF2-40B4-BE49-F238E27FC236}">
                <a16:creationId xmlns:a16="http://schemas.microsoft.com/office/drawing/2014/main" id="{B556E0F7-A108-466A-BC59-BC29AB99BA01}"/>
              </a:ext>
            </a:extLst>
          </p:cNvPr>
          <p:cNvSpPr>
            <a:spLocks noGrp="1"/>
          </p:cNvSpPr>
          <p:nvPr/>
        </p:nvSpPr>
        <p:spPr>
          <a:xfrm>
            <a:off x="798195" y="2322195"/>
            <a:ext cx="308610" cy="308610"/>
          </a:xfrm>
          <a:custGeom>
            <a:avLst/>
            <a:gdLst/>
            <a:ahLst/>
            <a:cxnLst/>
            <a:rect l="0" t="0" r="0" b="0"/>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a:ln w="19050">
            <a:solidFill>
              <a:srgbClr val="A3BCAB"/>
            </a:solidFill>
            <a:prstDash val="solid"/>
          </a:ln>
        </p:spPr>
        <p:txBody>
          <a:bodyPr/>
          <a:lstStyle/>
          <a:p>
            <a:endParaRPr lang="en-US"/>
          </a:p>
        </p:txBody>
      </p:sp>
      <p:sp>
        <p:nvSpPr>
          <p:cNvPr id="6" name="!!grower-icon-1">
            <a:extLst>
              <a:ext uri="{FF2B5EF4-FFF2-40B4-BE49-F238E27FC236}">
                <a16:creationId xmlns:a16="http://schemas.microsoft.com/office/drawing/2014/main" id="{907B697E-3939-4D68-A2C7-4CD58D880A0B}"/>
              </a:ext>
            </a:extLst>
          </p:cNvPr>
          <p:cNvSpPr>
            <a:spLocks noGrp="1"/>
          </p:cNvSpPr>
          <p:nvPr/>
        </p:nvSpPr>
        <p:spPr>
          <a:xfrm>
            <a:off x="798195" y="2322195"/>
            <a:ext cx="308610" cy="308610"/>
          </a:xfrm>
          <a:custGeom>
            <a:avLst/>
            <a:gdLst/>
            <a:ahLst/>
            <a:cxnLst/>
            <a:rect l="0" t="0" r="0" b="0"/>
            <a:pathLst>
              <a:path w="228600" h="228600">
                <a:moveTo>
                  <a:pt x="19050" y="209550"/>
                </a:moveTo>
                <a:lnTo>
                  <a:pt x="95250" y="133350"/>
                </a:lnTo>
                <a:lnTo>
                  <a:pt x="142875" y="95250"/>
                </a:lnTo>
              </a:path>
            </a:pathLst>
          </a:custGeom>
          <a:noFill/>
          <a:ln w="19050">
            <a:solidFill>
              <a:srgbClr val="A3BCAB"/>
            </a:solidFill>
            <a:prstDash val="solid"/>
          </a:ln>
        </p:spPr>
        <p:txBody>
          <a:bodyPr/>
          <a:lstStyle/>
          <a:p>
            <a:endParaRPr lang="en-US"/>
          </a:p>
        </p:txBody>
      </p:sp>
      <p:sp>
        <p:nvSpPr>
          <p:cNvPr id="7" name="!!grower-label">
            <a:extLst>
              <a:ext uri="{FF2B5EF4-FFF2-40B4-BE49-F238E27FC236}">
                <a16:creationId xmlns:a16="http://schemas.microsoft.com/office/drawing/2014/main" id="{EE1871FE-9945-49D3-8996-741B985BD865}"/>
              </a:ext>
            </a:extLst>
          </p:cNvPr>
          <p:cNvSpPr>
            <a:spLocks noGrp="1"/>
          </p:cNvSpPr>
          <p:nvPr/>
        </p:nvSpPr>
        <p:spPr>
          <a:xfrm>
            <a:off x="1524000" y="2133600"/>
            <a:ext cx="4324350" cy="571500"/>
          </a:xfrm>
          <a:prstGeom prst="rect">
            <a:avLst/>
          </a:prstGeom>
          <a:noFill/>
          <a:ln w="0">
            <a:noFill/>
          </a:ln>
        </p:spPr>
        <p:txBody>
          <a:bodyPr wrap="square" lIns="0" tIns="0" rIns="0" bIns="0" anchor="t">
            <a:normAutofit/>
          </a:bodyPr>
          <a:lstStyle/>
          <a:p>
            <a:pPr>
              <a:defRPr sz="2100" b="1">
                <a:solidFill>
                  <a:srgbClr val="F4F1E8"/>
                </a:solidFill>
                <a:latin typeface="Segoe UI"/>
                <a:ea typeface="Segoe UI"/>
                <a:cs typeface="Segoe UI"/>
              </a:defRPr>
            </a:pPr>
            <a:r>
              <a:rPr sz="2100" b="1">
                <a:solidFill>
                  <a:srgbClr val="F4F1E8"/>
                </a:solidFill>
                <a:latin typeface="Segoe UI"/>
                <a:ea typeface="Segoe UI"/>
                <a:cs typeface="Segoe UI"/>
              </a:rPr>
              <a:t>Nông hộ / hợp tác xã</a:t>
            </a:r>
          </a:p>
        </p:txBody>
      </p:sp>
      <p:sp>
        <p:nvSpPr>
          <p:cNvPr id="8" name="!!grower-detail">
            <a:extLst>
              <a:ext uri="{FF2B5EF4-FFF2-40B4-BE49-F238E27FC236}">
                <a16:creationId xmlns:a16="http://schemas.microsoft.com/office/drawing/2014/main" id="{12B4B475-FF98-43BF-B4C7-85CCDAA3C121}"/>
              </a:ext>
            </a:extLst>
          </p:cNvPr>
          <p:cNvSpPr>
            <a:spLocks noGrp="1"/>
          </p:cNvSpPr>
          <p:nvPr/>
        </p:nvSpPr>
        <p:spPr>
          <a:xfrm>
            <a:off x="1524000" y="2705100"/>
            <a:ext cx="4324350" cy="666750"/>
          </a:xfrm>
          <a:prstGeom prst="rect">
            <a:avLst/>
          </a:prstGeom>
          <a:noFill/>
          <a:ln w="0">
            <a:noFill/>
          </a:ln>
        </p:spPr>
        <p:txBody>
          <a:bodyPr wrap="square" lIns="0" tIns="0" rIns="0" bIns="0" anchor="t">
            <a:normAutofit/>
          </a:bodyPr>
          <a:lstStyle/>
          <a:p>
            <a:pPr>
              <a:defRPr sz="1800" b="0">
                <a:solidFill>
                  <a:srgbClr val="A3BCAB"/>
                </a:solidFill>
                <a:latin typeface="Segoe UI"/>
                <a:ea typeface="Segoe UI"/>
                <a:cs typeface="Segoe UI"/>
              </a:defRPr>
            </a:pPr>
            <a:r>
              <a:rPr sz="1800" b="0">
                <a:solidFill>
                  <a:srgbClr val="A3BCAB"/>
                </a:solidFill>
                <a:latin typeface="Segoe UI"/>
                <a:ea typeface="Segoe UI"/>
                <a:cs typeface="Segoe UI"/>
              </a:rPr>
              <a:t>Chuẩn bị và quản lý hồ sơ lô</a:t>
            </a:r>
          </a:p>
        </p:txBody>
      </p:sp>
      <p:sp>
        <p:nvSpPr>
          <p:cNvPr id="9" name="!!buyer-selection">
            <a:extLst>
              <a:ext uri="{FF2B5EF4-FFF2-40B4-BE49-F238E27FC236}">
                <a16:creationId xmlns:a16="http://schemas.microsoft.com/office/drawing/2014/main" id="{D196CC18-9D41-4FAF-ACAA-7CC035393B42}"/>
              </a:ext>
            </a:extLst>
          </p:cNvPr>
          <p:cNvSpPr>
            <a:spLocks noGrp="1"/>
          </p:cNvSpPr>
          <p:nvPr/>
        </p:nvSpPr>
        <p:spPr>
          <a:xfrm>
            <a:off x="666750" y="3429000"/>
            <a:ext cx="571500" cy="571500"/>
          </a:xfrm>
          <a:prstGeom prst="ellipse">
            <a:avLst/>
          </a:prstGeom>
          <a:solidFill>
            <a:srgbClr val="183A2C"/>
          </a:solidFill>
          <a:ln w="9525">
            <a:solidFill>
              <a:srgbClr val="A3BCAB"/>
            </a:solidFill>
          </a:ln>
        </p:spPr>
        <p:txBody>
          <a:bodyPr/>
          <a:lstStyle/>
          <a:p>
            <a:endParaRPr lang="en-US"/>
          </a:p>
        </p:txBody>
      </p:sp>
      <p:sp>
        <p:nvSpPr>
          <p:cNvPr id="10" name="!!buyer-icon-0">
            <a:extLst>
              <a:ext uri="{FF2B5EF4-FFF2-40B4-BE49-F238E27FC236}">
                <a16:creationId xmlns:a16="http://schemas.microsoft.com/office/drawing/2014/main" id="{DD1E6927-3B71-4260-B2C4-8EB1F3F3A88B}"/>
              </a:ext>
            </a:extLst>
          </p:cNvPr>
          <p:cNvSpPr>
            <a:spLocks noGrp="1"/>
          </p:cNvSpPr>
          <p:nvPr/>
        </p:nvSpPr>
        <p:spPr>
          <a:xfrm>
            <a:off x="901065" y="3586163"/>
            <a:ext cx="102870" cy="102870"/>
          </a:xfrm>
          <a:prstGeom prst="ellipse">
            <a:avLst/>
          </a:prstGeom>
          <a:noFill/>
          <a:ln w="19050">
            <a:solidFill>
              <a:srgbClr val="A3BCAB"/>
            </a:solidFill>
            <a:prstDash val="solid"/>
          </a:ln>
        </p:spPr>
        <p:txBody>
          <a:bodyPr/>
          <a:lstStyle/>
          <a:p>
            <a:endParaRPr lang="en-US"/>
          </a:p>
        </p:txBody>
      </p:sp>
      <p:sp>
        <p:nvSpPr>
          <p:cNvPr id="11" name="!!buyer-icon-1">
            <a:extLst>
              <a:ext uri="{FF2B5EF4-FFF2-40B4-BE49-F238E27FC236}">
                <a16:creationId xmlns:a16="http://schemas.microsoft.com/office/drawing/2014/main" id="{37BD1316-D853-43B1-B08C-4E7056BE4874}"/>
              </a:ext>
            </a:extLst>
          </p:cNvPr>
          <p:cNvSpPr>
            <a:spLocks noGrp="1"/>
          </p:cNvSpPr>
          <p:nvPr/>
        </p:nvSpPr>
        <p:spPr>
          <a:xfrm>
            <a:off x="849630" y="3727609"/>
            <a:ext cx="205740" cy="115729"/>
          </a:xfrm>
          <a:prstGeom prst="roundRect">
            <a:avLst>
              <a:gd name="adj" fmla="val 50000"/>
            </a:avLst>
          </a:prstGeom>
          <a:noFill/>
          <a:ln w="19050">
            <a:solidFill>
              <a:srgbClr val="A3BCAB"/>
            </a:solidFill>
            <a:prstDash val="solid"/>
          </a:ln>
        </p:spPr>
        <p:txBody>
          <a:bodyPr/>
          <a:lstStyle/>
          <a:p>
            <a:endParaRPr lang="en-US"/>
          </a:p>
        </p:txBody>
      </p:sp>
      <p:sp>
        <p:nvSpPr>
          <p:cNvPr id="12" name="!!buyer-label">
            <a:extLst>
              <a:ext uri="{FF2B5EF4-FFF2-40B4-BE49-F238E27FC236}">
                <a16:creationId xmlns:a16="http://schemas.microsoft.com/office/drawing/2014/main" id="{94884D32-6A00-4CD8-8C77-E04CEE850A74}"/>
              </a:ext>
            </a:extLst>
          </p:cNvPr>
          <p:cNvSpPr>
            <a:spLocks noGrp="1"/>
          </p:cNvSpPr>
          <p:nvPr/>
        </p:nvSpPr>
        <p:spPr>
          <a:xfrm>
            <a:off x="1524000" y="3371850"/>
            <a:ext cx="4324350" cy="571500"/>
          </a:xfrm>
          <a:prstGeom prst="rect">
            <a:avLst/>
          </a:prstGeom>
          <a:noFill/>
          <a:ln w="0">
            <a:noFill/>
          </a:ln>
        </p:spPr>
        <p:txBody>
          <a:bodyPr wrap="square" lIns="0" tIns="0" rIns="0" bIns="0" anchor="t">
            <a:normAutofit/>
          </a:bodyPr>
          <a:lstStyle/>
          <a:p>
            <a:pPr>
              <a:defRPr sz="2100" b="1">
                <a:solidFill>
                  <a:srgbClr val="F4F1E8"/>
                </a:solidFill>
                <a:latin typeface="Segoe UI"/>
                <a:ea typeface="Segoe UI"/>
                <a:cs typeface="Segoe UI"/>
              </a:defRPr>
            </a:pPr>
            <a:r>
              <a:rPr sz="2100" b="1">
                <a:solidFill>
                  <a:srgbClr val="F4F1E8"/>
                </a:solidFill>
                <a:latin typeface="Segoe UI"/>
                <a:ea typeface="Segoe UI"/>
                <a:cs typeface="Segoe UI"/>
              </a:rPr>
              <a:t>Bên mua</a:t>
            </a:r>
          </a:p>
        </p:txBody>
      </p:sp>
      <p:sp>
        <p:nvSpPr>
          <p:cNvPr id="13" name="!!buyer-detail">
            <a:extLst>
              <a:ext uri="{FF2B5EF4-FFF2-40B4-BE49-F238E27FC236}">
                <a16:creationId xmlns:a16="http://schemas.microsoft.com/office/drawing/2014/main" id="{42C053E5-A612-491B-8389-361D987ABE07}"/>
              </a:ext>
            </a:extLst>
          </p:cNvPr>
          <p:cNvSpPr>
            <a:spLocks noGrp="1"/>
          </p:cNvSpPr>
          <p:nvPr/>
        </p:nvSpPr>
        <p:spPr>
          <a:xfrm>
            <a:off x="1524000" y="3943350"/>
            <a:ext cx="4324350" cy="666750"/>
          </a:xfrm>
          <a:prstGeom prst="rect">
            <a:avLst/>
          </a:prstGeom>
          <a:noFill/>
          <a:ln w="0">
            <a:noFill/>
          </a:ln>
        </p:spPr>
        <p:txBody>
          <a:bodyPr wrap="square" lIns="0" tIns="0" rIns="0" bIns="0" anchor="t">
            <a:normAutofit/>
          </a:bodyPr>
          <a:lstStyle/>
          <a:p>
            <a:pPr>
              <a:defRPr sz="1800" b="0">
                <a:solidFill>
                  <a:srgbClr val="A3BCAB"/>
                </a:solidFill>
                <a:latin typeface="Segoe UI"/>
                <a:ea typeface="Segoe UI"/>
                <a:cs typeface="Segoe UI"/>
              </a:defRPr>
            </a:pPr>
            <a:r>
              <a:rPr sz="1800" b="0">
                <a:solidFill>
                  <a:srgbClr val="A3BCAB"/>
                </a:solidFill>
                <a:latin typeface="Segoe UI"/>
                <a:ea typeface="Segoe UI"/>
                <a:cs typeface="Segoe UI"/>
              </a:rPr>
              <a:t>Mở hồ sơ qua QR, đối chiếu tài liệu</a:t>
            </a:r>
          </a:p>
        </p:txBody>
      </p:sp>
      <p:sp>
        <p:nvSpPr>
          <p:cNvPr id="14" name="!!shared-record-selection">
            <a:extLst>
              <a:ext uri="{FF2B5EF4-FFF2-40B4-BE49-F238E27FC236}">
                <a16:creationId xmlns:a16="http://schemas.microsoft.com/office/drawing/2014/main" id="{2AAE6CF4-BFF3-42F6-A136-31B5E4043253}"/>
              </a:ext>
            </a:extLst>
          </p:cNvPr>
          <p:cNvSpPr>
            <a:spLocks noGrp="1"/>
          </p:cNvSpPr>
          <p:nvPr/>
        </p:nvSpPr>
        <p:spPr>
          <a:xfrm>
            <a:off x="600075" y="5095875"/>
            <a:ext cx="723900" cy="723900"/>
          </a:xfrm>
          <a:prstGeom prst="ellipse">
            <a:avLst/>
          </a:prstGeom>
          <a:solidFill>
            <a:srgbClr val="166447"/>
          </a:solidFill>
          <a:ln w="28575">
            <a:solidFill>
              <a:srgbClr val="C8A45B"/>
            </a:solidFill>
          </a:ln>
        </p:spPr>
        <p:txBody>
          <a:bodyPr/>
          <a:lstStyle/>
          <a:p>
            <a:endParaRPr lang="en-US"/>
          </a:p>
        </p:txBody>
      </p:sp>
      <p:sp>
        <p:nvSpPr>
          <p:cNvPr id="15" name="!!shared-record-icon-0">
            <a:extLst>
              <a:ext uri="{FF2B5EF4-FFF2-40B4-BE49-F238E27FC236}">
                <a16:creationId xmlns:a16="http://schemas.microsoft.com/office/drawing/2014/main" id="{09EAE64E-530F-4F62-81C0-E43C39BC44CE}"/>
              </a:ext>
            </a:extLst>
          </p:cNvPr>
          <p:cNvSpPr>
            <a:spLocks noGrp="1"/>
          </p:cNvSpPr>
          <p:nvPr/>
        </p:nvSpPr>
        <p:spPr>
          <a:xfrm>
            <a:off x="766572" y="5262372"/>
            <a:ext cx="390906" cy="390906"/>
          </a:xfrm>
          <a:custGeom>
            <a:avLst/>
            <a:gdLst/>
            <a:ahLst/>
            <a:cxnLst/>
            <a:rect l="0" t="0" r="0" b="0"/>
            <a:pathLst>
              <a:path w="228600" h="228600">
                <a:moveTo>
                  <a:pt x="47625" y="19050"/>
                </a:moveTo>
                <a:lnTo>
                  <a:pt x="133350" y="19050"/>
                </a:lnTo>
                <a:lnTo>
                  <a:pt x="190500" y="76200"/>
                </a:lnTo>
                <a:lnTo>
                  <a:pt x="190500" y="209550"/>
                </a:lnTo>
                <a:lnTo>
                  <a:pt x="47625" y="209550"/>
                </a:lnTo>
                <a:close/>
              </a:path>
            </a:pathLst>
          </a:custGeom>
          <a:noFill/>
          <a:ln w="19050">
            <a:solidFill>
              <a:srgbClr val="FFFFFF"/>
            </a:solidFill>
            <a:prstDash val="solid"/>
          </a:ln>
        </p:spPr>
        <p:txBody>
          <a:bodyPr/>
          <a:lstStyle/>
          <a:p>
            <a:endParaRPr lang="en-US"/>
          </a:p>
        </p:txBody>
      </p:sp>
      <p:sp>
        <p:nvSpPr>
          <p:cNvPr id="16" name="!!shared-record-icon-1">
            <a:extLst>
              <a:ext uri="{FF2B5EF4-FFF2-40B4-BE49-F238E27FC236}">
                <a16:creationId xmlns:a16="http://schemas.microsoft.com/office/drawing/2014/main" id="{434D5CA1-0ECF-4FF7-B456-3C59F5E36FF0}"/>
              </a:ext>
            </a:extLst>
          </p:cNvPr>
          <p:cNvSpPr>
            <a:spLocks noGrp="1"/>
          </p:cNvSpPr>
          <p:nvPr/>
        </p:nvSpPr>
        <p:spPr>
          <a:xfrm>
            <a:off x="766572" y="5262372"/>
            <a:ext cx="390906" cy="390906"/>
          </a:xfrm>
          <a:custGeom>
            <a:avLst/>
            <a:gdLst/>
            <a:ahLst/>
            <a:cxnLst/>
            <a:rect l="0" t="0" r="0" b="0"/>
            <a:pathLst>
              <a:path w="228600" h="228600">
                <a:moveTo>
                  <a:pt x="133350" y="19050"/>
                </a:moveTo>
                <a:lnTo>
                  <a:pt x="133350" y="76200"/>
                </a:lnTo>
                <a:lnTo>
                  <a:pt x="190500" y="76200"/>
                </a:lnTo>
              </a:path>
            </a:pathLst>
          </a:custGeom>
          <a:noFill/>
          <a:ln w="19050">
            <a:solidFill>
              <a:srgbClr val="FFFFFF"/>
            </a:solidFill>
            <a:prstDash val="solid"/>
          </a:ln>
        </p:spPr>
        <p:txBody>
          <a:bodyPr/>
          <a:lstStyle/>
          <a:p>
            <a:endParaRPr lang="en-US"/>
          </a:p>
        </p:txBody>
      </p:sp>
      <p:sp>
        <p:nvSpPr>
          <p:cNvPr id="17" name="!!shared-record-icon-2">
            <a:extLst>
              <a:ext uri="{FF2B5EF4-FFF2-40B4-BE49-F238E27FC236}">
                <a16:creationId xmlns:a16="http://schemas.microsoft.com/office/drawing/2014/main" id="{5801C0FC-0CCE-4241-8A27-1C7BA24F92EF}"/>
              </a:ext>
            </a:extLst>
          </p:cNvPr>
          <p:cNvSpPr>
            <a:spLocks noGrp="1"/>
          </p:cNvSpPr>
          <p:nvPr/>
        </p:nvSpPr>
        <p:spPr>
          <a:xfrm>
            <a:off x="766572" y="5262372"/>
            <a:ext cx="390906" cy="390906"/>
          </a:xfrm>
          <a:custGeom>
            <a:avLst/>
            <a:gdLst/>
            <a:ahLst/>
            <a:cxnLst/>
            <a:rect l="0" t="0" r="0" b="0"/>
            <a:pathLst>
              <a:path w="228600" h="228600">
                <a:moveTo>
                  <a:pt x="76200" y="123825"/>
                </a:moveTo>
                <a:lnTo>
                  <a:pt x="161925" y="123825"/>
                </a:lnTo>
              </a:path>
            </a:pathLst>
          </a:custGeom>
          <a:noFill/>
          <a:ln w="19050">
            <a:solidFill>
              <a:srgbClr val="FFFFFF"/>
            </a:solidFill>
            <a:prstDash val="solid"/>
          </a:ln>
        </p:spPr>
        <p:txBody>
          <a:bodyPr/>
          <a:lstStyle/>
          <a:p>
            <a:endParaRPr lang="en-US"/>
          </a:p>
        </p:txBody>
      </p:sp>
      <p:sp>
        <p:nvSpPr>
          <p:cNvPr id="18" name="!!shared-record-icon-3">
            <a:extLst>
              <a:ext uri="{FF2B5EF4-FFF2-40B4-BE49-F238E27FC236}">
                <a16:creationId xmlns:a16="http://schemas.microsoft.com/office/drawing/2014/main" id="{F0498C18-7B45-42FD-BE04-77FD65DD7634}"/>
              </a:ext>
            </a:extLst>
          </p:cNvPr>
          <p:cNvSpPr>
            <a:spLocks noGrp="1"/>
          </p:cNvSpPr>
          <p:nvPr/>
        </p:nvSpPr>
        <p:spPr>
          <a:xfrm>
            <a:off x="766572" y="5262372"/>
            <a:ext cx="390906" cy="390906"/>
          </a:xfrm>
          <a:custGeom>
            <a:avLst/>
            <a:gdLst/>
            <a:ahLst/>
            <a:cxnLst/>
            <a:rect l="0" t="0" r="0" b="0"/>
            <a:pathLst>
              <a:path w="228600" h="228600">
                <a:moveTo>
                  <a:pt x="76200" y="161925"/>
                </a:moveTo>
                <a:lnTo>
                  <a:pt x="142875" y="161925"/>
                </a:lnTo>
              </a:path>
            </a:pathLst>
          </a:custGeom>
          <a:noFill/>
          <a:ln w="19050">
            <a:solidFill>
              <a:srgbClr val="FFFFFF"/>
            </a:solidFill>
            <a:prstDash val="solid"/>
          </a:ln>
        </p:spPr>
        <p:txBody>
          <a:bodyPr/>
          <a:lstStyle/>
          <a:p>
            <a:endParaRPr lang="en-US"/>
          </a:p>
        </p:txBody>
      </p:sp>
      <p:sp>
        <p:nvSpPr>
          <p:cNvPr id="19" name="!!user-goal">
            <a:extLst>
              <a:ext uri="{FF2B5EF4-FFF2-40B4-BE49-F238E27FC236}">
                <a16:creationId xmlns:a16="http://schemas.microsoft.com/office/drawing/2014/main" id="{2B13C006-F5C3-49CF-A097-0A0D637C8C90}"/>
              </a:ext>
            </a:extLst>
          </p:cNvPr>
          <p:cNvSpPr>
            <a:spLocks noGrp="1"/>
          </p:cNvSpPr>
          <p:nvPr/>
        </p:nvSpPr>
        <p:spPr>
          <a:xfrm>
            <a:off x="1524000" y="5086350"/>
            <a:ext cx="4381500" cy="1000125"/>
          </a:xfrm>
          <a:prstGeom prst="rect">
            <a:avLst/>
          </a:prstGeom>
          <a:noFill/>
          <a:ln w="0">
            <a:noFill/>
          </a:ln>
        </p:spPr>
        <p:txBody>
          <a:bodyPr wrap="square" lIns="0" tIns="0" rIns="0" bIns="0" anchor="t">
            <a:normAutofit/>
          </a:bodyPr>
          <a:lstStyle/>
          <a:p>
            <a:pPr>
              <a:defRPr sz="2325" b="1">
                <a:solidFill>
                  <a:srgbClr val="C8A45B"/>
                </a:solidFill>
                <a:latin typeface="Segoe UI"/>
                <a:ea typeface="Segoe UI"/>
                <a:cs typeface="Segoe UI"/>
              </a:defRPr>
            </a:pPr>
            <a:r>
              <a:rPr sz="2325" b="1">
                <a:solidFill>
                  <a:srgbClr val="C8A45B"/>
                </a:solidFill>
                <a:latin typeface="Segoe UI"/>
                <a:ea typeface="Segoe UI"/>
                <a:cs typeface="Segoe UI"/>
              </a:rPr>
              <a:t>Zalo/Drive lưu tệp</a:t>
            </a:r>
          </a:p>
          <a:p>
            <a:pPr>
              <a:defRPr sz="2325" b="1">
                <a:solidFill>
                  <a:srgbClr val="C8A45B"/>
                </a:solidFill>
                <a:latin typeface="Segoe UI"/>
                <a:ea typeface="Segoe UI"/>
                <a:cs typeface="Segoe UI"/>
              </a:defRPr>
            </a:pPr>
            <a:r>
              <a:rPr sz="2325" b="1">
                <a:solidFill>
                  <a:srgbClr val="C8A45B"/>
                </a:solidFill>
                <a:latin typeface="Segoe UI"/>
                <a:ea typeface="Segoe UI"/>
                <a:cs typeface="Segoe UI"/>
              </a:rPr>
              <a:t>DurianTrust gắn hồ sơ theo lô</a:t>
            </a:r>
          </a:p>
        </p:txBody>
      </p:sp>
      <p:sp>
        <p:nvSpPr>
          <p:cNvPr id="20" name="!!page">
            <a:extLst>
              <a:ext uri="{FF2B5EF4-FFF2-40B4-BE49-F238E27FC236}">
                <a16:creationId xmlns:a16="http://schemas.microsoft.com/office/drawing/2014/main" id="{8011ABCF-553B-44E6-82D5-9137A6A505CF}"/>
              </a:ext>
            </a:extLst>
          </p:cNvPr>
          <p:cNvSpPr>
            <a:spLocks noGrp="1"/>
          </p:cNvSpPr>
          <p:nvPr/>
        </p:nvSpPr>
        <p:spPr>
          <a:xfrm>
            <a:off x="10706100" y="6381750"/>
            <a:ext cx="876300" cy="228600"/>
          </a:xfrm>
          <a:prstGeom prst="rect">
            <a:avLst/>
          </a:prstGeom>
          <a:noFill/>
          <a:ln w="0">
            <a:noFill/>
          </a:ln>
        </p:spPr>
        <p:txBody>
          <a:bodyPr wrap="square" lIns="0" tIns="0" rIns="0" bIns="0" anchor="t">
            <a:normAutofit/>
          </a:bodyPr>
          <a:lstStyle/>
          <a:p>
            <a:pPr>
              <a:defRPr sz="1275" b="0">
                <a:solidFill>
                  <a:srgbClr val="A3BCAB"/>
                </a:solidFill>
                <a:latin typeface="Segoe UI"/>
                <a:ea typeface="Segoe UI"/>
                <a:cs typeface="Segoe UI"/>
              </a:defRPr>
            </a:pPr>
            <a:r>
              <a:rPr sz="1275" b="0">
                <a:solidFill>
                  <a:srgbClr val="A3BCAB"/>
                </a:solidFill>
                <a:latin typeface="Segoe UI"/>
                <a:ea typeface="Segoe UI"/>
                <a:cs typeface="Segoe UI"/>
              </a:rPr>
              <a:t>03 / 19</a:t>
            </a:r>
          </a:p>
        </p:txBody>
      </p:sp>
      <p:sp>
        <p:nvSpPr>
          <p:cNvPr id="21" name="!!caption">
            <a:extLst>
              <a:ext uri="{FF2B5EF4-FFF2-40B4-BE49-F238E27FC236}">
                <a16:creationId xmlns:a16="http://schemas.microsoft.com/office/drawing/2014/main" id="{7A9EC8C4-E7D2-4119-B6E9-F0017962324E}"/>
              </a:ext>
            </a:extLst>
          </p:cNvPr>
          <p:cNvSpPr>
            <a:spLocks noGrp="1"/>
          </p:cNvSpPr>
          <p:nvPr/>
        </p:nvSpPr>
        <p:spPr>
          <a:xfrm>
            <a:off x="609600" y="6381750"/>
            <a:ext cx="9525000" cy="228600"/>
          </a:xfrm>
          <a:prstGeom prst="rect">
            <a:avLst/>
          </a:prstGeom>
          <a:noFill/>
          <a:ln w="0">
            <a:noFill/>
          </a:ln>
        </p:spPr>
        <p:txBody>
          <a:bodyPr wrap="square" lIns="0" tIns="0" rIns="0" bIns="0" anchor="t">
            <a:normAutofit/>
          </a:bodyPr>
          <a:lstStyle/>
          <a:p>
            <a:pPr>
              <a:defRPr sz="1275" b="0">
                <a:solidFill>
                  <a:srgbClr val="A3BCAB"/>
                </a:solidFill>
                <a:latin typeface="Segoe UI"/>
                <a:ea typeface="Segoe UI"/>
                <a:cs typeface="Segoe UI"/>
              </a:defRPr>
            </a:pPr>
            <a:r>
              <a:rPr sz="1275" b="0">
                <a:solidFill>
                  <a:srgbClr val="A3BCAB"/>
                </a:solidFill>
                <a:latin typeface="Segoe UI"/>
                <a:ea typeface="Segoe UI"/>
                <a:cs typeface="Segoe UI"/>
              </a:rPr>
              <a:t>Hình minh họa tạo bằng AI</a:t>
            </a:r>
          </a:p>
        </p:txBody>
      </p:sp>
    </p:spTree>
    <p:extLst>
      <p:ext uri="{BB962C8B-B14F-4D97-AF65-F5344CB8AC3E}">
        <p14:creationId xmlns:p14="http://schemas.microsoft.com/office/powerpoint/2010/main" val="20503389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00">
        <p159:morph option="byObject"/>
      </p:transition>
    </mc:Choice>
    <mc:Fallback xmlns="" xmlns:p14="http://schemas.microsoft.com/office/powerpoint/2010/main">
      <p:transition advClick="1" spd="fast">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02C21"/>
        </a:solidFill>
        <a:effectLst/>
      </p:bgPr>
    </p:bg>
    <p:spTree>
      <p:nvGrpSpPr>
        <p:cNvPr id="1" name=""/>
        <p:cNvGrpSpPr/>
        <p:nvPr/>
      </p:nvGrpSpPr>
      <p:grpSpPr>
        <a:xfrm>
          <a:off x="0" y="0"/>
          <a:ext cx="0" cy="0"/>
          <a:chOff x="0" y="0"/>
          <a:chExt cx="0" cy="0"/>
        </a:xfrm>
      </p:grpSpPr>
      <p:pic>
        <p:nvPicPr>
          <p:cNvPr id="30" name="!!backdrop"/>
          <p:cNvPicPr>
            <a:picLocks noChangeAspect="1"/>
          </p:cNvPicPr>
          <p:nvPr/>
        </p:nvPicPr>
        <p:blipFill>
          <a:blip r:embed="rId3"/>
          <a:srcRect t="27" b="27"/>
          <a:stretch>
            <a:fillRect/>
          </a:stretch>
        </p:blipFill>
        <p:spPr>
          <a:xfrm>
            <a:off x="0" y="0"/>
            <a:ext cx="12192000" cy="6858000"/>
          </a:xfrm>
          <a:prstGeom prst="rect">
            <a:avLst/>
          </a:prstGeom>
        </p:spPr>
      </p:pic>
      <p:sp>
        <p:nvSpPr>
          <p:cNvPr id="2" name="!!backdrop-tint">
            <a:extLst>
              <a:ext uri="{FF2B5EF4-FFF2-40B4-BE49-F238E27FC236}">
                <a16:creationId xmlns:a16="http://schemas.microsoft.com/office/drawing/2014/main" id="{CB7A0E81-7419-4EA3-9D7F-F98766E1D8E3}"/>
              </a:ext>
            </a:extLst>
          </p:cNvPr>
          <p:cNvSpPr>
            <a:spLocks noGrp="1"/>
          </p:cNvSpPr>
          <p:nvPr/>
        </p:nvSpPr>
        <p:spPr>
          <a:xfrm>
            <a:off x="0" y="0"/>
            <a:ext cx="12192000" cy="6858000"/>
          </a:xfrm>
          <a:prstGeom prst="rect">
            <a:avLst/>
          </a:prstGeom>
          <a:solidFill>
            <a:srgbClr val="102C21">
              <a:alpha val="35000"/>
            </a:srgbClr>
          </a:solidFill>
          <a:ln w="0">
            <a:noFill/>
          </a:ln>
        </p:spPr>
        <p:txBody>
          <a:bodyPr/>
          <a:lstStyle/>
          <a:p>
            <a:endParaRPr lang="en-US"/>
          </a:p>
        </p:txBody>
      </p:sp>
      <p:sp>
        <p:nvSpPr>
          <p:cNvPr id="3" name="!!headline">
            <a:extLst>
              <a:ext uri="{FF2B5EF4-FFF2-40B4-BE49-F238E27FC236}">
                <a16:creationId xmlns:a16="http://schemas.microsoft.com/office/drawing/2014/main" id="{E15922F8-1023-48BF-BC0B-E2B08826BF7B}"/>
              </a:ext>
            </a:extLst>
          </p:cNvPr>
          <p:cNvSpPr>
            <a:spLocks noGrp="1"/>
          </p:cNvSpPr>
          <p:nvPr/>
        </p:nvSpPr>
        <p:spPr>
          <a:xfrm>
            <a:off x="609600" y="533400"/>
            <a:ext cx="10953750" cy="1104900"/>
          </a:xfrm>
          <a:prstGeom prst="rect">
            <a:avLst/>
          </a:prstGeom>
          <a:noFill/>
          <a:ln w="0">
            <a:noFill/>
          </a:ln>
        </p:spPr>
        <p:txBody>
          <a:bodyPr wrap="square" lIns="0" tIns="0" rIns="0" bIns="0" anchor="t">
            <a:normAutofit/>
          </a:bodyPr>
          <a:lstStyle/>
          <a:p>
            <a:pPr>
              <a:defRPr sz="3450" b="1">
                <a:solidFill>
                  <a:srgbClr val="F4F1E8"/>
                </a:solidFill>
                <a:latin typeface="Segoe UI"/>
                <a:ea typeface="Segoe UI"/>
                <a:cs typeface="Segoe UI"/>
              </a:defRPr>
            </a:pPr>
            <a:r>
              <a:rPr sz="3450" b="1">
                <a:solidFill>
                  <a:srgbClr val="F4F1E8"/>
                </a:solidFill>
                <a:latin typeface="Segoe UI"/>
                <a:ea typeface="Segoe UI"/>
                <a:cs typeface="Segoe UI"/>
              </a:rPr>
              <a:t>Luồng hồ sơ lô</a:t>
            </a:r>
          </a:p>
        </p:txBody>
      </p:sp>
      <p:sp>
        <p:nvSpPr>
          <p:cNvPr id="4" name="!!flow-0-selection">
            <a:extLst>
              <a:ext uri="{FF2B5EF4-FFF2-40B4-BE49-F238E27FC236}">
                <a16:creationId xmlns:a16="http://schemas.microsoft.com/office/drawing/2014/main" id="{89406869-6855-430B-959C-491D1BD37384}"/>
              </a:ext>
            </a:extLst>
          </p:cNvPr>
          <p:cNvSpPr>
            <a:spLocks noGrp="1"/>
          </p:cNvSpPr>
          <p:nvPr/>
        </p:nvSpPr>
        <p:spPr>
          <a:xfrm>
            <a:off x="1057275" y="2562225"/>
            <a:ext cx="1104900" cy="1104900"/>
          </a:xfrm>
          <a:prstGeom prst="ellipse">
            <a:avLst/>
          </a:prstGeom>
          <a:solidFill>
            <a:srgbClr val="183A2C"/>
          </a:solidFill>
          <a:ln w="9525">
            <a:solidFill>
              <a:srgbClr val="A3BCAB"/>
            </a:solidFill>
          </a:ln>
        </p:spPr>
        <p:txBody>
          <a:bodyPr/>
          <a:lstStyle/>
          <a:p>
            <a:endParaRPr lang="en-US"/>
          </a:p>
        </p:txBody>
      </p:sp>
      <p:sp>
        <p:nvSpPr>
          <p:cNvPr id="5" name="!!flow-0-icon-0">
            <a:extLst>
              <a:ext uri="{FF2B5EF4-FFF2-40B4-BE49-F238E27FC236}">
                <a16:creationId xmlns:a16="http://schemas.microsoft.com/office/drawing/2014/main" id="{5B00ED3F-DB0D-44E7-A049-13D7D55F73F0}"/>
              </a:ext>
            </a:extLst>
          </p:cNvPr>
          <p:cNvSpPr>
            <a:spLocks noGrp="1"/>
          </p:cNvSpPr>
          <p:nvPr/>
        </p:nvSpPr>
        <p:spPr>
          <a:xfrm>
            <a:off x="1311402" y="2816352"/>
            <a:ext cx="596646" cy="596646"/>
          </a:xfrm>
          <a:custGeom>
            <a:avLst/>
            <a:gdLst/>
            <a:ahLst/>
            <a:cxnLst/>
            <a:rect l="0" t="0" r="0" b="0"/>
            <a:pathLst>
              <a:path w="228600" h="228600">
                <a:moveTo>
                  <a:pt x="19050" y="57150"/>
                </a:moveTo>
                <a:lnTo>
                  <a:pt x="85725" y="57150"/>
                </a:lnTo>
                <a:lnTo>
                  <a:pt x="114300" y="85725"/>
                </a:lnTo>
                <a:lnTo>
                  <a:pt x="209550" y="85725"/>
                </a:lnTo>
                <a:lnTo>
                  <a:pt x="209550" y="200025"/>
                </a:lnTo>
                <a:lnTo>
                  <a:pt x="19050" y="200025"/>
                </a:lnTo>
                <a:close/>
              </a:path>
            </a:pathLst>
          </a:custGeom>
          <a:noFill/>
          <a:ln w="21309">
            <a:solidFill>
              <a:srgbClr val="A3BCAB"/>
            </a:solidFill>
            <a:prstDash val="solid"/>
          </a:ln>
        </p:spPr>
        <p:txBody>
          <a:bodyPr/>
          <a:lstStyle/>
          <a:p>
            <a:endParaRPr lang="en-US"/>
          </a:p>
        </p:txBody>
      </p:sp>
      <p:sp>
        <p:nvSpPr>
          <p:cNvPr id="6" name="!!flow-label-0">
            <a:extLst>
              <a:ext uri="{FF2B5EF4-FFF2-40B4-BE49-F238E27FC236}">
                <a16:creationId xmlns:a16="http://schemas.microsoft.com/office/drawing/2014/main" id="{190C63F6-532C-4C6F-A0BE-48ABF412177E}"/>
              </a:ext>
            </a:extLst>
          </p:cNvPr>
          <p:cNvSpPr>
            <a:spLocks noGrp="1"/>
          </p:cNvSpPr>
          <p:nvPr/>
        </p:nvSpPr>
        <p:spPr>
          <a:xfrm>
            <a:off x="485775" y="4057650"/>
            <a:ext cx="2343150" cy="857250"/>
          </a:xfrm>
          <a:prstGeom prst="rect">
            <a:avLst/>
          </a:prstGeom>
          <a:noFill/>
          <a:ln w="0">
            <a:noFill/>
          </a:ln>
        </p:spPr>
        <p:txBody>
          <a:bodyPr wrap="square" lIns="0" tIns="0" rIns="0" bIns="0" anchor="t">
            <a:normAutofit/>
          </a:bodyPr>
          <a:lstStyle/>
          <a:p>
            <a:pPr>
              <a:defRPr sz="2025" b="1">
                <a:solidFill>
                  <a:srgbClr val="F4F1E8"/>
                </a:solidFill>
                <a:latin typeface="Segoe UI"/>
                <a:ea typeface="Segoe UI"/>
                <a:cs typeface="Segoe UI"/>
              </a:defRPr>
            </a:pPr>
            <a:r>
              <a:rPr sz="2025" b="1">
                <a:solidFill>
                  <a:srgbClr val="F4F1E8"/>
                </a:solidFill>
                <a:latin typeface="Segoe UI"/>
                <a:ea typeface="Segoe UI"/>
                <a:cs typeface="Segoe UI"/>
              </a:rPr>
              <a:t>Tạo lô</a:t>
            </a:r>
          </a:p>
          <a:p>
            <a:pPr>
              <a:defRPr sz="2025" b="1">
                <a:solidFill>
                  <a:srgbClr val="F4F1E8"/>
                </a:solidFill>
                <a:latin typeface="Segoe UI"/>
                <a:ea typeface="Segoe UI"/>
                <a:cs typeface="Segoe UI"/>
              </a:defRPr>
            </a:pPr>
            <a:r>
              <a:rPr sz="2025" b="1">
                <a:solidFill>
                  <a:srgbClr val="F4F1E8"/>
                </a:solidFill>
                <a:latin typeface="Segoe UI"/>
                <a:ea typeface="Segoe UI"/>
                <a:cs typeface="Segoe UI"/>
              </a:rPr>
              <a:t>riêng tư</a:t>
            </a:r>
          </a:p>
        </p:txBody>
      </p:sp>
      <p:sp>
        <p:nvSpPr>
          <p:cNvPr id="7" name="!!flow-1-selection">
            <a:extLst>
              <a:ext uri="{FF2B5EF4-FFF2-40B4-BE49-F238E27FC236}">
                <a16:creationId xmlns:a16="http://schemas.microsoft.com/office/drawing/2014/main" id="{3D562147-1EA3-425C-8329-9160DDC22858}"/>
              </a:ext>
            </a:extLst>
          </p:cNvPr>
          <p:cNvSpPr>
            <a:spLocks noGrp="1"/>
          </p:cNvSpPr>
          <p:nvPr/>
        </p:nvSpPr>
        <p:spPr>
          <a:xfrm>
            <a:off x="3848100" y="2562225"/>
            <a:ext cx="1104900" cy="1104900"/>
          </a:xfrm>
          <a:prstGeom prst="ellipse">
            <a:avLst/>
          </a:prstGeom>
          <a:solidFill>
            <a:srgbClr val="183A2C"/>
          </a:solidFill>
          <a:ln w="9525">
            <a:solidFill>
              <a:srgbClr val="A3BCAB"/>
            </a:solidFill>
          </a:ln>
        </p:spPr>
        <p:txBody>
          <a:bodyPr/>
          <a:lstStyle/>
          <a:p>
            <a:endParaRPr lang="en-US"/>
          </a:p>
        </p:txBody>
      </p:sp>
      <p:sp>
        <p:nvSpPr>
          <p:cNvPr id="8" name="!!flow-1-icon-0">
            <a:extLst>
              <a:ext uri="{FF2B5EF4-FFF2-40B4-BE49-F238E27FC236}">
                <a16:creationId xmlns:a16="http://schemas.microsoft.com/office/drawing/2014/main" id="{10B0AEB9-9162-4873-8A2F-9B5F12E6574B}"/>
              </a:ext>
            </a:extLst>
          </p:cNvPr>
          <p:cNvSpPr>
            <a:spLocks noGrp="1"/>
          </p:cNvSpPr>
          <p:nvPr/>
        </p:nvSpPr>
        <p:spPr>
          <a:xfrm>
            <a:off x="4102227" y="2816352"/>
            <a:ext cx="596646" cy="596646"/>
          </a:xfrm>
          <a:custGeom>
            <a:avLst/>
            <a:gdLst/>
            <a:ahLst/>
            <a:cxnLst/>
            <a:rect l="0" t="0" r="0" b="0"/>
            <a:pathLst>
              <a:path w="228600" h="228600">
                <a:moveTo>
                  <a:pt x="47625" y="19050"/>
                </a:moveTo>
                <a:lnTo>
                  <a:pt x="133350" y="19050"/>
                </a:lnTo>
                <a:lnTo>
                  <a:pt x="190500" y="76200"/>
                </a:lnTo>
                <a:lnTo>
                  <a:pt x="190500" y="209550"/>
                </a:lnTo>
                <a:lnTo>
                  <a:pt x="47625" y="209550"/>
                </a:lnTo>
                <a:close/>
              </a:path>
            </a:pathLst>
          </a:custGeom>
          <a:noFill/>
          <a:ln w="21309">
            <a:solidFill>
              <a:srgbClr val="A3BCAB"/>
            </a:solidFill>
            <a:prstDash val="solid"/>
          </a:ln>
        </p:spPr>
        <p:txBody>
          <a:bodyPr/>
          <a:lstStyle/>
          <a:p>
            <a:endParaRPr lang="en-US"/>
          </a:p>
        </p:txBody>
      </p:sp>
      <p:sp>
        <p:nvSpPr>
          <p:cNvPr id="9" name="!!flow-1-icon-1">
            <a:extLst>
              <a:ext uri="{FF2B5EF4-FFF2-40B4-BE49-F238E27FC236}">
                <a16:creationId xmlns:a16="http://schemas.microsoft.com/office/drawing/2014/main" id="{54254E10-F2C4-4BE3-A2B0-2954C6D2FBC2}"/>
              </a:ext>
            </a:extLst>
          </p:cNvPr>
          <p:cNvSpPr>
            <a:spLocks noGrp="1"/>
          </p:cNvSpPr>
          <p:nvPr/>
        </p:nvSpPr>
        <p:spPr>
          <a:xfrm>
            <a:off x="4102227" y="2816352"/>
            <a:ext cx="596646" cy="596646"/>
          </a:xfrm>
          <a:custGeom>
            <a:avLst/>
            <a:gdLst/>
            <a:ahLst/>
            <a:cxnLst/>
            <a:rect l="0" t="0" r="0" b="0"/>
            <a:pathLst>
              <a:path w="228600" h="228600">
                <a:moveTo>
                  <a:pt x="133350" y="19050"/>
                </a:moveTo>
                <a:lnTo>
                  <a:pt x="133350" y="76200"/>
                </a:lnTo>
                <a:lnTo>
                  <a:pt x="190500" y="76200"/>
                </a:lnTo>
              </a:path>
            </a:pathLst>
          </a:custGeom>
          <a:noFill/>
          <a:ln w="21309">
            <a:solidFill>
              <a:srgbClr val="A3BCAB"/>
            </a:solidFill>
            <a:prstDash val="solid"/>
          </a:ln>
        </p:spPr>
        <p:txBody>
          <a:bodyPr/>
          <a:lstStyle/>
          <a:p>
            <a:endParaRPr lang="en-US"/>
          </a:p>
        </p:txBody>
      </p:sp>
      <p:sp>
        <p:nvSpPr>
          <p:cNvPr id="10" name="!!flow-1-icon-2">
            <a:extLst>
              <a:ext uri="{FF2B5EF4-FFF2-40B4-BE49-F238E27FC236}">
                <a16:creationId xmlns:a16="http://schemas.microsoft.com/office/drawing/2014/main" id="{4968CC20-FCE8-4F46-8F0C-A4F62D49FFC0}"/>
              </a:ext>
            </a:extLst>
          </p:cNvPr>
          <p:cNvSpPr>
            <a:spLocks noGrp="1"/>
          </p:cNvSpPr>
          <p:nvPr/>
        </p:nvSpPr>
        <p:spPr>
          <a:xfrm>
            <a:off x="4102227" y="2816352"/>
            <a:ext cx="596646" cy="596646"/>
          </a:xfrm>
          <a:custGeom>
            <a:avLst/>
            <a:gdLst/>
            <a:ahLst/>
            <a:cxnLst/>
            <a:rect l="0" t="0" r="0" b="0"/>
            <a:pathLst>
              <a:path w="228600" h="228600">
                <a:moveTo>
                  <a:pt x="76200" y="123825"/>
                </a:moveTo>
                <a:lnTo>
                  <a:pt x="161925" y="123825"/>
                </a:lnTo>
              </a:path>
            </a:pathLst>
          </a:custGeom>
          <a:noFill/>
          <a:ln w="21309">
            <a:solidFill>
              <a:srgbClr val="A3BCAB"/>
            </a:solidFill>
            <a:prstDash val="solid"/>
          </a:ln>
        </p:spPr>
        <p:txBody>
          <a:bodyPr/>
          <a:lstStyle/>
          <a:p>
            <a:endParaRPr lang="en-US"/>
          </a:p>
        </p:txBody>
      </p:sp>
      <p:sp>
        <p:nvSpPr>
          <p:cNvPr id="11" name="!!flow-1-icon-3">
            <a:extLst>
              <a:ext uri="{FF2B5EF4-FFF2-40B4-BE49-F238E27FC236}">
                <a16:creationId xmlns:a16="http://schemas.microsoft.com/office/drawing/2014/main" id="{7CB05A56-F233-49DB-AD3F-29FC114DB9CB}"/>
              </a:ext>
            </a:extLst>
          </p:cNvPr>
          <p:cNvSpPr>
            <a:spLocks noGrp="1"/>
          </p:cNvSpPr>
          <p:nvPr/>
        </p:nvSpPr>
        <p:spPr>
          <a:xfrm>
            <a:off x="4102227" y="2816352"/>
            <a:ext cx="596646" cy="596646"/>
          </a:xfrm>
          <a:custGeom>
            <a:avLst/>
            <a:gdLst/>
            <a:ahLst/>
            <a:cxnLst/>
            <a:rect l="0" t="0" r="0" b="0"/>
            <a:pathLst>
              <a:path w="228600" h="228600">
                <a:moveTo>
                  <a:pt x="76200" y="161925"/>
                </a:moveTo>
                <a:lnTo>
                  <a:pt x="142875" y="161925"/>
                </a:lnTo>
              </a:path>
            </a:pathLst>
          </a:custGeom>
          <a:noFill/>
          <a:ln w="21309">
            <a:solidFill>
              <a:srgbClr val="A3BCAB"/>
            </a:solidFill>
            <a:prstDash val="solid"/>
          </a:ln>
        </p:spPr>
        <p:txBody>
          <a:bodyPr/>
          <a:lstStyle/>
          <a:p>
            <a:endParaRPr lang="en-US"/>
          </a:p>
        </p:txBody>
      </p:sp>
      <p:sp>
        <p:nvSpPr>
          <p:cNvPr id="12" name="!!flow-label-1">
            <a:extLst>
              <a:ext uri="{FF2B5EF4-FFF2-40B4-BE49-F238E27FC236}">
                <a16:creationId xmlns:a16="http://schemas.microsoft.com/office/drawing/2014/main" id="{622BDDA8-9A23-420C-B99C-E8C41E92E4A0}"/>
              </a:ext>
            </a:extLst>
          </p:cNvPr>
          <p:cNvSpPr>
            <a:spLocks noGrp="1"/>
          </p:cNvSpPr>
          <p:nvPr/>
        </p:nvSpPr>
        <p:spPr>
          <a:xfrm>
            <a:off x="3276600" y="4057650"/>
            <a:ext cx="2343150" cy="857250"/>
          </a:xfrm>
          <a:prstGeom prst="rect">
            <a:avLst/>
          </a:prstGeom>
          <a:noFill/>
          <a:ln w="0">
            <a:noFill/>
          </a:ln>
        </p:spPr>
        <p:txBody>
          <a:bodyPr wrap="square" lIns="0" tIns="0" rIns="0" bIns="0" anchor="t">
            <a:normAutofit/>
          </a:bodyPr>
          <a:lstStyle/>
          <a:p>
            <a:pPr>
              <a:defRPr sz="2025" b="1">
                <a:solidFill>
                  <a:srgbClr val="F4F1E8"/>
                </a:solidFill>
                <a:latin typeface="Segoe UI"/>
                <a:ea typeface="Segoe UI"/>
                <a:cs typeface="Segoe UI"/>
              </a:defRPr>
            </a:pPr>
            <a:r>
              <a:rPr sz="2025" b="1">
                <a:solidFill>
                  <a:srgbClr val="F4F1E8"/>
                </a:solidFill>
                <a:latin typeface="Segoe UI"/>
                <a:ea typeface="Segoe UI"/>
                <a:cs typeface="Segoe UI"/>
              </a:rPr>
              <a:t>Ảnh và</a:t>
            </a:r>
          </a:p>
          <a:p>
            <a:pPr>
              <a:defRPr sz="2025" b="1">
                <a:solidFill>
                  <a:srgbClr val="F4F1E8"/>
                </a:solidFill>
                <a:latin typeface="Segoe UI"/>
                <a:ea typeface="Segoe UI"/>
                <a:cs typeface="Segoe UI"/>
              </a:defRPr>
            </a:pPr>
            <a:r>
              <a:rPr sz="2025" b="1">
                <a:solidFill>
                  <a:srgbClr val="F4F1E8"/>
                </a:solidFill>
                <a:latin typeface="Segoe UI"/>
                <a:ea typeface="Segoe UI"/>
                <a:cs typeface="Segoe UI"/>
              </a:rPr>
              <a:t>tài liệu</a:t>
            </a:r>
          </a:p>
        </p:txBody>
      </p:sp>
      <p:cxnSp>
        <p:nvCxnSpPr>
          <p:cNvPr id="42" name="!!connector-4-0"/>
          <p:cNvCxnSpPr>
            <a:stCxn id="4" idx="6"/>
            <a:endCxn id="7" idx="2"/>
          </p:cNvCxnSpPr>
          <p:nvPr/>
        </p:nvCxnSpPr>
        <p:spPr>
          <a:xfrm>
            <a:off x="2162175" y="3114675"/>
            <a:ext cx="1685925" cy="0"/>
          </a:xfrm>
          <a:prstGeom prst="straightConnector1">
            <a:avLst/>
          </a:prstGeom>
          <a:ln w="19050">
            <a:solidFill>
              <a:srgbClr val="A3BCAB"/>
            </a:solidFill>
            <a:prstDash val="solid"/>
            <a:tailEnd type="arrow" w="med" len="med"/>
          </a:ln>
        </p:spPr>
      </p:cxnSp>
      <p:sp>
        <p:nvSpPr>
          <p:cNvPr id="14" name="!!flow-2-selection">
            <a:extLst>
              <a:ext uri="{FF2B5EF4-FFF2-40B4-BE49-F238E27FC236}">
                <a16:creationId xmlns:a16="http://schemas.microsoft.com/office/drawing/2014/main" id="{C87CB70C-7573-49C6-92D1-7F65F7DBE93D}"/>
              </a:ext>
            </a:extLst>
          </p:cNvPr>
          <p:cNvSpPr>
            <a:spLocks noGrp="1"/>
          </p:cNvSpPr>
          <p:nvPr/>
        </p:nvSpPr>
        <p:spPr>
          <a:xfrm>
            <a:off x="6638925" y="2562225"/>
            <a:ext cx="1104900" cy="1104900"/>
          </a:xfrm>
          <a:prstGeom prst="ellipse">
            <a:avLst/>
          </a:prstGeom>
          <a:solidFill>
            <a:srgbClr val="183A2C"/>
          </a:solidFill>
          <a:ln w="9525">
            <a:solidFill>
              <a:srgbClr val="A3BCAB"/>
            </a:solidFill>
          </a:ln>
        </p:spPr>
        <p:txBody>
          <a:bodyPr/>
          <a:lstStyle/>
          <a:p>
            <a:endParaRPr lang="en-US"/>
          </a:p>
        </p:txBody>
      </p:sp>
      <p:sp>
        <p:nvSpPr>
          <p:cNvPr id="15" name="!!flow-2-icon-0">
            <a:extLst>
              <a:ext uri="{FF2B5EF4-FFF2-40B4-BE49-F238E27FC236}">
                <a16:creationId xmlns:a16="http://schemas.microsoft.com/office/drawing/2014/main" id="{BCEBC7B9-6419-4DB4-97B8-D2F55B07E6EF}"/>
              </a:ext>
            </a:extLst>
          </p:cNvPr>
          <p:cNvSpPr>
            <a:spLocks noGrp="1"/>
          </p:cNvSpPr>
          <p:nvPr/>
        </p:nvSpPr>
        <p:spPr>
          <a:xfrm>
            <a:off x="6942773" y="2866073"/>
            <a:ext cx="497205" cy="497205"/>
          </a:xfrm>
          <a:prstGeom prst="ellipse">
            <a:avLst/>
          </a:prstGeom>
          <a:noFill/>
          <a:ln w="21309">
            <a:solidFill>
              <a:srgbClr val="A3BCAB"/>
            </a:solidFill>
            <a:prstDash val="solid"/>
          </a:ln>
        </p:spPr>
        <p:txBody>
          <a:bodyPr/>
          <a:lstStyle/>
          <a:p>
            <a:endParaRPr lang="en-US"/>
          </a:p>
        </p:txBody>
      </p:sp>
      <p:sp>
        <p:nvSpPr>
          <p:cNvPr id="16" name="!!flow-2-icon-1">
            <a:extLst>
              <a:ext uri="{FF2B5EF4-FFF2-40B4-BE49-F238E27FC236}">
                <a16:creationId xmlns:a16="http://schemas.microsoft.com/office/drawing/2014/main" id="{4AAFF4DA-D10F-4357-A267-D7591E1E7250}"/>
              </a:ext>
            </a:extLst>
          </p:cNvPr>
          <p:cNvSpPr>
            <a:spLocks noGrp="1"/>
          </p:cNvSpPr>
          <p:nvPr/>
        </p:nvSpPr>
        <p:spPr>
          <a:xfrm>
            <a:off x="6893052" y="2816352"/>
            <a:ext cx="596646" cy="596646"/>
          </a:xfrm>
          <a:custGeom>
            <a:avLst/>
            <a:gdLst/>
            <a:ahLst/>
            <a:cxnLst/>
            <a:rect l="0" t="0" r="0" b="0"/>
            <a:pathLst>
              <a:path w="228600" h="228600">
                <a:moveTo>
                  <a:pt x="114300" y="47625"/>
                </a:moveTo>
                <a:lnTo>
                  <a:pt x="114300" y="114300"/>
                </a:lnTo>
                <a:lnTo>
                  <a:pt x="161925" y="142875"/>
                </a:lnTo>
              </a:path>
            </a:pathLst>
          </a:custGeom>
          <a:noFill/>
          <a:ln w="21309">
            <a:solidFill>
              <a:srgbClr val="A3BCAB"/>
            </a:solidFill>
            <a:prstDash val="solid"/>
          </a:ln>
        </p:spPr>
        <p:txBody>
          <a:bodyPr/>
          <a:lstStyle/>
          <a:p>
            <a:endParaRPr lang="en-US"/>
          </a:p>
        </p:txBody>
      </p:sp>
      <p:sp>
        <p:nvSpPr>
          <p:cNvPr id="17" name="!!flow-label-2">
            <a:extLst>
              <a:ext uri="{FF2B5EF4-FFF2-40B4-BE49-F238E27FC236}">
                <a16:creationId xmlns:a16="http://schemas.microsoft.com/office/drawing/2014/main" id="{80EC7D9C-27AC-4FB7-B5F3-B46903ACD7C8}"/>
              </a:ext>
            </a:extLst>
          </p:cNvPr>
          <p:cNvSpPr>
            <a:spLocks noGrp="1"/>
          </p:cNvSpPr>
          <p:nvPr/>
        </p:nvSpPr>
        <p:spPr>
          <a:xfrm>
            <a:off x="6067425" y="4057650"/>
            <a:ext cx="2343150" cy="857250"/>
          </a:xfrm>
          <a:prstGeom prst="rect">
            <a:avLst/>
          </a:prstGeom>
          <a:noFill/>
          <a:ln w="0">
            <a:noFill/>
          </a:ln>
        </p:spPr>
        <p:txBody>
          <a:bodyPr wrap="square" lIns="0" tIns="0" rIns="0" bIns="0" anchor="t">
            <a:normAutofit/>
          </a:bodyPr>
          <a:lstStyle/>
          <a:p>
            <a:pPr>
              <a:defRPr sz="2025" b="1">
                <a:solidFill>
                  <a:srgbClr val="F4F1E8"/>
                </a:solidFill>
                <a:latin typeface="Segoe UI"/>
                <a:ea typeface="Segoe UI"/>
                <a:cs typeface="Segoe UI"/>
              </a:defRPr>
            </a:pPr>
            <a:r>
              <a:rPr sz="2025" b="1">
                <a:solidFill>
                  <a:srgbClr val="F4F1E8"/>
                </a:solidFill>
                <a:latin typeface="Segoe UI"/>
                <a:ea typeface="Segoe UI"/>
                <a:cs typeface="Segoe UI"/>
              </a:rPr>
              <a:t>Lịch sử</a:t>
            </a:r>
          </a:p>
          <a:p>
            <a:pPr>
              <a:defRPr sz="2025" b="1">
                <a:solidFill>
                  <a:srgbClr val="F4F1E8"/>
                </a:solidFill>
                <a:latin typeface="Segoe UI"/>
                <a:ea typeface="Segoe UI"/>
                <a:cs typeface="Segoe UI"/>
              </a:defRPr>
            </a:pPr>
            <a:r>
              <a:rPr sz="2025" b="1">
                <a:solidFill>
                  <a:srgbClr val="F4F1E8"/>
                </a:solidFill>
                <a:latin typeface="Segoe UI"/>
                <a:ea typeface="Segoe UI"/>
                <a:cs typeface="Segoe UI"/>
              </a:rPr>
              <a:t>hành trình</a:t>
            </a:r>
          </a:p>
        </p:txBody>
      </p:sp>
      <p:cxnSp>
        <p:nvCxnSpPr>
          <p:cNvPr id="47" name="!!connector-4-1"/>
          <p:cNvCxnSpPr>
            <a:stCxn id="7" idx="6"/>
            <a:endCxn id="14" idx="2"/>
          </p:cNvCxnSpPr>
          <p:nvPr/>
        </p:nvCxnSpPr>
        <p:spPr>
          <a:xfrm>
            <a:off x="4953000" y="3114675"/>
            <a:ext cx="1685925" cy="0"/>
          </a:xfrm>
          <a:prstGeom prst="straightConnector1">
            <a:avLst/>
          </a:prstGeom>
          <a:ln w="19050">
            <a:solidFill>
              <a:srgbClr val="A3BCAB"/>
            </a:solidFill>
            <a:prstDash val="solid"/>
            <a:tailEnd type="arrow" w="med" len="med"/>
          </a:ln>
        </p:spPr>
      </p:cxnSp>
      <p:sp>
        <p:nvSpPr>
          <p:cNvPr id="19" name="!!flow-3-selection">
            <a:extLst>
              <a:ext uri="{FF2B5EF4-FFF2-40B4-BE49-F238E27FC236}">
                <a16:creationId xmlns:a16="http://schemas.microsoft.com/office/drawing/2014/main" id="{C67C84E1-5AF4-4B6C-86F2-F1ACEC3D7A64}"/>
              </a:ext>
            </a:extLst>
          </p:cNvPr>
          <p:cNvSpPr>
            <a:spLocks noGrp="1"/>
          </p:cNvSpPr>
          <p:nvPr/>
        </p:nvSpPr>
        <p:spPr>
          <a:xfrm>
            <a:off x="9286875" y="2419350"/>
            <a:ext cx="1390650" cy="1390650"/>
          </a:xfrm>
          <a:prstGeom prst="ellipse">
            <a:avLst/>
          </a:prstGeom>
          <a:solidFill>
            <a:srgbClr val="166447"/>
          </a:solidFill>
          <a:ln w="28575">
            <a:solidFill>
              <a:srgbClr val="C8A45B"/>
            </a:solidFill>
          </a:ln>
        </p:spPr>
        <p:txBody>
          <a:bodyPr/>
          <a:lstStyle/>
          <a:p>
            <a:endParaRPr lang="en-US"/>
          </a:p>
        </p:txBody>
      </p:sp>
      <p:sp>
        <p:nvSpPr>
          <p:cNvPr id="20" name="!!flow-3-icon-0">
            <a:extLst>
              <a:ext uri="{FF2B5EF4-FFF2-40B4-BE49-F238E27FC236}">
                <a16:creationId xmlns:a16="http://schemas.microsoft.com/office/drawing/2014/main" id="{18A7F6C5-73BA-49BC-AF19-27DDAFFF0FCB}"/>
              </a:ext>
            </a:extLst>
          </p:cNvPr>
          <p:cNvSpPr>
            <a:spLocks noGrp="1"/>
          </p:cNvSpPr>
          <p:nvPr/>
        </p:nvSpPr>
        <p:spPr>
          <a:xfrm>
            <a:off x="9606725" y="2739200"/>
            <a:ext cx="750951" cy="750951"/>
          </a:xfrm>
          <a:custGeom>
            <a:avLst/>
            <a:gdLst/>
            <a:ahLst/>
            <a:cxnLst/>
            <a:rect l="0" t="0" r="0" b="0"/>
            <a:pathLst>
              <a:path w="228600" h="228600">
                <a:moveTo>
                  <a:pt x="19050" y="76200"/>
                </a:moveTo>
                <a:lnTo>
                  <a:pt x="19050" y="19050"/>
                </a:lnTo>
                <a:lnTo>
                  <a:pt x="76200" y="19050"/>
                </a:lnTo>
              </a:path>
            </a:pathLst>
          </a:custGeom>
          <a:noFill/>
          <a:ln w="26820">
            <a:solidFill>
              <a:srgbClr val="FFFFFF"/>
            </a:solidFill>
            <a:prstDash val="solid"/>
          </a:ln>
        </p:spPr>
        <p:txBody>
          <a:bodyPr/>
          <a:lstStyle/>
          <a:p>
            <a:endParaRPr lang="en-US"/>
          </a:p>
        </p:txBody>
      </p:sp>
      <p:sp>
        <p:nvSpPr>
          <p:cNvPr id="21" name="!!flow-3-icon-1">
            <a:extLst>
              <a:ext uri="{FF2B5EF4-FFF2-40B4-BE49-F238E27FC236}">
                <a16:creationId xmlns:a16="http://schemas.microsoft.com/office/drawing/2014/main" id="{6316A285-305B-4352-A481-09E4B560D0E4}"/>
              </a:ext>
            </a:extLst>
          </p:cNvPr>
          <p:cNvSpPr>
            <a:spLocks noGrp="1"/>
          </p:cNvSpPr>
          <p:nvPr/>
        </p:nvSpPr>
        <p:spPr>
          <a:xfrm>
            <a:off x="9606725" y="2739200"/>
            <a:ext cx="750951" cy="750951"/>
          </a:xfrm>
          <a:custGeom>
            <a:avLst/>
            <a:gdLst/>
            <a:ahLst/>
            <a:cxnLst/>
            <a:rect l="0" t="0" r="0" b="0"/>
            <a:pathLst>
              <a:path w="228600" h="228600">
                <a:moveTo>
                  <a:pt x="152400" y="19050"/>
                </a:moveTo>
                <a:lnTo>
                  <a:pt x="209550" y="19050"/>
                </a:lnTo>
                <a:lnTo>
                  <a:pt x="209550" y="76200"/>
                </a:lnTo>
              </a:path>
            </a:pathLst>
          </a:custGeom>
          <a:noFill/>
          <a:ln w="26820">
            <a:solidFill>
              <a:srgbClr val="FFFFFF"/>
            </a:solidFill>
            <a:prstDash val="solid"/>
          </a:ln>
        </p:spPr>
        <p:txBody>
          <a:bodyPr/>
          <a:lstStyle/>
          <a:p>
            <a:endParaRPr lang="en-US"/>
          </a:p>
        </p:txBody>
      </p:sp>
      <p:sp>
        <p:nvSpPr>
          <p:cNvPr id="22" name="!!flow-3-icon-2">
            <a:extLst>
              <a:ext uri="{FF2B5EF4-FFF2-40B4-BE49-F238E27FC236}">
                <a16:creationId xmlns:a16="http://schemas.microsoft.com/office/drawing/2014/main" id="{11E5284B-F0F1-4E97-B17F-7E661C508B63}"/>
              </a:ext>
            </a:extLst>
          </p:cNvPr>
          <p:cNvSpPr>
            <a:spLocks noGrp="1"/>
          </p:cNvSpPr>
          <p:nvPr/>
        </p:nvSpPr>
        <p:spPr>
          <a:xfrm>
            <a:off x="9606725" y="2739200"/>
            <a:ext cx="750951" cy="750951"/>
          </a:xfrm>
          <a:custGeom>
            <a:avLst/>
            <a:gdLst/>
            <a:ahLst/>
            <a:cxnLst/>
            <a:rect l="0" t="0" r="0" b="0"/>
            <a:pathLst>
              <a:path w="228600" h="228600">
                <a:moveTo>
                  <a:pt x="209550" y="152400"/>
                </a:moveTo>
                <a:lnTo>
                  <a:pt x="209550" y="209550"/>
                </a:lnTo>
                <a:lnTo>
                  <a:pt x="152400" y="209550"/>
                </a:lnTo>
              </a:path>
            </a:pathLst>
          </a:custGeom>
          <a:noFill/>
          <a:ln w="26820">
            <a:solidFill>
              <a:srgbClr val="FFFFFF"/>
            </a:solidFill>
            <a:prstDash val="solid"/>
          </a:ln>
        </p:spPr>
        <p:txBody>
          <a:bodyPr/>
          <a:lstStyle/>
          <a:p>
            <a:endParaRPr lang="en-US"/>
          </a:p>
        </p:txBody>
      </p:sp>
      <p:sp>
        <p:nvSpPr>
          <p:cNvPr id="23" name="!!flow-3-icon-3">
            <a:extLst>
              <a:ext uri="{FF2B5EF4-FFF2-40B4-BE49-F238E27FC236}">
                <a16:creationId xmlns:a16="http://schemas.microsoft.com/office/drawing/2014/main" id="{F3291014-4C85-4A34-9A34-0E275B8D9800}"/>
              </a:ext>
            </a:extLst>
          </p:cNvPr>
          <p:cNvSpPr>
            <a:spLocks noGrp="1"/>
          </p:cNvSpPr>
          <p:nvPr/>
        </p:nvSpPr>
        <p:spPr>
          <a:xfrm>
            <a:off x="9606725" y="2739200"/>
            <a:ext cx="750951" cy="750951"/>
          </a:xfrm>
          <a:custGeom>
            <a:avLst/>
            <a:gdLst/>
            <a:ahLst/>
            <a:cxnLst/>
            <a:rect l="0" t="0" r="0" b="0"/>
            <a:pathLst>
              <a:path w="228600" h="228600">
                <a:moveTo>
                  <a:pt x="76200" y="209550"/>
                </a:moveTo>
                <a:lnTo>
                  <a:pt x="19050" y="209550"/>
                </a:lnTo>
                <a:lnTo>
                  <a:pt x="19050" y="152400"/>
                </a:lnTo>
              </a:path>
            </a:pathLst>
          </a:custGeom>
          <a:noFill/>
          <a:ln w="26820">
            <a:solidFill>
              <a:srgbClr val="FFFFFF"/>
            </a:solidFill>
            <a:prstDash val="solid"/>
          </a:ln>
        </p:spPr>
        <p:txBody>
          <a:bodyPr/>
          <a:lstStyle/>
          <a:p>
            <a:endParaRPr lang="en-US"/>
          </a:p>
        </p:txBody>
      </p:sp>
      <p:sp>
        <p:nvSpPr>
          <p:cNvPr id="24" name="!!flow-3-icon-4">
            <a:extLst>
              <a:ext uri="{FF2B5EF4-FFF2-40B4-BE49-F238E27FC236}">
                <a16:creationId xmlns:a16="http://schemas.microsoft.com/office/drawing/2014/main" id="{ABACAEAA-F057-44C2-AE50-26FF165FFD88}"/>
              </a:ext>
            </a:extLst>
          </p:cNvPr>
          <p:cNvSpPr>
            <a:spLocks noGrp="1"/>
          </p:cNvSpPr>
          <p:nvPr/>
        </p:nvSpPr>
        <p:spPr>
          <a:xfrm>
            <a:off x="9606725" y="2739200"/>
            <a:ext cx="750951" cy="750951"/>
          </a:xfrm>
          <a:custGeom>
            <a:avLst/>
            <a:gdLst/>
            <a:ahLst/>
            <a:cxnLst/>
            <a:rect l="0" t="0" r="0" b="0"/>
            <a:pathLst>
              <a:path w="228600" h="228600">
                <a:moveTo>
                  <a:pt x="57150" y="114300"/>
                </a:moveTo>
                <a:lnTo>
                  <a:pt x="171450" y="114300"/>
                </a:lnTo>
              </a:path>
            </a:pathLst>
          </a:custGeom>
          <a:noFill/>
          <a:ln w="26820">
            <a:solidFill>
              <a:srgbClr val="FFFFFF"/>
            </a:solidFill>
            <a:prstDash val="solid"/>
          </a:ln>
        </p:spPr>
        <p:txBody>
          <a:bodyPr/>
          <a:lstStyle/>
          <a:p>
            <a:endParaRPr lang="en-US"/>
          </a:p>
        </p:txBody>
      </p:sp>
      <p:sp>
        <p:nvSpPr>
          <p:cNvPr id="25" name="!!flow-label-3">
            <a:extLst>
              <a:ext uri="{FF2B5EF4-FFF2-40B4-BE49-F238E27FC236}">
                <a16:creationId xmlns:a16="http://schemas.microsoft.com/office/drawing/2014/main" id="{680F69C5-D6DA-4023-BCEE-6181945D1DF7}"/>
              </a:ext>
            </a:extLst>
          </p:cNvPr>
          <p:cNvSpPr>
            <a:spLocks noGrp="1"/>
          </p:cNvSpPr>
          <p:nvPr/>
        </p:nvSpPr>
        <p:spPr>
          <a:xfrm>
            <a:off x="8858250" y="4057650"/>
            <a:ext cx="2343150" cy="857250"/>
          </a:xfrm>
          <a:prstGeom prst="rect">
            <a:avLst/>
          </a:prstGeom>
          <a:noFill/>
          <a:ln w="0">
            <a:noFill/>
          </a:ln>
        </p:spPr>
        <p:txBody>
          <a:bodyPr wrap="square" lIns="0" tIns="0" rIns="0" bIns="0" anchor="t">
            <a:normAutofit/>
          </a:bodyPr>
          <a:lstStyle/>
          <a:p>
            <a:pPr>
              <a:defRPr sz="2325" b="1">
                <a:solidFill>
                  <a:srgbClr val="F4F1E8"/>
                </a:solidFill>
                <a:latin typeface="Segoe UI"/>
                <a:ea typeface="Segoe UI"/>
                <a:cs typeface="Segoe UI"/>
              </a:defRPr>
            </a:pPr>
            <a:r>
              <a:rPr sz="2325" b="1">
                <a:solidFill>
                  <a:srgbClr val="F4F1E8"/>
                </a:solidFill>
                <a:latin typeface="Segoe UI"/>
                <a:ea typeface="Segoe UI"/>
                <a:cs typeface="Segoe UI"/>
              </a:rPr>
              <a:t>Công khai</a:t>
            </a:r>
          </a:p>
          <a:p>
            <a:pPr>
              <a:defRPr sz="2325" b="1">
                <a:solidFill>
                  <a:srgbClr val="F4F1E8"/>
                </a:solidFill>
                <a:latin typeface="Segoe UI"/>
                <a:ea typeface="Segoe UI"/>
                <a:cs typeface="Segoe UI"/>
              </a:defRPr>
            </a:pPr>
            <a:r>
              <a:rPr sz="2325" b="1">
                <a:solidFill>
                  <a:srgbClr val="F4F1E8"/>
                </a:solidFill>
                <a:latin typeface="Segoe UI"/>
                <a:ea typeface="Segoe UI"/>
                <a:cs typeface="Segoe UI"/>
              </a:rPr>
              <a:t>QR</a:t>
            </a:r>
          </a:p>
        </p:txBody>
      </p:sp>
      <p:cxnSp>
        <p:nvCxnSpPr>
          <p:cNvPr id="55" name="!!connector-4-2"/>
          <p:cNvCxnSpPr>
            <a:stCxn id="14" idx="6"/>
            <a:endCxn id="19" idx="2"/>
          </p:cNvCxnSpPr>
          <p:nvPr/>
        </p:nvCxnSpPr>
        <p:spPr>
          <a:xfrm>
            <a:off x="7743825" y="3114675"/>
            <a:ext cx="1543050" cy="0"/>
          </a:xfrm>
          <a:prstGeom prst="straightConnector1">
            <a:avLst/>
          </a:prstGeom>
          <a:ln w="19050">
            <a:solidFill>
              <a:srgbClr val="A3BCAB"/>
            </a:solidFill>
            <a:prstDash val="solid"/>
            <a:tailEnd type="arrow" w="med" len="med"/>
          </a:ln>
        </p:spPr>
      </p:cxnSp>
      <p:sp>
        <p:nvSpPr>
          <p:cNvPr id="27" name="!!flow-note">
            <a:extLst>
              <a:ext uri="{FF2B5EF4-FFF2-40B4-BE49-F238E27FC236}">
                <a16:creationId xmlns:a16="http://schemas.microsoft.com/office/drawing/2014/main" id="{A199C694-67C4-423F-905E-E5402D7CA20E}"/>
              </a:ext>
            </a:extLst>
          </p:cNvPr>
          <p:cNvSpPr>
            <a:spLocks noGrp="1"/>
          </p:cNvSpPr>
          <p:nvPr/>
        </p:nvSpPr>
        <p:spPr>
          <a:xfrm>
            <a:off x="609600" y="5324475"/>
            <a:ext cx="10572750" cy="762000"/>
          </a:xfrm>
          <a:prstGeom prst="rect">
            <a:avLst/>
          </a:prstGeom>
          <a:noFill/>
          <a:ln w="0">
            <a:noFill/>
          </a:ln>
        </p:spPr>
        <p:txBody>
          <a:bodyPr wrap="square" lIns="0" tIns="0" rIns="0" bIns="0" anchor="t">
            <a:normAutofit/>
          </a:bodyPr>
          <a:lstStyle/>
          <a:p>
            <a:pPr>
              <a:defRPr sz="2325" b="0">
                <a:solidFill>
                  <a:srgbClr val="F4F1E8"/>
                </a:solidFill>
                <a:latin typeface="Segoe UI"/>
                <a:ea typeface="Segoe UI"/>
                <a:cs typeface="Segoe UI"/>
              </a:defRPr>
            </a:pPr>
            <a:r>
              <a:rPr sz="2325" b="0">
                <a:solidFill>
                  <a:srgbClr val="F4F1E8"/>
                </a:solidFill>
                <a:latin typeface="Segoe UI"/>
                <a:ea typeface="Segoe UI"/>
                <a:cs typeface="Segoe UI"/>
              </a:rPr>
              <a:t>Chủ hồ sơ chủ động chọn thời điểm chia sẻ</a:t>
            </a:r>
          </a:p>
        </p:txBody>
      </p:sp>
      <p:sp>
        <p:nvSpPr>
          <p:cNvPr id="28" name="!!page">
            <a:extLst>
              <a:ext uri="{FF2B5EF4-FFF2-40B4-BE49-F238E27FC236}">
                <a16:creationId xmlns:a16="http://schemas.microsoft.com/office/drawing/2014/main" id="{D7C8FC48-D2EA-42FA-BFDA-8696FEB6B3D0}"/>
              </a:ext>
            </a:extLst>
          </p:cNvPr>
          <p:cNvSpPr>
            <a:spLocks noGrp="1"/>
          </p:cNvSpPr>
          <p:nvPr/>
        </p:nvSpPr>
        <p:spPr>
          <a:xfrm>
            <a:off x="10706100" y="6381750"/>
            <a:ext cx="876300" cy="228600"/>
          </a:xfrm>
          <a:prstGeom prst="rect">
            <a:avLst/>
          </a:prstGeom>
          <a:noFill/>
          <a:ln w="0">
            <a:noFill/>
          </a:ln>
        </p:spPr>
        <p:txBody>
          <a:bodyPr wrap="square" lIns="0" tIns="0" rIns="0" bIns="0" anchor="t">
            <a:normAutofit/>
          </a:bodyPr>
          <a:lstStyle/>
          <a:p>
            <a:pPr>
              <a:defRPr sz="1275" b="0">
                <a:solidFill>
                  <a:srgbClr val="A3BCAB"/>
                </a:solidFill>
                <a:latin typeface="Segoe UI"/>
                <a:ea typeface="Segoe UI"/>
                <a:cs typeface="Segoe UI"/>
              </a:defRPr>
            </a:pPr>
            <a:r>
              <a:rPr sz="1275" b="0">
                <a:solidFill>
                  <a:srgbClr val="A3BCAB"/>
                </a:solidFill>
                <a:latin typeface="Segoe UI"/>
                <a:ea typeface="Segoe UI"/>
                <a:cs typeface="Segoe UI"/>
              </a:rPr>
              <a:t>04 / 19</a:t>
            </a:r>
          </a:p>
        </p:txBody>
      </p:sp>
      <p:sp>
        <p:nvSpPr>
          <p:cNvPr id="29" name="!!caption">
            <a:extLst>
              <a:ext uri="{FF2B5EF4-FFF2-40B4-BE49-F238E27FC236}">
                <a16:creationId xmlns:a16="http://schemas.microsoft.com/office/drawing/2014/main" id="{0F38173F-B4CC-4970-918C-91DAB9E92A83}"/>
              </a:ext>
            </a:extLst>
          </p:cNvPr>
          <p:cNvSpPr>
            <a:spLocks noGrp="1"/>
          </p:cNvSpPr>
          <p:nvPr/>
        </p:nvSpPr>
        <p:spPr>
          <a:xfrm>
            <a:off x="609600" y="6381750"/>
            <a:ext cx="9525000" cy="228600"/>
          </a:xfrm>
          <a:prstGeom prst="rect">
            <a:avLst/>
          </a:prstGeom>
          <a:noFill/>
          <a:ln w="0">
            <a:noFill/>
          </a:ln>
        </p:spPr>
        <p:txBody>
          <a:bodyPr wrap="square" lIns="0" tIns="0" rIns="0" bIns="0" anchor="t">
            <a:normAutofit/>
          </a:bodyPr>
          <a:lstStyle/>
          <a:p>
            <a:pPr>
              <a:defRPr sz="1275" b="0">
                <a:solidFill>
                  <a:srgbClr val="A3BCAB"/>
                </a:solidFill>
                <a:latin typeface="Segoe UI"/>
                <a:ea typeface="Segoe UI"/>
                <a:cs typeface="Segoe UI"/>
              </a:defRPr>
            </a:pPr>
            <a:r>
              <a:rPr sz="1275" b="0">
                <a:solidFill>
                  <a:srgbClr val="A3BCAB"/>
                </a:solidFill>
                <a:latin typeface="Segoe UI"/>
                <a:ea typeface="Segoe UI"/>
                <a:cs typeface="Segoe UI"/>
              </a:rPr>
              <a:t>Luồng cloud hiện có trong mã nguồn</a:t>
            </a:r>
          </a:p>
        </p:txBody>
      </p:sp>
    </p:spTree>
    <p:extLst>
      <p:ext uri="{BB962C8B-B14F-4D97-AF65-F5344CB8AC3E}">
        <p14:creationId xmlns:p14="http://schemas.microsoft.com/office/powerpoint/2010/main" val="16280751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00">
        <p159:morph option="byObject"/>
      </p:transition>
    </mc:Choice>
    <mc:Fallback xmlns="" xmlns:p14="http://schemas.microsoft.com/office/powerpoint/2010/main">
      <p:transition advClick="1" spd="fast">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1E8"/>
        </a:solidFill>
        <a:effectLst/>
      </p:bgPr>
    </p:bg>
    <p:spTree>
      <p:nvGrpSpPr>
        <p:cNvPr id="1" name=""/>
        <p:cNvGrpSpPr/>
        <p:nvPr/>
      </p:nvGrpSpPr>
      <p:grpSpPr>
        <a:xfrm>
          <a:off x="0" y="0"/>
          <a:ext cx="0" cy="0"/>
          <a:chOff x="0" y="0"/>
          <a:chExt cx="0" cy="0"/>
        </a:xfrm>
      </p:grpSpPr>
      <p:pic>
        <p:nvPicPr>
          <p:cNvPr id="29" name="!!backdrop"/>
          <p:cNvPicPr>
            <a:picLocks noChangeAspect="1"/>
          </p:cNvPicPr>
          <p:nvPr/>
        </p:nvPicPr>
        <p:blipFill>
          <a:blip r:embed="rId3"/>
          <a:srcRect t="27" b="27"/>
          <a:stretch>
            <a:fillRect/>
          </a:stretch>
        </p:blipFill>
        <p:spPr>
          <a:xfrm>
            <a:off x="0" y="0"/>
            <a:ext cx="12192000" cy="6858000"/>
          </a:xfrm>
          <a:prstGeom prst="rect">
            <a:avLst/>
          </a:prstGeom>
        </p:spPr>
      </p:pic>
      <p:sp>
        <p:nvSpPr>
          <p:cNvPr id="2" name="!!headline">
            <a:extLst>
              <a:ext uri="{FF2B5EF4-FFF2-40B4-BE49-F238E27FC236}">
                <a16:creationId xmlns:a16="http://schemas.microsoft.com/office/drawing/2014/main" id="{F8752A9F-B044-4BCE-ABBD-3EACDB1B0B7D}"/>
              </a:ext>
            </a:extLst>
          </p:cNvPr>
          <p:cNvSpPr>
            <a:spLocks noGrp="1"/>
          </p:cNvSpPr>
          <p:nvPr/>
        </p:nvSpPr>
        <p:spPr>
          <a:xfrm>
            <a:off x="609600" y="533400"/>
            <a:ext cx="10953750" cy="1104900"/>
          </a:xfrm>
          <a:prstGeom prst="rect">
            <a:avLst/>
          </a:prstGeom>
          <a:noFill/>
          <a:ln w="0">
            <a:noFill/>
          </a:ln>
        </p:spPr>
        <p:txBody>
          <a:bodyPr wrap="square" lIns="0" tIns="0" rIns="0" bIns="0" anchor="t">
            <a:normAutofit/>
          </a:bodyPr>
          <a:lstStyle/>
          <a:p>
            <a:pPr>
              <a:defRPr sz="3450" b="1">
                <a:solidFill>
                  <a:srgbClr val="142F24"/>
                </a:solidFill>
                <a:latin typeface="Segoe UI"/>
                <a:ea typeface="Segoe UI"/>
                <a:cs typeface="Segoe UI"/>
              </a:defRPr>
            </a:pPr>
            <a:r>
              <a:rPr sz="3450" b="1">
                <a:solidFill>
                  <a:srgbClr val="142F24"/>
                </a:solidFill>
                <a:latin typeface="Segoe UI"/>
                <a:ea typeface="Segoe UI"/>
                <a:cs typeface="Segoe UI"/>
              </a:rPr>
              <a:t>Thông tin lô</a:t>
            </a:r>
          </a:p>
        </p:txBody>
      </p:sp>
      <p:pic>
        <p:nvPicPr>
          <p:cNvPr id="31" name="!!workspace"/>
          <p:cNvPicPr>
            <a:picLocks noChangeAspect="1"/>
          </p:cNvPicPr>
          <p:nvPr/>
        </p:nvPicPr>
        <p:blipFill>
          <a:blip r:embed="rId4"/>
          <a:stretch/>
        </p:blipFill>
        <p:spPr>
          <a:xfrm>
            <a:off x="6612823" y="2133600"/>
            <a:ext cx="4300355" cy="3162300"/>
          </a:xfrm>
          <a:prstGeom prst="rect">
            <a:avLst/>
          </a:prstGeom>
        </p:spPr>
      </p:pic>
      <p:sp>
        <p:nvSpPr>
          <p:cNvPr id="4" name="!!field-0-selection">
            <a:extLst>
              <a:ext uri="{FF2B5EF4-FFF2-40B4-BE49-F238E27FC236}">
                <a16:creationId xmlns:a16="http://schemas.microsoft.com/office/drawing/2014/main" id="{D710E56E-E0F5-4D3E-B1A7-4E10893660CE}"/>
              </a:ext>
            </a:extLst>
          </p:cNvPr>
          <p:cNvSpPr>
            <a:spLocks noGrp="1"/>
          </p:cNvSpPr>
          <p:nvPr/>
        </p:nvSpPr>
        <p:spPr>
          <a:xfrm>
            <a:off x="666750" y="2076450"/>
            <a:ext cx="495300" cy="495300"/>
          </a:xfrm>
          <a:prstGeom prst="ellipse">
            <a:avLst/>
          </a:prstGeom>
          <a:solidFill>
            <a:srgbClr val="E5EBDD"/>
          </a:solidFill>
          <a:ln w="9525">
            <a:solidFill>
              <a:srgbClr val="166447"/>
            </a:solidFill>
          </a:ln>
        </p:spPr>
        <p:txBody>
          <a:bodyPr/>
          <a:lstStyle/>
          <a:p>
            <a:endParaRPr lang="en-US"/>
          </a:p>
        </p:txBody>
      </p:sp>
      <p:sp>
        <p:nvSpPr>
          <p:cNvPr id="5" name="!!field-0-icon-0">
            <a:extLst>
              <a:ext uri="{FF2B5EF4-FFF2-40B4-BE49-F238E27FC236}">
                <a16:creationId xmlns:a16="http://schemas.microsoft.com/office/drawing/2014/main" id="{C9EF8C15-8BB3-4E30-BE7A-56E0D279DCDB}"/>
              </a:ext>
            </a:extLst>
          </p:cNvPr>
          <p:cNvSpPr>
            <a:spLocks noGrp="1"/>
          </p:cNvSpPr>
          <p:nvPr/>
        </p:nvSpPr>
        <p:spPr>
          <a:xfrm>
            <a:off x="780669" y="2190369"/>
            <a:ext cx="267462" cy="267462"/>
          </a:xfrm>
          <a:custGeom>
            <a:avLst/>
            <a:gdLst/>
            <a:ahLst/>
            <a:cxnLst/>
            <a:rect l="0" t="0" r="0" b="0"/>
            <a:pathLst>
              <a:path w="228600" h="228600">
                <a:moveTo>
                  <a:pt x="47625" y="19050"/>
                </a:moveTo>
                <a:lnTo>
                  <a:pt x="133350" y="19050"/>
                </a:lnTo>
                <a:lnTo>
                  <a:pt x="190500" y="76200"/>
                </a:lnTo>
                <a:lnTo>
                  <a:pt x="190500" y="209550"/>
                </a:lnTo>
                <a:lnTo>
                  <a:pt x="47625" y="209550"/>
                </a:lnTo>
                <a:close/>
              </a:path>
            </a:pathLst>
          </a:custGeom>
          <a:noFill/>
          <a:ln w="19050">
            <a:solidFill>
              <a:srgbClr val="166447"/>
            </a:solidFill>
            <a:prstDash val="solid"/>
          </a:ln>
        </p:spPr>
        <p:txBody>
          <a:bodyPr/>
          <a:lstStyle/>
          <a:p>
            <a:endParaRPr lang="en-US"/>
          </a:p>
        </p:txBody>
      </p:sp>
      <p:sp>
        <p:nvSpPr>
          <p:cNvPr id="6" name="!!field-0-icon-1">
            <a:extLst>
              <a:ext uri="{FF2B5EF4-FFF2-40B4-BE49-F238E27FC236}">
                <a16:creationId xmlns:a16="http://schemas.microsoft.com/office/drawing/2014/main" id="{8707C964-A6C9-4EA9-9F75-CD230D168C45}"/>
              </a:ext>
            </a:extLst>
          </p:cNvPr>
          <p:cNvSpPr>
            <a:spLocks noGrp="1"/>
          </p:cNvSpPr>
          <p:nvPr/>
        </p:nvSpPr>
        <p:spPr>
          <a:xfrm>
            <a:off x="780669" y="2190369"/>
            <a:ext cx="267462" cy="267462"/>
          </a:xfrm>
          <a:custGeom>
            <a:avLst/>
            <a:gdLst/>
            <a:ahLst/>
            <a:cxnLst/>
            <a:rect l="0" t="0" r="0" b="0"/>
            <a:pathLst>
              <a:path w="228600" h="228600">
                <a:moveTo>
                  <a:pt x="133350" y="19050"/>
                </a:moveTo>
                <a:lnTo>
                  <a:pt x="133350" y="76200"/>
                </a:lnTo>
                <a:lnTo>
                  <a:pt x="190500" y="76200"/>
                </a:lnTo>
              </a:path>
            </a:pathLst>
          </a:custGeom>
          <a:noFill/>
          <a:ln w="19050">
            <a:solidFill>
              <a:srgbClr val="166447"/>
            </a:solidFill>
            <a:prstDash val="solid"/>
          </a:ln>
        </p:spPr>
        <p:txBody>
          <a:bodyPr/>
          <a:lstStyle/>
          <a:p>
            <a:endParaRPr lang="en-US"/>
          </a:p>
        </p:txBody>
      </p:sp>
      <p:sp>
        <p:nvSpPr>
          <p:cNvPr id="7" name="!!field-0-icon-2">
            <a:extLst>
              <a:ext uri="{FF2B5EF4-FFF2-40B4-BE49-F238E27FC236}">
                <a16:creationId xmlns:a16="http://schemas.microsoft.com/office/drawing/2014/main" id="{240BA6A6-64D9-497A-A164-6C72CEABC536}"/>
              </a:ext>
            </a:extLst>
          </p:cNvPr>
          <p:cNvSpPr>
            <a:spLocks noGrp="1"/>
          </p:cNvSpPr>
          <p:nvPr/>
        </p:nvSpPr>
        <p:spPr>
          <a:xfrm>
            <a:off x="780669" y="2190369"/>
            <a:ext cx="267462" cy="267462"/>
          </a:xfrm>
          <a:custGeom>
            <a:avLst/>
            <a:gdLst/>
            <a:ahLst/>
            <a:cxnLst/>
            <a:rect l="0" t="0" r="0" b="0"/>
            <a:pathLst>
              <a:path w="228600" h="228600">
                <a:moveTo>
                  <a:pt x="76200" y="123825"/>
                </a:moveTo>
                <a:lnTo>
                  <a:pt x="161925" y="123825"/>
                </a:lnTo>
              </a:path>
            </a:pathLst>
          </a:custGeom>
          <a:noFill/>
          <a:ln w="19050">
            <a:solidFill>
              <a:srgbClr val="166447"/>
            </a:solidFill>
            <a:prstDash val="solid"/>
          </a:ln>
        </p:spPr>
        <p:txBody>
          <a:bodyPr/>
          <a:lstStyle/>
          <a:p>
            <a:endParaRPr lang="en-US"/>
          </a:p>
        </p:txBody>
      </p:sp>
      <p:sp>
        <p:nvSpPr>
          <p:cNvPr id="8" name="!!field-0-icon-3">
            <a:extLst>
              <a:ext uri="{FF2B5EF4-FFF2-40B4-BE49-F238E27FC236}">
                <a16:creationId xmlns:a16="http://schemas.microsoft.com/office/drawing/2014/main" id="{E362D558-DB8B-4F00-8120-07D32181A61E}"/>
              </a:ext>
            </a:extLst>
          </p:cNvPr>
          <p:cNvSpPr>
            <a:spLocks noGrp="1"/>
          </p:cNvSpPr>
          <p:nvPr/>
        </p:nvSpPr>
        <p:spPr>
          <a:xfrm>
            <a:off x="780669" y="2190369"/>
            <a:ext cx="267462" cy="267462"/>
          </a:xfrm>
          <a:custGeom>
            <a:avLst/>
            <a:gdLst/>
            <a:ahLst/>
            <a:cxnLst/>
            <a:rect l="0" t="0" r="0" b="0"/>
            <a:pathLst>
              <a:path w="228600" h="228600">
                <a:moveTo>
                  <a:pt x="76200" y="161925"/>
                </a:moveTo>
                <a:lnTo>
                  <a:pt x="142875" y="161925"/>
                </a:lnTo>
              </a:path>
            </a:pathLst>
          </a:custGeom>
          <a:noFill/>
          <a:ln w="19050">
            <a:solidFill>
              <a:srgbClr val="166447"/>
            </a:solidFill>
            <a:prstDash val="solid"/>
          </a:ln>
        </p:spPr>
        <p:txBody>
          <a:bodyPr/>
          <a:lstStyle/>
          <a:p>
            <a:endParaRPr lang="en-US"/>
          </a:p>
        </p:txBody>
      </p:sp>
      <p:sp>
        <p:nvSpPr>
          <p:cNvPr id="9" name="!!field-label-0">
            <a:extLst>
              <a:ext uri="{FF2B5EF4-FFF2-40B4-BE49-F238E27FC236}">
                <a16:creationId xmlns:a16="http://schemas.microsoft.com/office/drawing/2014/main" id="{3481E4D0-2AEB-4CB3-9BBD-BB1CFD82BA2D}"/>
              </a:ext>
            </a:extLst>
          </p:cNvPr>
          <p:cNvSpPr>
            <a:spLocks noGrp="1"/>
          </p:cNvSpPr>
          <p:nvPr/>
        </p:nvSpPr>
        <p:spPr>
          <a:xfrm>
            <a:off x="1371600" y="1952625"/>
            <a:ext cx="4381500" cy="323850"/>
          </a:xfrm>
          <a:prstGeom prst="rect">
            <a:avLst/>
          </a:prstGeom>
          <a:noFill/>
          <a:ln w="0">
            <a:noFill/>
          </a:ln>
        </p:spPr>
        <p:txBody>
          <a:bodyPr wrap="square" lIns="0" tIns="0" rIns="0" bIns="0" anchor="t">
            <a:normAutofit/>
          </a:bodyPr>
          <a:lstStyle/>
          <a:p>
            <a:pPr>
              <a:defRPr sz="1650" b="0">
                <a:solidFill>
                  <a:srgbClr val="53685B"/>
                </a:solidFill>
                <a:latin typeface="Segoe UI"/>
                <a:ea typeface="Segoe UI"/>
                <a:cs typeface="Segoe UI"/>
              </a:defRPr>
            </a:pPr>
            <a:r>
              <a:rPr sz="1650" b="0">
                <a:solidFill>
                  <a:srgbClr val="53685B"/>
                </a:solidFill>
                <a:latin typeface="Segoe UI"/>
                <a:ea typeface="Segoe UI"/>
                <a:cs typeface="Segoe UI"/>
              </a:rPr>
              <a:t>Mã lô</a:t>
            </a:r>
          </a:p>
        </p:txBody>
      </p:sp>
      <p:sp>
        <p:nvSpPr>
          <p:cNvPr id="10" name="!!field-value-0">
            <a:extLst>
              <a:ext uri="{FF2B5EF4-FFF2-40B4-BE49-F238E27FC236}">
                <a16:creationId xmlns:a16="http://schemas.microsoft.com/office/drawing/2014/main" id="{89B7E6A9-7691-4FDE-AC1E-89F6F1496B9B}"/>
              </a:ext>
            </a:extLst>
          </p:cNvPr>
          <p:cNvSpPr>
            <a:spLocks noGrp="1"/>
          </p:cNvSpPr>
          <p:nvPr/>
        </p:nvSpPr>
        <p:spPr>
          <a:xfrm>
            <a:off x="1371600" y="2305050"/>
            <a:ext cx="4400550" cy="533400"/>
          </a:xfrm>
          <a:prstGeom prst="rect">
            <a:avLst/>
          </a:prstGeom>
          <a:noFill/>
          <a:ln w="0">
            <a:noFill/>
          </a:ln>
        </p:spPr>
        <p:txBody>
          <a:bodyPr wrap="square" lIns="0" tIns="0" rIns="0" bIns="0" anchor="t">
            <a:normAutofit/>
          </a:bodyPr>
          <a:lstStyle/>
          <a:p>
            <a:pPr>
              <a:defRPr sz="2100" b="1">
                <a:solidFill>
                  <a:srgbClr val="142F24"/>
                </a:solidFill>
                <a:latin typeface="Segoe UI"/>
                <a:ea typeface="Segoe UI"/>
                <a:cs typeface="Segoe UI"/>
              </a:defRPr>
            </a:pPr>
            <a:r>
              <a:rPr sz="2100" b="1">
                <a:solidFill>
                  <a:srgbClr val="142F24"/>
                </a:solidFill>
                <a:latin typeface="Segoe UI"/>
                <a:ea typeface="Segoe UI"/>
                <a:cs typeface="Segoe UI"/>
              </a:rPr>
              <a:t>MAU-2026-01</a:t>
            </a:r>
          </a:p>
        </p:txBody>
      </p:sp>
      <p:sp>
        <p:nvSpPr>
          <p:cNvPr id="11" name="!!field-1-selection">
            <a:extLst>
              <a:ext uri="{FF2B5EF4-FFF2-40B4-BE49-F238E27FC236}">
                <a16:creationId xmlns:a16="http://schemas.microsoft.com/office/drawing/2014/main" id="{3D428A24-1AA9-4832-BCA1-00B3ACDEED5B}"/>
              </a:ext>
            </a:extLst>
          </p:cNvPr>
          <p:cNvSpPr>
            <a:spLocks noGrp="1"/>
          </p:cNvSpPr>
          <p:nvPr/>
        </p:nvSpPr>
        <p:spPr>
          <a:xfrm>
            <a:off x="666750" y="3076575"/>
            <a:ext cx="495300" cy="495300"/>
          </a:xfrm>
          <a:prstGeom prst="ellipse">
            <a:avLst/>
          </a:prstGeom>
          <a:solidFill>
            <a:srgbClr val="E5EBDD"/>
          </a:solidFill>
          <a:ln w="9525">
            <a:solidFill>
              <a:srgbClr val="166447"/>
            </a:solidFill>
          </a:ln>
        </p:spPr>
        <p:txBody>
          <a:bodyPr/>
          <a:lstStyle/>
          <a:p>
            <a:endParaRPr lang="en-US"/>
          </a:p>
        </p:txBody>
      </p:sp>
      <p:sp>
        <p:nvSpPr>
          <p:cNvPr id="12" name="!!field-1-icon-0">
            <a:extLst>
              <a:ext uri="{FF2B5EF4-FFF2-40B4-BE49-F238E27FC236}">
                <a16:creationId xmlns:a16="http://schemas.microsoft.com/office/drawing/2014/main" id="{6CB7A44F-B785-4B76-A862-B51E1EFED46C}"/>
              </a:ext>
            </a:extLst>
          </p:cNvPr>
          <p:cNvSpPr>
            <a:spLocks noGrp="1"/>
          </p:cNvSpPr>
          <p:nvPr/>
        </p:nvSpPr>
        <p:spPr>
          <a:xfrm>
            <a:off x="780669" y="3190494"/>
            <a:ext cx="267462" cy="267462"/>
          </a:xfrm>
          <a:custGeom>
            <a:avLst/>
            <a:gdLst/>
            <a:ahLst/>
            <a:cxnLst/>
            <a:rect l="0" t="0" r="0" b="0"/>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a:ln w="19050">
            <a:solidFill>
              <a:srgbClr val="166447"/>
            </a:solidFill>
            <a:prstDash val="solid"/>
          </a:ln>
        </p:spPr>
        <p:txBody>
          <a:bodyPr/>
          <a:lstStyle/>
          <a:p>
            <a:endParaRPr lang="en-US"/>
          </a:p>
        </p:txBody>
      </p:sp>
      <p:sp>
        <p:nvSpPr>
          <p:cNvPr id="13" name="!!field-1-icon-1">
            <a:extLst>
              <a:ext uri="{FF2B5EF4-FFF2-40B4-BE49-F238E27FC236}">
                <a16:creationId xmlns:a16="http://schemas.microsoft.com/office/drawing/2014/main" id="{CFAE4E59-D1FE-4740-A6BC-6440AF702DE6}"/>
              </a:ext>
            </a:extLst>
          </p:cNvPr>
          <p:cNvSpPr>
            <a:spLocks noGrp="1"/>
          </p:cNvSpPr>
          <p:nvPr/>
        </p:nvSpPr>
        <p:spPr>
          <a:xfrm>
            <a:off x="780669" y="3190494"/>
            <a:ext cx="267462" cy="267462"/>
          </a:xfrm>
          <a:custGeom>
            <a:avLst/>
            <a:gdLst/>
            <a:ahLst/>
            <a:cxnLst/>
            <a:rect l="0" t="0" r="0" b="0"/>
            <a:pathLst>
              <a:path w="228600" h="228600">
                <a:moveTo>
                  <a:pt x="19050" y="209550"/>
                </a:moveTo>
                <a:lnTo>
                  <a:pt x="95250" y="133350"/>
                </a:lnTo>
                <a:lnTo>
                  <a:pt x="142875" y="95250"/>
                </a:lnTo>
              </a:path>
            </a:pathLst>
          </a:custGeom>
          <a:noFill/>
          <a:ln w="19050">
            <a:solidFill>
              <a:srgbClr val="166447"/>
            </a:solidFill>
            <a:prstDash val="solid"/>
          </a:ln>
        </p:spPr>
        <p:txBody>
          <a:bodyPr/>
          <a:lstStyle/>
          <a:p>
            <a:endParaRPr lang="en-US"/>
          </a:p>
        </p:txBody>
      </p:sp>
      <p:sp>
        <p:nvSpPr>
          <p:cNvPr id="14" name="!!field-label-1">
            <a:extLst>
              <a:ext uri="{FF2B5EF4-FFF2-40B4-BE49-F238E27FC236}">
                <a16:creationId xmlns:a16="http://schemas.microsoft.com/office/drawing/2014/main" id="{9CD256B4-599A-4E69-ACE7-C651F59D999D}"/>
              </a:ext>
            </a:extLst>
          </p:cNvPr>
          <p:cNvSpPr>
            <a:spLocks noGrp="1"/>
          </p:cNvSpPr>
          <p:nvPr/>
        </p:nvSpPr>
        <p:spPr>
          <a:xfrm>
            <a:off x="1371600" y="2952750"/>
            <a:ext cx="4381500" cy="323850"/>
          </a:xfrm>
          <a:prstGeom prst="rect">
            <a:avLst/>
          </a:prstGeom>
          <a:noFill/>
          <a:ln w="0">
            <a:noFill/>
          </a:ln>
        </p:spPr>
        <p:txBody>
          <a:bodyPr wrap="square" lIns="0" tIns="0" rIns="0" bIns="0" anchor="t">
            <a:normAutofit/>
          </a:bodyPr>
          <a:lstStyle/>
          <a:p>
            <a:pPr>
              <a:defRPr sz="1650" b="0">
                <a:solidFill>
                  <a:srgbClr val="53685B"/>
                </a:solidFill>
                <a:latin typeface="Segoe UI"/>
                <a:ea typeface="Segoe UI"/>
                <a:cs typeface="Segoe UI"/>
              </a:defRPr>
            </a:pPr>
            <a:r>
              <a:rPr sz="1650" b="0">
                <a:solidFill>
                  <a:srgbClr val="53685B"/>
                </a:solidFill>
                <a:latin typeface="Segoe UI"/>
                <a:ea typeface="Segoe UI"/>
                <a:cs typeface="Segoe UI"/>
              </a:rPr>
              <a:t>Đơn vị / Lâm Đồng</a:t>
            </a:r>
          </a:p>
        </p:txBody>
      </p:sp>
      <p:sp>
        <p:nvSpPr>
          <p:cNvPr id="15" name="!!field-value-1">
            <a:extLst>
              <a:ext uri="{FF2B5EF4-FFF2-40B4-BE49-F238E27FC236}">
                <a16:creationId xmlns:a16="http://schemas.microsoft.com/office/drawing/2014/main" id="{423E4421-2150-4AE7-9034-695F1620E8E1}"/>
              </a:ext>
            </a:extLst>
          </p:cNvPr>
          <p:cNvSpPr>
            <a:spLocks noGrp="1"/>
          </p:cNvSpPr>
          <p:nvPr/>
        </p:nvSpPr>
        <p:spPr>
          <a:xfrm>
            <a:off x="1371600" y="3305175"/>
            <a:ext cx="4400550" cy="533400"/>
          </a:xfrm>
          <a:prstGeom prst="rect">
            <a:avLst/>
          </a:prstGeom>
          <a:noFill/>
          <a:ln w="0">
            <a:noFill/>
          </a:ln>
        </p:spPr>
        <p:txBody>
          <a:bodyPr wrap="square" lIns="0" tIns="0" rIns="0" bIns="0" anchor="t">
            <a:normAutofit/>
          </a:bodyPr>
          <a:lstStyle/>
          <a:p>
            <a:pPr>
              <a:defRPr sz="2100" b="1">
                <a:solidFill>
                  <a:srgbClr val="142F24"/>
                </a:solidFill>
                <a:latin typeface="Segoe UI"/>
                <a:ea typeface="Segoe UI"/>
                <a:cs typeface="Segoe UI"/>
              </a:defRPr>
            </a:pPr>
            <a:r>
              <a:rPr sz="2100" b="1">
                <a:solidFill>
                  <a:srgbClr val="142F24"/>
                </a:solidFill>
                <a:latin typeface="Segoe UI"/>
                <a:ea typeface="Segoe UI"/>
                <a:cs typeface="Segoe UI"/>
              </a:rPr>
              <a:t>HTX minh họa</a:t>
            </a:r>
          </a:p>
        </p:txBody>
      </p:sp>
      <p:sp>
        <p:nvSpPr>
          <p:cNvPr id="16" name="!!field-2-selection">
            <a:extLst>
              <a:ext uri="{FF2B5EF4-FFF2-40B4-BE49-F238E27FC236}">
                <a16:creationId xmlns:a16="http://schemas.microsoft.com/office/drawing/2014/main" id="{17B0D108-1497-480C-9532-BE267D377BF7}"/>
              </a:ext>
            </a:extLst>
          </p:cNvPr>
          <p:cNvSpPr>
            <a:spLocks noGrp="1"/>
          </p:cNvSpPr>
          <p:nvPr/>
        </p:nvSpPr>
        <p:spPr>
          <a:xfrm>
            <a:off x="666750" y="4076700"/>
            <a:ext cx="495300" cy="495300"/>
          </a:xfrm>
          <a:prstGeom prst="ellipse">
            <a:avLst/>
          </a:prstGeom>
          <a:solidFill>
            <a:srgbClr val="E5EBDD"/>
          </a:solidFill>
          <a:ln w="9525">
            <a:solidFill>
              <a:srgbClr val="166447"/>
            </a:solidFill>
          </a:ln>
        </p:spPr>
        <p:txBody>
          <a:bodyPr/>
          <a:lstStyle/>
          <a:p>
            <a:endParaRPr lang="en-US"/>
          </a:p>
        </p:txBody>
      </p:sp>
      <p:sp>
        <p:nvSpPr>
          <p:cNvPr id="17" name="!!field-2-icon-0">
            <a:extLst>
              <a:ext uri="{FF2B5EF4-FFF2-40B4-BE49-F238E27FC236}">
                <a16:creationId xmlns:a16="http://schemas.microsoft.com/office/drawing/2014/main" id="{75E0AD48-B4E0-474E-80E1-29E3556333BE}"/>
              </a:ext>
            </a:extLst>
          </p:cNvPr>
          <p:cNvSpPr>
            <a:spLocks noGrp="1"/>
          </p:cNvSpPr>
          <p:nvPr/>
        </p:nvSpPr>
        <p:spPr>
          <a:xfrm>
            <a:off x="780669" y="4190619"/>
            <a:ext cx="267462" cy="267462"/>
          </a:xfrm>
          <a:custGeom>
            <a:avLst/>
            <a:gdLst/>
            <a:ahLst/>
            <a:cxnLst/>
            <a:rect l="0" t="0" r="0" b="0"/>
            <a:pathLst>
              <a:path w="228600" h="228600">
                <a:moveTo>
                  <a:pt x="28575" y="66675"/>
                </a:moveTo>
                <a:lnTo>
                  <a:pt x="114300" y="19050"/>
                </a:lnTo>
                <a:lnTo>
                  <a:pt x="200025" y="66675"/>
                </a:lnTo>
                <a:lnTo>
                  <a:pt x="200025" y="161925"/>
                </a:lnTo>
                <a:lnTo>
                  <a:pt x="114300" y="209550"/>
                </a:lnTo>
                <a:lnTo>
                  <a:pt x="28575" y="161925"/>
                </a:lnTo>
                <a:close/>
              </a:path>
            </a:pathLst>
          </a:custGeom>
          <a:noFill/>
          <a:ln w="19050">
            <a:solidFill>
              <a:srgbClr val="166447"/>
            </a:solidFill>
            <a:prstDash val="solid"/>
          </a:ln>
        </p:spPr>
        <p:txBody>
          <a:bodyPr/>
          <a:lstStyle/>
          <a:p>
            <a:endParaRPr lang="en-US"/>
          </a:p>
        </p:txBody>
      </p:sp>
      <p:sp>
        <p:nvSpPr>
          <p:cNvPr id="18" name="!!field-2-icon-1">
            <a:extLst>
              <a:ext uri="{FF2B5EF4-FFF2-40B4-BE49-F238E27FC236}">
                <a16:creationId xmlns:a16="http://schemas.microsoft.com/office/drawing/2014/main" id="{0BB7E097-5D09-4B7F-84EE-72592BC08CCD}"/>
              </a:ext>
            </a:extLst>
          </p:cNvPr>
          <p:cNvSpPr>
            <a:spLocks noGrp="1"/>
          </p:cNvSpPr>
          <p:nvPr/>
        </p:nvSpPr>
        <p:spPr>
          <a:xfrm>
            <a:off x="780669" y="4190619"/>
            <a:ext cx="267462" cy="267462"/>
          </a:xfrm>
          <a:custGeom>
            <a:avLst/>
            <a:gdLst/>
            <a:ahLst/>
            <a:cxnLst/>
            <a:rect l="0" t="0" r="0" b="0"/>
            <a:pathLst>
              <a:path w="228600" h="228600">
                <a:moveTo>
                  <a:pt x="28575" y="66675"/>
                </a:moveTo>
                <a:lnTo>
                  <a:pt x="114300" y="114300"/>
                </a:lnTo>
                <a:lnTo>
                  <a:pt x="200025" y="66675"/>
                </a:lnTo>
              </a:path>
            </a:pathLst>
          </a:custGeom>
          <a:noFill/>
          <a:ln w="19050">
            <a:solidFill>
              <a:srgbClr val="166447"/>
            </a:solidFill>
            <a:prstDash val="solid"/>
          </a:ln>
        </p:spPr>
        <p:txBody>
          <a:bodyPr/>
          <a:lstStyle/>
          <a:p>
            <a:endParaRPr lang="en-US"/>
          </a:p>
        </p:txBody>
      </p:sp>
      <p:sp>
        <p:nvSpPr>
          <p:cNvPr id="19" name="!!field-2-icon-2">
            <a:extLst>
              <a:ext uri="{FF2B5EF4-FFF2-40B4-BE49-F238E27FC236}">
                <a16:creationId xmlns:a16="http://schemas.microsoft.com/office/drawing/2014/main" id="{D5B79981-AFE5-4945-9865-6F53FEB1B4A9}"/>
              </a:ext>
            </a:extLst>
          </p:cNvPr>
          <p:cNvSpPr>
            <a:spLocks noGrp="1"/>
          </p:cNvSpPr>
          <p:nvPr/>
        </p:nvSpPr>
        <p:spPr>
          <a:xfrm>
            <a:off x="780669" y="4190619"/>
            <a:ext cx="267462" cy="267462"/>
          </a:xfrm>
          <a:custGeom>
            <a:avLst/>
            <a:gdLst/>
            <a:ahLst/>
            <a:cxnLst/>
            <a:rect l="0" t="0" r="0" b="0"/>
            <a:pathLst>
              <a:path w="228600" h="228600">
                <a:moveTo>
                  <a:pt x="114300" y="114300"/>
                </a:moveTo>
                <a:lnTo>
                  <a:pt x="114300" y="209550"/>
                </a:lnTo>
              </a:path>
            </a:pathLst>
          </a:custGeom>
          <a:noFill/>
          <a:ln w="19050">
            <a:solidFill>
              <a:srgbClr val="166447"/>
            </a:solidFill>
            <a:prstDash val="solid"/>
          </a:ln>
        </p:spPr>
        <p:txBody>
          <a:bodyPr/>
          <a:lstStyle/>
          <a:p>
            <a:endParaRPr lang="en-US"/>
          </a:p>
        </p:txBody>
      </p:sp>
      <p:sp>
        <p:nvSpPr>
          <p:cNvPr id="20" name="!!field-label-2">
            <a:extLst>
              <a:ext uri="{FF2B5EF4-FFF2-40B4-BE49-F238E27FC236}">
                <a16:creationId xmlns:a16="http://schemas.microsoft.com/office/drawing/2014/main" id="{485EFC86-9088-42AD-8A66-185D3724045A}"/>
              </a:ext>
            </a:extLst>
          </p:cNvPr>
          <p:cNvSpPr>
            <a:spLocks noGrp="1"/>
          </p:cNvSpPr>
          <p:nvPr/>
        </p:nvSpPr>
        <p:spPr>
          <a:xfrm>
            <a:off x="1371600" y="3952875"/>
            <a:ext cx="4381500" cy="323850"/>
          </a:xfrm>
          <a:prstGeom prst="rect">
            <a:avLst/>
          </a:prstGeom>
          <a:noFill/>
          <a:ln w="0">
            <a:noFill/>
          </a:ln>
        </p:spPr>
        <p:txBody>
          <a:bodyPr wrap="square" lIns="0" tIns="0" rIns="0" bIns="0" anchor="t">
            <a:normAutofit/>
          </a:bodyPr>
          <a:lstStyle/>
          <a:p>
            <a:pPr>
              <a:defRPr sz="1650" b="0">
                <a:solidFill>
                  <a:srgbClr val="53685B"/>
                </a:solidFill>
                <a:latin typeface="Segoe UI"/>
                <a:ea typeface="Segoe UI"/>
                <a:cs typeface="Segoe UI"/>
              </a:defRPr>
            </a:pPr>
            <a:r>
              <a:rPr sz="1650" b="0">
                <a:solidFill>
                  <a:srgbClr val="53685B"/>
                </a:solidFill>
                <a:latin typeface="Segoe UI"/>
                <a:ea typeface="Segoe UI"/>
                <a:cs typeface="Segoe UI"/>
              </a:rPr>
              <a:t>Giống / khối lượng</a:t>
            </a:r>
          </a:p>
        </p:txBody>
      </p:sp>
      <p:sp>
        <p:nvSpPr>
          <p:cNvPr id="21" name="!!field-value-2">
            <a:extLst>
              <a:ext uri="{FF2B5EF4-FFF2-40B4-BE49-F238E27FC236}">
                <a16:creationId xmlns:a16="http://schemas.microsoft.com/office/drawing/2014/main" id="{C067D7AD-8720-4FE4-A94D-75F8075EFCC1}"/>
              </a:ext>
            </a:extLst>
          </p:cNvPr>
          <p:cNvSpPr>
            <a:spLocks noGrp="1"/>
          </p:cNvSpPr>
          <p:nvPr/>
        </p:nvSpPr>
        <p:spPr>
          <a:xfrm>
            <a:off x="1371600" y="4305300"/>
            <a:ext cx="4400550" cy="533400"/>
          </a:xfrm>
          <a:prstGeom prst="rect">
            <a:avLst/>
          </a:prstGeom>
          <a:noFill/>
          <a:ln w="0">
            <a:noFill/>
          </a:ln>
        </p:spPr>
        <p:txBody>
          <a:bodyPr wrap="square" lIns="0" tIns="0" rIns="0" bIns="0" anchor="t">
            <a:normAutofit/>
          </a:bodyPr>
          <a:lstStyle/>
          <a:p>
            <a:pPr>
              <a:defRPr sz="2100" b="1">
                <a:solidFill>
                  <a:srgbClr val="142F24"/>
                </a:solidFill>
                <a:latin typeface="Segoe UI"/>
                <a:ea typeface="Segoe UI"/>
                <a:cs typeface="Segoe UI"/>
              </a:defRPr>
            </a:pPr>
            <a:r>
              <a:rPr sz="2100" b="1">
                <a:solidFill>
                  <a:srgbClr val="142F24"/>
                </a:solidFill>
                <a:latin typeface="Segoe UI"/>
                <a:ea typeface="Segoe UI"/>
                <a:cs typeface="Segoe UI"/>
              </a:rPr>
              <a:t>Ri6, 850 kg</a:t>
            </a:r>
          </a:p>
        </p:txBody>
      </p:sp>
      <p:sp>
        <p:nvSpPr>
          <p:cNvPr id="22" name="!!field-3-selection">
            <a:extLst>
              <a:ext uri="{FF2B5EF4-FFF2-40B4-BE49-F238E27FC236}">
                <a16:creationId xmlns:a16="http://schemas.microsoft.com/office/drawing/2014/main" id="{E61F8F2A-DF9A-481B-91C2-1A6E08194BC1}"/>
              </a:ext>
            </a:extLst>
          </p:cNvPr>
          <p:cNvSpPr>
            <a:spLocks noGrp="1"/>
          </p:cNvSpPr>
          <p:nvPr/>
        </p:nvSpPr>
        <p:spPr>
          <a:xfrm>
            <a:off x="609600" y="5019675"/>
            <a:ext cx="609600" cy="609600"/>
          </a:xfrm>
          <a:prstGeom prst="ellipse">
            <a:avLst/>
          </a:prstGeom>
          <a:solidFill>
            <a:srgbClr val="166447"/>
          </a:solidFill>
          <a:ln w="28575">
            <a:solidFill>
              <a:srgbClr val="C8A45B"/>
            </a:solidFill>
          </a:ln>
        </p:spPr>
        <p:txBody>
          <a:bodyPr/>
          <a:lstStyle/>
          <a:p>
            <a:endParaRPr lang="en-US"/>
          </a:p>
        </p:txBody>
      </p:sp>
      <p:sp>
        <p:nvSpPr>
          <p:cNvPr id="23" name="!!field-3-icon-0">
            <a:extLst>
              <a:ext uri="{FF2B5EF4-FFF2-40B4-BE49-F238E27FC236}">
                <a16:creationId xmlns:a16="http://schemas.microsoft.com/office/drawing/2014/main" id="{84B530AF-1388-475D-99A5-252D1673C833}"/>
              </a:ext>
            </a:extLst>
          </p:cNvPr>
          <p:cNvSpPr>
            <a:spLocks noGrp="1"/>
          </p:cNvSpPr>
          <p:nvPr/>
        </p:nvSpPr>
        <p:spPr>
          <a:xfrm>
            <a:off x="777240" y="5187315"/>
            <a:ext cx="274320" cy="274320"/>
          </a:xfrm>
          <a:prstGeom prst="ellipse">
            <a:avLst/>
          </a:prstGeom>
          <a:noFill/>
          <a:ln w="19050">
            <a:solidFill>
              <a:srgbClr val="FFFFFF"/>
            </a:solidFill>
            <a:prstDash val="solid"/>
          </a:ln>
        </p:spPr>
        <p:txBody>
          <a:bodyPr/>
          <a:lstStyle/>
          <a:p>
            <a:endParaRPr lang="en-US"/>
          </a:p>
        </p:txBody>
      </p:sp>
      <p:sp>
        <p:nvSpPr>
          <p:cNvPr id="24" name="!!field-3-icon-1">
            <a:extLst>
              <a:ext uri="{FF2B5EF4-FFF2-40B4-BE49-F238E27FC236}">
                <a16:creationId xmlns:a16="http://schemas.microsoft.com/office/drawing/2014/main" id="{727CBF6D-FE27-4D5F-99E6-DE1050DE00F6}"/>
              </a:ext>
            </a:extLst>
          </p:cNvPr>
          <p:cNvSpPr>
            <a:spLocks noGrp="1"/>
          </p:cNvSpPr>
          <p:nvPr/>
        </p:nvSpPr>
        <p:spPr>
          <a:xfrm>
            <a:off x="749808" y="5159883"/>
            <a:ext cx="329184" cy="329184"/>
          </a:xfrm>
          <a:custGeom>
            <a:avLst/>
            <a:gdLst/>
            <a:ahLst/>
            <a:cxnLst/>
            <a:rect l="0" t="0" r="0" b="0"/>
            <a:pathLst>
              <a:path w="228600" h="228600">
                <a:moveTo>
                  <a:pt x="114300" y="47625"/>
                </a:moveTo>
                <a:lnTo>
                  <a:pt x="114300" y="114300"/>
                </a:lnTo>
                <a:lnTo>
                  <a:pt x="161925" y="142875"/>
                </a:lnTo>
              </a:path>
            </a:pathLst>
          </a:custGeom>
          <a:noFill/>
          <a:ln w="19050">
            <a:solidFill>
              <a:srgbClr val="FFFFFF"/>
            </a:solidFill>
            <a:prstDash val="solid"/>
          </a:ln>
        </p:spPr>
        <p:txBody>
          <a:bodyPr/>
          <a:lstStyle/>
          <a:p>
            <a:endParaRPr lang="en-US"/>
          </a:p>
        </p:txBody>
      </p:sp>
      <p:sp>
        <p:nvSpPr>
          <p:cNvPr id="25" name="!!field-label-3">
            <a:extLst>
              <a:ext uri="{FF2B5EF4-FFF2-40B4-BE49-F238E27FC236}">
                <a16:creationId xmlns:a16="http://schemas.microsoft.com/office/drawing/2014/main" id="{5C926408-BAD8-42C8-B695-1162C45A7ACF}"/>
              </a:ext>
            </a:extLst>
          </p:cNvPr>
          <p:cNvSpPr>
            <a:spLocks noGrp="1"/>
          </p:cNvSpPr>
          <p:nvPr/>
        </p:nvSpPr>
        <p:spPr>
          <a:xfrm>
            <a:off x="1371600" y="4953000"/>
            <a:ext cx="4381500" cy="323850"/>
          </a:xfrm>
          <a:prstGeom prst="rect">
            <a:avLst/>
          </a:prstGeom>
          <a:noFill/>
          <a:ln w="0">
            <a:noFill/>
          </a:ln>
        </p:spPr>
        <p:txBody>
          <a:bodyPr wrap="square" lIns="0" tIns="0" rIns="0" bIns="0" anchor="t">
            <a:normAutofit/>
          </a:bodyPr>
          <a:lstStyle/>
          <a:p>
            <a:pPr>
              <a:defRPr sz="1650" b="0">
                <a:solidFill>
                  <a:srgbClr val="53685B"/>
                </a:solidFill>
                <a:latin typeface="Segoe UI"/>
                <a:ea typeface="Segoe UI"/>
                <a:cs typeface="Segoe UI"/>
              </a:defRPr>
            </a:pPr>
            <a:r>
              <a:rPr sz="1650" b="0">
                <a:solidFill>
                  <a:srgbClr val="53685B"/>
                </a:solidFill>
                <a:latin typeface="Segoe UI"/>
                <a:ea typeface="Segoe UI"/>
                <a:cs typeface="Segoe UI"/>
              </a:rPr>
              <a:t>Thu hoạch</a:t>
            </a:r>
          </a:p>
        </p:txBody>
      </p:sp>
      <p:sp>
        <p:nvSpPr>
          <p:cNvPr id="26" name="!!field-value-3">
            <a:extLst>
              <a:ext uri="{FF2B5EF4-FFF2-40B4-BE49-F238E27FC236}">
                <a16:creationId xmlns:a16="http://schemas.microsoft.com/office/drawing/2014/main" id="{FA1BDA0A-55FF-4D66-ADE8-8514FF467E85}"/>
              </a:ext>
            </a:extLst>
          </p:cNvPr>
          <p:cNvSpPr>
            <a:spLocks noGrp="1"/>
          </p:cNvSpPr>
          <p:nvPr/>
        </p:nvSpPr>
        <p:spPr>
          <a:xfrm>
            <a:off x="1371600" y="5305425"/>
            <a:ext cx="4400550" cy="533400"/>
          </a:xfrm>
          <a:prstGeom prst="rect">
            <a:avLst/>
          </a:prstGeom>
          <a:noFill/>
          <a:ln w="0">
            <a:noFill/>
          </a:ln>
        </p:spPr>
        <p:txBody>
          <a:bodyPr wrap="square" lIns="0" tIns="0" rIns="0" bIns="0" anchor="t">
            <a:normAutofit/>
          </a:bodyPr>
          <a:lstStyle/>
          <a:p>
            <a:pPr>
              <a:defRPr sz="2325" b="1">
                <a:solidFill>
                  <a:srgbClr val="142F24"/>
                </a:solidFill>
                <a:latin typeface="Segoe UI"/>
                <a:ea typeface="Segoe UI"/>
                <a:cs typeface="Segoe UI"/>
              </a:defRPr>
            </a:pPr>
            <a:r>
              <a:rPr sz="2325" b="1">
                <a:solidFill>
                  <a:srgbClr val="142F24"/>
                </a:solidFill>
                <a:latin typeface="Segoe UI"/>
                <a:ea typeface="Segoe UI"/>
                <a:cs typeface="Segoe UI"/>
              </a:rPr>
              <a:t>29/09/2026</a:t>
            </a:r>
          </a:p>
        </p:txBody>
      </p:sp>
      <p:sp>
        <p:nvSpPr>
          <p:cNvPr id="27" name="!!page">
            <a:extLst>
              <a:ext uri="{FF2B5EF4-FFF2-40B4-BE49-F238E27FC236}">
                <a16:creationId xmlns:a16="http://schemas.microsoft.com/office/drawing/2014/main" id="{7EA3CFA1-7032-4BBD-A18C-0BC2272E525E}"/>
              </a:ext>
            </a:extLst>
          </p:cNvPr>
          <p:cNvSpPr>
            <a:spLocks noGrp="1"/>
          </p:cNvSpPr>
          <p:nvPr/>
        </p:nvSpPr>
        <p:spPr>
          <a:xfrm>
            <a:off x="10706100" y="6381750"/>
            <a:ext cx="876300" cy="228600"/>
          </a:xfrm>
          <a:prstGeom prst="rect">
            <a:avLst/>
          </a:prstGeom>
          <a:noFill/>
          <a:ln w="0">
            <a:noFill/>
          </a:ln>
        </p:spPr>
        <p:txBody>
          <a:bodyPr wrap="square" lIns="0" tIns="0" rIns="0" bIns="0" anchor="t">
            <a:normAutofit/>
          </a:bodyPr>
          <a:lstStyle/>
          <a:p>
            <a:pPr>
              <a:defRPr sz="1275" b="0">
                <a:solidFill>
                  <a:srgbClr val="53685B"/>
                </a:solidFill>
                <a:latin typeface="Segoe UI"/>
                <a:ea typeface="Segoe UI"/>
                <a:cs typeface="Segoe UI"/>
              </a:defRPr>
            </a:pPr>
            <a:r>
              <a:rPr sz="1275" b="0">
                <a:solidFill>
                  <a:srgbClr val="53685B"/>
                </a:solidFill>
                <a:latin typeface="Segoe UI"/>
                <a:ea typeface="Segoe UI"/>
                <a:cs typeface="Segoe UI"/>
              </a:rPr>
              <a:t>05 / 19</a:t>
            </a:r>
          </a:p>
        </p:txBody>
      </p:sp>
      <p:sp>
        <p:nvSpPr>
          <p:cNvPr id="28" name="!!caption">
            <a:extLst>
              <a:ext uri="{FF2B5EF4-FFF2-40B4-BE49-F238E27FC236}">
                <a16:creationId xmlns:a16="http://schemas.microsoft.com/office/drawing/2014/main" id="{C33938C8-DBE6-4325-8920-58CEDE187281}"/>
              </a:ext>
            </a:extLst>
          </p:cNvPr>
          <p:cNvSpPr>
            <a:spLocks noGrp="1"/>
          </p:cNvSpPr>
          <p:nvPr/>
        </p:nvSpPr>
        <p:spPr>
          <a:xfrm>
            <a:off x="609600" y="6381750"/>
            <a:ext cx="9525000" cy="228600"/>
          </a:xfrm>
          <a:prstGeom prst="rect">
            <a:avLst/>
          </a:prstGeom>
          <a:noFill/>
          <a:ln w="0">
            <a:noFill/>
          </a:ln>
        </p:spPr>
        <p:txBody>
          <a:bodyPr wrap="square" lIns="0" tIns="0" rIns="0" bIns="0" anchor="t">
            <a:normAutofit/>
          </a:bodyPr>
          <a:lstStyle/>
          <a:p>
            <a:pPr>
              <a:defRPr sz="1275" b="0">
                <a:solidFill>
                  <a:srgbClr val="53685B"/>
                </a:solidFill>
                <a:latin typeface="Segoe UI"/>
                <a:ea typeface="Segoe UI"/>
                <a:cs typeface="Segoe UI"/>
              </a:defRPr>
            </a:pPr>
            <a:r>
              <a:rPr sz="1275" b="0">
                <a:solidFill>
                  <a:srgbClr val="53685B"/>
                </a:solidFill>
                <a:latin typeface="Segoe UI"/>
                <a:ea typeface="Segoe UI"/>
                <a:cs typeface="Segoe UI"/>
              </a:rPr>
              <a:t>HTX minh họa (TEST). Giao diện compact local, Auth/API mô phỏng</a:t>
            </a:r>
          </a:p>
        </p:txBody>
      </p:sp>
    </p:spTree>
    <p:extLst>
      <p:ext uri="{BB962C8B-B14F-4D97-AF65-F5344CB8AC3E}">
        <p14:creationId xmlns:p14="http://schemas.microsoft.com/office/powerpoint/2010/main" val="8285824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00">
        <p159:morph option="byObject"/>
      </p:transition>
    </mc:Choice>
    <mc:Fallback xmlns="" xmlns:p14="http://schemas.microsoft.com/office/powerpoint/2010/main">
      <p:transition advClick="1" spd="fast">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1E8"/>
        </a:solidFill>
        <a:effectLst/>
      </p:bgPr>
    </p:bg>
    <p:spTree>
      <p:nvGrpSpPr>
        <p:cNvPr id="1" name=""/>
        <p:cNvGrpSpPr/>
        <p:nvPr/>
      </p:nvGrpSpPr>
      <p:grpSpPr>
        <a:xfrm>
          <a:off x="0" y="0"/>
          <a:ext cx="0" cy="0"/>
          <a:chOff x="0" y="0"/>
          <a:chExt cx="0" cy="0"/>
        </a:xfrm>
      </p:grpSpPr>
      <p:pic>
        <p:nvPicPr>
          <p:cNvPr id="22" name="!!backdrop"/>
          <p:cNvPicPr>
            <a:picLocks noChangeAspect="1"/>
          </p:cNvPicPr>
          <p:nvPr/>
        </p:nvPicPr>
        <p:blipFill>
          <a:blip r:embed="rId3"/>
          <a:srcRect t="27" b="27"/>
          <a:stretch>
            <a:fillRect/>
          </a:stretch>
        </p:blipFill>
        <p:spPr>
          <a:xfrm>
            <a:off x="0" y="0"/>
            <a:ext cx="12192000" cy="6858000"/>
          </a:xfrm>
          <a:prstGeom prst="rect">
            <a:avLst/>
          </a:prstGeom>
        </p:spPr>
      </p:pic>
      <p:sp>
        <p:nvSpPr>
          <p:cNvPr id="2" name="!!headline">
            <a:extLst>
              <a:ext uri="{FF2B5EF4-FFF2-40B4-BE49-F238E27FC236}">
                <a16:creationId xmlns:a16="http://schemas.microsoft.com/office/drawing/2014/main" id="{A890CE52-ABA0-4C45-A0E3-BE270A2193FB}"/>
              </a:ext>
            </a:extLst>
          </p:cNvPr>
          <p:cNvSpPr>
            <a:spLocks noGrp="1"/>
          </p:cNvSpPr>
          <p:nvPr/>
        </p:nvSpPr>
        <p:spPr>
          <a:xfrm>
            <a:off x="609600" y="533400"/>
            <a:ext cx="10953750" cy="1104900"/>
          </a:xfrm>
          <a:prstGeom prst="rect">
            <a:avLst/>
          </a:prstGeom>
          <a:noFill/>
          <a:ln w="0">
            <a:noFill/>
          </a:ln>
        </p:spPr>
        <p:txBody>
          <a:bodyPr wrap="square" lIns="0" tIns="0" rIns="0" bIns="0" anchor="t">
            <a:normAutofit/>
          </a:bodyPr>
          <a:lstStyle/>
          <a:p>
            <a:pPr>
              <a:defRPr sz="3450" b="1">
                <a:solidFill>
                  <a:srgbClr val="142F24"/>
                </a:solidFill>
                <a:latin typeface="Segoe UI"/>
                <a:ea typeface="Segoe UI"/>
                <a:cs typeface="Segoe UI"/>
              </a:defRPr>
            </a:pPr>
            <a:r>
              <a:rPr sz="3450" b="1">
                <a:solidFill>
                  <a:srgbClr val="142F24"/>
                </a:solidFill>
                <a:latin typeface="Segoe UI"/>
                <a:ea typeface="Segoe UI"/>
                <a:cs typeface="Segoe UI"/>
              </a:rPr>
              <a:t>Ảnh và tài liệu gắn với lô</a:t>
            </a:r>
          </a:p>
        </p:txBody>
      </p:sp>
      <p:sp>
        <p:nvSpPr>
          <p:cNvPr id="3" name="!!file-selection">
            <a:extLst>
              <a:ext uri="{FF2B5EF4-FFF2-40B4-BE49-F238E27FC236}">
                <a16:creationId xmlns:a16="http://schemas.microsoft.com/office/drawing/2014/main" id="{AB7FB611-D410-426E-A663-DED5EF855891}"/>
              </a:ext>
            </a:extLst>
          </p:cNvPr>
          <p:cNvSpPr>
            <a:spLocks noGrp="1"/>
          </p:cNvSpPr>
          <p:nvPr/>
        </p:nvSpPr>
        <p:spPr>
          <a:xfrm>
            <a:off x="666750" y="2190750"/>
            <a:ext cx="571500" cy="571500"/>
          </a:xfrm>
          <a:prstGeom prst="ellipse">
            <a:avLst/>
          </a:prstGeom>
          <a:solidFill>
            <a:srgbClr val="E5EBDD"/>
          </a:solidFill>
          <a:ln w="9525">
            <a:solidFill>
              <a:srgbClr val="166447"/>
            </a:solidFill>
          </a:ln>
        </p:spPr>
        <p:txBody>
          <a:bodyPr/>
          <a:lstStyle/>
          <a:p>
            <a:endParaRPr lang="en-US"/>
          </a:p>
        </p:txBody>
      </p:sp>
      <p:sp>
        <p:nvSpPr>
          <p:cNvPr id="4" name="!!file-icon-0">
            <a:extLst>
              <a:ext uri="{FF2B5EF4-FFF2-40B4-BE49-F238E27FC236}">
                <a16:creationId xmlns:a16="http://schemas.microsoft.com/office/drawing/2014/main" id="{03D22095-B3DF-4A99-B788-B9EDC85C9E8F}"/>
              </a:ext>
            </a:extLst>
          </p:cNvPr>
          <p:cNvSpPr>
            <a:spLocks noGrp="1"/>
          </p:cNvSpPr>
          <p:nvPr/>
        </p:nvSpPr>
        <p:spPr>
          <a:xfrm>
            <a:off x="798195" y="2322195"/>
            <a:ext cx="308610" cy="308610"/>
          </a:xfrm>
          <a:custGeom>
            <a:avLst/>
            <a:gdLst/>
            <a:ahLst/>
            <a:cxnLst/>
            <a:rect l="0" t="0" r="0" b="0"/>
            <a:pathLst>
              <a:path w="228600" h="228600">
                <a:moveTo>
                  <a:pt x="19050" y="57150"/>
                </a:moveTo>
                <a:lnTo>
                  <a:pt x="85725" y="57150"/>
                </a:lnTo>
                <a:lnTo>
                  <a:pt x="114300" y="85725"/>
                </a:lnTo>
                <a:lnTo>
                  <a:pt x="209550" y="85725"/>
                </a:lnTo>
                <a:lnTo>
                  <a:pt x="209550" y="200025"/>
                </a:lnTo>
                <a:lnTo>
                  <a:pt x="19050" y="200025"/>
                </a:lnTo>
                <a:close/>
              </a:path>
            </a:pathLst>
          </a:custGeom>
          <a:noFill/>
          <a:ln w="19050">
            <a:solidFill>
              <a:srgbClr val="166447"/>
            </a:solidFill>
            <a:prstDash val="solid"/>
          </a:ln>
        </p:spPr>
        <p:txBody>
          <a:bodyPr/>
          <a:lstStyle/>
          <a:p>
            <a:endParaRPr lang="en-US"/>
          </a:p>
        </p:txBody>
      </p:sp>
      <p:sp>
        <p:nvSpPr>
          <p:cNvPr id="5" name="!!file-label">
            <a:extLst>
              <a:ext uri="{FF2B5EF4-FFF2-40B4-BE49-F238E27FC236}">
                <a16:creationId xmlns:a16="http://schemas.microsoft.com/office/drawing/2014/main" id="{068B55E2-7F81-4891-BA55-E0EB0ED869EE}"/>
              </a:ext>
            </a:extLst>
          </p:cNvPr>
          <p:cNvSpPr>
            <a:spLocks noGrp="1"/>
          </p:cNvSpPr>
          <p:nvPr/>
        </p:nvSpPr>
        <p:spPr>
          <a:xfrm>
            <a:off x="1524000" y="2133600"/>
            <a:ext cx="4514850" cy="571500"/>
          </a:xfrm>
          <a:prstGeom prst="rect">
            <a:avLst/>
          </a:prstGeom>
          <a:noFill/>
          <a:ln w="0">
            <a:noFill/>
          </a:ln>
        </p:spPr>
        <p:txBody>
          <a:bodyPr wrap="square" lIns="0" tIns="0" rIns="0" bIns="0" anchor="t">
            <a:normAutofit/>
          </a:bodyPr>
          <a:lstStyle/>
          <a:p>
            <a:pPr>
              <a:defRPr sz="2100" b="1">
                <a:solidFill>
                  <a:srgbClr val="142F24"/>
                </a:solidFill>
                <a:latin typeface="Segoe UI"/>
                <a:ea typeface="Segoe UI"/>
                <a:cs typeface="Segoe UI"/>
              </a:defRPr>
            </a:pPr>
            <a:r>
              <a:rPr sz="2100" b="1">
                <a:solidFill>
                  <a:srgbClr val="142F24"/>
                </a:solidFill>
                <a:latin typeface="Segoe UI"/>
                <a:ea typeface="Segoe UI"/>
                <a:cs typeface="Segoe UI"/>
              </a:rPr>
              <a:t>Ảnh lô / tài liệu</a:t>
            </a:r>
          </a:p>
        </p:txBody>
      </p:sp>
      <p:sp>
        <p:nvSpPr>
          <p:cNvPr id="6" name="!!file-detail">
            <a:extLst>
              <a:ext uri="{FF2B5EF4-FFF2-40B4-BE49-F238E27FC236}">
                <a16:creationId xmlns:a16="http://schemas.microsoft.com/office/drawing/2014/main" id="{136B542D-EDD3-4985-8609-7BD9DA7CD2DD}"/>
              </a:ext>
            </a:extLst>
          </p:cNvPr>
          <p:cNvSpPr>
            <a:spLocks noGrp="1"/>
          </p:cNvSpPr>
          <p:nvPr/>
        </p:nvSpPr>
        <p:spPr>
          <a:xfrm>
            <a:off x="1524000" y="2705100"/>
            <a:ext cx="4514850" cy="666750"/>
          </a:xfrm>
          <a:prstGeom prst="rect">
            <a:avLst/>
          </a:prstGeom>
          <a:noFill/>
          <a:ln w="0">
            <a:noFill/>
          </a:ln>
        </p:spPr>
        <p:txBody>
          <a:bodyPr wrap="square" lIns="0" tIns="0" rIns="0" bIns="0" anchor="t">
            <a:normAutofit/>
          </a:bodyPr>
          <a:lstStyle/>
          <a:p>
            <a:pPr>
              <a:defRPr sz="1800" b="0">
                <a:solidFill>
                  <a:srgbClr val="53685B"/>
                </a:solidFill>
                <a:latin typeface="Segoe UI"/>
                <a:ea typeface="Segoe UI"/>
                <a:cs typeface="Segoe UI"/>
              </a:defRPr>
            </a:pPr>
            <a:r>
              <a:rPr sz="1800" b="0">
                <a:solidFill>
                  <a:srgbClr val="53685B"/>
                </a:solidFill>
                <a:latin typeface="Segoe UI"/>
                <a:ea typeface="Segoe UI"/>
                <a:cs typeface="Segoe UI"/>
              </a:rPr>
              <a:t>JPG, PNG hoặc PDF, tối đa 5 MB</a:t>
            </a:r>
          </a:p>
        </p:txBody>
      </p:sp>
      <p:sp>
        <p:nvSpPr>
          <p:cNvPr id="7" name="!!source-selection">
            <a:extLst>
              <a:ext uri="{FF2B5EF4-FFF2-40B4-BE49-F238E27FC236}">
                <a16:creationId xmlns:a16="http://schemas.microsoft.com/office/drawing/2014/main" id="{6C1AED66-D234-4F0B-A3A4-9CA17C5E707E}"/>
              </a:ext>
            </a:extLst>
          </p:cNvPr>
          <p:cNvSpPr>
            <a:spLocks noGrp="1"/>
          </p:cNvSpPr>
          <p:nvPr/>
        </p:nvSpPr>
        <p:spPr>
          <a:xfrm>
            <a:off x="666750" y="3429000"/>
            <a:ext cx="571500" cy="571500"/>
          </a:xfrm>
          <a:prstGeom prst="ellipse">
            <a:avLst/>
          </a:prstGeom>
          <a:solidFill>
            <a:srgbClr val="E5EBDD"/>
          </a:solidFill>
          <a:ln w="9525">
            <a:solidFill>
              <a:srgbClr val="166447"/>
            </a:solidFill>
          </a:ln>
        </p:spPr>
        <p:txBody>
          <a:bodyPr/>
          <a:lstStyle/>
          <a:p>
            <a:endParaRPr lang="en-US"/>
          </a:p>
        </p:txBody>
      </p:sp>
      <p:sp>
        <p:nvSpPr>
          <p:cNvPr id="8" name="!!source-icon-0">
            <a:extLst>
              <a:ext uri="{FF2B5EF4-FFF2-40B4-BE49-F238E27FC236}">
                <a16:creationId xmlns:a16="http://schemas.microsoft.com/office/drawing/2014/main" id="{8DDD0D1B-A8E4-416E-B5D8-0DB86D123F10}"/>
              </a:ext>
            </a:extLst>
          </p:cNvPr>
          <p:cNvSpPr>
            <a:spLocks noGrp="1"/>
          </p:cNvSpPr>
          <p:nvPr/>
        </p:nvSpPr>
        <p:spPr>
          <a:xfrm>
            <a:off x="798195" y="3560445"/>
            <a:ext cx="308610" cy="308610"/>
          </a:xfrm>
          <a:custGeom>
            <a:avLst/>
            <a:gdLst/>
            <a:ahLst/>
            <a:cxnLst/>
            <a:rect l="0" t="0" r="0" b="0"/>
            <a:pathLst>
              <a:path w="228600" h="228600">
                <a:moveTo>
                  <a:pt x="38100" y="161925"/>
                </a:moveTo>
                <a:lnTo>
                  <a:pt x="28575" y="209550"/>
                </a:lnTo>
                <a:lnTo>
                  <a:pt x="76200" y="200025"/>
                </a:lnTo>
                <a:lnTo>
                  <a:pt x="200025" y="76200"/>
                </a:lnTo>
                <a:lnTo>
                  <a:pt x="152400" y="28575"/>
                </a:lnTo>
                <a:close/>
              </a:path>
            </a:pathLst>
          </a:custGeom>
          <a:noFill/>
          <a:ln w="19050">
            <a:solidFill>
              <a:srgbClr val="166447"/>
            </a:solidFill>
            <a:prstDash val="solid"/>
          </a:ln>
        </p:spPr>
        <p:txBody>
          <a:bodyPr/>
          <a:lstStyle/>
          <a:p>
            <a:endParaRPr lang="en-US"/>
          </a:p>
        </p:txBody>
      </p:sp>
      <p:sp>
        <p:nvSpPr>
          <p:cNvPr id="9" name="!!source-icon-1">
            <a:extLst>
              <a:ext uri="{FF2B5EF4-FFF2-40B4-BE49-F238E27FC236}">
                <a16:creationId xmlns:a16="http://schemas.microsoft.com/office/drawing/2014/main" id="{F36BC03A-E344-4F17-875C-CE7DB21CDA4B}"/>
              </a:ext>
            </a:extLst>
          </p:cNvPr>
          <p:cNvSpPr>
            <a:spLocks noGrp="1"/>
          </p:cNvSpPr>
          <p:nvPr/>
        </p:nvSpPr>
        <p:spPr>
          <a:xfrm>
            <a:off x="798195" y="3560445"/>
            <a:ext cx="308610" cy="308610"/>
          </a:xfrm>
          <a:custGeom>
            <a:avLst/>
            <a:gdLst/>
            <a:ahLst/>
            <a:cxnLst/>
            <a:rect l="0" t="0" r="0" b="0"/>
            <a:pathLst>
              <a:path w="228600" h="228600">
                <a:moveTo>
                  <a:pt x="133350" y="47625"/>
                </a:moveTo>
                <a:lnTo>
                  <a:pt x="180975" y="95250"/>
                </a:lnTo>
              </a:path>
            </a:pathLst>
          </a:custGeom>
          <a:noFill/>
          <a:ln w="19050">
            <a:solidFill>
              <a:srgbClr val="166447"/>
            </a:solidFill>
            <a:prstDash val="solid"/>
          </a:ln>
        </p:spPr>
        <p:txBody>
          <a:bodyPr/>
          <a:lstStyle/>
          <a:p>
            <a:endParaRPr lang="en-US"/>
          </a:p>
        </p:txBody>
      </p:sp>
      <p:sp>
        <p:nvSpPr>
          <p:cNvPr id="10" name="!!source-icon-2">
            <a:extLst>
              <a:ext uri="{FF2B5EF4-FFF2-40B4-BE49-F238E27FC236}">
                <a16:creationId xmlns:a16="http://schemas.microsoft.com/office/drawing/2014/main" id="{3E0633DF-75BB-427C-9B76-C17E21A6FEDB}"/>
              </a:ext>
            </a:extLst>
          </p:cNvPr>
          <p:cNvSpPr>
            <a:spLocks noGrp="1"/>
          </p:cNvSpPr>
          <p:nvPr/>
        </p:nvSpPr>
        <p:spPr>
          <a:xfrm>
            <a:off x="798195" y="3560445"/>
            <a:ext cx="308610" cy="308610"/>
          </a:xfrm>
          <a:custGeom>
            <a:avLst/>
            <a:gdLst/>
            <a:ahLst/>
            <a:cxnLst/>
            <a:rect l="0" t="0" r="0" b="0"/>
            <a:pathLst>
              <a:path w="228600" h="228600">
                <a:moveTo>
                  <a:pt x="95250" y="209550"/>
                </a:moveTo>
                <a:lnTo>
                  <a:pt x="209550" y="209550"/>
                </a:lnTo>
              </a:path>
            </a:pathLst>
          </a:custGeom>
          <a:noFill/>
          <a:ln w="19050">
            <a:solidFill>
              <a:srgbClr val="166447"/>
            </a:solidFill>
            <a:prstDash val="solid"/>
          </a:ln>
        </p:spPr>
        <p:txBody>
          <a:bodyPr/>
          <a:lstStyle/>
          <a:p>
            <a:endParaRPr lang="en-US"/>
          </a:p>
        </p:txBody>
      </p:sp>
      <p:sp>
        <p:nvSpPr>
          <p:cNvPr id="11" name="!!source-label">
            <a:extLst>
              <a:ext uri="{FF2B5EF4-FFF2-40B4-BE49-F238E27FC236}">
                <a16:creationId xmlns:a16="http://schemas.microsoft.com/office/drawing/2014/main" id="{78CDF297-2F2B-4545-BFF3-2A31D959F79A}"/>
              </a:ext>
            </a:extLst>
          </p:cNvPr>
          <p:cNvSpPr>
            <a:spLocks noGrp="1"/>
          </p:cNvSpPr>
          <p:nvPr/>
        </p:nvSpPr>
        <p:spPr>
          <a:xfrm>
            <a:off x="1524000" y="3371850"/>
            <a:ext cx="4514850" cy="571500"/>
          </a:xfrm>
          <a:prstGeom prst="rect">
            <a:avLst/>
          </a:prstGeom>
          <a:noFill/>
          <a:ln w="0">
            <a:noFill/>
          </a:ln>
        </p:spPr>
        <p:txBody>
          <a:bodyPr wrap="square" lIns="0" tIns="0" rIns="0" bIns="0" anchor="t">
            <a:normAutofit/>
          </a:bodyPr>
          <a:lstStyle/>
          <a:p>
            <a:pPr>
              <a:defRPr sz="2100" b="1">
                <a:solidFill>
                  <a:srgbClr val="142F24"/>
                </a:solidFill>
                <a:latin typeface="Segoe UI"/>
                <a:ea typeface="Segoe UI"/>
                <a:cs typeface="Segoe UI"/>
              </a:defRPr>
            </a:pPr>
            <a:r>
              <a:rPr sz="2100" b="1">
                <a:solidFill>
                  <a:srgbClr val="142F24"/>
                </a:solidFill>
                <a:latin typeface="Segoe UI"/>
                <a:ea typeface="Segoe UI"/>
                <a:cs typeface="Segoe UI"/>
              </a:rPr>
              <a:t>Nguồn và ngày</a:t>
            </a:r>
          </a:p>
        </p:txBody>
      </p:sp>
      <p:sp>
        <p:nvSpPr>
          <p:cNvPr id="12" name="!!source-detail">
            <a:extLst>
              <a:ext uri="{FF2B5EF4-FFF2-40B4-BE49-F238E27FC236}">
                <a16:creationId xmlns:a16="http://schemas.microsoft.com/office/drawing/2014/main" id="{05F00643-65C7-4D5F-BA45-79C13D7B3A92}"/>
              </a:ext>
            </a:extLst>
          </p:cNvPr>
          <p:cNvSpPr>
            <a:spLocks noGrp="1"/>
          </p:cNvSpPr>
          <p:nvPr/>
        </p:nvSpPr>
        <p:spPr>
          <a:xfrm>
            <a:off x="1524000" y="3943350"/>
            <a:ext cx="4514850" cy="666750"/>
          </a:xfrm>
          <a:prstGeom prst="rect">
            <a:avLst/>
          </a:prstGeom>
          <a:noFill/>
          <a:ln w="0">
            <a:noFill/>
          </a:ln>
        </p:spPr>
        <p:txBody>
          <a:bodyPr wrap="square" lIns="0" tIns="0" rIns="0" bIns="0" anchor="t">
            <a:normAutofit/>
          </a:bodyPr>
          <a:lstStyle/>
          <a:p>
            <a:pPr>
              <a:defRPr sz="1800" b="0">
                <a:solidFill>
                  <a:srgbClr val="53685B"/>
                </a:solidFill>
                <a:latin typeface="Segoe UI"/>
                <a:ea typeface="Segoe UI"/>
                <a:cs typeface="Segoe UI"/>
              </a:defRPr>
            </a:pPr>
            <a:r>
              <a:rPr sz="1800" b="0">
                <a:solidFill>
                  <a:srgbClr val="53685B"/>
                </a:solidFill>
                <a:latin typeface="Segoe UI"/>
                <a:ea typeface="Segoe UI"/>
                <a:cs typeface="Segoe UI"/>
              </a:rPr>
              <a:t>Thông tin do người dùng khai báo</a:t>
            </a:r>
          </a:p>
        </p:txBody>
      </p:sp>
      <p:sp>
        <p:nvSpPr>
          <p:cNvPr id="13" name="!!evidence-file-selection">
            <a:extLst>
              <a:ext uri="{FF2B5EF4-FFF2-40B4-BE49-F238E27FC236}">
                <a16:creationId xmlns:a16="http://schemas.microsoft.com/office/drawing/2014/main" id="{E9B187B0-AB6C-4789-940B-1A11D734CE9D}"/>
              </a:ext>
            </a:extLst>
          </p:cNvPr>
          <p:cNvSpPr>
            <a:spLocks noGrp="1"/>
          </p:cNvSpPr>
          <p:nvPr/>
        </p:nvSpPr>
        <p:spPr>
          <a:xfrm>
            <a:off x="600075" y="4953000"/>
            <a:ext cx="723900" cy="723900"/>
          </a:xfrm>
          <a:prstGeom prst="ellipse">
            <a:avLst/>
          </a:prstGeom>
          <a:solidFill>
            <a:srgbClr val="166447"/>
          </a:solidFill>
          <a:ln w="28575">
            <a:solidFill>
              <a:srgbClr val="C8A45B"/>
            </a:solidFill>
          </a:ln>
        </p:spPr>
        <p:txBody>
          <a:bodyPr/>
          <a:lstStyle/>
          <a:p>
            <a:endParaRPr lang="en-US"/>
          </a:p>
        </p:txBody>
      </p:sp>
      <p:sp>
        <p:nvSpPr>
          <p:cNvPr id="14" name="!!evidence-file-icon-0">
            <a:extLst>
              <a:ext uri="{FF2B5EF4-FFF2-40B4-BE49-F238E27FC236}">
                <a16:creationId xmlns:a16="http://schemas.microsoft.com/office/drawing/2014/main" id="{07246162-BAAE-44CA-A2AF-AE7C984524D9}"/>
              </a:ext>
            </a:extLst>
          </p:cNvPr>
          <p:cNvSpPr>
            <a:spLocks noGrp="1"/>
          </p:cNvSpPr>
          <p:nvPr/>
        </p:nvSpPr>
        <p:spPr>
          <a:xfrm>
            <a:off x="766572" y="5119497"/>
            <a:ext cx="390906" cy="390906"/>
          </a:xfrm>
          <a:custGeom>
            <a:avLst/>
            <a:gdLst/>
            <a:ahLst/>
            <a:cxnLst/>
            <a:rect l="0" t="0" r="0" b="0"/>
            <a:pathLst>
              <a:path w="228600" h="228600">
                <a:moveTo>
                  <a:pt x="47625" y="19050"/>
                </a:moveTo>
                <a:lnTo>
                  <a:pt x="133350" y="19050"/>
                </a:lnTo>
                <a:lnTo>
                  <a:pt x="190500" y="76200"/>
                </a:lnTo>
                <a:lnTo>
                  <a:pt x="190500" y="209550"/>
                </a:lnTo>
                <a:lnTo>
                  <a:pt x="47625" y="209550"/>
                </a:lnTo>
                <a:close/>
              </a:path>
            </a:pathLst>
          </a:custGeom>
          <a:noFill/>
          <a:ln w="19050">
            <a:solidFill>
              <a:srgbClr val="FFFFFF"/>
            </a:solidFill>
            <a:prstDash val="solid"/>
          </a:ln>
        </p:spPr>
        <p:txBody>
          <a:bodyPr/>
          <a:lstStyle/>
          <a:p>
            <a:endParaRPr lang="en-US"/>
          </a:p>
        </p:txBody>
      </p:sp>
      <p:sp>
        <p:nvSpPr>
          <p:cNvPr id="15" name="!!evidence-file-icon-1">
            <a:extLst>
              <a:ext uri="{FF2B5EF4-FFF2-40B4-BE49-F238E27FC236}">
                <a16:creationId xmlns:a16="http://schemas.microsoft.com/office/drawing/2014/main" id="{B0DB0859-CF78-4B21-857F-43AA04AB6564}"/>
              </a:ext>
            </a:extLst>
          </p:cNvPr>
          <p:cNvSpPr>
            <a:spLocks noGrp="1"/>
          </p:cNvSpPr>
          <p:nvPr/>
        </p:nvSpPr>
        <p:spPr>
          <a:xfrm>
            <a:off x="766572" y="5119497"/>
            <a:ext cx="390906" cy="390906"/>
          </a:xfrm>
          <a:custGeom>
            <a:avLst/>
            <a:gdLst/>
            <a:ahLst/>
            <a:cxnLst/>
            <a:rect l="0" t="0" r="0" b="0"/>
            <a:pathLst>
              <a:path w="228600" h="228600">
                <a:moveTo>
                  <a:pt x="133350" y="19050"/>
                </a:moveTo>
                <a:lnTo>
                  <a:pt x="133350" y="76200"/>
                </a:lnTo>
                <a:lnTo>
                  <a:pt x="190500" y="76200"/>
                </a:lnTo>
              </a:path>
            </a:pathLst>
          </a:custGeom>
          <a:noFill/>
          <a:ln w="19050">
            <a:solidFill>
              <a:srgbClr val="FFFFFF"/>
            </a:solidFill>
            <a:prstDash val="solid"/>
          </a:ln>
        </p:spPr>
        <p:txBody>
          <a:bodyPr/>
          <a:lstStyle/>
          <a:p>
            <a:endParaRPr lang="en-US"/>
          </a:p>
        </p:txBody>
      </p:sp>
      <p:sp>
        <p:nvSpPr>
          <p:cNvPr id="16" name="!!evidence-file-icon-2">
            <a:extLst>
              <a:ext uri="{FF2B5EF4-FFF2-40B4-BE49-F238E27FC236}">
                <a16:creationId xmlns:a16="http://schemas.microsoft.com/office/drawing/2014/main" id="{EA52E993-179B-4904-BC95-E647CA1674ED}"/>
              </a:ext>
            </a:extLst>
          </p:cNvPr>
          <p:cNvSpPr>
            <a:spLocks noGrp="1"/>
          </p:cNvSpPr>
          <p:nvPr/>
        </p:nvSpPr>
        <p:spPr>
          <a:xfrm>
            <a:off x="766572" y="5119497"/>
            <a:ext cx="390906" cy="390906"/>
          </a:xfrm>
          <a:custGeom>
            <a:avLst/>
            <a:gdLst/>
            <a:ahLst/>
            <a:cxnLst/>
            <a:rect l="0" t="0" r="0" b="0"/>
            <a:pathLst>
              <a:path w="228600" h="228600">
                <a:moveTo>
                  <a:pt x="76200" y="123825"/>
                </a:moveTo>
                <a:lnTo>
                  <a:pt x="161925" y="123825"/>
                </a:lnTo>
              </a:path>
            </a:pathLst>
          </a:custGeom>
          <a:noFill/>
          <a:ln w="19050">
            <a:solidFill>
              <a:srgbClr val="FFFFFF"/>
            </a:solidFill>
            <a:prstDash val="solid"/>
          </a:ln>
        </p:spPr>
        <p:txBody>
          <a:bodyPr/>
          <a:lstStyle/>
          <a:p>
            <a:endParaRPr lang="en-US"/>
          </a:p>
        </p:txBody>
      </p:sp>
      <p:sp>
        <p:nvSpPr>
          <p:cNvPr id="17" name="!!evidence-file-icon-3">
            <a:extLst>
              <a:ext uri="{FF2B5EF4-FFF2-40B4-BE49-F238E27FC236}">
                <a16:creationId xmlns:a16="http://schemas.microsoft.com/office/drawing/2014/main" id="{63AED97D-4C6E-45D8-B3D2-8B3C02036E2F}"/>
              </a:ext>
            </a:extLst>
          </p:cNvPr>
          <p:cNvSpPr>
            <a:spLocks noGrp="1"/>
          </p:cNvSpPr>
          <p:nvPr/>
        </p:nvSpPr>
        <p:spPr>
          <a:xfrm>
            <a:off x="766572" y="5119497"/>
            <a:ext cx="390906" cy="390906"/>
          </a:xfrm>
          <a:custGeom>
            <a:avLst/>
            <a:gdLst/>
            <a:ahLst/>
            <a:cxnLst/>
            <a:rect l="0" t="0" r="0" b="0"/>
            <a:pathLst>
              <a:path w="228600" h="228600">
                <a:moveTo>
                  <a:pt x="76200" y="161925"/>
                </a:moveTo>
                <a:lnTo>
                  <a:pt x="142875" y="161925"/>
                </a:lnTo>
              </a:path>
            </a:pathLst>
          </a:custGeom>
          <a:noFill/>
          <a:ln w="19050">
            <a:solidFill>
              <a:srgbClr val="FFFFFF"/>
            </a:solidFill>
            <a:prstDash val="solid"/>
          </a:ln>
        </p:spPr>
        <p:txBody>
          <a:bodyPr/>
          <a:lstStyle/>
          <a:p>
            <a:endParaRPr lang="en-US"/>
          </a:p>
        </p:txBody>
      </p:sp>
      <p:sp>
        <p:nvSpPr>
          <p:cNvPr id="18" name="!!attachment-limit">
            <a:extLst>
              <a:ext uri="{FF2B5EF4-FFF2-40B4-BE49-F238E27FC236}">
                <a16:creationId xmlns:a16="http://schemas.microsoft.com/office/drawing/2014/main" id="{C0A58C80-53CE-4ABE-8180-8364306887FB}"/>
              </a:ext>
            </a:extLst>
          </p:cNvPr>
          <p:cNvSpPr>
            <a:spLocks noGrp="1"/>
          </p:cNvSpPr>
          <p:nvPr/>
        </p:nvSpPr>
        <p:spPr>
          <a:xfrm>
            <a:off x="1524000" y="4953000"/>
            <a:ext cx="4429125" cy="476250"/>
          </a:xfrm>
          <a:prstGeom prst="rect">
            <a:avLst/>
          </a:prstGeom>
          <a:noFill/>
          <a:ln w="0">
            <a:noFill/>
          </a:ln>
        </p:spPr>
        <p:txBody>
          <a:bodyPr wrap="square" lIns="0" tIns="0" rIns="0" bIns="0" anchor="t">
            <a:normAutofit/>
          </a:bodyPr>
          <a:lstStyle/>
          <a:p>
            <a:pPr>
              <a:defRPr sz="2400" b="1">
                <a:solidFill>
                  <a:srgbClr val="166447"/>
                </a:solidFill>
                <a:latin typeface="Segoe UI"/>
                <a:ea typeface="Segoe UI"/>
                <a:cs typeface="Segoe UI"/>
              </a:defRPr>
            </a:pPr>
            <a:r>
              <a:rPr sz="2400" b="1">
                <a:solidFill>
                  <a:srgbClr val="166447"/>
                </a:solidFill>
                <a:latin typeface="Segoe UI"/>
                <a:ea typeface="Segoe UI"/>
                <a:cs typeface="Segoe UI"/>
              </a:rPr>
              <a:t>Có tệp để đối chiếu</a:t>
            </a:r>
          </a:p>
        </p:txBody>
      </p:sp>
      <p:sp>
        <p:nvSpPr>
          <p:cNvPr id="19" name="!!attachment-caveat">
            <a:extLst>
              <a:ext uri="{FF2B5EF4-FFF2-40B4-BE49-F238E27FC236}">
                <a16:creationId xmlns:a16="http://schemas.microsoft.com/office/drawing/2014/main" id="{2A65FE3D-BBA8-48BF-975C-066A84BA5202}"/>
              </a:ext>
            </a:extLst>
          </p:cNvPr>
          <p:cNvSpPr>
            <a:spLocks noGrp="1"/>
          </p:cNvSpPr>
          <p:nvPr/>
        </p:nvSpPr>
        <p:spPr>
          <a:xfrm>
            <a:off x="1524000" y="5505450"/>
            <a:ext cx="4429125" cy="723900"/>
          </a:xfrm>
          <a:prstGeom prst="rect">
            <a:avLst/>
          </a:prstGeom>
          <a:noFill/>
          <a:ln w="0">
            <a:noFill/>
          </a:ln>
        </p:spPr>
        <p:txBody>
          <a:bodyPr wrap="square" lIns="0" tIns="0" rIns="0" bIns="0" anchor="t">
            <a:normAutofit/>
          </a:bodyPr>
          <a:lstStyle/>
          <a:p>
            <a:pPr>
              <a:defRPr sz="1875" b="0">
                <a:solidFill>
                  <a:srgbClr val="825525"/>
                </a:solidFill>
                <a:latin typeface="Segoe UI"/>
                <a:ea typeface="Segoe UI"/>
                <a:cs typeface="Segoe UI"/>
              </a:defRPr>
            </a:pPr>
            <a:r>
              <a:rPr sz="1875" b="0">
                <a:solidFill>
                  <a:srgbClr val="825525"/>
                </a:solidFill>
                <a:latin typeface="Segoe UI"/>
                <a:ea typeface="Segoe UI"/>
                <a:cs typeface="Segoe UI"/>
              </a:rPr>
              <a:t>Chưa xác minh với đơn vị phát hành</a:t>
            </a:r>
          </a:p>
        </p:txBody>
      </p:sp>
      <p:sp>
        <p:nvSpPr>
          <p:cNvPr id="20" name="!!page">
            <a:extLst>
              <a:ext uri="{FF2B5EF4-FFF2-40B4-BE49-F238E27FC236}">
                <a16:creationId xmlns:a16="http://schemas.microsoft.com/office/drawing/2014/main" id="{A21BEF75-D898-429A-92F3-F6067F195F89}"/>
              </a:ext>
            </a:extLst>
          </p:cNvPr>
          <p:cNvSpPr>
            <a:spLocks noGrp="1"/>
          </p:cNvSpPr>
          <p:nvPr/>
        </p:nvSpPr>
        <p:spPr>
          <a:xfrm>
            <a:off x="10706100" y="6381750"/>
            <a:ext cx="876300" cy="228600"/>
          </a:xfrm>
          <a:prstGeom prst="rect">
            <a:avLst/>
          </a:prstGeom>
          <a:noFill/>
          <a:ln w="0">
            <a:noFill/>
          </a:ln>
        </p:spPr>
        <p:txBody>
          <a:bodyPr wrap="square" lIns="0" tIns="0" rIns="0" bIns="0" anchor="t">
            <a:normAutofit/>
          </a:bodyPr>
          <a:lstStyle/>
          <a:p>
            <a:pPr>
              <a:defRPr sz="1275" b="0">
                <a:solidFill>
                  <a:srgbClr val="53685B"/>
                </a:solidFill>
                <a:latin typeface="Segoe UI"/>
                <a:ea typeface="Segoe UI"/>
                <a:cs typeface="Segoe UI"/>
              </a:defRPr>
            </a:pPr>
            <a:r>
              <a:rPr sz="1275" b="0">
                <a:solidFill>
                  <a:srgbClr val="53685B"/>
                </a:solidFill>
                <a:latin typeface="Segoe UI"/>
                <a:ea typeface="Segoe UI"/>
                <a:cs typeface="Segoe UI"/>
              </a:rPr>
              <a:t>06 / 19</a:t>
            </a:r>
          </a:p>
        </p:txBody>
      </p:sp>
      <p:sp>
        <p:nvSpPr>
          <p:cNvPr id="21" name="!!caption">
            <a:extLst>
              <a:ext uri="{FF2B5EF4-FFF2-40B4-BE49-F238E27FC236}">
                <a16:creationId xmlns:a16="http://schemas.microsoft.com/office/drawing/2014/main" id="{2B1D07BD-405D-424C-8DC8-9948E47DC71C}"/>
              </a:ext>
            </a:extLst>
          </p:cNvPr>
          <p:cNvSpPr>
            <a:spLocks noGrp="1"/>
          </p:cNvSpPr>
          <p:nvPr/>
        </p:nvSpPr>
        <p:spPr>
          <a:xfrm>
            <a:off x="609600" y="6381750"/>
            <a:ext cx="9525000" cy="228600"/>
          </a:xfrm>
          <a:prstGeom prst="rect">
            <a:avLst/>
          </a:prstGeom>
          <a:noFill/>
          <a:ln w="0">
            <a:noFill/>
          </a:ln>
        </p:spPr>
        <p:txBody>
          <a:bodyPr wrap="square" lIns="0" tIns="0" rIns="0" bIns="0" anchor="t">
            <a:normAutofit/>
          </a:bodyPr>
          <a:lstStyle/>
          <a:p>
            <a:pPr>
              <a:defRPr sz="1275" b="0">
                <a:solidFill>
                  <a:srgbClr val="53685B"/>
                </a:solidFill>
                <a:latin typeface="Segoe UI"/>
                <a:ea typeface="Segoe UI"/>
                <a:cs typeface="Segoe UI"/>
              </a:defRPr>
            </a:pPr>
            <a:r>
              <a:rPr sz="1275" b="0">
                <a:solidFill>
                  <a:srgbClr val="53685B"/>
                </a:solidFill>
                <a:latin typeface="Segoe UI"/>
                <a:ea typeface="Segoe UI"/>
                <a:cs typeface="Segoe UI"/>
              </a:rPr>
              <a:t>Tệp do chủ hồ sơ cung cấp. Hình nền tạo bằng AI</a:t>
            </a:r>
          </a:p>
        </p:txBody>
      </p:sp>
    </p:spTree>
    <p:extLst>
      <p:ext uri="{BB962C8B-B14F-4D97-AF65-F5344CB8AC3E}">
        <p14:creationId xmlns:p14="http://schemas.microsoft.com/office/powerpoint/2010/main" val="11087897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00">
        <p159:morph option="byObject"/>
      </p:transition>
    </mc:Choice>
    <mc:Fallback xmlns="" xmlns:p14="http://schemas.microsoft.com/office/powerpoint/2010/main">
      <p:transition advClick="1" spd="fast">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02C21"/>
        </a:solidFill>
        <a:effectLst/>
      </p:bgPr>
    </p:bg>
    <p:spTree>
      <p:nvGrpSpPr>
        <p:cNvPr id="1" name=""/>
        <p:cNvGrpSpPr/>
        <p:nvPr/>
      </p:nvGrpSpPr>
      <p:grpSpPr>
        <a:xfrm>
          <a:off x="0" y="0"/>
          <a:ext cx="0" cy="0"/>
          <a:chOff x="0" y="0"/>
          <a:chExt cx="0" cy="0"/>
        </a:xfrm>
      </p:grpSpPr>
      <p:pic>
        <p:nvPicPr>
          <p:cNvPr id="33" name="!!backdrop"/>
          <p:cNvPicPr>
            <a:picLocks noChangeAspect="1"/>
          </p:cNvPicPr>
          <p:nvPr/>
        </p:nvPicPr>
        <p:blipFill>
          <a:blip r:embed="rId3"/>
          <a:srcRect t="27" b="27"/>
          <a:stretch>
            <a:fillRect/>
          </a:stretch>
        </p:blipFill>
        <p:spPr>
          <a:xfrm>
            <a:off x="0" y="0"/>
            <a:ext cx="12192000" cy="6858000"/>
          </a:xfrm>
          <a:prstGeom prst="rect">
            <a:avLst/>
          </a:prstGeom>
        </p:spPr>
      </p:pic>
      <p:sp>
        <p:nvSpPr>
          <p:cNvPr id="2" name="!!backdrop-tint">
            <a:extLst>
              <a:ext uri="{FF2B5EF4-FFF2-40B4-BE49-F238E27FC236}">
                <a16:creationId xmlns:a16="http://schemas.microsoft.com/office/drawing/2014/main" id="{735F70B5-9168-4665-A312-906D3A275456}"/>
              </a:ext>
            </a:extLst>
          </p:cNvPr>
          <p:cNvSpPr>
            <a:spLocks noGrp="1"/>
          </p:cNvSpPr>
          <p:nvPr/>
        </p:nvSpPr>
        <p:spPr>
          <a:xfrm>
            <a:off x="0" y="0"/>
            <a:ext cx="12192000" cy="6858000"/>
          </a:xfrm>
          <a:prstGeom prst="rect">
            <a:avLst/>
          </a:prstGeom>
          <a:solidFill>
            <a:srgbClr val="102C21">
              <a:alpha val="35000"/>
            </a:srgbClr>
          </a:solidFill>
          <a:ln w="0">
            <a:noFill/>
          </a:ln>
        </p:spPr>
        <p:txBody>
          <a:bodyPr/>
          <a:lstStyle/>
          <a:p>
            <a:endParaRPr lang="en-US"/>
          </a:p>
        </p:txBody>
      </p:sp>
      <p:sp>
        <p:nvSpPr>
          <p:cNvPr id="3" name="!!headline">
            <a:extLst>
              <a:ext uri="{FF2B5EF4-FFF2-40B4-BE49-F238E27FC236}">
                <a16:creationId xmlns:a16="http://schemas.microsoft.com/office/drawing/2014/main" id="{D540088A-69D0-427E-80FC-B2AC2FDC2454}"/>
              </a:ext>
            </a:extLst>
          </p:cNvPr>
          <p:cNvSpPr>
            <a:spLocks noGrp="1"/>
          </p:cNvSpPr>
          <p:nvPr/>
        </p:nvSpPr>
        <p:spPr>
          <a:xfrm>
            <a:off x="609600" y="533400"/>
            <a:ext cx="10953750" cy="1104900"/>
          </a:xfrm>
          <a:prstGeom prst="rect">
            <a:avLst/>
          </a:prstGeom>
          <a:noFill/>
          <a:ln w="0">
            <a:noFill/>
          </a:ln>
        </p:spPr>
        <p:txBody>
          <a:bodyPr wrap="square" lIns="0" tIns="0" rIns="0" bIns="0" anchor="t">
            <a:normAutofit/>
          </a:bodyPr>
          <a:lstStyle/>
          <a:p>
            <a:pPr>
              <a:defRPr sz="3450" b="1">
                <a:solidFill>
                  <a:srgbClr val="F4F1E8"/>
                </a:solidFill>
                <a:latin typeface="Segoe UI"/>
                <a:ea typeface="Segoe UI"/>
                <a:cs typeface="Segoe UI"/>
              </a:defRPr>
            </a:pPr>
            <a:r>
              <a:rPr sz="3450" b="1">
                <a:solidFill>
                  <a:srgbClr val="F4F1E8"/>
                </a:solidFill>
                <a:latin typeface="Segoe UI"/>
                <a:ea typeface="Segoe UI"/>
                <a:cs typeface="Segoe UI"/>
              </a:rPr>
              <a:t>Lịch sử hành trình</a:t>
            </a:r>
          </a:p>
        </p:txBody>
      </p:sp>
      <p:sp>
        <p:nvSpPr>
          <p:cNvPr id="4" name="!!event-0-selection">
            <a:extLst>
              <a:ext uri="{FF2B5EF4-FFF2-40B4-BE49-F238E27FC236}">
                <a16:creationId xmlns:a16="http://schemas.microsoft.com/office/drawing/2014/main" id="{2A9BB37E-32DC-4C48-BC1C-F80CF062663C}"/>
              </a:ext>
            </a:extLst>
          </p:cNvPr>
          <p:cNvSpPr>
            <a:spLocks noGrp="1"/>
          </p:cNvSpPr>
          <p:nvPr/>
        </p:nvSpPr>
        <p:spPr>
          <a:xfrm>
            <a:off x="1057275" y="2257425"/>
            <a:ext cx="1104900" cy="1104900"/>
          </a:xfrm>
          <a:prstGeom prst="ellipse">
            <a:avLst/>
          </a:prstGeom>
          <a:solidFill>
            <a:srgbClr val="183A2C"/>
          </a:solidFill>
          <a:ln w="9525">
            <a:solidFill>
              <a:srgbClr val="A3BCAB"/>
            </a:solidFill>
          </a:ln>
        </p:spPr>
        <p:txBody>
          <a:bodyPr/>
          <a:lstStyle/>
          <a:p>
            <a:endParaRPr lang="en-US"/>
          </a:p>
        </p:txBody>
      </p:sp>
      <p:sp>
        <p:nvSpPr>
          <p:cNvPr id="5" name="!!event-0-icon-0">
            <a:extLst>
              <a:ext uri="{FF2B5EF4-FFF2-40B4-BE49-F238E27FC236}">
                <a16:creationId xmlns:a16="http://schemas.microsoft.com/office/drawing/2014/main" id="{DB924180-96F7-4C1D-A2AC-649226ABB56B}"/>
              </a:ext>
            </a:extLst>
          </p:cNvPr>
          <p:cNvSpPr>
            <a:spLocks noGrp="1"/>
          </p:cNvSpPr>
          <p:nvPr/>
        </p:nvSpPr>
        <p:spPr>
          <a:xfrm>
            <a:off x="1311402" y="2511552"/>
            <a:ext cx="596646" cy="596646"/>
          </a:xfrm>
          <a:custGeom>
            <a:avLst/>
            <a:gdLst/>
            <a:ahLst/>
            <a:cxnLst/>
            <a:rect l="0" t="0" r="0" b="0"/>
            <a:pathLst>
              <a:path w="228600" h="228600">
                <a:moveTo>
                  <a:pt x="28575" y="180975"/>
                </a:moveTo>
                <a:lnTo>
                  <a:pt x="28575" y="114300"/>
                </a:lnTo>
                <a:lnTo>
                  <a:pt x="47625" y="66675"/>
                </a:lnTo>
                <a:lnTo>
                  <a:pt x="95250" y="47625"/>
                </a:lnTo>
                <a:lnTo>
                  <a:pt x="152400" y="38100"/>
                </a:lnTo>
                <a:lnTo>
                  <a:pt x="200025" y="19050"/>
                </a:lnTo>
                <a:lnTo>
                  <a:pt x="200025" y="85725"/>
                </a:lnTo>
                <a:lnTo>
                  <a:pt x="180975" y="142875"/>
                </a:lnTo>
                <a:lnTo>
                  <a:pt x="142875" y="180975"/>
                </a:lnTo>
                <a:lnTo>
                  <a:pt x="85725" y="200025"/>
                </a:lnTo>
                <a:close/>
              </a:path>
            </a:pathLst>
          </a:custGeom>
          <a:noFill/>
          <a:ln w="21309">
            <a:solidFill>
              <a:srgbClr val="A3BCAB"/>
            </a:solidFill>
            <a:prstDash val="solid"/>
          </a:ln>
        </p:spPr>
        <p:txBody>
          <a:bodyPr/>
          <a:lstStyle/>
          <a:p>
            <a:endParaRPr lang="en-US"/>
          </a:p>
        </p:txBody>
      </p:sp>
      <p:sp>
        <p:nvSpPr>
          <p:cNvPr id="6" name="!!event-0-icon-1">
            <a:extLst>
              <a:ext uri="{FF2B5EF4-FFF2-40B4-BE49-F238E27FC236}">
                <a16:creationId xmlns:a16="http://schemas.microsoft.com/office/drawing/2014/main" id="{3CDCABBF-1E94-40AF-B7B5-F30B42880559}"/>
              </a:ext>
            </a:extLst>
          </p:cNvPr>
          <p:cNvSpPr>
            <a:spLocks noGrp="1"/>
          </p:cNvSpPr>
          <p:nvPr/>
        </p:nvSpPr>
        <p:spPr>
          <a:xfrm>
            <a:off x="1311402" y="2511552"/>
            <a:ext cx="596646" cy="596646"/>
          </a:xfrm>
          <a:custGeom>
            <a:avLst/>
            <a:gdLst/>
            <a:ahLst/>
            <a:cxnLst/>
            <a:rect l="0" t="0" r="0" b="0"/>
            <a:pathLst>
              <a:path w="228600" h="228600">
                <a:moveTo>
                  <a:pt x="19050" y="209550"/>
                </a:moveTo>
                <a:lnTo>
                  <a:pt x="95250" y="133350"/>
                </a:lnTo>
                <a:lnTo>
                  <a:pt x="142875" y="95250"/>
                </a:lnTo>
              </a:path>
            </a:pathLst>
          </a:custGeom>
          <a:noFill/>
          <a:ln w="21309">
            <a:solidFill>
              <a:srgbClr val="A3BCAB"/>
            </a:solidFill>
            <a:prstDash val="solid"/>
          </a:ln>
        </p:spPr>
        <p:txBody>
          <a:bodyPr/>
          <a:lstStyle/>
          <a:p>
            <a:endParaRPr lang="en-US"/>
          </a:p>
        </p:txBody>
      </p:sp>
      <p:sp>
        <p:nvSpPr>
          <p:cNvPr id="7" name="!!event-label-0">
            <a:extLst>
              <a:ext uri="{FF2B5EF4-FFF2-40B4-BE49-F238E27FC236}">
                <a16:creationId xmlns:a16="http://schemas.microsoft.com/office/drawing/2014/main" id="{F4E7322B-6E2A-4A77-9B66-8007A40A57B5}"/>
              </a:ext>
            </a:extLst>
          </p:cNvPr>
          <p:cNvSpPr>
            <a:spLocks noGrp="1"/>
          </p:cNvSpPr>
          <p:nvPr/>
        </p:nvSpPr>
        <p:spPr>
          <a:xfrm>
            <a:off x="485775" y="3762375"/>
            <a:ext cx="2343150" cy="857250"/>
          </a:xfrm>
          <a:prstGeom prst="rect">
            <a:avLst/>
          </a:prstGeom>
          <a:noFill/>
          <a:ln w="0">
            <a:noFill/>
          </a:ln>
        </p:spPr>
        <p:txBody>
          <a:bodyPr wrap="square" lIns="0" tIns="0" rIns="0" bIns="0" anchor="t">
            <a:normAutofit/>
          </a:bodyPr>
          <a:lstStyle/>
          <a:p>
            <a:pPr>
              <a:defRPr sz="2025" b="1">
                <a:solidFill>
                  <a:srgbClr val="F4F1E8"/>
                </a:solidFill>
                <a:latin typeface="Segoe UI"/>
                <a:ea typeface="Segoe UI"/>
                <a:cs typeface="Segoe UI"/>
              </a:defRPr>
            </a:pPr>
            <a:r>
              <a:rPr sz="2025" b="1">
                <a:solidFill>
                  <a:srgbClr val="F4F1E8"/>
                </a:solidFill>
                <a:latin typeface="Segoe UI"/>
                <a:ea typeface="Segoe UI"/>
                <a:cs typeface="Segoe UI"/>
              </a:rPr>
              <a:t>Thu hoạch</a:t>
            </a:r>
          </a:p>
        </p:txBody>
      </p:sp>
      <p:sp>
        <p:nvSpPr>
          <p:cNvPr id="8" name="!!event-1-selection">
            <a:extLst>
              <a:ext uri="{FF2B5EF4-FFF2-40B4-BE49-F238E27FC236}">
                <a16:creationId xmlns:a16="http://schemas.microsoft.com/office/drawing/2014/main" id="{BCEA9B0A-039E-40CD-90F5-7543040B7325}"/>
              </a:ext>
            </a:extLst>
          </p:cNvPr>
          <p:cNvSpPr>
            <a:spLocks noGrp="1"/>
          </p:cNvSpPr>
          <p:nvPr/>
        </p:nvSpPr>
        <p:spPr>
          <a:xfrm>
            <a:off x="3848100" y="2257425"/>
            <a:ext cx="1104900" cy="1104900"/>
          </a:xfrm>
          <a:prstGeom prst="ellipse">
            <a:avLst/>
          </a:prstGeom>
          <a:solidFill>
            <a:srgbClr val="183A2C"/>
          </a:solidFill>
          <a:ln w="9525">
            <a:solidFill>
              <a:srgbClr val="A3BCAB"/>
            </a:solidFill>
          </a:ln>
        </p:spPr>
        <p:txBody>
          <a:bodyPr/>
          <a:lstStyle/>
          <a:p>
            <a:endParaRPr lang="en-US"/>
          </a:p>
        </p:txBody>
      </p:sp>
      <p:sp>
        <p:nvSpPr>
          <p:cNvPr id="9" name="!!event-1-icon-0">
            <a:extLst>
              <a:ext uri="{FF2B5EF4-FFF2-40B4-BE49-F238E27FC236}">
                <a16:creationId xmlns:a16="http://schemas.microsoft.com/office/drawing/2014/main" id="{76252023-DC9C-4B29-AF2A-BD1E792EC1EC}"/>
              </a:ext>
            </a:extLst>
          </p:cNvPr>
          <p:cNvSpPr>
            <a:spLocks noGrp="1"/>
          </p:cNvSpPr>
          <p:nvPr/>
        </p:nvSpPr>
        <p:spPr>
          <a:xfrm>
            <a:off x="4151948" y="2561273"/>
            <a:ext cx="348044" cy="348044"/>
          </a:xfrm>
          <a:prstGeom prst="ellipse">
            <a:avLst/>
          </a:prstGeom>
          <a:noFill/>
          <a:ln w="21309">
            <a:solidFill>
              <a:srgbClr val="A3BCAB"/>
            </a:solidFill>
            <a:prstDash val="solid"/>
          </a:ln>
        </p:spPr>
        <p:txBody>
          <a:bodyPr/>
          <a:lstStyle/>
          <a:p>
            <a:endParaRPr lang="en-US"/>
          </a:p>
        </p:txBody>
      </p:sp>
      <p:sp>
        <p:nvSpPr>
          <p:cNvPr id="10" name="!!event-1-icon-1">
            <a:extLst>
              <a:ext uri="{FF2B5EF4-FFF2-40B4-BE49-F238E27FC236}">
                <a16:creationId xmlns:a16="http://schemas.microsoft.com/office/drawing/2014/main" id="{CD006BED-D12E-47C8-BEB5-594EDC8C779F}"/>
              </a:ext>
            </a:extLst>
          </p:cNvPr>
          <p:cNvSpPr>
            <a:spLocks noGrp="1"/>
          </p:cNvSpPr>
          <p:nvPr/>
        </p:nvSpPr>
        <p:spPr>
          <a:xfrm>
            <a:off x="4102227" y="2511552"/>
            <a:ext cx="596646" cy="596646"/>
          </a:xfrm>
          <a:custGeom>
            <a:avLst/>
            <a:gdLst/>
            <a:ahLst/>
            <a:cxnLst/>
            <a:rect l="0" t="0" r="0" b="0"/>
            <a:pathLst>
              <a:path w="228600" h="228600">
                <a:moveTo>
                  <a:pt x="133350" y="133350"/>
                </a:moveTo>
                <a:lnTo>
                  <a:pt x="209550" y="209550"/>
                </a:lnTo>
              </a:path>
            </a:pathLst>
          </a:custGeom>
          <a:noFill/>
          <a:ln w="21309">
            <a:solidFill>
              <a:srgbClr val="A3BCAB"/>
            </a:solidFill>
            <a:prstDash val="solid"/>
          </a:ln>
        </p:spPr>
        <p:txBody>
          <a:bodyPr/>
          <a:lstStyle/>
          <a:p>
            <a:endParaRPr lang="en-US"/>
          </a:p>
        </p:txBody>
      </p:sp>
      <p:sp>
        <p:nvSpPr>
          <p:cNvPr id="11" name="!!event-label-1">
            <a:extLst>
              <a:ext uri="{FF2B5EF4-FFF2-40B4-BE49-F238E27FC236}">
                <a16:creationId xmlns:a16="http://schemas.microsoft.com/office/drawing/2014/main" id="{629DBC02-14FC-4BB3-A541-79AAE8CEFEF0}"/>
              </a:ext>
            </a:extLst>
          </p:cNvPr>
          <p:cNvSpPr>
            <a:spLocks noGrp="1"/>
          </p:cNvSpPr>
          <p:nvPr/>
        </p:nvSpPr>
        <p:spPr>
          <a:xfrm>
            <a:off x="3276600" y="3762375"/>
            <a:ext cx="2343150" cy="857250"/>
          </a:xfrm>
          <a:prstGeom prst="rect">
            <a:avLst/>
          </a:prstGeom>
          <a:noFill/>
          <a:ln w="0">
            <a:noFill/>
          </a:ln>
        </p:spPr>
        <p:txBody>
          <a:bodyPr wrap="square" lIns="0" tIns="0" rIns="0" bIns="0" anchor="t">
            <a:normAutofit/>
          </a:bodyPr>
          <a:lstStyle/>
          <a:p>
            <a:pPr>
              <a:defRPr sz="2025" b="1">
                <a:solidFill>
                  <a:srgbClr val="F4F1E8"/>
                </a:solidFill>
                <a:latin typeface="Segoe UI"/>
                <a:ea typeface="Segoe UI"/>
                <a:cs typeface="Segoe UI"/>
              </a:defRPr>
            </a:pPr>
            <a:r>
              <a:rPr sz="2025" b="1">
                <a:solidFill>
                  <a:srgbClr val="F4F1E8"/>
                </a:solidFill>
                <a:latin typeface="Segoe UI"/>
                <a:ea typeface="Segoe UI"/>
                <a:cs typeface="Segoe UI"/>
              </a:rPr>
              <a:t>Phân loại</a:t>
            </a:r>
          </a:p>
        </p:txBody>
      </p:sp>
      <p:cxnSp>
        <p:nvCxnSpPr>
          <p:cNvPr id="44" name="!!connector-7-0"/>
          <p:cNvCxnSpPr>
            <a:stCxn id="4" idx="6"/>
            <a:endCxn id="8" idx="2"/>
          </p:cNvCxnSpPr>
          <p:nvPr/>
        </p:nvCxnSpPr>
        <p:spPr>
          <a:xfrm>
            <a:off x="2162175" y="2809875"/>
            <a:ext cx="1685925" cy="0"/>
          </a:xfrm>
          <a:prstGeom prst="straightConnector1">
            <a:avLst/>
          </a:prstGeom>
          <a:ln w="19050">
            <a:solidFill>
              <a:srgbClr val="A3BCAB"/>
            </a:solidFill>
            <a:prstDash val="solid"/>
            <a:tailEnd type="arrow" w="med" len="med"/>
          </a:ln>
        </p:spPr>
      </p:cxnSp>
      <p:sp>
        <p:nvSpPr>
          <p:cNvPr id="13" name="!!event-2-selection">
            <a:extLst>
              <a:ext uri="{FF2B5EF4-FFF2-40B4-BE49-F238E27FC236}">
                <a16:creationId xmlns:a16="http://schemas.microsoft.com/office/drawing/2014/main" id="{C555038B-99AD-4B08-8E4F-721F01710CEE}"/>
              </a:ext>
            </a:extLst>
          </p:cNvPr>
          <p:cNvSpPr>
            <a:spLocks noGrp="1"/>
          </p:cNvSpPr>
          <p:nvPr/>
        </p:nvSpPr>
        <p:spPr>
          <a:xfrm>
            <a:off x="6638925" y="2257425"/>
            <a:ext cx="1104900" cy="1104900"/>
          </a:xfrm>
          <a:prstGeom prst="ellipse">
            <a:avLst/>
          </a:prstGeom>
          <a:solidFill>
            <a:srgbClr val="183A2C"/>
          </a:solidFill>
          <a:ln w="9525">
            <a:solidFill>
              <a:srgbClr val="A3BCAB"/>
            </a:solidFill>
          </a:ln>
        </p:spPr>
        <p:txBody>
          <a:bodyPr/>
          <a:lstStyle/>
          <a:p>
            <a:endParaRPr lang="en-US"/>
          </a:p>
        </p:txBody>
      </p:sp>
      <p:sp>
        <p:nvSpPr>
          <p:cNvPr id="14" name="!!event-2-icon-0">
            <a:extLst>
              <a:ext uri="{FF2B5EF4-FFF2-40B4-BE49-F238E27FC236}">
                <a16:creationId xmlns:a16="http://schemas.microsoft.com/office/drawing/2014/main" id="{647738CB-02C3-4154-8B42-96D1F33F0BEE}"/>
              </a:ext>
            </a:extLst>
          </p:cNvPr>
          <p:cNvSpPr>
            <a:spLocks noGrp="1"/>
          </p:cNvSpPr>
          <p:nvPr/>
        </p:nvSpPr>
        <p:spPr>
          <a:xfrm>
            <a:off x="6893052" y="2511552"/>
            <a:ext cx="596646" cy="596646"/>
          </a:xfrm>
          <a:custGeom>
            <a:avLst/>
            <a:gdLst/>
            <a:ahLst/>
            <a:cxnLst/>
            <a:rect l="0" t="0" r="0" b="0"/>
            <a:pathLst>
              <a:path w="228600" h="228600">
                <a:moveTo>
                  <a:pt x="28575" y="66675"/>
                </a:moveTo>
                <a:lnTo>
                  <a:pt x="114300" y="19050"/>
                </a:lnTo>
                <a:lnTo>
                  <a:pt x="200025" y="66675"/>
                </a:lnTo>
                <a:lnTo>
                  <a:pt x="200025" y="161925"/>
                </a:lnTo>
                <a:lnTo>
                  <a:pt x="114300" y="209550"/>
                </a:lnTo>
                <a:lnTo>
                  <a:pt x="28575" y="161925"/>
                </a:lnTo>
                <a:close/>
              </a:path>
            </a:pathLst>
          </a:custGeom>
          <a:noFill/>
          <a:ln w="21309">
            <a:solidFill>
              <a:srgbClr val="A3BCAB"/>
            </a:solidFill>
            <a:prstDash val="solid"/>
          </a:ln>
        </p:spPr>
        <p:txBody>
          <a:bodyPr/>
          <a:lstStyle/>
          <a:p>
            <a:endParaRPr lang="en-US"/>
          </a:p>
        </p:txBody>
      </p:sp>
      <p:sp>
        <p:nvSpPr>
          <p:cNvPr id="15" name="!!event-2-icon-1">
            <a:extLst>
              <a:ext uri="{FF2B5EF4-FFF2-40B4-BE49-F238E27FC236}">
                <a16:creationId xmlns:a16="http://schemas.microsoft.com/office/drawing/2014/main" id="{6AECE61D-B159-4063-86BF-CAA34C6FB1D7}"/>
              </a:ext>
            </a:extLst>
          </p:cNvPr>
          <p:cNvSpPr>
            <a:spLocks noGrp="1"/>
          </p:cNvSpPr>
          <p:nvPr/>
        </p:nvSpPr>
        <p:spPr>
          <a:xfrm>
            <a:off x="6893052" y="2511552"/>
            <a:ext cx="596646" cy="596646"/>
          </a:xfrm>
          <a:custGeom>
            <a:avLst/>
            <a:gdLst/>
            <a:ahLst/>
            <a:cxnLst/>
            <a:rect l="0" t="0" r="0" b="0"/>
            <a:pathLst>
              <a:path w="228600" h="228600">
                <a:moveTo>
                  <a:pt x="28575" y="66675"/>
                </a:moveTo>
                <a:lnTo>
                  <a:pt x="114300" y="114300"/>
                </a:lnTo>
                <a:lnTo>
                  <a:pt x="200025" y="66675"/>
                </a:lnTo>
              </a:path>
            </a:pathLst>
          </a:custGeom>
          <a:noFill/>
          <a:ln w="21309">
            <a:solidFill>
              <a:srgbClr val="A3BCAB"/>
            </a:solidFill>
            <a:prstDash val="solid"/>
          </a:ln>
        </p:spPr>
        <p:txBody>
          <a:bodyPr/>
          <a:lstStyle/>
          <a:p>
            <a:endParaRPr lang="en-US"/>
          </a:p>
        </p:txBody>
      </p:sp>
      <p:sp>
        <p:nvSpPr>
          <p:cNvPr id="16" name="!!event-2-icon-2">
            <a:extLst>
              <a:ext uri="{FF2B5EF4-FFF2-40B4-BE49-F238E27FC236}">
                <a16:creationId xmlns:a16="http://schemas.microsoft.com/office/drawing/2014/main" id="{98A9B9DE-6ED1-4C1A-85A6-BAD51504B87A}"/>
              </a:ext>
            </a:extLst>
          </p:cNvPr>
          <p:cNvSpPr>
            <a:spLocks noGrp="1"/>
          </p:cNvSpPr>
          <p:nvPr/>
        </p:nvSpPr>
        <p:spPr>
          <a:xfrm>
            <a:off x="6893052" y="2511552"/>
            <a:ext cx="596646" cy="596646"/>
          </a:xfrm>
          <a:custGeom>
            <a:avLst/>
            <a:gdLst/>
            <a:ahLst/>
            <a:cxnLst/>
            <a:rect l="0" t="0" r="0" b="0"/>
            <a:pathLst>
              <a:path w="228600" h="228600">
                <a:moveTo>
                  <a:pt x="114300" y="114300"/>
                </a:moveTo>
                <a:lnTo>
                  <a:pt x="114300" y="209550"/>
                </a:lnTo>
              </a:path>
            </a:pathLst>
          </a:custGeom>
          <a:noFill/>
          <a:ln w="21309">
            <a:solidFill>
              <a:srgbClr val="A3BCAB"/>
            </a:solidFill>
            <a:prstDash val="solid"/>
          </a:ln>
        </p:spPr>
        <p:txBody>
          <a:bodyPr/>
          <a:lstStyle/>
          <a:p>
            <a:endParaRPr lang="en-US"/>
          </a:p>
        </p:txBody>
      </p:sp>
      <p:sp>
        <p:nvSpPr>
          <p:cNvPr id="17" name="!!event-label-2">
            <a:extLst>
              <a:ext uri="{FF2B5EF4-FFF2-40B4-BE49-F238E27FC236}">
                <a16:creationId xmlns:a16="http://schemas.microsoft.com/office/drawing/2014/main" id="{8B1DB373-9BA2-4A8A-9DF8-16C920B87140}"/>
              </a:ext>
            </a:extLst>
          </p:cNvPr>
          <p:cNvSpPr>
            <a:spLocks noGrp="1"/>
          </p:cNvSpPr>
          <p:nvPr/>
        </p:nvSpPr>
        <p:spPr>
          <a:xfrm>
            <a:off x="6067425" y="3762375"/>
            <a:ext cx="2343150" cy="857250"/>
          </a:xfrm>
          <a:prstGeom prst="rect">
            <a:avLst/>
          </a:prstGeom>
          <a:noFill/>
          <a:ln w="0">
            <a:noFill/>
          </a:ln>
        </p:spPr>
        <p:txBody>
          <a:bodyPr wrap="square" lIns="0" tIns="0" rIns="0" bIns="0" anchor="t">
            <a:normAutofit/>
          </a:bodyPr>
          <a:lstStyle/>
          <a:p>
            <a:pPr>
              <a:defRPr sz="2025" b="1">
                <a:solidFill>
                  <a:srgbClr val="F4F1E8"/>
                </a:solidFill>
                <a:latin typeface="Segoe UI"/>
                <a:ea typeface="Segoe UI"/>
                <a:cs typeface="Segoe UI"/>
              </a:defRPr>
            </a:pPr>
            <a:r>
              <a:rPr sz="2025" b="1">
                <a:solidFill>
                  <a:srgbClr val="F4F1E8"/>
                </a:solidFill>
                <a:latin typeface="Segoe UI"/>
                <a:ea typeface="Segoe UI"/>
                <a:cs typeface="Segoe UI"/>
              </a:rPr>
              <a:t>Đóng gói</a:t>
            </a:r>
          </a:p>
        </p:txBody>
      </p:sp>
      <p:cxnSp>
        <p:nvCxnSpPr>
          <p:cNvPr id="50" name="!!connector-7-1"/>
          <p:cNvCxnSpPr>
            <a:stCxn id="8" idx="6"/>
            <a:endCxn id="13" idx="2"/>
          </p:cNvCxnSpPr>
          <p:nvPr/>
        </p:nvCxnSpPr>
        <p:spPr>
          <a:xfrm>
            <a:off x="4953000" y="2809875"/>
            <a:ext cx="1685925" cy="0"/>
          </a:xfrm>
          <a:prstGeom prst="straightConnector1">
            <a:avLst/>
          </a:prstGeom>
          <a:ln w="19050">
            <a:solidFill>
              <a:srgbClr val="A3BCAB"/>
            </a:solidFill>
            <a:prstDash val="solid"/>
            <a:tailEnd type="arrow" w="med" len="med"/>
          </a:ln>
        </p:spPr>
      </p:cxnSp>
      <p:sp>
        <p:nvSpPr>
          <p:cNvPr id="19" name="!!event-3-selection">
            <a:extLst>
              <a:ext uri="{FF2B5EF4-FFF2-40B4-BE49-F238E27FC236}">
                <a16:creationId xmlns:a16="http://schemas.microsoft.com/office/drawing/2014/main" id="{0B05B990-CF50-4850-8E37-E703B1C92A70}"/>
              </a:ext>
            </a:extLst>
          </p:cNvPr>
          <p:cNvSpPr>
            <a:spLocks noGrp="1"/>
          </p:cNvSpPr>
          <p:nvPr/>
        </p:nvSpPr>
        <p:spPr>
          <a:xfrm>
            <a:off x="9286875" y="2114550"/>
            <a:ext cx="1390650" cy="1390650"/>
          </a:xfrm>
          <a:prstGeom prst="ellipse">
            <a:avLst/>
          </a:prstGeom>
          <a:solidFill>
            <a:srgbClr val="166447"/>
          </a:solidFill>
          <a:ln w="28575">
            <a:solidFill>
              <a:srgbClr val="C8A45B"/>
            </a:solidFill>
          </a:ln>
        </p:spPr>
        <p:txBody>
          <a:bodyPr/>
          <a:lstStyle/>
          <a:p>
            <a:endParaRPr lang="en-US"/>
          </a:p>
        </p:txBody>
      </p:sp>
      <p:sp>
        <p:nvSpPr>
          <p:cNvPr id="20" name="!!event-3-icon-0">
            <a:extLst>
              <a:ext uri="{FF2B5EF4-FFF2-40B4-BE49-F238E27FC236}">
                <a16:creationId xmlns:a16="http://schemas.microsoft.com/office/drawing/2014/main" id="{B125B225-F60F-4B73-81F5-6C96702713EF}"/>
              </a:ext>
            </a:extLst>
          </p:cNvPr>
          <p:cNvSpPr>
            <a:spLocks noGrp="1"/>
          </p:cNvSpPr>
          <p:nvPr/>
        </p:nvSpPr>
        <p:spPr>
          <a:xfrm>
            <a:off x="9669304" y="2590848"/>
            <a:ext cx="375476" cy="406765"/>
          </a:xfrm>
          <a:prstGeom prst="rect">
            <a:avLst/>
          </a:prstGeom>
          <a:noFill/>
          <a:ln w="26820">
            <a:solidFill>
              <a:srgbClr val="FFFFFF"/>
            </a:solidFill>
            <a:prstDash val="solid"/>
          </a:ln>
        </p:spPr>
        <p:txBody>
          <a:bodyPr/>
          <a:lstStyle/>
          <a:p>
            <a:endParaRPr lang="en-US"/>
          </a:p>
        </p:txBody>
      </p:sp>
      <p:sp>
        <p:nvSpPr>
          <p:cNvPr id="21" name="!!event-3-icon-1">
            <a:extLst>
              <a:ext uri="{FF2B5EF4-FFF2-40B4-BE49-F238E27FC236}">
                <a16:creationId xmlns:a16="http://schemas.microsoft.com/office/drawing/2014/main" id="{E6AB1353-79D8-4D5C-9C32-73454001018B}"/>
              </a:ext>
            </a:extLst>
          </p:cNvPr>
          <p:cNvSpPr>
            <a:spLocks noGrp="1"/>
          </p:cNvSpPr>
          <p:nvPr/>
        </p:nvSpPr>
        <p:spPr>
          <a:xfrm>
            <a:off x="9606725" y="2434400"/>
            <a:ext cx="750951" cy="750951"/>
          </a:xfrm>
          <a:custGeom>
            <a:avLst/>
            <a:gdLst/>
            <a:ahLst/>
            <a:cxnLst/>
            <a:rect l="0" t="0" r="0" b="0"/>
            <a:pathLst>
              <a:path w="228600" h="228600">
                <a:moveTo>
                  <a:pt x="133350" y="85725"/>
                </a:moveTo>
                <a:lnTo>
                  <a:pt x="180975" y="85725"/>
                </a:lnTo>
                <a:lnTo>
                  <a:pt x="209550" y="123825"/>
                </a:lnTo>
                <a:lnTo>
                  <a:pt x="209550" y="171450"/>
                </a:lnTo>
                <a:lnTo>
                  <a:pt x="133350" y="171450"/>
                </a:lnTo>
                <a:close/>
              </a:path>
            </a:pathLst>
          </a:custGeom>
          <a:noFill/>
          <a:ln w="26820">
            <a:solidFill>
              <a:srgbClr val="FFFFFF"/>
            </a:solidFill>
            <a:prstDash val="solid"/>
          </a:ln>
        </p:spPr>
        <p:txBody>
          <a:bodyPr/>
          <a:lstStyle/>
          <a:p>
            <a:endParaRPr lang="en-US"/>
          </a:p>
        </p:txBody>
      </p:sp>
      <p:sp>
        <p:nvSpPr>
          <p:cNvPr id="22" name="!!event-3-icon-2">
            <a:extLst>
              <a:ext uri="{FF2B5EF4-FFF2-40B4-BE49-F238E27FC236}">
                <a16:creationId xmlns:a16="http://schemas.microsoft.com/office/drawing/2014/main" id="{5C6669D6-34A6-4A1B-B0EE-BE1F8D4AB271}"/>
              </a:ext>
            </a:extLst>
          </p:cNvPr>
          <p:cNvSpPr>
            <a:spLocks noGrp="1"/>
          </p:cNvSpPr>
          <p:nvPr/>
        </p:nvSpPr>
        <p:spPr>
          <a:xfrm>
            <a:off x="9731883" y="2935034"/>
            <a:ext cx="156448" cy="156448"/>
          </a:xfrm>
          <a:prstGeom prst="ellipse">
            <a:avLst/>
          </a:prstGeom>
          <a:noFill/>
          <a:ln w="26820">
            <a:solidFill>
              <a:srgbClr val="FFFFFF"/>
            </a:solidFill>
            <a:prstDash val="solid"/>
          </a:ln>
        </p:spPr>
        <p:txBody>
          <a:bodyPr/>
          <a:lstStyle/>
          <a:p>
            <a:endParaRPr lang="en-US"/>
          </a:p>
        </p:txBody>
      </p:sp>
      <p:sp>
        <p:nvSpPr>
          <p:cNvPr id="23" name="!!event-3-icon-3">
            <a:extLst>
              <a:ext uri="{FF2B5EF4-FFF2-40B4-BE49-F238E27FC236}">
                <a16:creationId xmlns:a16="http://schemas.microsoft.com/office/drawing/2014/main" id="{D5883958-A468-4CFB-9E21-87B0D7A9731F}"/>
              </a:ext>
            </a:extLst>
          </p:cNvPr>
          <p:cNvSpPr>
            <a:spLocks noGrp="1"/>
          </p:cNvSpPr>
          <p:nvPr/>
        </p:nvSpPr>
        <p:spPr>
          <a:xfrm>
            <a:off x="10107359" y="2935034"/>
            <a:ext cx="156448" cy="156448"/>
          </a:xfrm>
          <a:prstGeom prst="ellipse">
            <a:avLst/>
          </a:prstGeom>
          <a:noFill/>
          <a:ln w="26820">
            <a:solidFill>
              <a:srgbClr val="FFFFFF"/>
            </a:solidFill>
            <a:prstDash val="solid"/>
          </a:ln>
        </p:spPr>
        <p:txBody>
          <a:bodyPr/>
          <a:lstStyle/>
          <a:p>
            <a:endParaRPr lang="en-US"/>
          </a:p>
        </p:txBody>
      </p:sp>
      <p:sp>
        <p:nvSpPr>
          <p:cNvPr id="24" name="!!event-label-3">
            <a:extLst>
              <a:ext uri="{FF2B5EF4-FFF2-40B4-BE49-F238E27FC236}">
                <a16:creationId xmlns:a16="http://schemas.microsoft.com/office/drawing/2014/main" id="{08ECE30C-C58D-4B26-862C-4AB9C959BF0F}"/>
              </a:ext>
            </a:extLst>
          </p:cNvPr>
          <p:cNvSpPr>
            <a:spLocks noGrp="1"/>
          </p:cNvSpPr>
          <p:nvPr/>
        </p:nvSpPr>
        <p:spPr>
          <a:xfrm>
            <a:off x="8858250" y="3762375"/>
            <a:ext cx="2343150" cy="857250"/>
          </a:xfrm>
          <a:prstGeom prst="rect">
            <a:avLst/>
          </a:prstGeom>
          <a:noFill/>
          <a:ln w="0">
            <a:noFill/>
          </a:ln>
        </p:spPr>
        <p:txBody>
          <a:bodyPr wrap="square" lIns="0" tIns="0" rIns="0" bIns="0" anchor="t">
            <a:normAutofit/>
          </a:bodyPr>
          <a:lstStyle/>
          <a:p>
            <a:pPr>
              <a:defRPr sz="2325" b="1">
                <a:solidFill>
                  <a:srgbClr val="F4F1E8"/>
                </a:solidFill>
                <a:latin typeface="Segoe UI"/>
                <a:ea typeface="Segoe UI"/>
                <a:cs typeface="Segoe UI"/>
              </a:defRPr>
            </a:pPr>
            <a:r>
              <a:rPr sz="2325" b="1">
                <a:solidFill>
                  <a:srgbClr val="F4F1E8"/>
                </a:solidFill>
                <a:latin typeface="Segoe UI"/>
                <a:ea typeface="Segoe UI"/>
                <a:cs typeface="Segoe UI"/>
              </a:rPr>
              <a:t>Giao hàng</a:t>
            </a:r>
          </a:p>
        </p:txBody>
      </p:sp>
      <p:cxnSp>
        <p:nvCxnSpPr>
          <p:cNvPr id="57" name="!!connector-7-2"/>
          <p:cNvCxnSpPr>
            <a:stCxn id="13" idx="6"/>
            <a:endCxn id="19" idx="2"/>
          </p:cNvCxnSpPr>
          <p:nvPr/>
        </p:nvCxnSpPr>
        <p:spPr>
          <a:xfrm>
            <a:off x="7743825" y="2809875"/>
            <a:ext cx="1543050" cy="0"/>
          </a:xfrm>
          <a:prstGeom prst="straightConnector1">
            <a:avLst/>
          </a:prstGeom>
          <a:ln w="19050">
            <a:solidFill>
              <a:srgbClr val="A3BCAB"/>
            </a:solidFill>
            <a:prstDash val="solid"/>
            <a:tailEnd type="arrow" w="med" len="med"/>
          </a:ln>
        </p:spPr>
      </p:cxnSp>
      <p:sp>
        <p:nvSpPr>
          <p:cNvPr id="26" name="!!date-0">
            <a:extLst>
              <a:ext uri="{FF2B5EF4-FFF2-40B4-BE49-F238E27FC236}">
                <a16:creationId xmlns:a16="http://schemas.microsoft.com/office/drawing/2014/main" id="{7BC0179D-3903-4633-89A3-F1FF85C97BDD}"/>
              </a:ext>
            </a:extLst>
          </p:cNvPr>
          <p:cNvSpPr>
            <a:spLocks noGrp="1"/>
          </p:cNvSpPr>
          <p:nvPr/>
        </p:nvSpPr>
        <p:spPr>
          <a:xfrm>
            <a:off x="485775" y="4552950"/>
            <a:ext cx="2343150" cy="400050"/>
          </a:xfrm>
          <a:prstGeom prst="rect">
            <a:avLst/>
          </a:prstGeom>
          <a:noFill/>
          <a:ln w="0">
            <a:noFill/>
          </a:ln>
        </p:spPr>
        <p:txBody>
          <a:bodyPr wrap="square" lIns="0" tIns="0" rIns="0" bIns="0" anchor="t">
            <a:normAutofit/>
          </a:bodyPr>
          <a:lstStyle/>
          <a:p>
            <a:pPr>
              <a:defRPr sz="1800" b="0">
                <a:solidFill>
                  <a:srgbClr val="A3BCAB"/>
                </a:solidFill>
                <a:latin typeface="Segoe UI"/>
                <a:ea typeface="Segoe UI"/>
                <a:cs typeface="Segoe UI"/>
              </a:defRPr>
            </a:pPr>
            <a:r>
              <a:rPr sz="1800" b="0">
                <a:solidFill>
                  <a:srgbClr val="A3BCAB"/>
                </a:solidFill>
                <a:latin typeface="Segoe UI"/>
                <a:ea typeface="Segoe UI"/>
                <a:cs typeface="Segoe UI"/>
              </a:rPr>
              <a:t>29/09/2026</a:t>
            </a:r>
          </a:p>
        </p:txBody>
      </p:sp>
      <p:sp>
        <p:nvSpPr>
          <p:cNvPr id="27" name="!!date-1">
            <a:extLst>
              <a:ext uri="{FF2B5EF4-FFF2-40B4-BE49-F238E27FC236}">
                <a16:creationId xmlns:a16="http://schemas.microsoft.com/office/drawing/2014/main" id="{E77A83FE-133D-4389-BFDE-5285C2EBF12F}"/>
              </a:ext>
            </a:extLst>
          </p:cNvPr>
          <p:cNvSpPr>
            <a:spLocks noGrp="1"/>
          </p:cNvSpPr>
          <p:nvPr/>
        </p:nvSpPr>
        <p:spPr>
          <a:xfrm>
            <a:off x="3276600" y="4552950"/>
            <a:ext cx="2343150" cy="400050"/>
          </a:xfrm>
          <a:prstGeom prst="rect">
            <a:avLst/>
          </a:prstGeom>
          <a:noFill/>
          <a:ln w="0">
            <a:noFill/>
          </a:ln>
        </p:spPr>
        <p:txBody>
          <a:bodyPr wrap="square" lIns="0" tIns="0" rIns="0" bIns="0" anchor="t">
            <a:normAutofit/>
          </a:bodyPr>
          <a:lstStyle/>
          <a:p>
            <a:pPr>
              <a:defRPr sz="1800" b="0">
                <a:solidFill>
                  <a:srgbClr val="A3BCAB"/>
                </a:solidFill>
                <a:latin typeface="Segoe UI"/>
                <a:ea typeface="Segoe UI"/>
                <a:cs typeface="Segoe UI"/>
              </a:defRPr>
            </a:pPr>
            <a:r>
              <a:rPr sz="1800" b="0">
                <a:solidFill>
                  <a:srgbClr val="A3BCAB"/>
                </a:solidFill>
                <a:latin typeface="Segoe UI"/>
                <a:ea typeface="Segoe UI"/>
                <a:cs typeface="Segoe UI"/>
              </a:rPr>
              <a:t>29/09/2026</a:t>
            </a:r>
          </a:p>
        </p:txBody>
      </p:sp>
      <p:sp>
        <p:nvSpPr>
          <p:cNvPr id="28" name="!!date-2">
            <a:extLst>
              <a:ext uri="{FF2B5EF4-FFF2-40B4-BE49-F238E27FC236}">
                <a16:creationId xmlns:a16="http://schemas.microsoft.com/office/drawing/2014/main" id="{23D62574-54E2-470D-B55E-3CC1B2E1397C}"/>
              </a:ext>
            </a:extLst>
          </p:cNvPr>
          <p:cNvSpPr>
            <a:spLocks noGrp="1"/>
          </p:cNvSpPr>
          <p:nvPr/>
        </p:nvSpPr>
        <p:spPr>
          <a:xfrm>
            <a:off x="6067425" y="4552950"/>
            <a:ext cx="2343150" cy="400050"/>
          </a:xfrm>
          <a:prstGeom prst="rect">
            <a:avLst/>
          </a:prstGeom>
          <a:noFill/>
          <a:ln w="0">
            <a:noFill/>
          </a:ln>
        </p:spPr>
        <p:txBody>
          <a:bodyPr wrap="square" lIns="0" tIns="0" rIns="0" bIns="0" anchor="t">
            <a:normAutofit/>
          </a:bodyPr>
          <a:lstStyle/>
          <a:p>
            <a:pPr>
              <a:defRPr sz="1800" b="0">
                <a:solidFill>
                  <a:srgbClr val="A3BCAB"/>
                </a:solidFill>
                <a:latin typeface="Segoe UI"/>
                <a:ea typeface="Segoe UI"/>
                <a:cs typeface="Segoe UI"/>
              </a:defRPr>
            </a:pPr>
            <a:r>
              <a:rPr sz="1800" b="0">
                <a:solidFill>
                  <a:srgbClr val="A3BCAB"/>
                </a:solidFill>
                <a:latin typeface="Segoe UI"/>
                <a:ea typeface="Segoe UI"/>
                <a:cs typeface="Segoe UI"/>
              </a:rPr>
              <a:t>29/09/2026</a:t>
            </a:r>
          </a:p>
        </p:txBody>
      </p:sp>
      <p:sp>
        <p:nvSpPr>
          <p:cNvPr id="29" name="!!date-3">
            <a:extLst>
              <a:ext uri="{FF2B5EF4-FFF2-40B4-BE49-F238E27FC236}">
                <a16:creationId xmlns:a16="http://schemas.microsoft.com/office/drawing/2014/main" id="{3501BC63-284C-41FC-89F8-0C1E419BEF54}"/>
              </a:ext>
            </a:extLst>
          </p:cNvPr>
          <p:cNvSpPr>
            <a:spLocks noGrp="1"/>
          </p:cNvSpPr>
          <p:nvPr/>
        </p:nvSpPr>
        <p:spPr>
          <a:xfrm>
            <a:off x="8858250" y="4552950"/>
            <a:ext cx="2343150" cy="400050"/>
          </a:xfrm>
          <a:prstGeom prst="rect">
            <a:avLst/>
          </a:prstGeom>
          <a:noFill/>
          <a:ln w="0">
            <a:noFill/>
          </a:ln>
        </p:spPr>
        <p:txBody>
          <a:bodyPr wrap="square" lIns="0" tIns="0" rIns="0" bIns="0" anchor="t">
            <a:normAutofit/>
          </a:bodyPr>
          <a:lstStyle/>
          <a:p>
            <a:pPr>
              <a:defRPr sz="1800" b="0">
                <a:solidFill>
                  <a:srgbClr val="A3BCAB"/>
                </a:solidFill>
                <a:latin typeface="Segoe UI"/>
                <a:ea typeface="Segoe UI"/>
                <a:cs typeface="Segoe UI"/>
              </a:defRPr>
            </a:pPr>
            <a:r>
              <a:rPr sz="1800" b="0">
                <a:solidFill>
                  <a:srgbClr val="A3BCAB"/>
                </a:solidFill>
                <a:latin typeface="Segoe UI"/>
                <a:ea typeface="Segoe UI"/>
                <a:cs typeface="Segoe UI"/>
              </a:rPr>
              <a:t>29/09/2026</a:t>
            </a:r>
          </a:p>
        </p:txBody>
      </p:sp>
      <p:sp>
        <p:nvSpPr>
          <p:cNvPr id="30" name="!!history-conclusion">
            <a:extLst>
              <a:ext uri="{FF2B5EF4-FFF2-40B4-BE49-F238E27FC236}">
                <a16:creationId xmlns:a16="http://schemas.microsoft.com/office/drawing/2014/main" id="{B06DE568-9BF8-4BC4-B259-A3C9CAA6350D}"/>
              </a:ext>
            </a:extLst>
          </p:cNvPr>
          <p:cNvSpPr>
            <a:spLocks noGrp="1"/>
          </p:cNvSpPr>
          <p:nvPr/>
        </p:nvSpPr>
        <p:spPr>
          <a:xfrm>
            <a:off x="609600" y="5400675"/>
            <a:ext cx="10668000" cy="704850"/>
          </a:xfrm>
          <a:prstGeom prst="rect">
            <a:avLst/>
          </a:prstGeom>
          <a:noFill/>
          <a:ln w="0">
            <a:noFill/>
          </a:ln>
        </p:spPr>
        <p:txBody>
          <a:bodyPr wrap="square" lIns="0" tIns="0" rIns="0" bIns="0" anchor="t">
            <a:normAutofit/>
          </a:bodyPr>
          <a:lstStyle/>
          <a:p>
            <a:pPr>
              <a:defRPr sz="2400" b="1">
                <a:solidFill>
                  <a:srgbClr val="C8A45B"/>
                </a:solidFill>
                <a:latin typeface="Segoe UI"/>
                <a:ea typeface="Segoe UI"/>
                <a:cs typeface="Segoe UI"/>
              </a:defRPr>
            </a:pPr>
            <a:r>
              <a:rPr sz="2400" b="1">
                <a:solidFill>
                  <a:srgbClr val="C8A45B"/>
                </a:solidFill>
                <a:latin typeface="Segoe UI"/>
                <a:ea typeface="Segoe UI"/>
                <a:cs typeface="Segoe UI"/>
              </a:rPr>
              <a:t>Giao hàng cloud là ghi nhận một phía</a:t>
            </a:r>
          </a:p>
        </p:txBody>
      </p:sp>
      <p:sp>
        <p:nvSpPr>
          <p:cNvPr id="31" name="!!page">
            <a:extLst>
              <a:ext uri="{FF2B5EF4-FFF2-40B4-BE49-F238E27FC236}">
                <a16:creationId xmlns:a16="http://schemas.microsoft.com/office/drawing/2014/main" id="{370473F4-3396-4955-B581-D9D25DF2E0EE}"/>
              </a:ext>
            </a:extLst>
          </p:cNvPr>
          <p:cNvSpPr>
            <a:spLocks noGrp="1"/>
          </p:cNvSpPr>
          <p:nvPr/>
        </p:nvSpPr>
        <p:spPr>
          <a:xfrm>
            <a:off x="10706100" y="6381750"/>
            <a:ext cx="876300" cy="228600"/>
          </a:xfrm>
          <a:prstGeom prst="rect">
            <a:avLst/>
          </a:prstGeom>
          <a:noFill/>
          <a:ln w="0">
            <a:noFill/>
          </a:ln>
        </p:spPr>
        <p:txBody>
          <a:bodyPr wrap="square" lIns="0" tIns="0" rIns="0" bIns="0" anchor="t">
            <a:normAutofit/>
          </a:bodyPr>
          <a:lstStyle/>
          <a:p>
            <a:pPr>
              <a:defRPr sz="1275" b="0">
                <a:solidFill>
                  <a:srgbClr val="A3BCAB"/>
                </a:solidFill>
                <a:latin typeface="Segoe UI"/>
                <a:ea typeface="Segoe UI"/>
                <a:cs typeface="Segoe UI"/>
              </a:defRPr>
            </a:pPr>
            <a:r>
              <a:rPr sz="1275" b="0">
                <a:solidFill>
                  <a:srgbClr val="A3BCAB"/>
                </a:solidFill>
                <a:latin typeface="Segoe UI"/>
                <a:ea typeface="Segoe UI"/>
                <a:cs typeface="Segoe UI"/>
              </a:rPr>
              <a:t>07 / 19</a:t>
            </a:r>
          </a:p>
        </p:txBody>
      </p:sp>
      <p:sp>
        <p:nvSpPr>
          <p:cNvPr id="32" name="!!caption">
            <a:extLst>
              <a:ext uri="{FF2B5EF4-FFF2-40B4-BE49-F238E27FC236}">
                <a16:creationId xmlns:a16="http://schemas.microsoft.com/office/drawing/2014/main" id="{A2642773-ADC5-4402-B46C-7A9D33DB81EF}"/>
              </a:ext>
            </a:extLst>
          </p:cNvPr>
          <p:cNvSpPr>
            <a:spLocks noGrp="1"/>
          </p:cNvSpPr>
          <p:nvPr/>
        </p:nvSpPr>
        <p:spPr>
          <a:xfrm>
            <a:off x="609600" y="6381750"/>
            <a:ext cx="9525000" cy="228600"/>
          </a:xfrm>
          <a:prstGeom prst="rect">
            <a:avLst/>
          </a:prstGeom>
          <a:noFill/>
          <a:ln w="0">
            <a:noFill/>
          </a:ln>
        </p:spPr>
        <p:txBody>
          <a:bodyPr wrap="square" lIns="0" tIns="0" rIns="0" bIns="0" anchor="t">
            <a:normAutofit/>
          </a:bodyPr>
          <a:lstStyle/>
          <a:p>
            <a:pPr>
              <a:defRPr sz="1275" b="0">
                <a:solidFill>
                  <a:srgbClr val="A3BCAB"/>
                </a:solidFill>
                <a:latin typeface="Segoe UI"/>
                <a:ea typeface="Segoe UI"/>
                <a:cs typeface="Segoe UI"/>
              </a:defRPr>
            </a:pPr>
            <a:r>
              <a:rPr sz="1275" b="0">
                <a:solidFill>
                  <a:srgbClr val="A3BCAB"/>
                </a:solidFill>
                <a:latin typeface="Segoe UI"/>
                <a:ea typeface="Segoe UI"/>
                <a:cs typeface="Segoe UI"/>
              </a:rPr>
              <a:t>Các mốc dưới đây là dữ liệu minh họa</a:t>
            </a:r>
          </a:p>
        </p:txBody>
      </p:sp>
    </p:spTree>
    <p:extLst>
      <p:ext uri="{BB962C8B-B14F-4D97-AF65-F5344CB8AC3E}">
        <p14:creationId xmlns:p14="http://schemas.microsoft.com/office/powerpoint/2010/main" val="1274372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00">
        <p159:morph option="byObject"/>
      </p:transition>
    </mc:Choice>
    <mc:Fallback xmlns="" xmlns:p14="http://schemas.microsoft.com/office/powerpoint/2010/main">
      <p:transition advClick="1" spd="fast">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02C21"/>
        </a:solidFill>
        <a:effectLst/>
      </p:bgPr>
    </p:bg>
    <p:spTree>
      <p:nvGrpSpPr>
        <p:cNvPr id="1" name=""/>
        <p:cNvGrpSpPr/>
        <p:nvPr/>
      </p:nvGrpSpPr>
      <p:grpSpPr>
        <a:xfrm>
          <a:off x="0" y="0"/>
          <a:ext cx="0" cy="0"/>
          <a:chOff x="0" y="0"/>
          <a:chExt cx="0" cy="0"/>
        </a:xfrm>
      </p:grpSpPr>
      <p:pic>
        <p:nvPicPr>
          <p:cNvPr id="16" name="!!backdrop"/>
          <p:cNvPicPr>
            <a:picLocks noChangeAspect="1"/>
          </p:cNvPicPr>
          <p:nvPr/>
        </p:nvPicPr>
        <p:blipFill>
          <a:blip r:embed="rId3"/>
          <a:srcRect t="27" b="27"/>
          <a:stretch>
            <a:fillRect/>
          </a:stretch>
        </p:blipFill>
        <p:spPr>
          <a:xfrm>
            <a:off x="0" y="0"/>
            <a:ext cx="12192000" cy="6858000"/>
          </a:xfrm>
          <a:prstGeom prst="rect">
            <a:avLst/>
          </a:prstGeom>
        </p:spPr>
      </p:pic>
      <p:sp>
        <p:nvSpPr>
          <p:cNvPr id="2" name="!!backdrop-tint">
            <a:extLst>
              <a:ext uri="{FF2B5EF4-FFF2-40B4-BE49-F238E27FC236}">
                <a16:creationId xmlns:a16="http://schemas.microsoft.com/office/drawing/2014/main" id="{B78F9CC0-1555-4CA6-8660-3066BD4F41D8}"/>
              </a:ext>
            </a:extLst>
          </p:cNvPr>
          <p:cNvSpPr>
            <a:spLocks noGrp="1"/>
          </p:cNvSpPr>
          <p:nvPr/>
        </p:nvSpPr>
        <p:spPr>
          <a:xfrm>
            <a:off x="0" y="0"/>
            <a:ext cx="12192000" cy="6858000"/>
          </a:xfrm>
          <a:prstGeom prst="rect">
            <a:avLst/>
          </a:prstGeom>
          <a:solidFill>
            <a:srgbClr val="102C21">
              <a:alpha val="35000"/>
            </a:srgbClr>
          </a:solidFill>
          <a:ln w="0">
            <a:noFill/>
          </a:ln>
        </p:spPr>
        <p:txBody>
          <a:bodyPr/>
          <a:lstStyle/>
          <a:p>
            <a:endParaRPr lang="en-US"/>
          </a:p>
        </p:txBody>
      </p:sp>
      <p:sp>
        <p:nvSpPr>
          <p:cNvPr id="3" name="!!headline">
            <a:extLst>
              <a:ext uri="{FF2B5EF4-FFF2-40B4-BE49-F238E27FC236}">
                <a16:creationId xmlns:a16="http://schemas.microsoft.com/office/drawing/2014/main" id="{84A750AF-FDD3-4D18-875D-366A6B01F0C2}"/>
              </a:ext>
            </a:extLst>
          </p:cNvPr>
          <p:cNvSpPr>
            <a:spLocks noGrp="1"/>
          </p:cNvSpPr>
          <p:nvPr/>
        </p:nvSpPr>
        <p:spPr>
          <a:xfrm>
            <a:off x="609600" y="533400"/>
            <a:ext cx="10953750" cy="1104900"/>
          </a:xfrm>
          <a:prstGeom prst="rect">
            <a:avLst/>
          </a:prstGeom>
          <a:noFill/>
          <a:ln w="0">
            <a:noFill/>
          </a:ln>
        </p:spPr>
        <p:txBody>
          <a:bodyPr wrap="square" lIns="0" tIns="0" rIns="0" bIns="0" anchor="t">
            <a:normAutofit/>
          </a:bodyPr>
          <a:lstStyle/>
          <a:p>
            <a:pPr>
              <a:defRPr sz="3450" b="1">
                <a:solidFill>
                  <a:srgbClr val="F4F1E8"/>
                </a:solidFill>
                <a:latin typeface="Segoe UI"/>
                <a:ea typeface="Segoe UI"/>
                <a:cs typeface="Segoe UI"/>
              </a:defRPr>
            </a:pPr>
            <a:r>
              <a:rPr sz="3450" b="1">
                <a:solidFill>
                  <a:srgbClr val="F4F1E8"/>
                </a:solidFill>
                <a:latin typeface="Segoe UI"/>
                <a:ea typeface="Segoe UI"/>
                <a:cs typeface="Segoe UI"/>
              </a:rPr>
              <a:t>Hồ sơ bên mua qua QR</a:t>
            </a:r>
          </a:p>
        </p:txBody>
      </p:sp>
      <p:pic>
        <p:nvPicPr>
          <p:cNvPr id="19" name="!!buyer-qr"/>
          <p:cNvPicPr>
            <a:picLocks noChangeAspect="1"/>
          </p:cNvPicPr>
          <p:nvPr/>
        </p:nvPicPr>
        <p:blipFill>
          <a:blip r:embed="rId4"/>
          <a:stretch/>
        </p:blipFill>
        <p:spPr>
          <a:xfrm>
            <a:off x="609600" y="2162175"/>
            <a:ext cx="2524125" cy="2524125"/>
          </a:xfrm>
          <a:prstGeom prst="rect">
            <a:avLst/>
          </a:prstGeom>
        </p:spPr>
      </p:pic>
      <p:sp>
        <p:nvSpPr>
          <p:cNvPr id="5" name="!!qr-label">
            <a:extLst>
              <a:ext uri="{FF2B5EF4-FFF2-40B4-BE49-F238E27FC236}">
                <a16:creationId xmlns:a16="http://schemas.microsoft.com/office/drawing/2014/main" id="{49A0A075-E9F0-4594-9B9A-72E28A198DCA}"/>
              </a:ext>
            </a:extLst>
          </p:cNvPr>
          <p:cNvSpPr>
            <a:spLocks noGrp="1"/>
          </p:cNvSpPr>
          <p:nvPr/>
        </p:nvSpPr>
        <p:spPr>
          <a:xfrm>
            <a:off x="628650" y="4953000"/>
            <a:ext cx="2952750" cy="571500"/>
          </a:xfrm>
          <a:prstGeom prst="rect">
            <a:avLst/>
          </a:prstGeom>
          <a:noFill/>
          <a:ln w="0">
            <a:noFill/>
          </a:ln>
        </p:spPr>
        <p:txBody>
          <a:bodyPr wrap="square" lIns="0" tIns="0" rIns="0" bIns="0" anchor="t">
            <a:normAutofit/>
          </a:bodyPr>
          <a:lstStyle/>
          <a:p>
            <a:pPr>
              <a:defRPr sz="2250" b="1">
                <a:solidFill>
                  <a:srgbClr val="F4F1E8"/>
                </a:solidFill>
                <a:latin typeface="Segoe UI"/>
                <a:ea typeface="Segoe UI"/>
                <a:cs typeface="Segoe UI"/>
              </a:defRPr>
            </a:pPr>
            <a:r>
              <a:rPr sz="2250" b="1">
                <a:solidFill>
                  <a:srgbClr val="F4F1E8"/>
                </a:solidFill>
                <a:latin typeface="Segoe UI"/>
                <a:ea typeface="Segoe UI"/>
                <a:cs typeface="Segoe UI"/>
              </a:rPr>
              <a:t>Mở hồ sơ mẫu</a:t>
            </a:r>
          </a:p>
        </p:txBody>
      </p:sp>
      <p:sp>
        <p:nvSpPr>
          <p:cNvPr id="6" name="!!qr-domain">
            <a:extLst>
              <a:ext uri="{FF2B5EF4-FFF2-40B4-BE49-F238E27FC236}">
                <a16:creationId xmlns:a16="http://schemas.microsoft.com/office/drawing/2014/main" id="{D3A556C7-3613-422B-B325-6CB62FC5FBE1}"/>
              </a:ext>
            </a:extLst>
          </p:cNvPr>
          <p:cNvSpPr>
            <a:spLocks noGrp="1"/>
          </p:cNvSpPr>
          <p:nvPr/>
        </p:nvSpPr>
        <p:spPr>
          <a:xfrm>
            <a:off x="628650" y="5543550"/>
            <a:ext cx="4000500" cy="342900"/>
          </a:xfrm>
          <a:prstGeom prst="rect">
            <a:avLst/>
          </a:prstGeom>
          <a:noFill/>
          <a:ln w="0">
            <a:noFill/>
          </a:ln>
        </p:spPr>
        <p:txBody>
          <a:bodyPr wrap="square" lIns="0" tIns="0" rIns="0" bIns="0" anchor="t">
            <a:normAutofit/>
          </a:bodyPr>
          <a:lstStyle/>
          <a:p>
            <a:pPr>
              <a:defRPr sz="1725" b="0">
                <a:solidFill>
                  <a:srgbClr val="A3BCAB"/>
                </a:solidFill>
                <a:latin typeface="Segoe UI"/>
                <a:ea typeface="Segoe UI"/>
                <a:cs typeface="Segoe UI"/>
              </a:defRPr>
            </a:pPr>
            <a:r>
              <a:rPr sz="1725" b="0">
                <a:solidFill>
                  <a:srgbClr val="A3BCAB"/>
                </a:solidFill>
                <a:latin typeface="Segoe UI"/>
                <a:ea typeface="Segoe UI"/>
                <a:cs typeface="Segoe UI"/>
              </a:rPr>
              <a:t>durian-web3.vercel.app</a:t>
            </a:r>
          </a:p>
        </p:txBody>
      </p:sp>
      <p:pic>
        <p:nvPicPr>
          <p:cNvPr id="22" name="!!buyer-record"/>
          <p:cNvPicPr>
            <a:picLocks noChangeAspect="1"/>
          </p:cNvPicPr>
          <p:nvPr/>
        </p:nvPicPr>
        <p:blipFill>
          <a:blip r:embed="rId5"/>
          <a:stretch/>
        </p:blipFill>
        <p:spPr>
          <a:xfrm>
            <a:off x="7471505" y="1714500"/>
            <a:ext cx="2068640" cy="4476750"/>
          </a:xfrm>
          <a:prstGeom prst="rect">
            <a:avLst/>
          </a:prstGeom>
        </p:spPr>
      </p:pic>
      <p:sp>
        <p:nvSpPr>
          <p:cNvPr id="8" name="!!buyer-context">
            <a:extLst>
              <a:ext uri="{FF2B5EF4-FFF2-40B4-BE49-F238E27FC236}">
                <a16:creationId xmlns:a16="http://schemas.microsoft.com/office/drawing/2014/main" id="{86D68194-AAC9-41AF-B0C6-D6B753D0BEAF}"/>
              </a:ext>
            </a:extLst>
          </p:cNvPr>
          <p:cNvSpPr>
            <a:spLocks noGrp="1"/>
          </p:cNvSpPr>
          <p:nvPr/>
        </p:nvSpPr>
        <p:spPr>
          <a:xfrm>
            <a:off x="7381875" y="1390650"/>
            <a:ext cx="4000500" cy="285750"/>
          </a:xfrm>
          <a:prstGeom prst="rect">
            <a:avLst/>
          </a:prstGeom>
          <a:noFill/>
          <a:ln w="0">
            <a:noFill/>
          </a:ln>
        </p:spPr>
        <p:txBody>
          <a:bodyPr wrap="square" lIns="0" tIns="0" rIns="0" bIns="0" anchor="t">
            <a:normAutofit/>
          </a:bodyPr>
          <a:lstStyle/>
          <a:p>
            <a:pPr>
              <a:defRPr sz="1500" b="0">
                <a:solidFill>
                  <a:srgbClr val="A3BCAB"/>
                </a:solidFill>
                <a:latin typeface="Segoe UI"/>
                <a:ea typeface="Segoe UI"/>
                <a:cs typeface="Segoe UI"/>
              </a:defRPr>
            </a:pPr>
            <a:r>
              <a:rPr sz="1500" b="0">
                <a:solidFill>
                  <a:srgbClr val="A3BCAB"/>
                </a:solidFill>
                <a:latin typeface="Segoe UI"/>
                <a:ea typeface="Segoe UI"/>
                <a:cs typeface="Segoe UI"/>
              </a:rPr>
              <a:t>Ảnh giao diện local</a:t>
            </a:r>
          </a:p>
        </p:txBody>
      </p:sp>
      <p:sp>
        <p:nvSpPr>
          <p:cNvPr id="9" name="!!buyer-view-selection">
            <a:extLst>
              <a:ext uri="{FF2B5EF4-FFF2-40B4-BE49-F238E27FC236}">
                <a16:creationId xmlns:a16="http://schemas.microsoft.com/office/drawing/2014/main" id="{8BF0B226-DDC2-41D5-8656-57CCABC133C9}"/>
              </a:ext>
            </a:extLst>
          </p:cNvPr>
          <p:cNvSpPr>
            <a:spLocks noGrp="1"/>
          </p:cNvSpPr>
          <p:nvPr/>
        </p:nvSpPr>
        <p:spPr>
          <a:xfrm>
            <a:off x="3638550" y="1828800"/>
            <a:ext cx="723900" cy="723900"/>
          </a:xfrm>
          <a:prstGeom prst="ellipse">
            <a:avLst/>
          </a:prstGeom>
          <a:solidFill>
            <a:srgbClr val="166447"/>
          </a:solidFill>
          <a:ln w="28575">
            <a:solidFill>
              <a:srgbClr val="C8A45B"/>
            </a:solidFill>
          </a:ln>
        </p:spPr>
        <p:txBody>
          <a:bodyPr/>
          <a:lstStyle/>
          <a:p>
            <a:endParaRPr lang="en-US"/>
          </a:p>
        </p:txBody>
      </p:sp>
      <p:sp>
        <p:nvSpPr>
          <p:cNvPr id="10" name="!!buyer-view-icon-0">
            <a:extLst>
              <a:ext uri="{FF2B5EF4-FFF2-40B4-BE49-F238E27FC236}">
                <a16:creationId xmlns:a16="http://schemas.microsoft.com/office/drawing/2014/main" id="{2A9431F1-C19F-45F3-8535-563C346BC3F7}"/>
              </a:ext>
            </a:extLst>
          </p:cNvPr>
          <p:cNvSpPr>
            <a:spLocks noGrp="1"/>
          </p:cNvSpPr>
          <p:nvPr/>
        </p:nvSpPr>
        <p:spPr>
          <a:xfrm>
            <a:off x="3935349" y="2027872"/>
            <a:ext cx="130302" cy="130302"/>
          </a:xfrm>
          <a:prstGeom prst="ellipse">
            <a:avLst/>
          </a:prstGeom>
          <a:noFill/>
          <a:ln w="19050">
            <a:solidFill>
              <a:srgbClr val="FFFFFF"/>
            </a:solidFill>
            <a:prstDash val="solid"/>
          </a:ln>
        </p:spPr>
        <p:txBody>
          <a:bodyPr/>
          <a:lstStyle/>
          <a:p>
            <a:endParaRPr lang="en-US"/>
          </a:p>
        </p:txBody>
      </p:sp>
      <p:sp>
        <p:nvSpPr>
          <p:cNvPr id="11" name="!!buyer-view-icon-1">
            <a:extLst>
              <a:ext uri="{FF2B5EF4-FFF2-40B4-BE49-F238E27FC236}">
                <a16:creationId xmlns:a16="http://schemas.microsoft.com/office/drawing/2014/main" id="{F4CE7FFE-B084-4D5A-A3FC-0802A4E26F78}"/>
              </a:ext>
            </a:extLst>
          </p:cNvPr>
          <p:cNvSpPr>
            <a:spLocks noGrp="1"/>
          </p:cNvSpPr>
          <p:nvPr/>
        </p:nvSpPr>
        <p:spPr>
          <a:xfrm>
            <a:off x="3870198" y="2207038"/>
            <a:ext cx="260604" cy="146590"/>
          </a:xfrm>
          <a:prstGeom prst="roundRect">
            <a:avLst>
              <a:gd name="adj" fmla="val 50000"/>
            </a:avLst>
          </a:prstGeom>
          <a:noFill/>
          <a:ln w="19050">
            <a:solidFill>
              <a:srgbClr val="FFFFFF"/>
            </a:solidFill>
            <a:prstDash val="solid"/>
          </a:ln>
        </p:spPr>
        <p:txBody>
          <a:bodyPr/>
          <a:lstStyle/>
          <a:p>
            <a:endParaRPr lang="en-US"/>
          </a:p>
        </p:txBody>
      </p:sp>
      <p:sp>
        <p:nvSpPr>
          <p:cNvPr id="12" name="!!buyer-permission">
            <a:extLst>
              <a:ext uri="{FF2B5EF4-FFF2-40B4-BE49-F238E27FC236}">
                <a16:creationId xmlns:a16="http://schemas.microsoft.com/office/drawing/2014/main" id="{AA0F2303-64DF-4EE5-9B66-5E516C4BB9D5}"/>
              </a:ext>
            </a:extLst>
          </p:cNvPr>
          <p:cNvSpPr>
            <a:spLocks noGrp="1"/>
          </p:cNvSpPr>
          <p:nvPr/>
        </p:nvSpPr>
        <p:spPr>
          <a:xfrm>
            <a:off x="3638550" y="2857500"/>
            <a:ext cx="3381375" cy="1200150"/>
          </a:xfrm>
          <a:prstGeom prst="rect">
            <a:avLst/>
          </a:prstGeom>
          <a:noFill/>
          <a:ln w="0">
            <a:noFill/>
          </a:ln>
        </p:spPr>
        <p:txBody>
          <a:bodyPr wrap="square" lIns="0" tIns="0" rIns="0" bIns="0" anchor="t">
            <a:normAutofit/>
          </a:bodyPr>
          <a:lstStyle/>
          <a:p>
            <a:pPr>
              <a:defRPr sz="2625" b="1">
                <a:solidFill>
                  <a:srgbClr val="F4F1E8"/>
                </a:solidFill>
                <a:latin typeface="Segoe UI"/>
                <a:ea typeface="Segoe UI"/>
                <a:cs typeface="Segoe UI"/>
              </a:defRPr>
            </a:pPr>
            <a:r>
              <a:rPr sz="2625" b="1">
                <a:solidFill>
                  <a:srgbClr val="F4F1E8"/>
                </a:solidFill>
                <a:latin typeface="Segoe UI"/>
                <a:ea typeface="Segoe UI"/>
                <a:cs typeface="Segoe UI"/>
              </a:rPr>
              <a:t>Bên mua xem</a:t>
            </a:r>
          </a:p>
          <a:p>
            <a:pPr>
              <a:defRPr sz="2625" b="1">
                <a:solidFill>
                  <a:srgbClr val="F4F1E8"/>
                </a:solidFill>
                <a:latin typeface="Segoe UI"/>
                <a:ea typeface="Segoe UI"/>
                <a:cs typeface="Segoe UI"/>
              </a:defRPr>
            </a:pPr>
            <a:r>
              <a:rPr sz="2625" b="1">
                <a:solidFill>
                  <a:srgbClr val="F4F1E8"/>
                </a:solidFill>
                <a:latin typeface="Segoe UI"/>
                <a:ea typeface="Segoe UI"/>
                <a:cs typeface="Segoe UI"/>
              </a:rPr>
              <a:t>Chủ hồ sơ quản lý</a:t>
            </a:r>
          </a:p>
        </p:txBody>
      </p:sp>
      <p:sp>
        <p:nvSpPr>
          <p:cNvPr id="13" name="!!qr-caveat">
            <a:extLst>
              <a:ext uri="{FF2B5EF4-FFF2-40B4-BE49-F238E27FC236}">
                <a16:creationId xmlns:a16="http://schemas.microsoft.com/office/drawing/2014/main" id="{BFDEF318-3C19-4462-9D3F-7333F2747EDD}"/>
              </a:ext>
            </a:extLst>
          </p:cNvPr>
          <p:cNvSpPr>
            <a:spLocks noGrp="1"/>
          </p:cNvSpPr>
          <p:nvPr/>
        </p:nvSpPr>
        <p:spPr>
          <a:xfrm>
            <a:off x="3638550" y="4476750"/>
            <a:ext cx="3276600" cy="723900"/>
          </a:xfrm>
          <a:prstGeom prst="rect">
            <a:avLst/>
          </a:prstGeom>
          <a:noFill/>
          <a:ln w="0">
            <a:noFill/>
          </a:ln>
        </p:spPr>
        <p:txBody>
          <a:bodyPr wrap="square" lIns="0" tIns="0" rIns="0" bIns="0" anchor="t">
            <a:normAutofit/>
          </a:bodyPr>
          <a:lstStyle/>
          <a:p>
            <a:pPr>
              <a:defRPr sz="2025" b="0">
                <a:solidFill>
                  <a:srgbClr val="C8A45B"/>
                </a:solidFill>
                <a:latin typeface="Segoe UI"/>
                <a:ea typeface="Segoe UI"/>
                <a:cs typeface="Segoe UI"/>
              </a:defRPr>
            </a:pPr>
            <a:r>
              <a:rPr sz="2025" b="0">
                <a:solidFill>
                  <a:srgbClr val="C8A45B"/>
                </a:solidFill>
                <a:latin typeface="Segoe UI"/>
                <a:ea typeface="Segoe UI"/>
                <a:cs typeface="Segoe UI"/>
              </a:rPr>
              <a:t>QR có thể bị sao chép</a:t>
            </a:r>
          </a:p>
        </p:txBody>
      </p:sp>
      <p:sp>
        <p:nvSpPr>
          <p:cNvPr id="14" name="!!page">
            <a:extLst>
              <a:ext uri="{FF2B5EF4-FFF2-40B4-BE49-F238E27FC236}">
                <a16:creationId xmlns:a16="http://schemas.microsoft.com/office/drawing/2014/main" id="{5CA1F0E2-B940-4C20-B217-0DC25FEF2144}"/>
              </a:ext>
            </a:extLst>
          </p:cNvPr>
          <p:cNvSpPr>
            <a:spLocks noGrp="1"/>
          </p:cNvSpPr>
          <p:nvPr/>
        </p:nvSpPr>
        <p:spPr>
          <a:xfrm>
            <a:off x="10706100" y="6381750"/>
            <a:ext cx="876300" cy="228600"/>
          </a:xfrm>
          <a:prstGeom prst="rect">
            <a:avLst/>
          </a:prstGeom>
          <a:noFill/>
          <a:ln w="0">
            <a:noFill/>
          </a:ln>
        </p:spPr>
        <p:txBody>
          <a:bodyPr wrap="square" lIns="0" tIns="0" rIns="0" bIns="0" anchor="t">
            <a:normAutofit/>
          </a:bodyPr>
          <a:lstStyle/>
          <a:p>
            <a:pPr>
              <a:defRPr sz="1275" b="0">
                <a:solidFill>
                  <a:srgbClr val="A3BCAB"/>
                </a:solidFill>
                <a:latin typeface="Segoe UI"/>
                <a:ea typeface="Segoe UI"/>
                <a:cs typeface="Segoe UI"/>
              </a:defRPr>
            </a:pPr>
            <a:r>
              <a:rPr sz="1275" b="0">
                <a:solidFill>
                  <a:srgbClr val="A3BCAB"/>
                </a:solidFill>
                <a:latin typeface="Segoe UI"/>
                <a:ea typeface="Segoe UI"/>
                <a:cs typeface="Segoe UI"/>
              </a:rPr>
              <a:t>08 / 19</a:t>
            </a:r>
          </a:p>
        </p:txBody>
      </p:sp>
      <p:sp>
        <p:nvSpPr>
          <p:cNvPr id="15" name="!!caption">
            <a:extLst>
              <a:ext uri="{FF2B5EF4-FFF2-40B4-BE49-F238E27FC236}">
                <a16:creationId xmlns:a16="http://schemas.microsoft.com/office/drawing/2014/main" id="{8AD9D6C5-22D8-4EFB-997D-31E26634AFCA}"/>
              </a:ext>
            </a:extLst>
          </p:cNvPr>
          <p:cNvSpPr>
            <a:spLocks noGrp="1"/>
          </p:cNvSpPr>
          <p:nvPr/>
        </p:nvSpPr>
        <p:spPr>
          <a:xfrm>
            <a:off x="609600" y="6381750"/>
            <a:ext cx="9525000" cy="228600"/>
          </a:xfrm>
          <a:prstGeom prst="rect">
            <a:avLst/>
          </a:prstGeom>
          <a:noFill/>
          <a:ln w="0">
            <a:noFill/>
          </a:ln>
        </p:spPr>
        <p:txBody>
          <a:bodyPr wrap="square" lIns="0" tIns="0" rIns="0" bIns="0" anchor="t">
            <a:normAutofit/>
          </a:bodyPr>
          <a:lstStyle/>
          <a:p>
            <a:pPr>
              <a:defRPr sz="1275" b="0">
                <a:solidFill>
                  <a:srgbClr val="A3BCAB"/>
                </a:solidFill>
                <a:latin typeface="Segoe UI"/>
                <a:ea typeface="Segoe UI"/>
                <a:cs typeface="Segoe UI"/>
              </a:defRPr>
            </a:pPr>
            <a:r>
              <a:rPr sz="1275" b="0">
                <a:solidFill>
                  <a:srgbClr val="A3BCAB"/>
                </a:solidFill>
                <a:latin typeface="Segoe UI"/>
                <a:ea typeface="Segoe UI"/>
                <a:cs typeface="Segoe UI"/>
              </a:rPr>
              <a:t>QR mở hồ sơ mẫu. Không dùng làm nhãn xác thực hàng thật</a:t>
            </a:r>
          </a:p>
        </p:txBody>
      </p:sp>
    </p:spTree>
    <p:extLst>
      <p:ext uri="{BB962C8B-B14F-4D97-AF65-F5344CB8AC3E}">
        <p14:creationId xmlns:p14="http://schemas.microsoft.com/office/powerpoint/2010/main" val="13414231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00">
        <p159:morph option="byObject"/>
      </p:transition>
    </mc:Choice>
    <mc:Fallback xmlns="" xmlns:p14="http://schemas.microsoft.com/office/powerpoint/2010/main">
      <p:transition advClick="1" spd="fast">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02C21"/>
        </a:solidFill>
        <a:effectLst/>
      </p:bgPr>
    </p:bg>
    <p:spTree>
      <p:nvGrpSpPr>
        <p:cNvPr id="1" name=""/>
        <p:cNvGrpSpPr/>
        <p:nvPr/>
      </p:nvGrpSpPr>
      <p:grpSpPr>
        <a:xfrm>
          <a:off x="0" y="0"/>
          <a:ext cx="0" cy="0"/>
          <a:chOff x="0" y="0"/>
          <a:chExt cx="0" cy="0"/>
        </a:xfrm>
      </p:grpSpPr>
      <p:pic>
        <p:nvPicPr>
          <p:cNvPr id="29" name="!!backdrop"/>
          <p:cNvPicPr>
            <a:picLocks noChangeAspect="1"/>
          </p:cNvPicPr>
          <p:nvPr/>
        </p:nvPicPr>
        <p:blipFill>
          <a:blip r:embed="rId3"/>
          <a:srcRect t="27" b="27"/>
          <a:stretch>
            <a:fillRect/>
          </a:stretch>
        </p:blipFill>
        <p:spPr>
          <a:xfrm>
            <a:off x="0" y="0"/>
            <a:ext cx="12192000" cy="6858000"/>
          </a:xfrm>
          <a:prstGeom prst="rect">
            <a:avLst/>
          </a:prstGeom>
        </p:spPr>
      </p:pic>
      <p:sp>
        <p:nvSpPr>
          <p:cNvPr id="2" name="!!backdrop-tint">
            <a:extLst>
              <a:ext uri="{FF2B5EF4-FFF2-40B4-BE49-F238E27FC236}">
                <a16:creationId xmlns:a16="http://schemas.microsoft.com/office/drawing/2014/main" id="{040EA0F5-0BF0-43D1-A8F4-A2BEB792CBCC}"/>
              </a:ext>
            </a:extLst>
          </p:cNvPr>
          <p:cNvSpPr>
            <a:spLocks noGrp="1"/>
          </p:cNvSpPr>
          <p:nvPr/>
        </p:nvSpPr>
        <p:spPr>
          <a:xfrm>
            <a:off x="0" y="0"/>
            <a:ext cx="12192000" cy="6858000"/>
          </a:xfrm>
          <a:prstGeom prst="rect">
            <a:avLst/>
          </a:prstGeom>
          <a:solidFill>
            <a:srgbClr val="102C21">
              <a:alpha val="35000"/>
            </a:srgbClr>
          </a:solidFill>
          <a:ln w="0">
            <a:noFill/>
          </a:ln>
        </p:spPr>
        <p:txBody>
          <a:bodyPr/>
          <a:lstStyle/>
          <a:p>
            <a:endParaRPr lang="en-US"/>
          </a:p>
        </p:txBody>
      </p:sp>
      <p:sp>
        <p:nvSpPr>
          <p:cNvPr id="3" name="!!headline">
            <a:extLst>
              <a:ext uri="{FF2B5EF4-FFF2-40B4-BE49-F238E27FC236}">
                <a16:creationId xmlns:a16="http://schemas.microsoft.com/office/drawing/2014/main" id="{2C850875-D1BC-42C2-9E20-9503F38EF343}"/>
              </a:ext>
            </a:extLst>
          </p:cNvPr>
          <p:cNvSpPr>
            <a:spLocks noGrp="1"/>
          </p:cNvSpPr>
          <p:nvPr/>
        </p:nvSpPr>
        <p:spPr>
          <a:xfrm>
            <a:off x="609600" y="533400"/>
            <a:ext cx="10953750" cy="1104900"/>
          </a:xfrm>
          <a:prstGeom prst="rect">
            <a:avLst/>
          </a:prstGeom>
          <a:noFill/>
          <a:ln w="0">
            <a:noFill/>
          </a:ln>
        </p:spPr>
        <p:txBody>
          <a:bodyPr wrap="square" lIns="0" tIns="0" rIns="0" bIns="0" anchor="t">
            <a:normAutofit/>
          </a:bodyPr>
          <a:lstStyle/>
          <a:p>
            <a:pPr>
              <a:defRPr sz="3450" b="1">
                <a:solidFill>
                  <a:srgbClr val="F4F1E8"/>
                </a:solidFill>
                <a:latin typeface="Segoe UI"/>
                <a:ea typeface="Segoe UI"/>
                <a:cs typeface="Segoe UI"/>
              </a:defRPr>
            </a:pPr>
            <a:r>
              <a:rPr sz="3450" b="1">
                <a:solidFill>
                  <a:srgbClr val="F4F1E8"/>
                </a:solidFill>
                <a:latin typeface="Segoe UI"/>
                <a:ea typeface="Segoe UI"/>
                <a:cs typeface="Segoe UI"/>
              </a:rPr>
              <a:t>Quyền chia sẻ hồ sơ</a:t>
            </a:r>
          </a:p>
        </p:txBody>
      </p:sp>
      <p:sp>
        <p:nvSpPr>
          <p:cNvPr id="4" name="!!permission-0-selection">
            <a:extLst>
              <a:ext uri="{FF2B5EF4-FFF2-40B4-BE49-F238E27FC236}">
                <a16:creationId xmlns:a16="http://schemas.microsoft.com/office/drawing/2014/main" id="{DE45F474-DC39-4FE1-B773-1C01AD1BB222}"/>
              </a:ext>
            </a:extLst>
          </p:cNvPr>
          <p:cNvSpPr>
            <a:spLocks noGrp="1"/>
          </p:cNvSpPr>
          <p:nvPr/>
        </p:nvSpPr>
        <p:spPr>
          <a:xfrm>
            <a:off x="1200150" y="2228850"/>
            <a:ext cx="1104900" cy="1104900"/>
          </a:xfrm>
          <a:prstGeom prst="ellipse">
            <a:avLst/>
          </a:prstGeom>
          <a:solidFill>
            <a:srgbClr val="183A2C"/>
          </a:solidFill>
          <a:ln w="9525">
            <a:solidFill>
              <a:srgbClr val="A3BCAB"/>
            </a:solidFill>
          </a:ln>
        </p:spPr>
        <p:txBody>
          <a:bodyPr/>
          <a:lstStyle/>
          <a:p>
            <a:endParaRPr lang="en-US"/>
          </a:p>
        </p:txBody>
      </p:sp>
      <p:sp>
        <p:nvSpPr>
          <p:cNvPr id="5" name="!!permission-0-icon-0">
            <a:extLst>
              <a:ext uri="{FF2B5EF4-FFF2-40B4-BE49-F238E27FC236}">
                <a16:creationId xmlns:a16="http://schemas.microsoft.com/office/drawing/2014/main" id="{46016564-647F-42A1-91E7-A439A82539AB}"/>
              </a:ext>
            </a:extLst>
          </p:cNvPr>
          <p:cNvSpPr>
            <a:spLocks noGrp="1"/>
          </p:cNvSpPr>
          <p:nvPr/>
        </p:nvSpPr>
        <p:spPr>
          <a:xfrm>
            <a:off x="1553718" y="2731580"/>
            <a:ext cx="397764" cy="298323"/>
          </a:xfrm>
          <a:prstGeom prst="roundRect">
            <a:avLst>
              <a:gd name="adj" fmla="val 25543"/>
            </a:avLst>
          </a:prstGeom>
          <a:noFill/>
          <a:ln w="21309">
            <a:solidFill>
              <a:srgbClr val="A3BCAB"/>
            </a:solidFill>
            <a:prstDash val="solid"/>
          </a:ln>
        </p:spPr>
        <p:txBody>
          <a:bodyPr/>
          <a:lstStyle/>
          <a:p>
            <a:endParaRPr lang="en-US"/>
          </a:p>
        </p:txBody>
      </p:sp>
      <p:sp>
        <p:nvSpPr>
          <p:cNvPr id="6" name="!!permission-0-icon-1">
            <a:extLst>
              <a:ext uri="{FF2B5EF4-FFF2-40B4-BE49-F238E27FC236}">
                <a16:creationId xmlns:a16="http://schemas.microsoft.com/office/drawing/2014/main" id="{D83ACDF9-A939-43C0-A367-6C0BE2B7EFEF}"/>
              </a:ext>
            </a:extLst>
          </p:cNvPr>
          <p:cNvSpPr>
            <a:spLocks noGrp="1"/>
          </p:cNvSpPr>
          <p:nvPr/>
        </p:nvSpPr>
        <p:spPr>
          <a:xfrm>
            <a:off x="1454277" y="2482977"/>
            <a:ext cx="596646" cy="596646"/>
          </a:xfrm>
          <a:custGeom>
            <a:avLst/>
            <a:gdLst/>
            <a:ahLst/>
            <a:cxnLst/>
            <a:rect l="0" t="0" r="0" b="0"/>
            <a:pathLst>
              <a:path w="228600" h="228600">
                <a:moveTo>
                  <a:pt x="76200" y="95250"/>
                </a:moveTo>
                <a:lnTo>
                  <a:pt x="76200" y="47625"/>
                </a:lnTo>
                <a:lnTo>
                  <a:pt x="95250" y="19050"/>
                </a:lnTo>
                <a:lnTo>
                  <a:pt x="133350" y="19050"/>
                </a:lnTo>
                <a:lnTo>
                  <a:pt x="152400" y="47625"/>
                </a:lnTo>
                <a:lnTo>
                  <a:pt x="152400" y="95250"/>
                </a:lnTo>
              </a:path>
            </a:pathLst>
          </a:custGeom>
          <a:noFill/>
          <a:ln w="21309">
            <a:solidFill>
              <a:srgbClr val="A3BCAB"/>
            </a:solidFill>
            <a:prstDash val="solid"/>
          </a:ln>
        </p:spPr>
        <p:txBody>
          <a:bodyPr/>
          <a:lstStyle/>
          <a:p>
            <a:endParaRPr lang="en-US"/>
          </a:p>
        </p:txBody>
      </p:sp>
      <p:sp>
        <p:nvSpPr>
          <p:cNvPr id="7" name="!!permission-0-icon-2">
            <a:extLst>
              <a:ext uri="{FF2B5EF4-FFF2-40B4-BE49-F238E27FC236}">
                <a16:creationId xmlns:a16="http://schemas.microsoft.com/office/drawing/2014/main" id="{843411B7-EEBE-40DF-AF69-97EE0429808B}"/>
              </a:ext>
            </a:extLst>
          </p:cNvPr>
          <p:cNvSpPr>
            <a:spLocks noGrp="1"/>
          </p:cNvSpPr>
          <p:nvPr/>
        </p:nvSpPr>
        <p:spPr>
          <a:xfrm>
            <a:off x="1727740" y="2831021"/>
            <a:ext cx="49721" cy="49721"/>
          </a:xfrm>
          <a:prstGeom prst="ellipse">
            <a:avLst/>
          </a:prstGeom>
          <a:noFill/>
          <a:ln w="21309">
            <a:solidFill>
              <a:srgbClr val="A3BCAB"/>
            </a:solidFill>
            <a:prstDash val="solid"/>
          </a:ln>
        </p:spPr>
        <p:txBody>
          <a:bodyPr/>
          <a:lstStyle/>
          <a:p>
            <a:endParaRPr lang="en-US"/>
          </a:p>
        </p:txBody>
      </p:sp>
      <p:sp>
        <p:nvSpPr>
          <p:cNvPr id="8" name="!!permission-0-icon-3">
            <a:extLst>
              <a:ext uri="{FF2B5EF4-FFF2-40B4-BE49-F238E27FC236}">
                <a16:creationId xmlns:a16="http://schemas.microsoft.com/office/drawing/2014/main" id="{2D15462C-CBEF-4D2C-A2A8-CEDFFD9F1342}"/>
              </a:ext>
            </a:extLst>
          </p:cNvPr>
          <p:cNvSpPr>
            <a:spLocks noGrp="1"/>
          </p:cNvSpPr>
          <p:nvPr/>
        </p:nvSpPr>
        <p:spPr>
          <a:xfrm>
            <a:off x="1454277" y="2482977"/>
            <a:ext cx="596646" cy="596646"/>
          </a:xfrm>
          <a:custGeom>
            <a:avLst/>
            <a:gdLst/>
            <a:ahLst/>
            <a:cxnLst/>
            <a:rect l="0" t="0" r="0" b="0"/>
            <a:pathLst>
              <a:path w="228600" h="228600">
                <a:moveTo>
                  <a:pt x="114300" y="152400"/>
                </a:moveTo>
                <a:lnTo>
                  <a:pt x="114300" y="180975"/>
                </a:lnTo>
              </a:path>
            </a:pathLst>
          </a:custGeom>
          <a:noFill/>
          <a:ln w="21309">
            <a:solidFill>
              <a:srgbClr val="A3BCAB"/>
            </a:solidFill>
            <a:prstDash val="solid"/>
          </a:ln>
        </p:spPr>
        <p:txBody>
          <a:bodyPr/>
          <a:lstStyle/>
          <a:p>
            <a:endParaRPr lang="en-US"/>
          </a:p>
        </p:txBody>
      </p:sp>
      <p:sp>
        <p:nvSpPr>
          <p:cNvPr id="9" name="!!permission-label-0">
            <a:extLst>
              <a:ext uri="{FF2B5EF4-FFF2-40B4-BE49-F238E27FC236}">
                <a16:creationId xmlns:a16="http://schemas.microsoft.com/office/drawing/2014/main" id="{A8EF1D32-4E12-42E6-8431-532E85EC50C6}"/>
              </a:ext>
            </a:extLst>
          </p:cNvPr>
          <p:cNvSpPr>
            <a:spLocks noGrp="1"/>
          </p:cNvSpPr>
          <p:nvPr/>
        </p:nvSpPr>
        <p:spPr>
          <a:xfrm>
            <a:off x="628650" y="3790950"/>
            <a:ext cx="2343150" cy="857250"/>
          </a:xfrm>
          <a:prstGeom prst="rect">
            <a:avLst/>
          </a:prstGeom>
          <a:noFill/>
          <a:ln w="0">
            <a:noFill/>
          </a:ln>
        </p:spPr>
        <p:txBody>
          <a:bodyPr wrap="square" lIns="0" tIns="0" rIns="0" bIns="0" anchor="t">
            <a:normAutofit/>
          </a:bodyPr>
          <a:lstStyle/>
          <a:p>
            <a:pPr>
              <a:defRPr sz="2025" b="1">
                <a:solidFill>
                  <a:srgbClr val="F4F1E8"/>
                </a:solidFill>
                <a:latin typeface="Segoe UI"/>
                <a:ea typeface="Segoe UI"/>
                <a:cs typeface="Segoe UI"/>
              </a:defRPr>
            </a:pPr>
            <a:r>
              <a:rPr sz="2025" b="1">
                <a:solidFill>
                  <a:srgbClr val="F4F1E8"/>
                </a:solidFill>
                <a:latin typeface="Segoe UI"/>
                <a:ea typeface="Segoe UI"/>
                <a:cs typeface="Segoe UI"/>
              </a:rPr>
              <a:t>Riêng tư</a:t>
            </a:r>
          </a:p>
        </p:txBody>
      </p:sp>
      <p:sp>
        <p:nvSpPr>
          <p:cNvPr id="10" name="!!permission-detail-0">
            <a:extLst>
              <a:ext uri="{FF2B5EF4-FFF2-40B4-BE49-F238E27FC236}">
                <a16:creationId xmlns:a16="http://schemas.microsoft.com/office/drawing/2014/main" id="{9F46815C-7688-46CE-9D88-B03528EDB83B}"/>
              </a:ext>
            </a:extLst>
          </p:cNvPr>
          <p:cNvSpPr>
            <a:spLocks noGrp="1"/>
          </p:cNvSpPr>
          <p:nvPr/>
        </p:nvSpPr>
        <p:spPr>
          <a:xfrm>
            <a:off x="628650" y="4781550"/>
            <a:ext cx="2343150" cy="857250"/>
          </a:xfrm>
          <a:prstGeom prst="rect">
            <a:avLst/>
          </a:prstGeom>
          <a:noFill/>
          <a:ln w="0">
            <a:noFill/>
          </a:ln>
        </p:spPr>
        <p:txBody>
          <a:bodyPr wrap="square" lIns="0" tIns="0" rIns="0" bIns="0" anchor="t">
            <a:normAutofit/>
          </a:bodyPr>
          <a:lstStyle/>
          <a:p>
            <a:pPr>
              <a:defRPr sz="1800" b="0">
                <a:solidFill>
                  <a:srgbClr val="A3BCAB"/>
                </a:solidFill>
                <a:latin typeface="Segoe UI"/>
                <a:ea typeface="Segoe UI"/>
                <a:cs typeface="Segoe UI"/>
              </a:defRPr>
            </a:pPr>
            <a:r>
              <a:rPr sz="1800" b="0">
                <a:solidFill>
                  <a:srgbClr val="A3BCAB"/>
                </a:solidFill>
                <a:latin typeface="Segoe UI"/>
                <a:ea typeface="Segoe UI"/>
                <a:cs typeface="Segoe UI"/>
              </a:rPr>
              <a:t>Chỉ chủ hồ sơ đọc và ghi</a:t>
            </a:r>
          </a:p>
        </p:txBody>
      </p:sp>
      <p:sp>
        <p:nvSpPr>
          <p:cNvPr id="11" name="!!permission-1-selection">
            <a:extLst>
              <a:ext uri="{FF2B5EF4-FFF2-40B4-BE49-F238E27FC236}">
                <a16:creationId xmlns:a16="http://schemas.microsoft.com/office/drawing/2014/main" id="{6F50D4C3-4FE0-460D-B6BD-28DA7CD162D1}"/>
              </a:ext>
            </a:extLst>
          </p:cNvPr>
          <p:cNvSpPr>
            <a:spLocks noGrp="1"/>
          </p:cNvSpPr>
          <p:nvPr/>
        </p:nvSpPr>
        <p:spPr>
          <a:xfrm>
            <a:off x="4905375" y="2228850"/>
            <a:ext cx="1104900" cy="1104900"/>
          </a:xfrm>
          <a:prstGeom prst="ellipse">
            <a:avLst/>
          </a:prstGeom>
          <a:solidFill>
            <a:srgbClr val="183A2C"/>
          </a:solidFill>
          <a:ln w="9525">
            <a:solidFill>
              <a:srgbClr val="A3BCAB"/>
            </a:solidFill>
          </a:ln>
        </p:spPr>
        <p:txBody>
          <a:bodyPr/>
          <a:lstStyle/>
          <a:p>
            <a:endParaRPr lang="en-US"/>
          </a:p>
        </p:txBody>
      </p:sp>
      <p:sp>
        <p:nvSpPr>
          <p:cNvPr id="12" name="!!permission-1-icon-0">
            <a:extLst>
              <a:ext uri="{FF2B5EF4-FFF2-40B4-BE49-F238E27FC236}">
                <a16:creationId xmlns:a16="http://schemas.microsoft.com/office/drawing/2014/main" id="{AD6B03EC-18A0-447D-8E86-74357C79053D}"/>
              </a:ext>
            </a:extLst>
          </p:cNvPr>
          <p:cNvSpPr>
            <a:spLocks noGrp="1"/>
          </p:cNvSpPr>
          <p:nvPr/>
        </p:nvSpPr>
        <p:spPr>
          <a:xfrm>
            <a:off x="5209223" y="2532698"/>
            <a:ext cx="497205" cy="497205"/>
          </a:xfrm>
          <a:prstGeom prst="ellipse">
            <a:avLst/>
          </a:prstGeom>
          <a:noFill/>
          <a:ln w="21309">
            <a:solidFill>
              <a:srgbClr val="A3BCAB"/>
            </a:solidFill>
            <a:prstDash val="solid"/>
          </a:ln>
        </p:spPr>
        <p:txBody>
          <a:bodyPr/>
          <a:lstStyle/>
          <a:p>
            <a:endParaRPr lang="en-US"/>
          </a:p>
        </p:txBody>
      </p:sp>
      <p:sp>
        <p:nvSpPr>
          <p:cNvPr id="13" name="!!permission-1-icon-1">
            <a:extLst>
              <a:ext uri="{FF2B5EF4-FFF2-40B4-BE49-F238E27FC236}">
                <a16:creationId xmlns:a16="http://schemas.microsoft.com/office/drawing/2014/main" id="{5517A183-4A08-4171-B894-A09A17A09502}"/>
              </a:ext>
            </a:extLst>
          </p:cNvPr>
          <p:cNvSpPr>
            <a:spLocks noGrp="1"/>
          </p:cNvSpPr>
          <p:nvPr/>
        </p:nvSpPr>
        <p:spPr>
          <a:xfrm>
            <a:off x="5358384" y="2532698"/>
            <a:ext cx="198882" cy="497205"/>
          </a:xfrm>
          <a:prstGeom prst="ellipse">
            <a:avLst/>
          </a:prstGeom>
          <a:noFill/>
          <a:ln w="21309">
            <a:solidFill>
              <a:srgbClr val="A3BCAB"/>
            </a:solidFill>
            <a:prstDash val="solid"/>
          </a:ln>
        </p:spPr>
        <p:txBody>
          <a:bodyPr/>
          <a:lstStyle/>
          <a:p>
            <a:endParaRPr lang="en-US"/>
          </a:p>
        </p:txBody>
      </p:sp>
      <p:sp>
        <p:nvSpPr>
          <p:cNvPr id="14" name="!!permission-1-icon-2">
            <a:extLst>
              <a:ext uri="{FF2B5EF4-FFF2-40B4-BE49-F238E27FC236}">
                <a16:creationId xmlns:a16="http://schemas.microsoft.com/office/drawing/2014/main" id="{3DEE09C0-AF59-4527-80F6-912D022B9D44}"/>
              </a:ext>
            </a:extLst>
          </p:cNvPr>
          <p:cNvSpPr>
            <a:spLocks noGrp="1"/>
          </p:cNvSpPr>
          <p:nvPr/>
        </p:nvSpPr>
        <p:spPr>
          <a:xfrm>
            <a:off x="5159502" y="2482977"/>
            <a:ext cx="596646" cy="596646"/>
          </a:xfrm>
          <a:custGeom>
            <a:avLst/>
            <a:gdLst/>
            <a:ahLst/>
            <a:cxnLst/>
            <a:rect l="0" t="0" r="0" b="0"/>
            <a:pathLst>
              <a:path w="228600" h="228600">
                <a:moveTo>
                  <a:pt x="19050" y="114300"/>
                </a:moveTo>
                <a:lnTo>
                  <a:pt x="209550" y="114300"/>
                </a:lnTo>
              </a:path>
            </a:pathLst>
          </a:custGeom>
          <a:noFill/>
          <a:ln w="21309">
            <a:solidFill>
              <a:srgbClr val="A3BCAB"/>
            </a:solidFill>
            <a:prstDash val="solid"/>
          </a:ln>
        </p:spPr>
        <p:txBody>
          <a:bodyPr/>
          <a:lstStyle/>
          <a:p>
            <a:endParaRPr lang="en-US"/>
          </a:p>
        </p:txBody>
      </p:sp>
      <p:sp>
        <p:nvSpPr>
          <p:cNvPr id="15" name="!!permission-label-1">
            <a:extLst>
              <a:ext uri="{FF2B5EF4-FFF2-40B4-BE49-F238E27FC236}">
                <a16:creationId xmlns:a16="http://schemas.microsoft.com/office/drawing/2014/main" id="{E87FA661-A453-4043-B6F1-E8A62654E75E}"/>
              </a:ext>
            </a:extLst>
          </p:cNvPr>
          <p:cNvSpPr>
            <a:spLocks noGrp="1"/>
          </p:cNvSpPr>
          <p:nvPr/>
        </p:nvSpPr>
        <p:spPr>
          <a:xfrm>
            <a:off x="4333875" y="3790950"/>
            <a:ext cx="2343150" cy="857250"/>
          </a:xfrm>
          <a:prstGeom prst="rect">
            <a:avLst/>
          </a:prstGeom>
          <a:noFill/>
          <a:ln w="0">
            <a:noFill/>
          </a:ln>
        </p:spPr>
        <p:txBody>
          <a:bodyPr wrap="square" lIns="0" tIns="0" rIns="0" bIns="0" anchor="t">
            <a:normAutofit/>
          </a:bodyPr>
          <a:lstStyle/>
          <a:p>
            <a:pPr>
              <a:defRPr sz="2025" b="1">
                <a:solidFill>
                  <a:srgbClr val="F4F1E8"/>
                </a:solidFill>
                <a:latin typeface="Segoe UI"/>
                <a:ea typeface="Segoe UI"/>
                <a:cs typeface="Segoe UI"/>
              </a:defRPr>
            </a:pPr>
            <a:r>
              <a:rPr sz="2025" b="1">
                <a:solidFill>
                  <a:srgbClr val="F4F1E8"/>
                </a:solidFill>
                <a:latin typeface="Segoe UI"/>
                <a:ea typeface="Segoe UI"/>
                <a:cs typeface="Segoe UI"/>
              </a:rPr>
              <a:t>Công khai</a:t>
            </a:r>
          </a:p>
        </p:txBody>
      </p:sp>
      <p:sp>
        <p:nvSpPr>
          <p:cNvPr id="16" name="!!permission-detail-1">
            <a:extLst>
              <a:ext uri="{FF2B5EF4-FFF2-40B4-BE49-F238E27FC236}">
                <a16:creationId xmlns:a16="http://schemas.microsoft.com/office/drawing/2014/main" id="{70989A7E-D14C-40F7-ACC4-49ED821D9BB4}"/>
              </a:ext>
            </a:extLst>
          </p:cNvPr>
          <p:cNvSpPr>
            <a:spLocks noGrp="1"/>
          </p:cNvSpPr>
          <p:nvPr/>
        </p:nvSpPr>
        <p:spPr>
          <a:xfrm>
            <a:off x="4333875" y="4781550"/>
            <a:ext cx="2343150" cy="857250"/>
          </a:xfrm>
          <a:prstGeom prst="rect">
            <a:avLst/>
          </a:prstGeom>
          <a:noFill/>
          <a:ln w="0">
            <a:noFill/>
          </a:ln>
        </p:spPr>
        <p:txBody>
          <a:bodyPr wrap="square" lIns="0" tIns="0" rIns="0" bIns="0" anchor="t">
            <a:normAutofit/>
          </a:bodyPr>
          <a:lstStyle/>
          <a:p>
            <a:pPr>
              <a:defRPr sz="1800" b="0">
                <a:solidFill>
                  <a:srgbClr val="A3BCAB"/>
                </a:solidFill>
                <a:latin typeface="Segoe UI"/>
                <a:ea typeface="Segoe UI"/>
                <a:cs typeface="Segoe UI"/>
              </a:defRPr>
            </a:pPr>
            <a:r>
              <a:rPr sz="1800" b="0">
                <a:solidFill>
                  <a:srgbClr val="A3BCAB"/>
                </a:solidFill>
                <a:latin typeface="Segoe UI"/>
                <a:ea typeface="Segoe UI"/>
                <a:cs typeface="Segoe UI"/>
              </a:rPr>
              <a:t>Khách xem hồ sơ và tài liệu</a:t>
            </a:r>
          </a:p>
        </p:txBody>
      </p:sp>
      <p:cxnSp>
        <p:nvCxnSpPr>
          <p:cNvPr id="45" name="!!connector-9-0"/>
          <p:cNvCxnSpPr>
            <a:stCxn id="4" idx="6"/>
            <a:endCxn id="11" idx="2"/>
          </p:cNvCxnSpPr>
          <p:nvPr/>
        </p:nvCxnSpPr>
        <p:spPr>
          <a:xfrm>
            <a:off x="2305050" y="2781300"/>
            <a:ext cx="2600325" cy="0"/>
          </a:xfrm>
          <a:prstGeom prst="straightConnector1">
            <a:avLst/>
          </a:prstGeom>
          <a:ln w="19050">
            <a:solidFill>
              <a:srgbClr val="A3BCAB"/>
            </a:solidFill>
            <a:prstDash val="solid"/>
            <a:tailEnd type="arrow" w="med" len="med"/>
          </a:ln>
        </p:spPr>
      </p:cxnSp>
      <p:sp>
        <p:nvSpPr>
          <p:cNvPr id="18" name="!!permission-2-selection">
            <a:extLst>
              <a:ext uri="{FF2B5EF4-FFF2-40B4-BE49-F238E27FC236}">
                <a16:creationId xmlns:a16="http://schemas.microsoft.com/office/drawing/2014/main" id="{F2D22F0B-550D-435E-B382-B5C53E3A2B7F}"/>
              </a:ext>
            </a:extLst>
          </p:cNvPr>
          <p:cNvSpPr>
            <a:spLocks noGrp="1"/>
          </p:cNvSpPr>
          <p:nvPr/>
        </p:nvSpPr>
        <p:spPr>
          <a:xfrm>
            <a:off x="8467725" y="2085975"/>
            <a:ext cx="1390650" cy="1390650"/>
          </a:xfrm>
          <a:prstGeom prst="ellipse">
            <a:avLst/>
          </a:prstGeom>
          <a:solidFill>
            <a:srgbClr val="166447"/>
          </a:solidFill>
          <a:ln w="28575">
            <a:solidFill>
              <a:srgbClr val="C8A45B"/>
            </a:solidFill>
          </a:ln>
        </p:spPr>
        <p:txBody>
          <a:bodyPr/>
          <a:lstStyle/>
          <a:p>
            <a:endParaRPr lang="en-US"/>
          </a:p>
        </p:txBody>
      </p:sp>
      <p:sp>
        <p:nvSpPr>
          <p:cNvPr id="19" name="!!permission-2-icon-0">
            <a:extLst>
              <a:ext uri="{FF2B5EF4-FFF2-40B4-BE49-F238E27FC236}">
                <a16:creationId xmlns:a16="http://schemas.microsoft.com/office/drawing/2014/main" id="{2A035EE4-DE11-4CD8-984E-9B9B973B079B}"/>
              </a:ext>
            </a:extLst>
          </p:cNvPr>
          <p:cNvSpPr>
            <a:spLocks noGrp="1"/>
          </p:cNvSpPr>
          <p:nvPr/>
        </p:nvSpPr>
        <p:spPr>
          <a:xfrm>
            <a:off x="8912733" y="2718721"/>
            <a:ext cx="500634" cy="375476"/>
          </a:xfrm>
          <a:prstGeom prst="roundRect">
            <a:avLst>
              <a:gd name="adj" fmla="val 20294"/>
            </a:avLst>
          </a:prstGeom>
          <a:noFill/>
          <a:ln w="26820">
            <a:solidFill>
              <a:srgbClr val="FFFFFF"/>
            </a:solidFill>
            <a:prstDash val="solid"/>
          </a:ln>
        </p:spPr>
        <p:txBody>
          <a:bodyPr/>
          <a:lstStyle/>
          <a:p>
            <a:endParaRPr lang="en-US"/>
          </a:p>
        </p:txBody>
      </p:sp>
      <p:sp>
        <p:nvSpPr>
          <p:cNvPr id="20" name="!!permission-2-icon-1">
            <a:extLst>
              <a:ext uri="{FF2B5EF4-FFF2-40B4-BE49-F238E27FC236}">
                <a16:creationId xmlns:a16="http://schemas.microsoft.com/office/drawing/2014/main" id="{C2EED2C0-03C6-4C18-ABA3-C59C2A34438C}"/>
              </a:ext>
            </a:extLst>
          </p:cNvPr>
          <p:cNvSpPr>
            <a:spLocks noGrp="1"/>
          </p:cNvSpPr>
          <p:nvPr/>
        </p:nvSpPr>
        <p:spPr>
          <a:xfrm>
            <a:off x="8787575" y="2405825"/>
            <a:ext cx="750951" cy="750951"/>
          </a:xfrm>
          <a:custGeom>
            <a:avLst/>
            <a:gdLst/>
            <a:ahLst/>
            <a:cxnLst/>
            <a:rect l="0" t="0" r="0" b="0"/>
            <a:pathLst>
              <a:path w="228600" h="228600">
                <a:moveTo>
                  <a:pt x="76200" y="95250"/>
                </a:moveTo>
                <a:lnTo>
                  <a:pt x="76200" y="47625"/>
                </a:lnTo>
                <a:lnTo>
                  <a:pt x="95250" y="19050"/>
                </a:lnTo>
                <a:lnTo>
                  <a:pt x="133350" y="19050"/>
                </a:lnTo>
                <a:lnTo>
                  <a:pt x="152400" y="47625"/>
                </a:lnTo>
                <a:lnTo>
                  <a:pt x="152400" y="95250"/>
                </a:lnTo>
              </a:path>
            </a:pathLst>
          </a:custGeom>
          <a:noFill/>
          <a:ln w="26820">
            <a:solidFill>
              <a:srgbClr val="FFFFFF"/>
            </a:solidFill>
            <a:prstDash val="solid"/>
          </a:ln>
        </p:spPr>
        <p:txBody>
          <a:bodyPr/>
          <a:lstStyle/>
          <a:p>
            <a:endParaRPr lang="en-US"/>
          </a:p>
        </p:txBody>
      </p:sp>
      <p:sp>
        <p:nvSpPr>
          <p:cNvPr id="21" name="!!permission-2-icon-2">
            <a:extLst>
              <a:ext uri="{FF2B5EF4-FFF2-40B4-BE49-F238E27FC236}">
                <a16:creationId xmlns:a16="http://schemas.microsoft.com/office/drawing/2014/main" id="{52C6DE86-665E-4C75-B005-CA61236C8890}"/>
              </a:ext>
            </a:extLst>
          </p:cNvPr>
          <p:cNvSpPr>
            <a:spLocks noGrp="1"/>
          </p:cNvSpPr>
          <p:nvPr/>
        </p:nvSpPr>
        <p:spPr>
          <a:xfrm>
            <a:off x="9131760" y="2843879"/>
            <a:ext cx="62579" cy="62579"/>
          </a:xfrm>
          <a:prstGeom prst="ellipse">
            <a:avLst/>
          </a:prstGeom>
          <a:noFill/>
          <a:ln w="26820">
            <a:solidFill>
              <a:srgbClr val="FFFFFF"/>
            </a:solidFill>
            <a:prstDash val="solid"/>
          </a:ln>
        </p:spPr>
        <p:txBody>
          <a:bodyPr/>
          <a:lstStyle/>
          <a:p>
            <a:endParaRPr lang="en-US"/>
          </a:p>
        </p:txBody>
      </p:sp>
      <p:sp>
        <p:nvSpPr>
          <p:cNvPr id="22" name="!!permission-2-icon-3">
            <a:extLst>
              <a:ext uri="{FF2B5EF4-FFF2-40B4-BE49-F238E27FC236}">
                <a16:creationId xmlns:a16="http://schemas.microsoft.com/office/drawing/2014/main" id="{630250F8-FFCA-48D6-B702-1BF2E019C567}"/>
              </a:ext>
            </a:extLst>
          </p:cNvPr>
          <p:cNvSpPr>
            <a:spLocks noGrp="1"/>
          </p:cNvSpPr>
          <p:nvPr/>
        </p:nvSpPr>
        <p:spPr>
          <a:xfrm>
            <a:off x="8787575" y="2405825"/>
            <a:ext cx="750951" cy="750951"/>
          </a:xfrm>
          <a:custGeom>
            <a:avLst/>
            <a:gdLst/>
            <a:ahLst/>
            <a:cxnLst/>
            <a:rect l="0" t="0" r="0" b="0"/>
            <a:pathLst>
              <a:path w="228600" h="228600">
                <a:moveTo>
                  <a:pt x="114300" y="152400"/>
                </a:moveTo>
                <a:lnTo>
                  <a:pt x="114300" y="180975"/>
                </a:lnTo>
              </a:path>
            </a:pathLst>
          </a:custGeom>
          <a:noFill/>
          <a:ln w="26820">
            <a:solidFill>
              <a:srgbClr val="FFFFFF"/>
            </a:solidFill>
            <a:prstDash val="solid"/>
          </a:ln>
        </p:spPr>
        <p:txBody>
          <a:bodyPr/>
          <a:lstStyle/>
          <a:p>
            <a:endParaRPr lang="en-US"/>
          </a:p>
        </p:txBody>
      </p:sp>
      <p:sp>
        <p:nvSpPr>
          <p:cNvPr id="23" name="!!permission-label-2">
            <a:extLst>
              <a:ext uri="{FF2B5EF4-FFF2-40B4-BE49-F238E27FC236}">
                <a16:creationId xmlns:a16="http://schemas.microsoft.com/office/drawing/2014/main" id="{3CACAE7B-2D91-4271-9A5A-4ACEC9BF0448}"/>
              </a:ext>
            </a:extLst>
          </p:cNvPr>
          <p:cNvSpPr>
            <a:spLocks noGrp="1"/>
          </p:cNvSpPr>
          <p:nvPr/>
        </p:nvSpPr>
        <p:spPr>
          <a:xfrm>
            <a:off x="8039100" y="3790950"/>
            <a:ext cx="2343150" cy="857250"/>
          </a:xfrm>
          <a:prstGeom prst="rect">
            <a:avLst/>
          </a:prstGeom>
          <a:noFill/>
          <a:ln w="0">
            <a:noFill/>
          </a:ln>
        </p:spPr>
        <p:txBody>
          <a:bodyPr wrap="square" lIns="0" tIns="0" rIns="0" bIns="0" anchor="t">
            <a:normAutofit/>
          </a:bodyPr>
          <a:lstStyle/>
          <a:p>
            <a:pPr>
              <a:defRPr sz="2325" b="1">
                <a:solidFill>
                  <a:srgbClr val="F4F1E8"/>
                </a:solidFill>
                <a:latin typeface="Segoe UI"/>
                <a:ea typeface="Segoe UI"/>
                <a:cs typeface="Segoe UI"/>
              </a:defRPr>
            </a:pPr>
            <a:r>
              <a:rPr sz="2325" b="1">
                <a:solidFill>
                  <a:srgbClr val="F4F1E8"/>
                </a:solidFill>
                <a:latin typeface="Segoe UI"/>
                <a:ea typeface="Segoe UI"/>
                <a:cs typeface="Segoe UI"/>
              </a:rPr>
              <a:t>Thu hồi</a:t>
            </a:r>
          </a:p>
        </p:txBody>
      </p:sp>
      <p:sp>
        <p:nvSpPr>
          <p:cNvPr id="24" name="!!permission-detail-2">
            <a:extLst>
              <a:ext uri="{FF2B5EF4-FFF2-40B4-BE49-F238E27FC236}">
                <a16:creationId xmlns:a16="http://schemas.microsoft.com/office/drawing/2014/main" id="{652B18FB-26A5-4FA3-A61E-DFE9FE0AA261}"/>
              </a:ext>
            </a:extLst>
          </p:cNvPr>
          <p:cNvSpPr>
            <a:spLocks noGrp="1"/>
          </p:cNvSpPr>
          <p:nvPr/>
        </p:nvSpPr>
        <p:spPr>
          <a:xfrm>
            <a:off x="8039100" y="4781550"/>
            <a:ext cx="2343150" cy="857250"/>
          </a:xfrm>
          <a:prstGeom prst="rect">
            <a:avLst/>
          </a:prstGeom>
          <a:noFill/>
          <a:ln w="0">
            <a:noFill/>
          </a:ln>
        </p:spPr>
        <p:txBody>
          <a:bodyPr wrap="square" lIns="0" tIns="0" rIns="0" bIns="0" anchor="t">
            <a:normAutofit/>
          </a:bodyPr>
          <a:lstStyle/>
          <a:p>
            <a:pPr>
              <a:defRPr sz="1800" b="0">
                <a:solidFill>
                  <a:srgbClr val="A3BCAB"/>
                </a:solidFill>
                <a:latin typeface="Segoe UI"/>
                <a:ea typeface="Segoe UI"/>
                <a:cs typeface="Segoe UI"/>
              </a:defRPr>
            </a:pPr>
            <a:r>
              <a:rPr sz="1800" b="0">
                <a:solidFill>
                  <a:srgbClr val="A3BCAB"/>
                </a:solidFill>
                <a:latin typeface="Segoe UI"/>
                <a:ea typeface="Segoe UI"/>
                <a:cs typeface="Segoe UI"/>
              </a:rPr>
              <a:t>Chặn lượt đọc mới</a:t>
            </a:r>
          </a:p>
        </p:txBody>
      </p:sp>
      <p:cxnSp>
        <p:nvCxnSpPr>
          <p:cNvPr id="53" name="!!connector-9-1"/>
          <p:cNvCxnSpPr>
            <a:stCxn id="11" idx="6"/>
            <a:endCxn id="18" idx="2"/>
          </p:cNvCxnSpPr>
          <p:nvPr/>
        </p:nvCxnSpPr>
        <p:spPr>
          <a:xfrm>
            <a:off x="6010275" y="2781300"/>
            <a:ext cx="2457450" cy="0"/>
          </a:xfrm>
          <a:prstGeom prst="straightConnector1">
            <a:avLst/>
          </a:prstGeom>
          <a:ln w="19050">
            <a:solidFill>
              <a:srgbClr val="A3BCAB"/>
            </a:solidFill>
            <a:prstDash val="solid"/>
            <a:tailEnd type="arrow" w="med" len="med"/>
          </a:ln>
        </p:spPr>
      </p:cxnSp>
      <p:sp>
        <p:nvSpPr>
          <p:cNvPr id="26" name="!!permission-limit">
            <a:extLst>
              <a:ext uri="{FF2B5EF4-FFF2-40B4-BE49-F238E27FC236}">
                <a16:creationId xmlns:a16="http://schemas.microsoft.com/office/drawing/2014/main" id="{C993439B-8234-47BF-B5FA-E7A03D373522}"/>
              </a:ext>
            </a:extLst>
          </p:cNvPr>
          <p:cNvSpPr>
            <a:spLocks noGrp="1"/>
          </p:cNvSpPr>
          <p:nvPr/>
        </p:nvSpPr>
        <p:spPr>
          <a:xfrm>
            <a:off x="609600" y="5772150"/>
            <a:ext cx="10668000" cy="428625"/>
          </a:xfrm>
          <a:prstGeom prst="rect">
            <a:avLst/>
          </a:prstGeom>
          <a:noFill/>
          <a:ln w="0">
            <a:noFill/>
          </a:ln>
        </p:spPr>
        <p:txBody>
          <a:bodyPr wrap="square" lIns="0" tIns="0" rIns="0" bIns="0" anchor="t">
            <a:normAutofit/>
          </a:bodyPr>
          <a:lstStyle/>
          <a:p>
            <a:pPr>
              <a:defRPr sz="2250" b="0">
                <a:solidFill>
                  <a:srgbClr val="C8A45B"/>
                </a:solidFill>
                <a:latin typeface="Segoe UI"/>
                <a:ea typeface="Segoe UI"/>
                <a:cs typeface="Segoe UI"/>
              </a:defRPr>
            </a:pPr>
            <a:r>
              <a:rPr sz="2250" b="0">
                <a:solidFill>
                  <a:srgbClr val="C8A45B"/>
                </a:solidFill>
                <a:latin typeface="Segoe UI"/>
                <a:ea typeface="Segoe UI"/>
                <a:cs typeface="Segoe UI"/>
              </a:rPr>
              <a:t>Không thu hồi được bản người khác đã tải</a:t>
            </a:r>
          </a:p>
        </p:txBody>
      </p:sp>
      <p:sp>
        <p:nvSpPr>
          <p:cNvPr id="27" name="!!page">
            <a:extLst>
              <a:ext uri="{FF2B5EF4-FFF2-40B4-BE49-F238E27FC236}">
                <a16:creationId xmlns:a16="http://schemas.microsoft.com/office/drawing/2014/main" id="{23941F42-2C74-48D3-B0E5-E659AB3DCAF5}"/>
              </a:ext>
            </a:extLst>
          </p:cNvPr>
          <p:cNvSpPr>
            <a:spLocks noGrp="1"/>
          </p:cNvSpPr>
          <p:nvPr/>
        </p:nvSpPr>
        <p:spPr>
          <a:xfrm>
            <a:off x="10706100" y="6381750"/>
            <a:ext cx="876300" cy="228600"/>
          </a:xfrm>
          <a:prstGeom prst="rect">
            <a:avLst/>
          </a:prstGeom>
          <a:noFill/>
          <a:ln w="0">
            <a:noFill/>
          </a:ln>
        </p:spPr>
        <p:txBody>
          <a:bodyPr wrap="square" lIns="0" tIns="0" rIns="0" bIns="0" anchor="t">
            <a:normAutofit/>
          </a:bodyPr>
          <a:lstStyle/>
          <a:p>
            <a:pPr>
              <a:defRPr sz="1275" b="0">
                <a:solidFill>
                  <a:srgbClr val="A3BCAB"/>
                </a:solidFill>
                <a:latin typeface="Segoe UI"/>
                <a:ea typeface="Segoe UI"/>
                <a:cs typeface="Segoe UI"/>
              </a:defRPr>
            </a:pPr>
            <a:r>
              <a:rPr sz="1275" b="0">
                <a:solidFill>
                  <a:srgbClr val="A3BCAB"/>
                </a:solidFill>
                <a:latin typeface="Segoe UI"/>
                <a:ea typeface="Segoe UI"/>
                <a:cs typeface="Segoe UI"/>
              </a:rPr>
              <a:t>09 / 19</a:t>
            </a:r>
          </a:p>
        </p:txBody>
      </p:sp>
      <p:sp>
        <p:nvSpPr>
          <p:cNvPr id="28" name="!!caption">
            <a:extLst>
              <a:ext uri="{FF2B5EF4-FFF2-40B4-BE49-F238E27FC236}">
                <a16:creationId xmlns:a16="http://schemas.microsoft.com/office/drawing/2014/main" id="{5201EB07-CFB0-4D0D-B956-C6E240970E8F}"/>
              </a:ext>
            </a:extLst>
          </p:cNvPr>
          <p:cNvSpPr>
            <a:spLocks noGrp="1"/>
          </p:cNvSpPr>
          <p:nvPr/>
        </p:nvSpPr>
        <p:spPr>
          <a:xfrm>
            <a:off x="609600" y="6381750"/>
            <a:ext cx="9525000" cy="228600"/>
          </a:xfrm>
          <a:prstGeom prst="rect">
            <a:avLst/>
          </a:prstGeom>
          <a:noFill/>
          <a:ln w="0">
            <a:noFill/>
          </a:ln>
        </p:spPr>
        <p:txBody>
          <a:bodyPr wrap="square" lIns="0" tIns="0" rIns="0" bIns="0" anchor="t">
            <a:normAutofit/>
          </a:bodyPr>
          <a:lstStyle/>
          <a:p>
            <a:pPr>
              <a:defRPr sz="1275" b="0">
                <a:solidFill>
                  <a:srgbClr val="A3BCAB"/>
                </a:solidFill>
                <a:latin typeface="Segoe UI"/>
                <a:ea typeface="Segoe UI"/>
                <a:cs typeface="Segoe UI"/>
              </a:defRPr>
            </a:pPr>
            <a:r>
              <a:rPr sz="1275" b="0">
                <a:solidFill>
                  <a:srgbClr val="A3BCAB"/>
                </a:solidFill>
                <a:latin typeface="Segoe UI"/>
                <a:ea typeface="Segoe UI"/>
                <a:cs typeface="Segoe UI"/>
              </a:rPr>
              <a:t>Chuyển riêng tư chặn lượt đọc mới. Bản đã tải vẫn có thể tồn tại</a:t>
            </a:r>
          </a:p>
        </p:txBody>
      </p:sp>
    </p:spTree>
    <p:extLst>
      <p:ext uri="{BB962C8B-B14F-4D97-AF65-F5344CB8AC3E}">
        <p14:creationId xmlns:p14="http://schemas.microsoft.com/office/powerpoint/2010/main" val="11457016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00">
        <p159:morph option="byObject"/>
      </p:transition>
    </mc:Choice>
    <mc:Fallback xmlns="" xmlns:p14="http://schemas.microsoft.com/office/powerpoint/2010/main">
      <p:transition advClick="1" spd="fast">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02C21"/>
        </a:solidFill>
        <a:effectLst/>
      </p:bgPr>
    </p:bg>
    <p:spTree>
      <p:nvGrpSpPr>
        <p:cNvPr id="1" name=""/>
        <p:cNvGrpSpPr/>
        <p:nvPr/>
      </p:nvGrpSpPr>
      <p:grpSpPr>
        <a:xfrm>
          <a:off x="0" y="0"/>
          <a:ext cx="0" cy="0"/>
          <a:chOff x="0" y="0"/>
          <a:chExt cx="0" cy="0"/>
        </a:xfrm>
      </p:grpSpPr>
      <p:pic>
        <p:nvPicPr>
          <p:cNvPr id="12" name="!!backdrop"/>
          <p:cNvPicPr>
            <a:picLocks noChangeAspect="1"/>
          </p:cNvPicPr>
          <p:nvPr/>
        </p:nvPicPr>
        <p:blipFill>
          <a:blip r:embed="rId5"/>
          <a:srcRect t="27" b="27"/>
          <a:stretch>
            <a:fillRect/>
          </a:stretch>
        </p:blipFill>
        <p:spPr>
          <a:xfrm>
            <a:off x="0" y="0"/>
            <a:ext cx="12192000" cy="6858000"/>
          </a:xfrm>
          <a:prstGeom prst="rect">
            <a:avLst/>
          </a:prstGeom>
        </p:spPr>
      </p:pic>
      <p:sp>
        <p:nvSpPr>
          <p:cNvPr id="2" name="!!backdrop-tint">
            <a:extLst>
              <a:ext uri="{FF2B5EF4-FFF2-40B4-BE49-F238E27FC236}">
                <a16:creationId xmlns:a16="http://schemas.microsoft.com/office/drawing/2014/main" id="{D2D1E101-AFCF-4EB8-96B2-D7A009354344}"/>
              </a:ext>
            </a:extLst>
          </p:cNvPr>
          <p:cNvSpPr>
            <a:spLocks noGrp="1"/>
          </p:cNvSpPr>
          <p:nvPr/>
        </p:nvSpPr>
        <p:spPr>
          <a:xfrm>
            <a:off x="0" y="0"/>
            <a:ext cx="12192000" cy="6858000"/>
          </a:xfrm>
          <a:prstGeom prst="rect">
            <a:avLst/>
          </a:prstGeom>
          <a:solidFill>
            <a:srgbClr val="102C21">
              <a:alpha val="35000"/>
            </a:srgbClr>
          </a:solidFill>
          <a:ln w="0">
            <a:noFill/>
          </a:ln>
        </p:spPr>
        <p:txBody>
          <a:bodyPr/>
          <a:lstStyle/>
          <a:p>
            <a:endParaRPr lang="en-US"/>
          </a:p>
        </p:txBody>
      </p:sp>
      <p:sp>
        <p:nvSpPr>
          <p:cNvPr id="3" name="!!headline">
            <a:extLst>
              <a:ext uri="{FF2B5EF4-FFF2-40B4-BE49-F238E27FC236}">
                <a16:creationId xmlns:a16="http://schemas.microsoft.com/office/drawing/2014/main" id="{A7E2F95B-C215-4651-8B8B-F85AF08420A8}"/>
              </a:ext>
            </a:extLst>
          </p:cNvPr>
          <p:cNvSpPr>
            <a:spLocks noGrp="1"/>
          </p:cNvSpPr>
          <p:nvPr/>
        </p:nvSpPr>
        <p:spPr>
          <a:xfrm>
            <a:off x="609600" y="533400"/>
            <a:ext cx="10953750" cy="1104900"/>
          </a:xfrm>
          <a:prstGeom prst="rect">
            <a:avLst/>
          </a:prstGeom>
          <a:noFill/>
          <a:ln w="0">
            <a:noFill/>
          </a:ln>
        </p:spPr>
        <p:txBody>
          <a:bodyPr wrap="square" lIns="0" tIns="0" rIns="0" bIns="0" anchor="t">
            <a:normAutofit/>
          </a:bodyPr>
          <a:lstStyle/>
          <a:p>
            <a:pPr>
              <a:defRPr sz="3450" b="1">
                <a:solidFill>
                  <a:srgbClr val="F4F1E8"/>
                </a:solidFill>
                <a:latin typeface="Segoe UI"/>
                <a:ea typeface="Segoe UI"/>
                <a:cs typeface="Segoe UI"/>
              </a:defRPr>
            </a:pPr>
            <a:r>
              <a:rPr sz="3450" b="1">
                <a:solidFill>
                  <a:srgbClr val="F4F1E8"/>
                </a:solidFill>
                <a:latin typeface="Segoe UI"/>
                <a:ea typeface="Segoe UI"/>
                <a:cs typeface="Segoe UI"/>
              </a:rPr>
              <a:t>HTX chuẩn bị hồ sơ cho bên mua</a:t>
            </a:r>
          </a:p>
        </p:txBody>
      </p:sp>
      <p:sp>
        <p:nvSpPr>
          <p:cNvPr id="4" name="!!demo-video-matte">
            <a:extLst>
              <a:ext uri="{FF2B5EF4-FFF2-40B4-BE49-F238E27FC236}">
                <a16:creationId xmlns:a16="http://schemas.microsoft.com/office/drawing/2014/main" id="{DDF43D7A-531E-4EB7-97CD-33768BFE12F9}"/>
              </a:ext>
            </a:extLst>
          </p:cNvPr>
          <p:cNvSpPr>
            <a:spLocks noGrp="1"/>
          </p:cNvSpPr>
          <p:nvPr/>
        </p:nvSpPr>
        <p:spPr>
          <a:xfrm>
            <a:off x="609600" y="1771650"/>
            <a:ext cx="7505700" cy="4219575"/>
          </a:xfrm>
          <a:prstGeom prst="rect">
            <a:avLst/>
          </a:prstGeom>
          <a:solidFill>
            <a:srgbClr val="102C21"/>
          </a:solidFill>
          <a:ln w="0">
            <a:noFill/>
          </a:ln>
        </p:spPr>
        <p:txBody>
          <a:bodyPr/>
          <a:lstStyle/>
          <a:p>
            <a:endParaRPr lang="en-US"/>
          </a:p>
        </p:txBody>
      </p:sp>
      <p:pic>
        <p:nvPicPr>
          <p:cNvPr id="16" name="!!demo-video">
            <a:hlinkClick action="ppaction://media"/>
          </p:cNvPr>
          <p:cNvPicPr>
            <a:picLocks noChangeAspect="1"/>
          </p:cNvPicPr>
          <p:nvPr>
            <a:videoFile r:link="rId2"/>
            <p:extLst>
              <p:ext uri="{DAA4B4D4-6D71-4841-9C94-3DE7FCFB9230}">
                <p14:media xmlns:p14="http://schemas.microsoft.com/office/powerpoint/2010/main" r:embed="rId1"/>
              </p:ext>
            </p:extLst>
          </p:nvPr>
        </p:nvPicPr>
        <p:blipFill>
          <a:blip r:embed="rId6"/>
          <a:stretch/>
        </p:blipFill>
        <p:spPr>
          <a:xfrm>
            <a:off x="611717" y="1771650"/>
            <a:ext cx="7501467" cy="4219575"/>
          </a:xfrm>
          <a:prstGeom prst="rect">
            <a:avLst/>
          </a:prstGeom>
        </p:spPr>
      </p:pic>
      <p:sp>
        <p:nvSpPr>
          <p:cNvPr id="6" name="!!demo-duration">
            <a:extLst>
              <a:ext uri="{FF2B5EF4-FFF2-40B4-BE49-F238E27FC236}">
                <a16:creationId xmlns:a16="http://schemas.microsoft.com/office/drawing/2014/main" id="{5C7847AB-DCEE-4D3A-984D-72F6DCCD6518}"/>
              </a:ext>
            </a:extLst>
          </p:cNvPr>
          <p:cNvSpPr>
            <a:spLocks noGrp="1"/>
          </p:cNvSpPr>
          <p:nvPr/>
        </p:nvSpPr>
        <p:spPr>
          <a:xfrm>
            <a:off x="8591550" y="1952625"/>
            <a:ext cx="2876550" cy="590550"/>
          </a:xfrm>
          <a:prstGeom prst="rect">
            <a:avLst/>
          </a:prstGeom>
          <a:noFill/>
          <a:ln w="0">
            <a:noFill/>
          </a:ln>
        </p:spPr>
        <p:txBody>
          <a:bodyPr wrap="square" lIns="0" tIns="0" rIns="0" bIns="0" anchor="t">
            <a:normAutofit/>
          </a:bodyPr>
          <a:lstStyle/>
          <a:p>
            <a:pPr>
              <a:defRPr sz="3150" b="1">
                <a:solidFill>
                  <a:srgbClr val="C8A45B"/>
                </a:solidFill>
                <a:latin typeface="Segoe UI"/>
                <a:ea typeface="Segoe UI"/>
                <a:cs typeface="Segoe UI"/>
              </a:defRPr>
            </a:pPr>
            <a:r>
              <a:rPr sz="3150" b="1">
                <a:solidFill>
                  <a:srgbClr val="C8A45B"/>
                </a:solidFill>
                <a:latin typeface="Segoe UI"/>
                <a:ea typeface="Segoe UI"/>
                <a:cs typeface="Segoe UI"/>
              </a:rPr>
              <a:t>90 giây</a:t>
            </a:r>
          </a:p>
        </p:txBody>
      </p:sp>
      <p:sp>
        <p:nvSpPr>
          <p:cNvPr id="7" name="!!demo-start">
            <a:extLst>
              <a:ext uri="{FF2B5EF4-FFF2-40B4-BE49-F238E27FC236}">
                <a16:creationId xmlns:a16="http://schemas.microsoft.com/office/drawing/2014/main" id="{55100075-D17E-4E8D-8E1D-6134E8FED93A}"/>
              </a:ext>
            </a:extLst>
          </p:cNvPr>
          <p:cNvSpPr>
            <a:spLocks noGrp="1"/>
          </p:cNvSpPr>
          <p:nvPr/>
        </p:nvSpPr>
        <p:spPr>
          <a:xfrm>
            <a:off x="8591550" y="2762250"/>
            <a:ext cx="2876550" cy="1000125"/>
          </a:xfrm>
          <a:prstGeom prst="rect">
            <a:avLst/>
          </a:prstGeom>
          <a:noFill/>
          <a:ln w="0">
            <a:noFill/>
          </a:ln>
        </p:spPr>
        <p:txBody>
          <a:bodyPr wrap="square" lIns="0" tIns="0" rIns="0" bIns="0" anchor="t">
            <a:normAutofit/>
          </a:bodyPr>
          <a:lstStyle/>
          <a:p>
            <a:pPr>
              <a:defRPr sz="2325" b="1">
                <a:solidFill>
                  <a:srgbClr val="F4F1E8"/>
                </a:solidFill>
                <a:latin typeface="Segoe UI"/>
                <a:ea typeface="Segoe UI"/>
                <a:cs typeface="Segoe UI"/>
              </a:defRPr>
            </a:pPr>
            <a:r>
              <a:rPr sz="2325" b="1">
                <a:solidFill>
                  <a:srgbClr val="F4F1E8"/>
                </a:solidFill>
                <a:latin typeface="Segoe UI"/>
                <a:ea typeface="Segoe UI"/>
                <a:cs typeface="Segoe UI"/>
              </a:rPr>
              <a:t>Bấm vào video</a:t>
            </a:r>
          </a:p>
          <a:p>
            <a:pPr>
              <a:defRPr sz="2325" b="1">
                <a:solidFill>
                  <a:srgbClr val="F4F1E8"/>
                </a:solidFill>
                <a:latin typeface="Segoe UI"/>
                <a:ea typeface="Segoe UI"/>
                <a:cs typeface="Segoe UI"/>
              </a:defRPr>
            </a:pPr>
            <a:r>
              <a:rPr sz="2325" b="1">
                <a:solidFill>
                  <a:srgbClr val="F4F1E8"/>
                </a:solidFill>
                <a:latin typeface="Segoe UI"/>
                <a:ea typeface="Segoe UI"/>
                <a:cs typeface="Segoe UI"/>
              </a:rPr>
              <a:t>để phát</a:t>
            </a:r>
          </a:p>
        </p:txBody>
      </p:sp>
      <p:sp>
        <p:nvSpPr>
          <p:cNvPr id="8" name="!!demo-content">
            <a:extLst>
              <a:ext uri="{FF2B5EF4-FFF2-40B4-BE49-F238E27FC236}">
                <a16:creationId xmlns:a16="http://schemas.microsoft.com/office/drawing/2014/main" id="{EF200508-451E-47F8-A00A-5B2189D769B7}"/>
              </a:ext>
            </a:extLst>
          </p:cNvPr>
          <p:cNvSpPr>
            <a:spLocks noGrp="1"/>
          </p:cNvSpPr>
          <p:nvPr/>
        </p:nvSpPr>
        <p:spPr>
          <a:xfrm>
            <a:off x="8591550" y="4000500"/>
            <a:ext cx="2876550" cy="857250"/>
          </a:xfrm>
          <a:prstGeom prst="rect">
            <a:avLst/>
          </a:prstGeom>
          <a:noFill/>
          <a:ln w="0">
            <a:noFill/>
          </a:ln>
        </p:spPr>
        <p:txBody>
          <a:bodyPr wrap="square" lIns="0" tIns="0" rIns="0" bIns="0" anchor="t">
            <a:normAutofit/>
          </a:bodyPr>
          <a:lstStyle/>
          <a:p>
            <a:pPr>
              <a:defRPr sz="1875" b="0">
                <a:solidFill>
                  <a:srgbClr val="A3BCAB"/>
                </a:solidFill>
                <a:latin typeface="Segoe UI"/>
                <a:ea typeface="Segoe UI"/>
                <a:cs typeface="Segoe UI"/>
              </a:defRPr>
            </a:pPr>
            <a:r>
              <a:rPr sz="1875" b="0">
                <a:solidFill>
                  <a:srgbClr val="A3BCAB"/>
                </a:solidFill>
                <a:latin typeface="Segoe UI"/>
                <a:ea typeface="Segoe UI"/>
                <a:cs typeface="Segoe UI"/>
              </a:rPr>
              <a:t>Chuẩn bị tài liệu</a:t>
            </a:r>
          </a:p>
          <a:p>
            <a:pPr>
              <a:defRPr sz="1875" b="0">
                <a:solidFill>
                  <a:srgbClr val="A3BCAB"/>
                </a:solidFill>
                <a:latin typeface="Segoe UI"/>
                <a:ea typeface="Segoe UI"/>
                <a:cs typeface="Segoe UI"/>
              </a:defRPr>
            </a:pPr>
            <a:r>
              <a:rPr sz="1875" b="0">
                <a:solidFill>
                  <a:srgbClr val="A3BCAB"/>
                </a:solidFill>
                <a:latin typeface="Segoe UI"/>
                <a:ea typeface="Segoe UI"/>
                <a:cs typeface="Segoe UI"/>
              </a:rPr>
              <a:t>Gửi hồ sơ qua QR</a:t>
            </a:r>
          </a:p>
        </p:txBody>
      </p:sp>
      <p:sp>
        <p:nvSpPr>
          <p:cNvPr id="9" name="!!demo-backup">
            <a:extLst>
              <a:ext uri="{FF2B5EF4-FFF2-40B4-BE49-F238E27FC236}">
                <a16:creationId xmlns:a16="http://schemas.microsoft.com/office/drawing/2014/main" id="{6B0F0E1F-0EAE-4771-8B45-C6A6FA264703}"/>
              </a:ext>
            </a:extLst>
          </p:cNvPr>
          <p:cNvSpPr>
            <a:spLocks noGrp="1"/>
          </p:cNvSpPr>
          <p:nvPr/>
        </p:nvSpPr>
        <p:spPr>
          <a:xfrm>
            <a:off x="8591550" y="5400675"/>
            <a:ext cx="2876550" cy="523875"/>
          </a:xfrm>
          <a:prstGeom prst="rect">
            <a:avLst/>
          </a:prstGeom>
          <a:noFill/>
          <a:ln w="0">
            <a:noFill/>
          </a:ln>
        </p:spPr>
        <p:txBody>
          <a:bodyPr wrap="square" lIns="0" tIns="0" rIns="0" bIns="0" anchor="t">
            <a:normAutofit/>
          </a:bodyPr>
          <a:lstStyle/>
          <a:p>
            <a:pPr>
              <a:defRPr sz="1725" b="1">
                <a:solidFill>
                  <a:srgbClr val="C8A45B"/>
                </a:solidFill>
                <a:latin typeface="Segoe UI"/>
                <a:ea typeface="Segoe UI"/>
                <a:cs typeface="Segoe UI"/>
              </a:defRPr>
            </a:pPr>
            <a:r>
              <a:rPr sz="1725" b="1">
                <a:solidFill>
                  <a:srgbClr val="C8A45B"/>
                </a:solidFill>
                <a:latin typeface="Segoe UI"/>
                <a:ea typeface="Segoe UI"/>
                <a:cs typeface="Segoe UI"/>
                <a:hlinkClick r:id="rId7"/>
              </a:rPr>
              <a:t>Mở video dự phòng</a:t>
            </a:r>
          </a:p>
        </p:txBody>
      </p:sp>
      <p:sp>
        <p:nvSpPr>
          <p:cNvPr id="10" name="!!page">
            <a:extLst>
              <a:ext uri="{FF2B5EF4-FFF2-40B4-BE49-F238E27FC236}">
                <a16:creationId xmlns:a16="http://schemas.microsoft.com/office/drawing/2014/main" id="{21F6ADCD-6199-4EDD-9159-FC4627518BFF}"/>
              </a:ext>
            </a:extLst>
          </p:cNvPr>
          <p:cNvSpPr>
            <a:spLocks noGrp="1"/>
          </p:cNvSpPr>
          <p:nvPr/>
        </p:nvSpPr>
        <p:spPr>
          <a:xfrm>
            <a:off x="10706100" y="6381750"/>
            <a:ext cx="876300" cy="228600"/>
          </a:xfrm>
          <a:prstGeom prst="rect">
            <a:avLst/>
          </a:prstGeom>
          <a:noFill/>
          <a:ln w="0">
            <a:noFill/>
          </a:ln>
        </p:spPr>
        <p:txBody>
          <a:bodyPr wrap="square" lIns="0" tIns="0" rIns="0" bIns="0" anchor="t">
            <a:normAutofit/>
          </a:bodyPr>
          <a:lstStyle/>
          <a:p>
            <a:pPr>
              <a:defRPr sz="1275" b="0">
                <a:solidFill>
                  <a:srgbClr val="A3BCAB"/>
                </a:solidFill>
                <a:latin typeface="Segoe UI"/>
                <a:ea typeface="Segoe UI"/>
                <a:cs typeface="Segoe UI"/>
              </a:defRPr>
            </a:pPr>
            <a:r>
              <a:rPr sz="1275" b="0">
                <a:solidFill>
                  <a:srgbClr val="A3BCAB"/>
                </a:solidFill>
                <a:latin typeface="Segoe UI"/>
                <a:ea typeface="Segoe UI"/>
                <a:cs typeface="Segoe UI"/>
              </a:rPr>
              <a:t>10 / 19</a:t>
            </a:r>
          </a:p>
        </p:txBody>
      </p:sp>
      <p:sp>
        <p:nvSpPr>
          <p:cNvPr id="11" name="!!caption">
            <a:extLst>
              <a:ext uri="{FF2B5EF4-FFF2-40B4-BE49-F238E27FC236}">
                <a16:creationId xmlns:a16="http://schemas.microsoft.com/office/drawing/2014/main" id="{86B75C7A-2EC9-4620-88D7-8A0483D78DBF}"/>
              </a:ext>
            </a:extLst>
          </p:cNvPr>
          <p:cNvSpPr>
            <a:spLocks noGrp="1"/>
          </p:cNvSpPr>
          <p:nvPr/>
        </p:nvSpPr>
        <p:spPr>
          <a:xfrm>
            <a:off x="609600" y="6381750"/>
            <a:ext cx="9525000" cy="228600"/>
          </a:xfrm>
          <a:prstGeom prst="rect">
            <a:avLst/>
          </a:prstGeom>
          <a:noFill/>
          <a:ln w="0">
            <a:noFill/>
          </a:ln>
        </p:spPr>
        <p:txBody>
          <a:bodyPr wrap="square" lIns="0" tIns="0" rIns="0" bIns="0" anchor="t">
            <a:normAutofit/>
          </a:bodyPr>
          <a:lstStyle/>
          <a:p>
            <a:pPr>
              <a:defRPr sz="1275" b="0">
                <a:solidFill>
                  <a:srgbClr val="A3BCAB"/>
                </a:solidFill>
                <a:latin typeface="Segoe UI"/>
                <a:ea typeface="Segoe UI"/>
                <a:cs typeface="Segoe UI"/>
              </a:defRPr>
            </a:pPr>
            <a:r>
              <a:rPr sz="1275" b="0">
                <a:solidFill>
                  <a:srgbClr val="A3BCAB"/>
                </a:solidFill>
                <a:latin typeface="Segoe UI"/>
                <a:ea typeface="Segoe UI"/>
                <a:cs typeface="Segoe UI"/>
              </a:rPr>
              <a:t>UI compact local · Auth/API mô phỏng · Dữ liệu TEST · 30/09/2026</a:t>
            </a:r>
          </a:p>
        </p:txBody>
      </p:sp>
    </p:spTree>
    <p:extLst>
      <p:ext uri="{BB962C8B-B14F-4D97-AF65-F5344CB8AC3E}">
        <p14:creationId xmlns:p14="http://schemas.microsoft.com/office/powerpoint/2010/main" val="1010992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00">
        <p159:morph option="byObject"/>
      </p:transition>
    </mc:Choice>
    <mc:Fallback xmlns="" xmlns:p14="http://schemas.microsoft.com/office/powerpoint/2010/main">
      <p:transition advClick="1" spd="fast">
        <p:fade/>
      </p:transition>
    </mc:Fallback>
  </mc:AlternateContent>
  <p:timing>
    <p:tnLst>
      <p:par>
        <p:cTn id="1" dur="indefinite" restart="never" nodeType="tmRoot">
          <p:childTnLst>
            <p:video>
              <p:cMediaNode vol="80000">
                <p:cTn id="2" fill="hold" display="0">
                  <p:stCondLst>
                    <p:cond delay="indefinite"/>
                  </p:stCondLst>
                </p:cTn>
                <p:tgtEl>
                  <p:spTgt spid="16"/>
                </p:tgtEl>
              </p:cMediaNode>
            </p:vide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02C21"/>
        </a:solidFill>
        <a:effectLst/>
      </p:bgPr>
    </p:bg>
    <p:spTree>
      <p:nvGrpSpPr>
        <p:cNvPr id="1" name=""/>
        <p:cNvGrpSpPr/>
        <p:nvPr/>
      </p:nvGrpSpPr>
      <p:grpSpPr>
        <a:xfrm>
          <a:off x="0" y="0"/>
          <a:ext cx="0" cy="0"/>
          <a:chOff x="0" y="0"/>
          <a:chExt cx="0" cy="0"/>
        </a:xfrm>
      </p:grpSpPr>
      <p:pic>
        <p:nvPicPr>
          <p:cNvPr id="46" name="!!backdrop"/>
          <p:cNvPicPr>
            <a:picLocks noChangeAspect="1"/>
          </p:cNvPicPr>
          <p:nvPr/>
        </p:nvPicPr>
        <p:blipFill>
          <a:blip r:embed="rId3"/>
          <a:srcRect t="27" b="27"/>
          <a:stretch>
            <a:fillRect/>
          </a:stretch>
        </p:blipFill>
        <p:spPr>
          <a:xfrm>
            <a:off x="0" y="0"/>
            <a:ext cx="12192000" cy="6858000"/>
          </a:xfrm>
          <a:prstGeom prst="rect">
            <a:avLst/>
          </a:prstGeom>
        </p:spPr>
      </p:pic>
      <p:sp>
        <p:nvSpPr>
          <p:cNvPr id="2" name="!!backdrop-tint">
            <a:extLst>
              <a:ext uri="{FF2B5EF4-FFF2-40B4-BE49-F238E27FC236}">
                <a16:creationId xmlns:a16="http://schemas.microsoft.com/office/drawing/2014/main" id="{F3449AB3-3C2D-4149-9398-22ABAEE4B1DD}"/>
              </a:ext>
            </a:extLst>
          </p:cNvPr>
          <p:cNvSpPr>
            <a:spLocks noGrp="1"/>
          </p:cNvSpPr>
          <p:nvPr/>
        </p:nvSpPr>
        <p:spPr>
          <a:xfrm>
            <a:off x="0" y="0"/>
            <a:ext cx="12192000" cy="6858000"/>
          </a:xfrm>
          <a:prstGeom prst="rect">
            <a:avLst/>
          </a:prstGeom>
          <a:solidFill>
            <a:srgbClr val="102C21">
              <a:alpha val="35000"/>
            </a:srgbClr>
          </a:solidFill>
          <a:ln w="0">
            <a:noFill/>
          </a:ln>
        </p:spPr>
        <p:txBody>
          <a:bodyPr/>
          <a:lstStyle/>
          <a:p>
            <a:endParaRPr lang="en-US"/>
          </a:p>
        </p:txBody>
      </p:sp>
      <p:sp>
        <p:nvSpPr>
          <p:cNvPr id="3" name="!!headline">
            <a:extLst>
              <a:ext uri="{FF2B5EF4-FFF2-40B4-BE49-F238E27FC236}">
                <a16:creationId xmlns:a16="http://schemas.microsoft.com/office/drawing/2014/main" id="{AC53C1FA-F76C-4957-973B-316C42C3CFE5}"/>
              </a:ext>
            </a:extLst>
          </p:cNvPr>
          <p:cNvSpPr>
            <a:spLocks noGrp="1"/>
          </p:cNvSpPr>
          <p:nvPr/>
        </p:nvSpPr>
        <p:spPr>
          <a:xfrm>
            <a:off x="609600" y="533400"/>
            <a:ext cx="10953750" cy="1104900"/>
          </a:xfrm>
          <a:prstGeom prst="rect">
            <a:avLst/>
          </a:prstGeom>
          <a:noFill/>
          <a:ln w="0">
            <a:noFill/>
          </a:ln>
        </p:spPr>
        <p:txBody>
          <a:bodyPr wrap="square" lIns="0" tIns="0" rIns="0" bIns="0" anchor="t">
            <a:normAutofit/>
          </a:bodyPr>
          <a:lstStyle/>
          <a:p>
            <a:pPr>
              <a:defRPr sz="3450" b="1">
                <a:solidFill>
                  <a:srgbClr val="F4F1E8"/>
                </a:solidFill>
                <a:latin typeface="Segoe UI"/>
                <a:ea typeface="Segoe UI"/>
                <a:cs typeface="Segoe UI"/>
              </a:defRPr>
            </a:pPr>
            <a:r>
              <a:rPr sz="3450" b="1">
                <a:solidFill>
                  <a:srgbClr val="F4F1E8"/>
                </a:solidFill>
                <a:latin typeface="Segoe UI"/>
                <a:ea typeface="Segoe UI"/>
                <a:cs typeface="Segoe UI"/>
              </a:rPr>
              <a:t>Công nghệ và kiến trúc cloud</a:t>
            </a:r>
          </a:p>
        </p:txBody>
      </p:sp>
      <p:sp>
        <p:nvSpPr>
          <p:cNvPr id="4" name="!!client">
            <a:extLst>
              <a:ext uri="{FF2B5EF4-FFF2-40B4-BE49-F238E27FC236}">
                <a16:creationId xmlns:a16="http://schemas.microsoft.com/office/drawing/2014/main" id="{1A37858C-B7D0-4550-ABE7-5F93CF490A10}"/>
              </a:ext>
            </a:extLst>
          </p:cNvPr>
          <p:cNvSpPr>
            <a:spLocks noGrp="1"/>
          </p:cNvSpPr>
          <p:nvPr/>
        </p:nvSpPr>
        <p:spPr>
          <a:xfrm>
            <a:off x="609600" y="2295525"/>
            <a:ext cx="2324100" cy="1143000"/>
          </a:xfrm>
          <a:prstGeom prst="rect">
            <a:avLst/>
          </a:prstGeom>
          <a:solidFill>
            <a:srgbClr val="183A2C"/>
          </a:solidFill>
          <a:ln w="9525">
            <a:solidFill>
              <a:srgbClr val="A3BCAB"/>
            </a:solidFill>
          </a:ln>
        </p:spPr>
        <p:txBody>
          <a:bodyPr/>
          <a:lstStyle/>
          <a:p>
            <a:endParaRPr lang="en-US"/>
          </a:p>
        </p:txBody>
      </p:sp>
      <p:sp>
        <p:nvSpPr>
          <p:cNvPr id="5" name="!!client-text">
            <a:extLst>
              <a:ext uri="{FF2B5EF4-FFF2-40B4-BE49-F238E27FC236}">
                <a16:creationId xmlns:a16="http://schemas.microsoft.com/office/drawing/2014/main" id="{82A67740-A6D6-45EA-9403-3F77B9197B80}"/>
              </a:ext>
            </a:extLst>
          </p:cNvPr>
          <p:cNvSpPr>
            <a:spLocks noGrp="1"/>
          </p:cNvSpPr>
          <p:nvPr/>
        </p:nvSpPr>
        <p:spPr>
          <a:xfrm>
            <a:off x="781050" y="2447925"/>
            <a:ext cx="1981200" cy="838200"/>
          </a:xfrm>
          <a:prstGeom prst="rect">
            <a:avLst/>
          </a:prstGeom>
          <a:noFill/>
          <a:ln w="0">
            <a:noFill/>
          </a:ln>
        </p:spPr>
        <p:txBody>
          <a:bodyPr wrap="square" lIns="0" tIns="0" rIns="0" bIns="0" anchor="ctr">
            <a:normAutofit/>
          </a:bodyPr>
          <a:lstStyle/>
          <a:p>
            <a:pPr>
              <a:defRPr sz="1800" b="1">
                <a:solidFill>
                  <a:srgbClr val="F4F1E8"/>
                </a:solidFill>
                <a:latin typeface="Segoe UI"/>
                <a:ea typeface="Segoe UI"/>
                <a:cs typeface="Segoe UI"/>
              </a:defRPr>
            </a:pPr>
            <a:r>
              <a:rPr sz="1800" b="1">
                <a:solidFill>
                  <a:srgbClr val="F4F1E8"/>
                </a:solidFill>
                <a:latin typeface="Segoe UI"/>
                <a:ea typeface="Segoe UI"/>
                <a:cs typeface="Segoe UI"/>
              </a:rPr>
              <a:t>React 19 + Vite 8</a:t>
            </a:r>
          </a:p>
          <a:p>
            <a:pPr>
              <a:defRPr sz="1800" b="1">
                <a:solidFill>
                  <a:srgbClr val="F4F1E8"/>
                </a:solidFill>
                <a:latin typeface="Segoe UI"/>
                <a:ea typeface="Segoe UI"/>
                <a:cs typeface="Segoe UI"/>
              </a:defRPr>
            </a:pPr>
            <a:r>
              <a:rPr sz="1800" b="1">
                <a:solidFill>
                  <a:srgbClr val="F4F1E8"/>
                </a:solidFill>
                <a:latin typeface="Segoe UI"/>
                <a:ea typeface="Segoe UI"/>
                <a:cs typeface="Segoe UI"/>
              </a:rPr>
              <a:t>Vercel · giao diện</a:t>
            </a:r>
          </a:p>
        </p:txBody>
      </p:sp>
      <p:sp>
        <p:nvSpPr>
          <p:cNvPr id="12" name="!!auth">
            <a:extLst>
              <a:ext uri="{FF2B5EF4-FFF2-40B4-BE49-F238E27FC236}">
                <a16:creationId xmlns:a16="http://schemas.microsoft.com/office/drawing/2014/main" id="{85E30CBF-FE3D-4486-909D-DF3901472BA1}"/>
              </a:ext>
            </a:extLst>
          </p:cNvPr>
          <p:cNvSpPr>
            <a:spLocks noGrp="1"/>
          </p:cNvSpPr>
          <p:nvPr/>
        </p:nvSpPr>
        <p:spPr>
          <a:xfrm>
            <a:off x="609600" y="4152900"/>
            <a:ext cx="2905125" cy="1143000"/>
          </a:xfrm>
          <a:prstGeom prst="rect">
            <a:avLst/>
          </a:prstGeom>
          <a:solidFill>
            <a:srgbClr val="183A2C"/>
          </a:solidFill>
          <a:ln w="9525">
            <a:solidFill>
              <a:srgbClr val="A3BCAB"/>
            </a:solidFill>
          </a:ln>
        </p:spPr>
        <p:txBody>
          <a:bodyPr/>
          <a:lstStyle/>
          <a:p>
            <a:endParaRPr lang="en-US"/>
          </a:p>
        </p:txBody>
      </p:sp>
      <p:sp>
        <p:nvSpPr>
          <p:cNvPr id="13" name="!!auth-text">
            <a:extLst>
              <a:ext uri="{FF2B5EF4-FFF2-40B4-BE49-F238E27FC236}">
                <a16:creationId xmlns:a16="http://schemas.microsoft.com/office/drawing/2014/main" id="{7D998551-720B-4CCA-9324-D690F8D2BC46}"/>
              </a:ext>
            </a:extLst>
          </p:cNvPr>
          <p:cNvSpPr>
            <a:spLocks noGrp="1"/>
          </p:cNvSpPr>
          <p:nvPr/>
        </p:nvSpPr>
        <p:spPr>
          <a:xfrm>
            <a:off x="781050" y="4305300"/>
            <a:ext cx="2562225" cy="838200"/>
          </a:xfrm>
          <a:prstGeom prst="rect">
            <a:avLst/>
          </a:prstGeom>
          <a:noFill/>
          <a:ln w="0">
            <a:noFill/>
          </a:ln>
        </p:spPr>
        <p:txBody>
          <a:bodyPr wrap="square" lIns="0" tIns="0" rIns="0" bIns="0" anchor="ctr">
            <a:normAutofit/>
          </a:bodyPr>
          <a:lstStyle/>
          <a:p>
            <a:pPr>
              <a:defRPr sz="1800" b="1">
                <a:solidFill>
                  <a:srgbClr val="F4F1E8"/>
                </a:solidFill>
                <a:latin typeface="Segoe UI"/>
                <a:ea typeface="Segoe UI"/>
                <a:cs typeface="Segoe UI"/>
              </a:defRPr>
            </a:pPr>
            <a:r>
              <a:rPr sz="1800" b="1">
                <a:solidFill>
                  <a:srgbClr val="F4F1E8"/>
                </a:solidFill>
                <a:latin typeface="Segoe UI"/>
                <a:ea typeface="Segoe UI"/>
                <a:cs typeface="Segoe UI"/>
              </a:rPr>
              <a:t>Google OAuth</a:t>
            </a:r>
          </a:p>
          <a:p>
            <a:pPr>
              <a:defRPr sz="1800" b="1">
                <a:solidFill>
                  <a:srgbClr val="F4F1E8"/>
                </a:solidFill>
                <a:latin typeface="Segoe UI"/>
                <a:ea typeface="Segoe UI"/>
                <a:cs typeface="Segoe UI"/>
              </a:defRPr>
            </a:pPr>
            <a:r>
              <a:rPr sz="1800" b="1">
                <a:solidFill>
                  <a:srgbClr val="F4F1E8"/>
                </a:solidFill>
                <a:latin typeface="Segoe UI"/>
                <a:ea typeface="Segoe UI"/>
                <a:cs typeface="Segoe UI"/>
              </a:rPr>
              <a:t>Đăng nhập tài khoản</a:t>
            </a:r>
          </a:p>
        </p:txBody>
      </p:sp>
      <p:cxnSp>
        <p:nvCxnSpPr>
          <p:cNvPr id="59" name="!!connector-11-0"/>
          <p:cNvCxnSpPr>
            <a:stCxn id="4" idx="2"/>
            <a:endCxn id="12" idx="0"/>
          </p:cNvCxnSpPr>
          <p:nvPr/>
        </p:nvCxnSpPr>
        <p:spPr>
          <a:xfrm>
            <a:off x="1771650" y="3438525"/>
            <a:ext cx="290513" cy="714375"/>
          </a:xfrm>
          <a:prstGeom prst="straightConnector1">
            <a:avLst/>
          </a:prstGeom>
          <a:ln w="19050">
            <a:solidFill>
              <a:srgbClr val="A3BCAB"/>
            </a:solidFill>
            <a:prstDash val="solid"/>
            <a:tailEnd type="arrow" w="med" len="med"/>
          </a:ln>
        </p:spPr>
      </p:cxnSp>
      <p:sp>
        <p:nvSpPr>
          <p:cNvPr id="15" name="!!auth-symbol-selection">
            <a:extLst>
              <a:ext uri="{FF2B5EF4-FFF2-40B4-BE49-F238E27FC236}">
                <a16:creationId xmlns:a16="http://schemas.microsoft.com/office/drawing/2014/main" id="{80CE60F2-6217-4232-9647-BB4DAC4436F3}"/>
              </a:ext>
            </a:extLst>
          </p:cNvPr>
          <p:cNvSpPr>
            <a:spLocks noGrp="1"/>
          </p:cNvSpPr>
          <p:nvPr/>
        </p:nvSpPr>
        <p:spPr>
          <a:xfrm>
            <a:off x="1771650" y="3448050"/>
            <a:ext cx="609600" cy="609600"/>
          </a:xfrm>
          <a:prstGeom prst="ellipse">
            <a:avLst/>
          </a:prstGeom>
          <a:solidFill>
            <a:srgbClr val="FFFFFF"/>
          </a:solidFill>
          <a:ln w="9525">
            <a:solidFill>
              <a:srgbClr val="A3BCAB"/>
            </a:solidFill>
          </a:ln>
        </p:spPr>
        <p:txBody>
          <a:bodyPr/>
          <a:lstStyle/>
          <a:p>
            <a:endParaRPr lang="en-US"/>
          </a:p>
        </p:txBody>
      </p:sp>
      <p:sp>
        <p:nvSpPr>
          <p:cNvPr id="18" name="!!render">
            <a:extLst>
              <a:ext uri="{FF2B5EF4-FFF2-40B4-BE49-F238E27FC236}">
                <a16:creationId xmlns:a16="http://schemas.microsoft.com/office/drawing/2014/main" id="{454B41A3-876E-4DAD-9D43-42EC2972C273}"/>
              </a:ext>
            </a:extLst>
          </p:cNvPr>
          <p:cNvSpPr>
            <a:spLocks noGrp="1"/>
          </p:cNvSpPr>
          <p:nvPr/>
        </p:nvSpPr>
        <p:spPr>
          <a:xfrm>
            <a:off x="3886200" y="2295525"/>
            <a:ext cx="2905125" cy="1143000"/>
          </a:xfrm>
          <a:prstGeom prst="rect">
            <a:avLst/>
          </a:prstGeom>
          <a:solidFill>
            <a:srgbClr val="183A2C"/>
          </a:solidFill>
          <a:ln w="9525">
            <a:solidFill>
              <a:srgbClr val="A3BCAB"/>
            </a:solidFill>
          </a:ln>
        </p:spPr>
        <p:txBody>
          <a:bodyPr/>
          <a:lstStyle/>
          <a:p>
            <a:endParaRPr lang="en-US"/>
          </a:p>
        </p:txBody>
      </p:sp>
      <p:sp>
        <p:nvSpPr>
          <p:cNvPr id="19" name="!!render-text">
            <a:extLst>
              <a:ext uri="{FF2B5EF4-FFF2-40B4-BE49-F238E27FC236}">
                <a16:creationId xmlns:a16="http://schemas.microsoft.com/office/drawing/2014/main" id="{08ADE5BB-AAE5-4892-A650-6CA36839EC88}"/>
              </a:ext>
            </a:extLst>
          </p:cNvPr>
          <p:cNvSpPr>
            <a:spLocks noGrp="1"/>
          </p:cNvSpPr>
          <p:nvPr/>
        </p:nvSpPr>
        <p:spPr>
          <a:xfrm>
            <a:off x="4057650" y="2447925"/>
            <a:ext cx="2562225" cy="838200"/>
          </a:xfrm>
          <a:prstGeom prst="rect">
            <a:avLst/>
          </a:prstGeom>
          <a:noFill/>
          <a:ln w="0">
            <a:noFill/>
          </a:ln>
        </p:spPr>
        <p:txBody>
          <a:bodyPr wrap="square" lIns="0" tIns="0" rIns="0" bIns="0" anchor="ctr">
            <a:normAutofit/>
          </a:bodyPr>
          <a:lstStyle/>
          <a:p>
            <a:pPr>
              <a:defRPr sz="1800" b="1">
                <a:solidFill>
                  <a:srgbClr val="F4F1E8"/>
                </a:solidFill>
                <a:latin typeface="Segoe UI"/>
                <a:ea typeface="Segoe UI"/>
                <a:cs typeface="Segoe UI"/>
              </a:defRPr>
            </a:pPr>
            <a:r>
              <a:rPr sz="1800" b="1">
                <a:solidFill>
                  <a:srgbClr val="F4F1E8"/>
                </a:solidFill>
                <a:latin typeface="Segoe UI"/>
                <a:ea typeface="Segoe UI"/>
                <a:cs typeface="Segoe UI"/>
              </a:rPr>
              <a:t>FastAPI · Python</a:t>
            </a:r>
          </a:p>
          <a:p>
            <a:pPr>
              <a:defRPr sz="1800" b="1">
                <a:solidFill>
                  <a:srgbClr val="F4F1E8"/>
                </a:solidFill>
                <a:latin typeface="Segoe UI"/>
                <a:ea typeface="Segoe UI"/>
                <a:cs typeface="Segoe UI"/>
              </a:defRPr>
            </a:pPr>
            <a:r>
              <a:rPr sz="1800" b="1">
                <a:solidFill>
                  <a:srgbClr val="F4F1E8"/>
                </a:solidFill>
                <a:latin typeface="Segoe UI"/>
                <a:ea typeface="Segoe UI"/>
                <a:cs typeface="Segoe UI"/>
              </a:rPr>
              <a:t>Render · REST API</a:t>
            </a:r>
          </a:p>
        </p:txBody>
      </p:sp>
      <p:cxnSp>
        <p:nvCxnSpPr>
          <p:cNvPr id="65" name="!!connector-11-1"/>
          <p:cNvCxnSpPr>
            <a:stCxn id="4" idx="3"/>
            <a:endCxn id="18" idx="1"/>
          </p:cNvCxnSpPr>
          <p:nvPr/>
        </p:nvCxnSpPr>
        <p:spPr>
          <a:xfrm>
            <a:off x="2933700" y="2867025"/>
            <a:ext cx="952500" cy="0"/>
          </a:xfrm>
          <a:prstGeom prst="straightConnector1">
            <a:avLst/>
          </a:prstGeom>
          <a:ln w="19050">
            <a:solidFill>
              <a:srgbClr val="A3BCAB"/>
            </a:solidFill>
            <a:prstDash val="solid"/>
            <a:tailEnd type="arrow" w="med" len="med"/>
          </a:ln>
        </p:spPr>
      </p:cxnSp>
      <p:sp>
        <p:nvSpPr>
          <p:cNvPr id="32" name="!!db">
            <a:extLst>
              <a:ext uri="{FF2B5EF4-FFF2-40B4-BE49-F238E27FC236}">
                <a16:creationId xmlns:a16="http://schemas.microsoft.com/office/drawing/2014/main" id="{370AA5B0-FE51-4026-8AC2-6AE3777E3323}"/>
              </a:ext>
            </a:extLst>
          </p:cNvPr>
          <p:cNvSpPr>
            <a:spLocks noGrp="1"/>
          </p:cNvSpPr>
          <p:nvPr/>
        </p:nvSpPr>
        <p:spPr>
          <a:xfrm>
            <a:off x="8010525" y="2295525"/>
            <a:ext cx="3467100" cy="1143000"/>
          </a:xfrm>
          <a:prstGeom prst="rect">
            <a:avLst/>
          </a:prstGeom>
          <a:solidFill>
            <a:srgbClr val="166447"/>
          </a:solidFill>
          <a:ln w="28575">
            <a:solidFill>
              <a:srgbClr val="C8A45B"/>
            </a:solidFill>
          </a:ln>
        </p:spPr>
        <p:txBody>
          <a:bodyPr/>
          <a:lstStyle/>
          <a:p>
            <a:endParaRPr lang="en-US"/>
          </a:p>
        </p:txBody>
      </p:sp>
      <p:sp>
        <p:nvSpPr>
          <p:cNvPr id="33" name="!!db-text">
            <a:extLst>
              <a:ext uri="{FF2B5EF4-FFF2-40B4-BE49-F238E27FC236}">
                <a16:creationId xmlns:a16="http://schemas.microsoft.com/office/drawing/2014/main" id="{2F3DD9C5-AF46-416A-8757-D61075C53B9B}"/>
              </a:ext>
            </a:extLst>
          </p:cNvPr>
          <p:cNvSpPr>
            <a:spLocks noGrp="1"/>
          </p:cNvSpPr>
          <p:nvPr/>
        </p:nvSpPr>
        <p:spPr>
          <a:xfrm>
            <a:off x="8181975" y="2447925"/>
            <a:ext cx="3124200" cy="838200"/>
          </a:xfrm>
          <a:prstGeom prst="rect">
            <a:avLst/>
          </a:prstGeom>
          <a:noFill/>
          <a:ln w="0">
            <a:noFill/>
          </a:ln>
        </p:spPr>
        <p:txBody>
          <a:bodyPr wrap="square" lIns="0" tIns="0" rIns="0" bIns="0" anchor="ctr">
            <a:normAutofit/>
          </a:bodyPr>
          <a:lstStyle/>
          <a:p>
            <a:pPr>
              <a:defRPr sz="1800" b="1">
                <a:solidFill>
                  <a:srgbClr val="FFFFFF"/>
                </a:solidFill>
                <a:latin typeface="Segoe UI"/>
                <a:ea typeface="Segoe UI"/>
                <a:cs typeface="Segoe UI"/>
              </a:defRPr>
            </a:pPr>
            <a:r>
              <a:rPr sz="1800" b="1">
                <a:solidFill>
                  <a:srgbClr val="FFFFFF"/>
                </a:solidFill>
                <a:latin typeface="Segoe UI"/>
                <a:ea typeface="Segoe UI"/>
                <a:cs typeface="Segoe UI"/>
              </a:rPr>
              <a:t>Supabase PostgreSQL</a:t>
            </a:r>
          </a:p>
          <a:p>
            <a:pPr>
              <a:defRPr sz="1800" b="1">
                <a:solidFill>
                  <a:srgbClr val="FFFFFF"/>
                </a:solidFill>
                <a:latin typeface="Segoe UI"/>
                <a:ea typeface="Segoe UI"/>
                <a:cs typeface="Segoe UI"/>
              </a:defRPr>
            </a:pPr>
            <a:r>
              <a:rPr sz="1800" b="1">
                <a:solidFill>
                  <a:srgbClr val="FFFFFF"/>
                </a:solidFill>
                <a:latin typeface="Segoe UI"/>
                <a:ea typeface="Segoe UI"/>
                <a:cs typeface="Segoe UI"/>
              </a:rPr>
              <a:t>RLS · lô và lịch sử</a:t>
            </a:r>
          </a:p>
        </p:txBody>
      </p:sp>
      <p:sp>
        <p:nvSpPr>
          <p:cNvPr id="34" name="!!storage">
            <a:extLst>
              <a:ext uri="{FF2B5EF4-FFF2-40B4-BE49-F238E27FC236}">
                <a16:creationId xmlns:a16="http://schemas.microsoft.com/office/drawing/2014/main" id="{E206F9A1-073A-41D2-887B-F0838774BEB5}"/>
              </a:ext>
            </a:extLst>
          </p:cNvPr>
          <p:cNvSpPr>
            <a:spLocks noGrp="1"/>
          </p:cNvSpPr>
          <p:nvPr/>
        </p:nvSpPr>
        <p:spPr>
          <a:xfrm>
            <a:off x="4762500" y="4152900"/>
            <a:ext cx="3467100" cy="1143000"/>
          </a:xfrm>
          <a:prstGeom prst="rect">
            <a:avLst/>
          </a:prstGeom>
          <a:solidFill>
            <a:srgbClr val="166447"/>
          </a:solidFill>
          <a:ln w="28575">
            <a:solidFill>
              <a:srgbClr val="C8A45B"/>
            </a:solidFill>
          </a:ln>
        </p:spPr>
        <p:txBody>
          <a:bodyPr/>
          <a:lstStyle/>
          <a:p>
            <a:endParaRPr lang="en-US"/>
          </a:p>
        </p:txBody>
      </p:sp>
      <p:sp>
        <p:nvSpPr>
          <p:cNvPr id="35" name="!!storage-text">
            <a:extLst>
              <a:ext uri="{FF2B5EF4-FFF2-40B4-BE49-F238E27FC236}">
                <a16:creationId xmlns:a16="http://schemas.microsoft.com/office/drawing/2014/main" id="{9C4EB535-EC69-4C37-B3C3-3C89A519C675}"/>
              </a:ext>
            </a:extLst>
          </p:cNvPr>
          <p:cNvSpPr>
            <a:spLocks noGrp="1"/>
          </p:cNvSpPr>
          <p:nvPr/>
        </p:nvSpPr>
        <p:spPr>
          <a:xfrm>
            <a:off x="4933950" y="4305300"/>
            <a:ext cx="3124200" cy="838200"/>
          </a:xfrm>
          <a:prstGeom prst="rect">
            <a:avLst/>
          </a:prstGeom>
          <a:noFill/>
          <a:ln w="0">
            <a:noFill/>
          </a:ln>
        </p:spPr>
        <p:txBody>
          <a:bodyPr wrap="square" lIns="0" tIns="0" rIns="0" bIns="0" anchor="ctr">
            <a:normAutofit/>
          </a:bodyPr>
          <a:lstStyle/>
          <a:p>
            <a:pPr>
              <a:defRPr sz="1800" b="1">
                <a:solidFill>
                  <a:srgbClr val="FFFFFF"/>
                </a:solidFill>
                <a:latin typeface="Segoe UI"/>
                <a:ea typeface="Segoe UI"/>
                <a:cs typeface="Segoe UI"/>
              </a:defRPr>
            </a:pPr>
            <a:r>
              <a:rPr sz="1800" b="1">
                <a:solidFill>
                  <a:srgbClr val="FFFFFF"/>
                </a:solidFill>
                <a:latin typeface="Segoe UI"/>
                <a:ea typeface="Segoe UI"/>
                <a:cs typeface="Segoe UI"/>
              </a:rPr>
              <a:t>Supabase Storage</a:t>
            </a:r>
          </a:p>
          <a:p>
            <a:pPr>
              <a:defRPr sz="1800" b="1">
                <a:solidFill>
                  <a:srgbClr val="FFFFFF"/>
                </a:solidFill>
                <a:latin typeface="Segoe UI"/>
                <a:ea typeface="Segoe UI"/>
                <a:cs typeface="Segoe UI"/>
              </a:defRPr>
            </a:pPr>
            <a:r>
              <a:rPr sz="1800" b="1">
                <a:solidFill>
                  <a:srgbClr val="FFFFFF"/>
                </a:solidFill>
                <a:latin typeface="Segoe UI"/>
                <a:ea typeface="Segoe UI"/>
                <a:cs typeface="Segoe UI"/>
              </a:rPr>
              <a:t>JPG / PNG / PDF</a:t>
            </a:r>
          </a:p>
        </p:txBody>
      </p:sp>
      <p:cxnSp>
        <p:nvCxnSpPr>
          <p:cNvPr id="81" name="!!connector-11-2"/>
          <p:cNvCxnSpPr>
            <a:stCxn id="18" idx="3"/>
            <a:endCxn id="32" idx="1"/>
          </p:cNvCxnSpPr>
          <p:nvPr/>
        </p:nvCxnSpPr>
        <p:spPr>
          <a:xfrm>
            <a:off x="6791325" y="2867025"/>
            <a:ext cx="1219200" cy="0"/>
          </a:xfrm>
          <a:prstGeom prst="straightConnector1">
            <a:avLst/>
          </a:prstGeom>
          <a:ln w="19050">
            <a:solidFill>
              <a:srgbClr val="A3BCAB"/>
            </a:solidFill>
            <a:prstDash val="solid"/>
            <a:tailEnd type="arrow" w="med" len="med"/>
          </a:ln>
        </p:spPr>
      </p:cxnSp>
      <p:cxnSp>
        <p:nvCxnSpPr>
          <p:cNvPr id="82" name="!!connector-11-3"/>
          <p:cNvCxnSpPr>
            <a:stCxn id="4" idx="3"/>
            <a:endCxn id="34" idx="1"/>
          </p:cNvCxnSpPr>
          <p:nvPr/>
        </p:nvCxnSpPr>
        <p:spPr>
          <a:xfrm>
            <a:off x="2933700" y="2867025"/>
            <a:ext cx="1828800" cy="1857375"/>
          </a:xfrm>
          <a:prstGeom prst="straightConnector1">
            <a:avLst/>
          </a:prstGeom>
          <a:ln w="19050">
            <a:solidFill>
              <a:srgbClr val="A3BCAB"/>
            </a:solidFill>
            <a:prstDash val="solid"/>
            <a:tailEnd type="arrow" w="med" len="med"/>
          </a:ln>
        </p:spPr>
      </p:cxnSp>
      <p:sp>
        <p:nvSpPr>
          <p:cNvPr id="42" name="!!db-rel">
            <a:extLst>
              <a:ext uri="{FF2B5EF4-FFF2-40B4-BE49-F238E27FC236}">
                <a16:creationId xmlns:a16="http://schemas.microsoft.com/office/drawing/2014/main" id="{0B9C6568-5CC5-48C6-B940-116FE6471AA3}"/>
              </a:ext>
            </a:extLst>
          </p:cNvPr>
          <p:cNvSpPr>
            <a:spLocks noGrp="1"/>
          </p:cNvSpPr>
          <p:nvPr/>
        </p:nvSpPr>
        <p:spPr>
          <a:xfrm>
            <a:off x="8010525" y="3638550"/>
            <a:ext cx="3533775" cy="323850"/>
          </a:xfrm>
          <a:prstGeom prst="rect">
            <a:avLst/>
          </a:prstGeom>
          <a:noFill/>
          <a:ln w="0">
            <a:noFill/>
          </a:ln>
        </p:spPr>
        <p:txBody>
          <a:bodyPr wrap="square" lIns="0" tIns="0" rIns="0" bIns="0" anchor="t">
            <a:normAutofit/>
          </a:bodyPr>
          <a:lstStyle/>
          <a:p>
            <a:pPr>
              <a:defRPr sz="1650" b="0">
                <a:solidFill>
                  <a:srgbClr val="A3BCAB"/>
                </a:solidFill>
                <a:latin typeface="Segoe UI"/>
                <a:ea typeface="Segoe UI"/>
                <a:cs typeface="Segoe UI"/>
              </a:defRPr>
            </a:pPr>
            <a:r>
              <a:rPr sz="1650" b="0">
                <a:solidFill>
                  <a:srgbClr val="A3BCAB"/>
                </a:solidFill>
                <a:latin typeface="Segoe UI"/>
                <a:ea typeface="Segoe UI"/>
                <a:cs typeface="Segoe UI"/>
              </a:rPr>
              <a:t>API đọc / ghi theo quyền</a:t>
            </a:r>
          </a:p>
        </p:txBody>
      </p:sp>
      <p:sp>
        <p:nvSpPr>
          <p:cNvPr id="43" name="!!storage-rel">
            <a:extLst>
              <a:ext uri="{FF2B5EF4-FFF2-40B4-BE49-F238E27FC236}">
                <a16:creationId xmlns:a16="http://schemas.microsoft.com/office/drawing/2014/main" id="{276CCDAF-08E2-417B-B6B9-427805E05750}"/>
              </a:ext>
            </a:extLst>
          </p:cNvPr>
          <p:cNvSpPr>
            <a:spLocks noGrp="1"/>
          </p:cNvSpPr>
          <p:nvPr/>
        </p:nvSpPr>
        <p:spPr>
          <a:xfrm>
            <a:off x="4762500" y="5600700"/>
            <a:ext cx="4429125" cy="400050"/>
          </a:xfrm>
          <a:prstGeom prst="rect">
            <a:avLst/>
          </a:prstGeom>
          <a:noFill/>
          <a:ln w="0">
            <a:noFill/>
          </a:ln>
        </p:spPr>
        <p:txBody>
          <a:bodyPr wrap="square" lIns="0" tIns="0" rIns="0" bIns="0" anchor="t">
            <a:normAutofit/>
          </a:bodyPr>
          <a:lstStyle/>
          <a:p>
            <a:pPr>
              <a:defRPr sz="1800" b="0">
                <a:solidFill>
                  <a:srgbClr val="A3BCAB"/>
                </a:solidFill>
                <a:latin typeface="Segoe UI"/>
                <a:ea typeface="Segoe UI"/>
                <a:cs typeface="Segoe UI"/>
              </a:defRPr>
            </a:pPr>
            <a:r>
              <a:rPr sz="1800" b="0">
                <a:solidFill>
                  <a:srgbClr val="A3BCAB"/>
                </a:solidFill>
                <a:latin typeface="Segoe UI"/>
                <a:ea typeface="Segoe UI"/>
                <a:cs typeface="Segoe UI"/>
              </a:rPr>
              <a:t>Browser tải tệp trực tiếp</a:t>
            </a:r>
          </a:p>
        </p:txBody>
      </p:sp>
      <p:sp>
        <p:nvSpPr>
          <p:cNvPr id="44" name="!!page">
            <a:extLst>
              <a:ext uri="{FF2B5EF4-FFF2-40B4-BE49-F238E27FC236}">
                <a16:creationId xmlns:a16="http://schemas.microsoft.com/office/drawing/2014/main" id="{16D296FA-3DE1-4259-BAF9-0EEDB3D28BB4}"/>
              </a:ext>
            </a:extLst>
          </p:cNvPr>
          <p:cNvSpPr>
            <a:spLocks noGrp="1"/>
          </p:cNvSpPr>
          <p:nvPr/>
        </p:nvSpPr>
        <p:spPr>
          <a:xfrm>
            <a:off x="10706100" y="6381750"/>
            <a:ext cx="876300" cy="228600"/>
          </a:xfrm>
          <a:prstGeom prst="rect">
            <a:avLst/>
          </a:prstGeom>
          <a:noFill/>
          <a:ln w="0">
            <a:noFill/>
          </a:ln>
        </p:spPr>
        <p:txBody>
          <a:bodyPr wrap="square" lIns="0" tIns="0" rIns="0" bIns="0" anchor="t">
            <a:normAutofit/>
          </a:bodyPr>
          <a:lstStyle/>
          <a:p>
            <a:pPr>
              <a:defRPr sz="1275" b="0">
                <a:solidFill>
                  <a:srgbClr val="A3BCAB"/>
                </a:solidFill>
                <a:latin typeface="Segoe UI"/>
                <a:ea typeface="Segoe UI"/>
                <a:cs typeface="Segoe UI"/>
              </a:defRPr>
            </a:pPr>
            <a:r>
              <a:rPr sz="1275" b="0">
                <a:solidFill>
                  <a:srgbClr val="A3BCAB"/>
                </a:solidFill>
                <a:latin typeface="Segoe UI"/>
                <a:ea typeface="Segoe UI"/>
                <a:cs typeface="Segoe UI"/>
              </a:rPr>
              <a:t>11 / 19</a:t>
            </a:r>
          </a:p>
        </p:txBody>
      </p:sp>
      <p:sp>
        <p:nvSpPr>
          <p:cNvPr id="45" name="!!caption">
            <a:extLst>
              <a:ext uri="{FF2B5EF4-FFF2-40B4-BE49-F238E27FC236}">
                <a16:creationId xmlns:a16="http://schemas.microsoft.com/office/drawing/2014/main" id="{E9167380-4C20-4749-BA6C-E4DAAEC3A944}"/>
              </a:ext>
            </a:extLst>
          </p:cNvPr>
          <p:cNvSpPr>
            <a:spLocks noGrp="1"/>
          </p:cNvSpPr>
          <p:nvPr/>
        </p:nvSpPr>
        <p:spPr>
          <a:xfrm>
            <a:off x="609600" y="6381750"/>
            <a:ext cx="9525000" cy="228600"/>
          </a:xfrm>
          <a:prstGeom prst="rect">
            <a:avLst/>
          </a:prstGeom>
          <a:noFill/>
          <a:ln w="0">
            <a:noFill/>
          </a:ln>
        </p:spPr>
        <p:txBody>
          <a:bodyPr wrap="square" lIns="0" tIns="0" rIns="0" bIns="0" anchor="t">
            <a:normAutofit/>
          </a:bodyPr>
          <a:lstStyle/>
          <a:p>
            <a:pPr>
              <a:defRPr sz="1275" b="0">
                <a:solidFill>
                  <a:srgbClr val="A3BCAB"/>
                </a:solidFill>
                <a:latin typeface="Segoe UI"/>
                <a:ea typeface="Segoe UI"/>
                <a:cs typeface="Segoe UI"/>
              </a:defRPr>
            </a:pPr>
            <a:r>
              <a:rPr sz="1275" b="0">
                <a:solidFill>
                  <a:srgbClr val="A3BCAB"/>
                </a:solidFill>
                <a:latin typeface="Segoe UI"/>
                <a:ea typeface="Segoe UI"/>
                <a:cs typeface="Segoe UI"/>
              </a:rPr>
              <a:t>Source trong repo, 29/09/2026 · Luồng cloud độc lập với Solana Devnet</a:t>
            </a:r>
          </a:p>
        </p:txBody>
      </p:sp>
      <p:pic>
        <p:nvPicPr>
          <p:cNvPr id="83" name="!!tech-logo-react" descr="react technology logo"/>
          <p:cNvPicPr>
            <a:picLocks noChangeAspect="1"/>
          </p:cNvPicPr>
          <p:nvPr/>
        </p:nvPicPr>
        <p:blipFill>
          <a:blip r:embed="rId4"/>
          <a:srcRect/>
          <a:stretch>
            <a:fillRect/>
          </a:stretch>
        </p:blipFill>
        <p:spPr>
          <a:xfrm>
            <a:off x="866775" y="1668660"/>
            <a:ext cx="419100" cy="377429"/>
          </a:xfrm>
          <a:prstGeom prst="rect">
            <a:avLst/>
          </a:prstGeom>
        </p:spPr>
      </p:pic>
      <p:pic>
        <p:nvPicPr>
          <p:cNvPr id="84" name="!!tech-logo-vite" descr="vite technology logo"/>
          <p:cNvPicPr>
            <a:picLocks noChangeAspect="1"/>
          </p:cNvPicPr>
          <p:nvPr/>
        </p:nvPicPr>
        <p:blipFill>
          <a:blip r:embed="rId5"/>
          <a:srcRect r="500" b="1042"/>
          <a:stretch>
            <a:fillRect/>
          </a:stretch>
        </p:blipFill>
        <p:spPr>
          <a:xfrm>
            <a:off x="1571625" y="1657302"/>
            <a:ext cx="419100" cy="400146"/>
          </a:xfrm>
          <a:prstGeom prst="rect">
            <a:avLst/>
          </a:prstGeom>
        </p:spPr>
      </p:pic>
      <p:pic>
        <p:nvPicPr>
          <p:cNvPr id="85" name="!!tech-logo-vercel" descr="vercel technology logo"/>
          <p:cNvPicPr>
            <a:picLocks noChangeAspect="1"/>
          </p:cNvPicPr>
          <p:nvPr/>
        </p:nvPicPr>
        <p:blipFill>
          <a:blip r:embed="rId6"/>
          <a:srcRect r="21"/>
          <a:stretch>
            <a:fillRect/>
          </a:stretch>
        </p:blipFill>
        <p:spPr>
          <a:xfrm>
            <a:off x="2276475" y="1675913"/>
            <a:ext cx="419100" cy="362924"/>
          </a:xfrm>
          <a:prstGeom prst="rect">
            <a:avLst/>
          </a:prstGeom>
        </p:spPr>
      </p:pic>
      <p:pic>
        <p:nvPicPr>
          <p:cNvPr id="86" name="!!tech-logo-fastapi" descr="fastapi technology logo"/>
          <p:cNvPicPr>
            <a:picLocks noChangeAspect="1"/>
          </p:cNvPicPr>
          <p:nvPr/>
        </p:nvPicPr>
        <p:blipFill>
          <a:blip r:embed="rId7"/>
          <a:srcRect l="8333" t="8333" r="8333" b="8654"/>
          <a:stretch>
            <a:fillRect/>
          </a:stretch>
        </p:blipFill>
        <p:spPr>
          <a:xfrm>
            <a:off x="4257675" y="1629654"/>
            <a:ext cx="457200" cy="455442"/>
          </a:xfrm>
          <a:prstGeom prst="rect">
            <a:avLst/>
          </a:prstGeom>
        </p:spPr>
      </p:pic>
      <p:pic>
        <p:nvPicPr>
          <p:cNvPr id="87" name="!!tech-logo-python" descr="python technology logo"/>
          <p:cNvPicPr>
            <a:picLocks noChangeAspect="1"/>
          </p:cNvPicPr>
          <p:nvPr/>
        </p:nvPicPr>
        <p:blipFill>
          <a:blip r:embed="rId8"/>
          <a:srcRect r="67934" b="67998"/>
          <a:stretch>
            <a:fillRect/>
          </a:stretch>
        </p:blipFill>
        <p:spPr>
          <a:xfrm>
            <a:off x="5005345" y="1609725"/>
            <a:ext cx="409660" cy="495300"/>
          </a:xfrm>
          <a:prstGeom prst="rect">
            <a:avLst/>
          </a:prstGeom>
        </p:spPr>
      </p:pic>
      <p:pic>
        <p:nvPicPr>
          <p:cNvPr id="88" name="!!tech-logo-render" descr="render technology logo"/>
          <p:cNvPicPr>
            <a:picLocks noChangeAspect="1"/>
          </p:cNvPicPr>
          <p:nvPr/>
        </p:nvPicPr>
        <p:blipFill>
          <a:blip r:embed="rId9"/>
          <a:srcRect l="25743" t="24242" r="24302" b="25833"/>
          <a:stretch>
            <a:fillRect/>
          </a:stretch>
        </p:blipFill>
        <p:spPr>
          <a:xfrm>
            <a:off x="5705475" y="1628912"/>
            <a:ext cx="457200" cy="456925"/>
          </a:xfrm>
          <a:prstGeom prst="rect">
            <a:avLst/>
          </a:prstGeom>
        </p:spPr>
      </p:pic>
      <p:pic>
        <p:nvPicPr>
          <p:cNvPr id="90" name="!!tech-logo-postgresql" descr="postgresql technology logo"/>
          <p:cNvPicPr>
            <a:picLocks noChangeAspect="1"/>
          </p:cNvPicPr>
          <p:nvPr/>
        </p:nvPicPr>
        <p:blipFill>
          <a:blip r:embed="rId10"/>
          <a:srcRect l="107"/>
          <a:stretch>
            <a:fillRect/>
          </a:stretch>
        </p:blipFill>
        <p:spPr>
          <a:xfrm>
            <a:off x="10662157" y="1468041"/>
            <a:ext cx="697486" cy="719733"/>
          </a:xfrm>
          <a:prstGeom prst="rect">
            <a:avLst/>
          </a:prstGeom>
        </p:spPr>
      </p:pic>
      <p:pic>
        <p:nvPicPr>
          <p:cNvPr id="92" name="!!tech-logo-supabase-db" descr="Official Supabase wordmark for db"/>
          <p:cNvPicPr>
            <a:picLocks noChangeAspect="1"/>
          </p:cNvPicPr>
          <p:nvPr/>
        </p:nvPicPr>
        <p:blipFill>
          <a:blip r:embed="rId11"/>
          <a:srcRect r="83" b="637"/>
          <a:stretch>
            <a:fillRect/>
          </a:stretch>
        </p:blipFill>
        <p:spPr>
          <a:xfrm>
            <a:off x="7974434" y="1613594"/>
            <a:ext cx="2520108" cy="487561"/>
          </a:xfrm>
          <a:prstGeom prst="rect">
            <a:avLst/>
          </a:prstGeom>
        </p:spPr>
      </p:pic>
      <p:pic>
        <p:nvPicPr>
          <p:cNvPr id="93" name="!!tech-logo-supabase-storage" descr="Official Supabase wordmark for storage"/>
          <p:cNvPicPr>
            <a:picLocks noChangeAspect="1"/>
          </p:cNvPicPr>
          <p:nvPr/>
        </p:nvPicPr>
        <p:blipFill>
          <a:blip r:embed="rId11"/>
          <a:srcRect r="83" b="637"/>
          <a:stretch>
            <a:fillRect/>
          </a:stretch>
        </p:blipFill>
        <p:spPr>
          <a:xfrm>
            <a:off x="5286474" y="3539728"/>
            <a:ext cx="2400101" cy="464344"/>
          </a:xfrm>
          <a:prstGeom prst="rect">
            <a:avLst/>
          </a:prstGeom>
        </p:spPr>
      </p:pic>
      <p:pic>
        <p:nvPicPr>
          <p:cNvPr id="91" name="!!tech-logo-google-auth" descr="Google G logo for Google OAuth"/>
          <p:cNvPicPr>
            <a:picLocks noChangeAspect="1"/>
          </p:cNvPicPr>
          <p:nvPr/>
        </p:nvPicPr>
        <p:blipFill>
          <a:blip r:embed="rId12"/>
          <a:srcRect/>
          <a:stretch>
            <a:fillRect/>
          </a:stretch>
        </p:blipFill>
        <p:spPr>
          <a:xfrm>
            <a:off x="1842807" y="3524250"/>
            <a:ext cx="448235" cy="457200"/>
          </a:xfrm>
          <a:prstGeom prst="rect">
            <a:avLst/>
          </a:prstGeom>
        </p:spPr>
      </p:pic>
    </p:spTree>
    <p:extLst>
      <p:ext uri="{BB962C8B-B14F-4D97-AF65-F5344CB8AC3E}">
        <p14:creationId xmlns:p14="http://schemas.microsoft.com/office/powerpoint/2010/main" val="8477864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00">
        <p159:morph option="byObject"/>
      </p:transition>
    </mc:Choice>
    <mc:Fallback xmlns="" xmlns:p14="http://schemas.microsoft.com/office/powerpoint/2010/main">
      <p:transition advClick="1" spd="fast">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F1E8"/>
        </a:solidFill>
        <a:effectLst/>
      </p:bgPr>
    </p:bg>
    <p:spTree>
      <p:nvGrpSpPr>
        <p:cNvPr id="1" name=""/>
        <p:cNvGrpSpPr/>
        <p:nvPr/>
      </p:nvGrpSpPr>
      <p:grpSpPr>
        <a:xfrm>
          <a:off x="0" y="0"/>
          <a:ext cx="0" cy="0"/>
          <a:chOff x="0" y="0"/>
          <a:chExt cx="0" cy="0"/>
        </a:xfrm>
      </p:grpSpPr>
      <p:pic>
        <p:nvPicPr>
          <p:cNvPr id="27" name="!!backdrop"/>
          <p:cNvPicPr>
            <a:picLocks noChangeAspect="1"/>
          </p:cNvPicPr>
          <p:nvPr/>
        </p:nvPicPr>
        <p:blipFill>
          <a:blip r:embed="rId3"/>
          <a:srcRect t="27" b="27"/>
          <a:stretch>
            <a:fillRect/>
          </a:stretch>
        </p:blipFill>
        <p:spPr>
          <a:xfrm>
            <a:off x="0" y="0"/>
            <a:ext cx="12192000" cy="6858000"/>
          </a:xfrm>
          <a:prstGeom prst="rect">
            <a:avLst/>
          </a:prstGeom>
        </p:spPr>
      </p:pic>
      <p:sp>
        <p:nvSpPr>
          <p:cNvPr id="2" name="!!headline">
            <a:extLst>
              <a:ext uri="{FF2B5EF4-FFF2-40B4-BE49-F238E27FC236}">
                <a16:creationId xmlns:a16="http://schemas.microsoft.com/office/drawing/2014/main" id="{E54621B2-4894-4F87-8A65-4701A2A74B1F}"/>
              </a:ext>
            </a:extLst>
          </p:cNvPr>
          <p:cNvSpPr>
            <a:spLocks noGrp="1"/>
          </p:cNvSpPr>
          <p:nvPr/>
        </p:nvSpPr>
        <p:spPr>
          <a:xfrm>
            <a:off x="609600" y="533400"/>
            <a:ext cx="10953750" cy="1104900"/>
          </a:xfrm>
          <a:prstGeom prst="rect">
            <a:avLst/>
          </a:prstGeom>
          <a:noFill/>
          <a:ln w="0">
            <a:noFill/>
          </a:ln>
        </p:spPr>
        <p:txBody>
          <a:bodyPr wrap="square" lIns="0" tIns="0" rIns="0" bIns="0" anchor="t">
            <a:normAutofit/>
          </a:bodyPr>
          <a:lstStyle/>
          <a:p>
            <a:pPr>
              <a:defRPr sz="3450" b="1">
                <a:solidFill>
                  <a:srgbClr val="142F24"/>
                </a:solidFill>
                <a:latin typeface="Segoe UI"/>
                <a:ea typeface="Segoe UI"/>
                <a:cs typeface="Segoe UI"/>
              </a:defRPr>
            </a:pPr>
            <a:r>
              <a:rPr sz="3450" b="1">
                <a:solidFill>
                  <a:srgbClr val="142F24"/>
                </a:solidFill>
                <a:latin typeface="Segoe UI"/>
                <a:ea typeface="Segoe UI"/>
                <a:cs typeface="Segoe UI"/>
              </a:rPr>
              <a:t>Bàn giao trên Solana</a:t>
            </a:r>
          </a:p>
        </p:txBody>
      </p:sp>
      <p:sp>
        <p:nvSpPr>
          <p:cNvPr id="4" name="!!custody-0-selection">
            <a:extLst>
              <a:ext uri="{FF2B5EF4-FFF2-40B4-BE49-F238E27FC236}">
                <a16:creationId xmlns:a16="http://schemas.microsoft.com/office/drawing/2014/main" id="{006F0FA2-56F9-43A1-ADCF-F7963F710867}"/>
              </a:ext>
            </a:extLst>
          </p:cNvPr>
          <p:cNvSpPr>
            <a:spLocks noGrp="1"/>
          </p:cNvSpPr>
          <p:nvPr/>
        </p:nvSpPr>
        <p:spPr>
          <a:xfrm>
            <a:off x="657225" y="2047875"/>
            <a:ext cx="571500" cy="571500"/>
          </a:xfrm>
          <a:prstGeom prst="ellipse">
            <a:avLst/>
          </a:prstGeom>
          <a:solidFill>
            <a:srgbClr val="E5EBDD"/>
          </a:solidFill>
          <a:ln w="9525">
            <a:solidFill>
              <a:srgbClr val="166447"/>
            </a:solidFill>
          </a:ln>
        </p:spPr>
        <p:txBody>
          <a:bodyPr/>
          <a:lstStyle/>
          <a:p>
            <a:endParaRPr lang="en-US"/>
          </a:p>
        </p:txBody>
      </p:sp>
      <p:sp>
        <p:nvSpPr>
          <p:cNvPr id="5" name="!!custody-0-icon-0">
            <a:extLst>
              <a:ext uri="{FF2B5EF4-FFF2-40B4-BE49-F238E27FC236}">
                <a16:creationId xmlns:a16="http://schemas.microsoft.com/office/drawing/2014/main" id="{4D47B876-F4ED-4AA3-AE56-1039B422A770}"/>
              </a:ext>
            </a:extLst>
          </p:cNvPr>
          <p:cNvSpPr>
            <a:spLocks noGrp="1"/>
          </p:cNvSpPr>
          <p:nvPr/>
        </p:nvSpPr>
        <p:spPr>
          <a:xfrm>
            <a:off x="788670" y="2179320"/>
            <a:ext cx="308610" cy="308610"/>
          </a:xfrm>
          <a:custGeom>
            <a:avLst/>
            <a:gdLst/>
            <a:ahLst/>
            <a:cxnLst/>
            <a:rect l="0" t="0" r="0" b="0"/>
            <a:pathLst>
              <a:path w="228600" h="228600">
                <a:moveTo>
                  <a:pt x="38100" y="161925"/>
                </a:moveTo>
                <a:lnTo>
                  <a:pt x="28575" y="209550"/>
                </a:lnTo>
                <a:lnTo>
                  <a:pt x="76200" y="200025"/>
                </a:lnTo>
                <a:lnTo>
                  <a:pt x="200025" y="76200"/>
                </a:lnTo>
                <a:lnTo>
                  <a:pt x="152400" y="28575"/>
                </a:lnTo>
                <a:close/>
              </a:path>
            </a:pathLst>
          </a:custGeom>
          <a:noFill/>
          <a:ln w="19050">
            <a:solidFill>
              <a:srgbClr val="166447"/>
            </a:solidFill>
            <a:prstDash val="solid"/>
          </a:ln>
        </p:spPr>
        <p:txBody>
          <a:bodyPr/>
          <a:lstStyle/>
          <a:p>
            <a:endParaRPr lang="en-US"/>
          </a:p>
        </p:txBody>
      </p:sp>
      <p:sp>
        <p:nvSpPr>
          <p:cNvPr id="6" name="!!custody-0-icon-1">
            <a:extLst>
              <a:ext uri="{FF2B5EF4-FFF2-40B4-BE49-F238E27FC236}">
                <a16:creationId xmlns:a16="http://schemas.microsoft.com/office/drawing/2014/main" id="{46777233-96D4-44E2-B924-4581551F5279}"/>
              </a:ext>
            </a:extLst>
          </p:cNvPr>
          <p:cNvSpPr>
            <a:spLocks noGrp="1"/>
          </p:cNvSpPr>
          <p:nvPr/>
        </p:nvSpPr>
        <p:spPr>
          <a:xfrm>
            <a:off x="788670" y="2179320"/>
            <a:ext cx="308610" cy="308610"/>
          </a:xfrm>
          <a:custGeom>
            <a:avLst/>
            <a:gdLst/>
            <a:ahLst/>
            <a:cxnLst/>
            <a:rect l="0" t="0" r="0" b="0"/>
            <a:pathLst>
              <a:path w="228600" h="228600">
                <a:moveTo>
                  <a:pt x="133350" y="47625"/>
                </a:moveTo>
                <a:lnTo>
                  <a:pt x="180975" y="95250"/>
                </a:lnTo>
              </a:path>
            </a:pathLst>
          </a:custGeom>
          <a:noFill/>
          <a:ln w="19050">
            <a:solidFill>
              <a:srgbClr val="166447"/>
            </a:solidFill>
            <a:prstDash val="solid"/>
          </a:ln>
        </p:spPr>
        <p:txBody>
          <a:bodyPr/>
          <a:lstStyle/>
          <a:p>
            <a:endParaRPr lang="en-US"/>
          </a:p>
        </p:txBody>
      </p:sp>
      <p:sp>
        <p:nvSpPr>
          <p:cNvPr id="7" name="!!custody-0-icon-2">
            <a:extLst>
              <a:ext uri="{FF2B5EF4-FFF2-40B4-BE49-F238E27FC236}">
                <a16:creationId xmlns:a16="http://schemas.microsoft.com/office/drawing/2014/main" id="{6B5979E6-9DBB-4B2F-A5E3-DF1228BBE1B3}"/>
              </a:ext>
            </a:extLst>
          </p:cNvPr>
          <p:cNvSpPr>
            <a:spLocks noGrp="1"/>
          </p:cNvSpPr>
          <p:nvPr/>
        </p:nvSpPr>
        <p:spPr>
          <a:xfrm>
            <a:off x="788670" y="2179320"/>
            <a:ext cx="308610" cy="308610"/>
          </a:xfrm>
          <a:custGeom>
            <a:avLst/>
            <a:gdLst/>
            <a:ahLst/>
            <a:cxnLst/>
            <a:rect l="0" t="0" r="0" b="0"/>
            <a:pathLst>
              <a:path w="228600" h="228600">
                <a:moveTo>
                  <a:pt x="95250" y="209550"/>
                </a:moveTo>
                <a:lnTo>
                  <a:pt x="209550" y="209550"/>
                </a:lnTo>
              </a:path>
            </a:pathLst>
          </a:custGeom>
          <a:noFill/>
          <a:ln w="19050">
            <a:solidFill>
              <a:srgbClr val="166447"/>
            </a:solidFill>
            <a:prstDash val="solid"/>
          </a:ln>
        </p:spPr>
        <p:txBody>
          <a:bodyPr/>
          <a:lstStyle/>
          <a:p>
            <a:endParaRPr lang="en-US"/>
          </a:p>
        </p:txBody>
      </p:sp>
      <p:sp>
        <p:nvSpPr>
          <p:cNvPr id="8" name="!!custody-0-label">
            <a:extLst>
              <a:ext uri="{FF2B5EF4-FFF2-40B4-BE49-F238E27FC236}">
                <a16:creationId xmlns:a16="http://schemas.microsoft.com/office/drawing/2014/main" id="{56B6A162-448F-400C-95C1-0FDB08CC0475}"/>
              </a:ext>
            </a:extLst>
          </p:cNvPr>
          <p:cNvSpPr>
            <a:spLocks noGrp="1"/>
          </p:cNvSpPr>
          <p:nvPr/>
        </p:nvSpPr>
        <p:spPr>
          <a:xfrm>
            <a:off x="1447800" y="2028825"/>
            <a:ext cx="4095750" cy="552450"/>
          </a:xfrm>
          <a:prstGeom prst="rect">
            <a:avLst/>
          </a:prstGeom>
          <a:noFill/>
          <a:ln w="0">
            <a:noFill/>
          </a:ln>
        </p:spPr>
        <p:txBody>
          <a:bodyPr wrap="square" lIns="0" tIns="0" rIns="0" bIns="0" anchor="t">
            <a:normAutofit/>
          </a:bodyPr>
          <a:lstStyle/>
          <a:p>
            <a:pPr>
              <a:defRPr sz="2100" b="1">
                <a:solidFill>
                  <a:srgbClr val="142F24"/>
                </a:solidFill>
                <a:latin typeface="Segoe UI"/>
                <a:ea typeface="Segoe UI"/>
                <a:cs typeface="Segoe UI"/>
              </a:defRPr>
            </a:pPr>
            <a:r>
              <a:rPr sz="2100" b="1">
                <a:solidFill>
                  <a:srgbClr val="142F24"/>
                </a:solidFill>
                <a:latin typeface="Segoe UI"/>
                <a:ea typeface="Segoe UI"/>
                <a:cs typeface="Segoe UI"/>
              </a:rPr>
              <a:t>Người giữ hiện tại</a:t>
            </a:r>
          </a:p>
        </p:txBody>
      </p:sp>
      <p:sp>
        <p:nvSpPr>
          <p:cNvPr id="9" name="!!custody-0-detail">
            <a:extLst>
              <a:ext uri="{FF2B5EF4-FFF2-40B4-BE49-F238E27FC236}">
                <a16:creationId xmlns:a16="http://schemas.microsoft.com/office/drawing/2014/main" id="{3E867154-B1F2-4584-9DA5-BF17872CC1C7}"/>
              </a:ext>
            </a:extLst>
          </p:cNvPr>
          <p:cNvSpPr>
            <a:spLocks noGrp="1"/>
          </p:cNvSpPr>
          <p:nvPr/>
        </p:nvSpPr>
        <p:spPr>
          <a:xfrm>
            <a:off x="1447800" y="2600325"/>
            <a:ext cx="4095750" cy="514350"/>
          </a:xfrm>
          <a:prstGeom prst="rect">
            <a:avLst/>
          </a:prstGeom>
          <a:noFill/>
          <a:ln w="0">
            <a:noFill/>
          </a:ln>
        </p:spPr>
        <p:txBody>
          <a:bodyPr wrap="square" lIns="0" tIns="0" rIns="0" bIns="0" anchor="t">
            <a:normAutofit/>
          </a:bodyPr>
          <a:lstStyle/>
          <a:p>
            <a:pPr>
              <a:defRPr sz="1800" b="0">
                <a:solidFill>
                  <a:srgbClr val="53685B"/>
                </a:solidFill>
                <a:latin typeface="Segoe UI"/>
                <a:ea typeface="Segoe UI"/>
                <a:cs typeface="Segoe UI"/>
              </a:defRPr>
            </a:pPr>
            <a:r>
              <a:rPr sz="1800" b="0">
                <a:solidFill>
                  <a:srgbClr val="53685B"/>
                </a:solidFill>
                <a:latin typeface="Segoe UI"/>
                <a:ea typeface="Segoe UI"/>
                <a:cs typeface="Segoe UI"/>
              </a:rPr>
              <a:t>Ký đề xuất ví nhận tiếp theo</a:t>
            </a:r>
          </a:p>
        </p:txBody>
      </p:sp>
      <p:sp>
        <p:nvSpPr>
          <p:cNvPr id="10" name="!!custody-1-selection">
            <a:extLst>
              <a:ext uri="{FF2B5EF4-FFF2-40B4-BE49-F238E27FC236}">
                <a16:creationId xmlns:a16="http://schemas.microsoft.com/office/drawing/2014/main" id="{B4215335-A601-4301-B915-34605D2CA208}"/>
              </a:ext>
            </a:extLst>
          </p:cNvPr>
          <p:cNvSpPr>
            <a:spLocks noGrp="1"/>
          </p:cNvSpPr>
          <p:nvPr/>
        </p:nvSpPr>
        <p:spPr>
          <a:xfrm>
            <a:off x="657225" y="3190875"/>
            <a:ext cx="571500" cy="571500"/>
          </a:xfrm>
          <a:prstGeom prst="ellipse">
            <a:avLst/>
          </a:prstGeom>
          <a:solidFill>
            <a:srgbClr val="E5EBDD"/>
          </a:solidFill>
          <a:ln w="9525">
            <a:solidFill>
              <a:srgbClr val="166447"/>
            </a:solidFill>
          </a:ln>
        </p:spPr>
        <p:txBody>
          <a:bodyPr/>
          <a:lstStyle/>
          <a:p>
            <a:endParaRPr lang="en-US"/>
          </a:p>
        </p:txBody>
      </p:sp>
      <p:sp>
        <p:nvSpPr>
          <p:cNvPr id="11" name="!!custody-1-icon-0">
            <a:extLst>
              <a:ext uri="{FF2B5EF4-FFF2-40B4-BE49-F238E27FC236}">
                <a16:creationId xmlns:a16="http://schemas.microsoft.com/office/drawing/2014/main" id="{78261A1C-C772-4C4C-BFAB-E9440EA7116F}"/>
              </a:ext>
            </a:extLst>
          </p:cNvPr>
          <p:cNvSpPr>
            <a:spLocks noGrp="1"/>
          </p:cNvSpPr>
          <p:nvPr/>
        </p:nvSpPr>
        <p:spPr>
          <a:xfrm>
            <a:off x="788670" y="3322320"/>
            <a:ext cx="308610" cy="308610"/>
          </a:xfrm>
          <a:custGeom>
            <a:avLst/>
            <a:gdLst/>
            <a:ahLst/>
            <a:cxnLst/>
            <a:rect l="0" t="0" r="0" b="0"/>
            <a:pathLst>
              <a:path w="228600" h="228600">
                <a:moveTo>
                  <a:pt x="38100" y="161925"/>
                </a:moveTo>
                <a:lnTo>
                  <a:pt x="28575" y="209550"/>
                </a:lnTo>
                <a:lnTo>
                  <a:pt x="76200" y="200025"/>
                </a:lnTo>
                <a:lnTo>
                  <a:pt x="200025" y="76200"/>
                </a:lnTo>
                <a:lnTo>
                  <a:pt x="152400" y="28575"/>
                </a:lnTo>
                <a:close/>
              </a:path>
            </a:pathLst>
          </a:custGeom>
          <a:noFill/>
          <a:ln w="19050">
            <a:solidFill>
              <a:srgbClr val="166447"/>
            </a:solidFill>
            <a:prstDash val="solid"/>
          </a:ln>
        </p:spPr>
        <p:txBody>
          <a:bodyPr/>
          <a:lstStyle/>
          <a:p>
            <a:endParaRPr lang="en-US"/>
          </a:p>
        </p:txBody>
      </p:sp>
      <p:sp>
        <p:nvSpPr>
          <p:cNvPr id="12" name="!!custody-1-icon-1">
            <a:extLst>
              <a:ext uri="{FF2B5EF4-FFF2-40B4-BE49-F238E27FC236}">
                <a16:creationId xmlns:a16="http://schemas.microsoft.com/office/drawing/2014/main" id="{AF85FA0C-C87E-4A9D-81B8-C0BD0C60BF5D}"/>
              </a:ext>
            </a:extLst>
          </p:cNvPr>
          <p:cNvSpPr>
            <a:spLocks noGrp="1"/>
          </p:cNvSpPr>
          <p:nvPr/>
        </p:nvSpPr>
        <p:spPr>
          <a:xfrm>
            <a:off x="788670" y="3322320"/>
            <a:ext cx="308610" cy="308610"/>
          </a:xfrm>
          <a:custGeom>
            <a:avLst/>
            <a:gdLst/>
            <a:ahLst/>
            <a:cxnLst/>
            <a:rect l="0" t="0" r="0" b="0"/>
            <a:pathLst>
              <a:path w="228600" h="228600">
                <a:moveTo>
                  <a:pt x="133350" y="47625"/>
                </a:moveTo>
                <a:lnTo>
                  <a:pt x="180975" y="95250"/>
                </a:lnTo>
              </a:path>
            </a:pathLst>
          </a:custGeom>
          <a:noFill/>
          <a:ln w="19050">
            <a:solidFill>
              <a:srgbClr val="166447"/>
            </a:solidFill>
            <a:prstDash val="solid"/>
          </a:ln>
        </p:spPr>
        <p:txBody>
          <a:bodyPr/>
          <a:lstStyle/>
          <a:p>
            <a:endParaRPr lang="en-US"/>
          </a:p>
        </p:txBody>
      </p:sp>
      <p:sp>
        <p:nvSpPr>
          <p:cNvPr id="13" name="!!custody-1-icon-2">
            <a:extLst>
              <a:ext uri="{FF2B5EF4-FFF2-40B4-BE49-F238E27FC236}">
                <a16:creationId xmlns:a16="http://schemas.microsoft.com/office/drawing/2014/main" id="{CC83A4E3-066F-46F6-AD60-DCA42988CE1E}"/>
              </a:ext>
            </a:extLst>
          </p:cNvPr>
          <p:cNvSpPr>
            <a:spLocks noGrp="1"/>
          </p:cNvSpPr>
          <p:nvPr/>
        </p:nvSpPr>
        <p:spPr>
          <a:xfrm>
            <a:off x="788670" y="3322320"/>
            <a:ext cx="308610" cy="308610"/>
          </a:xfrm>
          <a:custGeom>
            <a:avLst/>
            <a:gdLst/>
            <a:ahLst/>
            <a:cxnLst/>
            <a:rect l="0" t="0" r="0" b="0"/>
            <a:pathLst>
              <a:path w="228600" h="228600">
                <a:moveTo>
                  <a:pt x="95250" y="209550"/>
                </a:moveTo>
                <a:lnTo>
                  <a:pt x="209550" y="209550"/>
                </a:lnTo>
              </a:path>
            </a:pathLst>
          </a:custGeom>
          <a:noFill/>
          <a:ln w="19050">
            <a:solidFill>
              <a:srgbClr val="166447"/>
            </a:solidFill>
            <a:prstDash val="solid"/>
          </a:ln>
        </p:spPr>
        <p:txBody>
          <a:bodyPr/>
          <a:lstStyle/>
          <a:p>
            <a:endParaRPr lang="en-US"/>
          </a:p>
        </p:txBody>
      </p:sp>
      <p:cxnSp>
        <p:nvCxnSpPr>
          <p:cNvPr id="40" name="!!connector-12-0"/>
          <p:cNvCxnSpPr>
            <a:stCxn id="4" idx="4"/>
            <a:endCxn id="10" idx="0"/>
          </p:cNvCxnSpPr>
          <p:nvPr/>
        </p:nvCxnSpPr>
        <p:spPr>
          <a:xfrm>
            <a:off x="942975" y="2619375"/>
            <a:ext cx="0" cy="571500"/>
          </a:xfrm>
          <a:prstGeom prst="straightConnector1">
            <a:avLst/>
          </a:prstGeom>
          <a:ln w="19050">
            <a:solidFill>
              <a:srgbClr val="166447"/>
            </a:solidFill>
            <a:prstDash val="solid"/>
            <a:tailEnd type="arrow" w="med" len="med"/>
          </a:ln>
        </p:spPr>
      </p:cxnSp>
      <p:sp>
        <p:nvSpPr>
          <p:cNvPr id="15" name="!!custody-1-label">
            <a:extLst>
              <a:ext uri="{FF2B5EF4-FFF2-40B4-BE49-F238E27FC236}">
                <a16:creationId xmlns:a16="http://schemas.microsoft.com/office/drawing/2014/main" id="{F393BCD2-C40B-46A3-B99F-7265222616A5}"/>
              </a:ext>
            </a:extLst>
          </p:cNvPr>
          <p:cNvSpPr>
            <a:spLocks noGrp="1"/>
          </p:cNvSpPr>
          <p:nvPr/>
        </p:nvSpPr>
        <p:spPr>
          <a:xfrm>
            <a:off x="1447800" y="3171825"/>
            <a:ext cx="4095750" cy="552450"/>
          </a:xfrm>
          <a:prstGeom prst="rect">
            <a:avLst/>
          </a:prstGeom>
          <a:noFill/>
          <a:ln w="0">
            <a:noFill/>
          </a:ln>
        </p:spPr>
        <p:txBody>
          <a:bodyPr wrap="square" lIns="0" tIns="0" rIns="0" bIns="0" anchor="t">
            <a:normAutofit/>
          </a:bodyPr>
          <a:lstStyle/>
          <a:p>
            <a:pPr>
              <a:defRPr sz="2100" b="1">
                <a:solidFill>
                  <a:srgbClr val="142F24"/>
                </a:solidFill>
                <a:latin typeface="Segoe UI"/>
                <a:ea typeface="Segoe UI"/>
                <a:cs typeface="Segoe UI"/>
              </a:defRPr>
            </a:pPr>
            <a:r>
              <a:rPr sz="2100" b="1">
                <a:solidFill>
                  <a:srgbClr val="142F24"/>
                </a:solidFill>
                <a:latin typeface="Segoe UI"/>
                <a:ea typeface="Segoe UI"/>
                <a:cs typeface="Segoe UI"/>
              </a:rPr>
              <a:t>Người nhận</a:t>
            </a:r>
          </a:p>
        </p:txBody>
      </p:sp>
      <p:sp>
        <p:nvSpPr>
          <p:cNvPr id="16" name="!!custody-1-detail">
            <a:extLst>
              <a:ext uri="{FF2B5EF4-FFF2-40B4-BE49-F238E27FC236}">
                <a16:creationId xmlns:a16="http://schemas.microsoft.com/office/drawing/2014/main" id="{1B93A061-C630-46C5-AD5A-791A14144454}"/>
              </a:ext>
            </a:extLst>
          </p:cNvPr>
          <p:cNvSpPr>
            <a:spLocks noGrp="1"/>
          </p:cNvSpPr>
          <p:nvPr/>
        </p:nvSpPr>
        <p:spPr>
          <a:xfrm>
            <a:off x="1447800" y="3743325"/>
            <a:ext cx="4095750" cy="514350"/>
          </a:xfrm>
          <a:prstGeom prst="rect">
            <a:avLst/>
          </a:prstGeom>
          <a:noFill/>
          <a:ln w="0">
            <a:noFill/>
          </a:ln>
        </p:spPr>
        <p:txBody>
          <a:bodyPr wrap="square" lIns="0" tIns="0" rIns="0" bIns="0" anchor="t">
            <a:normAutofit/>
          </a:bodyPr>
          <a:lstStyle/>
          <a:p>
            <a:pPr>
              <a:defRPr sz="1800" b="0">
                <a:solidFill>
                  <a:srgbClr val="53685B"/>
                </a:solidFill>
                <a:latin typeface="Segoe UI"/>
                <a:ea typeface="Segoe UI"/>
                <a:cs typeface="Segoe UI"/>
              </a:defRPr>
            </a:pPr>
            <a:r>
              <a:rPr sz="1800" b="0">
                <a:solidFill>
                  <a:srgbClr val="53685B"/>
                </a:solidFill>
                <a:latin typeface="Segoe UI"/>
                <a:ea typeface="Segoe UI"/>
                <a:cs typeface="Segoe UI"/>
              </a:rPr>
              <a:t>Ký chấp nhận bàn giao</a:t>
            </a:r>
          </a:p>
        </p:txBody>
      </p:sp>
      <p:sp>
        <p:nvSpPr>
          <p:cNvPr id="17" name="!!custody-2-selection">
            <a:extLst>
              <a:ext uri="{FF2B5EF4-FFF2-40B4-BE49-F238E27FC236}">
                <a16:creationId xmlns:a16="http://schemas.microsoft.com/office/drawing/2014/main" id="{BB079700-BCE0-48A5-9C65-B4D79722D56C}"/>
              </a:ext>
            </a:extLst>
          </p:cNvPr>
          <p:cNvSpPr>
            <a:spLocks noGrp="1"/>
          </p:cNvSpPr>
          <p:nvPr/>
        </p:nvSpPr>
        <p:spPr>
          <a:xfrm>
            <a:off x="581025" y="4257675"/>
            <a:ext cx="723900" cy="723900"/>
          </a:xfrm>
          <a:prstGeom prst="ellipse">
            <a:avLst/>
          </a:prstGeom>
          <a:solidFill>
            <a:srgbClr val="166447"/>
          </a:solidFill>
          <a:ln w="28575">
            <a:solidFill>
              <a:srgbClr val="C8A45B"/>
            </a:solidFill>
          </a:ln>
        </p:spPr>
        <p:txBody>
          <a:bodyPr/>
          <a:lstStyle/>
          <a:p>
            <a:endParaRPr lang="en-US"/>
          </a:p>
        </p:txBody>
      </p:sp>
      <p:sp>
        <p:nvSpPr>
          <p:cNvPr id="18" name="!!custody-2-icon-0">
            <a:extLst>
              <a:ext uri="{FF2B5EF4-FFF2-40B4-BE49-F238E27FC236}">
                <a16:creationId xmlns:a16="http://schemas.microsoft.com/office/drawing/2014/main" id="{F748C772-C275-4FA5-BBD5-44B8A5A6899D}"/>
              </a:ext>
            </a:extLst>
          </p:cNvPr>
          <p:cNvSpPr>
            <a:spLocks noGrp="1"/>
          </p:cNvSpPr>
          <p:nvPr/>
        </p:nvSpPr>
        <p:spPr>
          <a:xfrm>
            <a:off x="747522" y="4424172"/>
            <a:ext cx="390906" cy="390906"/>
          </a:xfrm>
          <a:custGeom>
            <a:avLst/>
            <a:gdLst/>
            <a:ahLst/>
            <a:cxnLst/>
            <a:rect l="0" t="0" r="0" b="0"/>
            <a:pathLst>
              <a:path w="228600" h="228600">
                <a:moveTo>
                  <a:pt x="28575" y="66675"/>
                </a:moveTo>
                <a:lnTo>
                  <a:pt x="114300" y="19050"/>
                </a:lnTo>
                <a:lnTo>
                  <a:pt x="200025" y="66675"/>
                </a:lnTo>
                <a:lnTo>
                  <a:pt x="200025" y="161925"/>
                </a:lnTo>
                <a:lnTo>
                  <a:pt x="114300" y="209550"/>
                </a:lnTo>
                <a:lnTo>
                  <a:pt x="28575" y="161925"/>
                </a:lnTo>
                <a:close/>
              </a:path>
            </a:pathLst>
          </a:custGeom>
          <a:noFill/>
          <a:ln w="19050">
            <a:solidFill>
              <a:srgbClr val="FFFFFF"/>
            </a:solidFill>
            <a:prstDash val="solid"/>
          </a:ln>
        </p:spPr>
        <p:txBody>
          <a:bodyPr/>
          <a:lstStyle/>
          <a:p>
            <a:endParaRPr lang="en-US"/>
          </a:p>
        </p:txBody>
      </p:sp>
      <p:sp>
        <p:nvSpPr>
          <p:cNvPr id="19" name="!!custody-2-icon-1">
            <a:extLst>
              <a:ext uri="{FF2B5EF4-FFF2-40B4-BE49-F238E27FC236}">
                <a16:creationId xmlns:a16="http://schemas.microsoft.com/office/drawing/2014/main" id="{4AD3AF33-FEF7-4DB0-96A7-5EB815F9C509}"/>
              </a:ext>
            </a:extLst>
          </p:cNvPr>
          <p:cNvSpPr>
            <a:spLocks noGrp="1"/>
          </p:cNvSpPr>
          <p:nvPr/>
        </p:nvSpPr>
        <p:spPr>
          <a:xfrm>
            <a:off x="747522" y="4424172"/>
            <a:ext cx="390906" cy="390906"/>
          </a:xfrm>
          <a:custGeom>
            <a:avLst/>
            <a:gdLst/>
            <a:ahLst/>
            <a:cxnLst/>
            <a:rect l="0" t="0" r="0" b="0"/>
            <a:pathLst>
              <a:path w="228600" h="228600">
                <a:moveTo>
                  <a:pt x="28575" y="66675"/>
                </a:moveTo>
                <a:lnTo>
                  <a:pt x="114300" y="114300"/>
                </a:lnTo>
                <a:lnTo>
                  <a:pt x="200025" y="66675"/>
                </a:lnTo>
              </a:path>
            </a:pathLst>
          </a:custGeom>
          <a:noFill/>
          <a:ln w="19050">
            <a:solidFill>
              <a:srgbClr val="FFFFFF"/>
            </a:solidFill>
            <a:prstDash val="solid"/>
          </a:ln>
        </p:spPr>
        <p:txBody>
          <a:bodyPr/>
          <a:lstStyle/>
          <a:p>
            <a:endParaRPr lang="en-US"/>
          </a:p>
        </p:txBody>
      </p:sp>
      <p:sp>
        <p:nvSpPr>
          <p:cNvPr id="20" name="!!custody-2-icon-2">
            <a:extLst>
              <a:ext uri="{FF2B5EF4-FFF2-40B4-BE49-F238E27FC236}">
                <a16:creationId xmlns:a16="http://schemas.microsoft.com/office/drawing/2014/main" id="{774A27F5-84C4-447B-80A1-E4279CCCF50E}"/>
              </a:ext>
            </a:extLst>
          </p:cNvPr>
          <p:cNvSpPr>
            <a:spLocks noGrp="1"/>
          </p:cNvSpPr>
          <p:nvPr/>
        </p:nvSpPr>
        <p:spPr>
          <a:xfrm>
            <a:off x="747522" y="4424172"/>
            <a:ext cx="390906" cy="390906"/>
          </a:xfrm>
          <a:custGeom>
            <a:avLst/>
            <a:gdLst/>
            <a:ahLst/>
            <a:cxnLst/>
            <a:rect l="0" t="0" r="0" b="0"/>
            <a:pathLst>
              <a:path w="228600" h="228600">
                <a:moveTo>
                  <a:pt x="114300" y="114300"/>
                </a:moveTo>
                <a:lnTo>
                  <a:pt x="114300" y="209550"/>
                </a:lnTo>
              </a:path>
            </a:pathLst>
          </a:custGeom>
          <a:noFill/>
          <a:ln w="19050">
            <a:solidFill>
              <a:srgbClr val="FFFFFF"/>
            </a:solidFill>
            <a:prstDash val="solid"/>
          </a:ln>
        </p:spPr>
        <p:txBody>
          <a:bodyPr/>
          <a:lstStyle/>
          <a:p>
            <a:endParaRPr lang="en-US"/>
          </a:p>
        </p:txBody>
      </p:sp>
      <p:cxnSp>
        <p:nvCxnSpPr>
          <p:cNvPr id="47" name="!!connector-12-1"/>
          <p:cNvCxnSpPr>
            <a:stCxn id="10" idx="4"/>
            <a:endCxn id="17" idx="0"/>
          </p:cNvCxnSpPr>
          <p:nvPr/>
        </p:nvCxnSpPr>
        <p:spPr>
          <a:xfrm>
            <a:off x="942975" y="3762375"/>
            <a:ext cx="0" cy="495300"/>
          </a:xfrm>
          <a:prstGeom prst="straightConnector1">
            <a:avLst/>
          </a:prstGeom>
          <a:ln w="19050">
            <a:solidFill>
              <a:srgbClr val="166447"/>
            </a:solidFill>
            <a:prstDash val="solid"/>
            <a:tailEnd type="arrow" w="med" len="med"/>
          </a:ln>
        </p:spPr>
      </p:cxnSp>
      <p:sp>
        <p:nvSpPr>
          <p:cNvPr id="22" name="!!custody-2-label">
            <a:extLst>
              <a:ext uri="{FF2B5EF4-FFF2-40B4-BE49-F238E27FC236}">
                <a16:creationId xmlns:a16="http://schemas.microsoft.com/office/drawing/2014/main" id="{12F8FF10-2972-4A69-9C53-BC2E1767D3E8}"/>
              </a:ext>
            </a:extLst>
          </p:cNvPr>
          <p:cNvSpPr>
            <a:spLocks noGrp="1"/>
          </p:cNvSpPr>
          <p:nvPr/>
        </p:nvSpPr>
        <p:spPr>
          <a:xfrm>
            <a:off x="1447800" y="4314825"/>
            <a:ext cx="4095750" cy="552450"/>
          </a:xfrm>
          <a:prstGeom prst="rect">
            <a:avLst/>
          </a:prstGeom>
          <a:noFill/>
          <a:ln w="0">
            <a:noFill/>
          </a:ln>
        </p:spPr>
        <p:txBody>
          <a:bodyPr wrap="square" lIns="0" tIns="0" rIns="0" bIns="0" anchor="t">
            <a:normAutofit/>
          </a:bodyPr>
          <a:lstStyle/>
          <a:p>
            <a:pPr>
              <a:defRPr sz="2400" b="1">
                <a:solidFill>
                  <a:srgbClr val="142F24"/>
                </a:solidFill>
                <a:latin typeface="Segoe UI"/>
                <a:ea typeface="Segoe UI"/>
                <a:cs typeface="Segoe UI"/>
              </a:defRPr>
            </a:pPr>
            <a:r>
              <a:rPr sz="2400" b="1">
                <a:solidFill>
                  <a:srgbClr val="142F24"/>
                </a:solidFill>
                <a:latin typeface="Segoe UI"/>
                <a:ea typeface="Segoe UI"/>
                <a:cs typeface="Segoe UI"/>
              </a:rPr>
              <a:t>Custody đổi trạng thái</a:t>
            </a:r>
          </a:p>
        </p:txBody>
      </p:sp>
      <p:sp>
        <p:nvSpPr>
          <p:cNvPr id="23" name="!!custody-2-detail">
            <a:extLst>
              <a:ext uri="{FF2B5EF4-FFF2-40B4-BE49-F238E27FC236}">
                <a16:creationId xmlns:a16="http://schemas.microsoft.com/office/drawing/2014/main" id="{134A8239-6CF5-4C07-B2B2-33C145D92028}"/>
              </a:ext>
            </a:extLst>
          </p:cNvPr>
          <p:cNvSpPr>
            <a:spLocks noGrp="1"/>
          </p:cNvSpPr>
          <p:nvPr/>
        </p:nvSpPr>
        <p:spPr>
          <a:xfrm>
            <a:off x="1447800" y="4886325"/>
            <a:ext cx="4095750" cy="514350"/>
          </a:xfrm>
          <a:prstGeom prst="rect">
            <a:avLst/>
          </a:prstGeom>
          <a:noFill/>
          <a:ln w="0">
            <a:noFill/>
          </a:ln>
        </p:spPr>
        <p:txBody>
          <a:bodyPr wrap="square" lIns="0" tIns="0" rIns="0" bIns="0" anchor="t">
            <a:normAutofit/>
          </a:bodyPr>
          <a:lstStyle/>
          <a:p>
            <a:pPr>
              <a:defRPr sz="1800" b="0">
                <a:solidFill>
                  <a:srgbClr val="53685B"/>
                </a:solidFill>
                <a:latin typeface="Segoe UI"/>
                <a:ea typeface="Segoe UI"/>
                <a:cs typeface="Segoe UI"/>
              </a:defRPr>
            </a:pPr>
            <a:r>
              <a:rPr sz="1800" b="0">
                <a:solidFill>
                  <a:srgbClr val="53685B"/>
                </a:solidFill>
                <a:latin typeface="Segoe UI"/>
                <a:ea typeface="Segoe UI"/>
                <a:cs typeface="Segoe UI"/>
              </a:rPr>
              <a:t>Chỉ sau chữ ký chấp nhận</a:t>
            </a:r>
          </a:p>
        </p:txBody>
      </p:sp>
      <p:sp>
        <p:nvSpPr>
          <p:cNvPr id="24" name="!!custody-boundary">
            <a:extLst>
              <a:ext uri="{FF2B5EF4-FFF2-40B4-BE49-F238E27FC236}">
                <a16:creationId xmlns:a16="http://schemas.microsoft.com/office/drawing/2014/main" id="{44DE6038-108E-461E-89F2-709B6BE4642A}"/>
              </a:ext>
            </a:extLst>
          </p:cNvPr>
          <p:cNvSpPr>
            <a:spLocks noGrp="1"/>
          </p:cNvSpPr>
          <p:nvPr/>
        </p:nvSpPr>
        <p:spPr>
          <a:xfrm>
            <a:off x="609600" y="5581650"/>
            <a:ext cx="5619750" cy="723900"/>
          </a:xfrm>
          <a:prstGeom prst="rect">
            <a:avLst/>
          </a:prstGeom>
          <a:noFill/>
          <a:ln w="0">
            <a:noFill/>
          </a:ln>
        </p:spPr>
        <p:txBody>
          <a:bodyPr wrap="square" lIns="0" tIns="0" rIns="0" bIns="0" anchor="t">
            <a:normAutofit/>
          </a:bodyPr>
          <a:lstStyle/>
          <a:p>
            <a:pPr>
              <a:defRPr sz="2025" b="1">
                <a:solidFill>
                  <a:srgbClr val="825525"/>
                </a:solidFill>
                <a:latin typeface="Segoe UI"/>
                <a:ea typeface="Segoe UI"/>
                <a:cs typeface="Segoe UI"/>
              </a:defRPr>
            </a:pPr>
            <a:r>
              <a:rPr sz="2025" b="1">
                <a:solidFill>
                  <a:srgbClr val="825525"/>
                </a:solidFill>
                <a:latin typeface="Segoe UI"/>
                <a:ea typeface="Segoe UI"/>
                <a:cs typeface="Segoe UI"/>
              </a:rPr>
              <a:t>Trạng thái số cần bằng chứng</a:t>
            </a:r>
          </a:p>
          <a:p>
            <a:pPr>
              <a:defRPr sz="2025" b="1">
                <a:solidFill>
                  <a:srgbClr val="825525"/>
                </a:solidFill>
                <a:latin typeface="Segoe UI"/>
                <a:ea typeface="Segoe UI"/>
                <a:cs typeface="Segoe UI"/>
              </a:defRPr>
            </a:pPr>
            <a:r>
              <a:rPr sz="2025" b="1">
                <a:solidFill>
                  <a:srgbClr val="825525"/>
                </a:solidFill>
                <a:latin typeface="Segoe UI"/>
                <a:ea typeface="Segoe UI"/>
                <a:cs typeface="Segoe UI"/>
              </a:rPr>
              <a:t>về giao hàng ngoài đời</a:t>
            </a:r>
          </a:p>
        </p:txBody>
      </p:sp>
      <p:sp>
        <p:nvSpPr>
          <p:cNvPr id="25" name="!!page">
            <a:extLst>
              <a:ext uri="{FF2B5EF4-FFF2-40B4-BE49-F238E27FC236}">
                <a16:creationId xmlns:a16="http://schemas.microsoft.com/office/drawing/2014/main" id="{47F99256-C6CB-489B-9756-A39B2ADF5D65}"/>
              </a:ext>
            </a:extLst>
          </p:cNvPr>
          <p:cNvSpPr>
            <a:spLocks noGrp="1"/>
          </p:cNvSpPr>
          <p:nvPr/>
        </p:nvSpPr>
        <p:spPr>
          <a:xfrm>
            <a:off x="10706100" y="6381750"/>
            <a:ext cx="876300" cy="228600"/>
          </a:xfrm>
          <a:prstGeom prst="rect">
            <a:avLst/>
          </a:prstGeom>
          <a:noFill/>
          <a:ln w="0">
            <a:noFill/>
          </a:ln>
        </p:spPr>
        <p:txBody>
          <a:bodyPr wrap="square" lIns="0" tIns="0" rIns="0" bIns="0" anchor="t">
            <a:normAutofit/>
          </a:bodyPr>
          <a:lstStyle/>
          <a:p>
            <a:pPr>
              <a:defRPr sz="1275" b="0">
                <a:solidFill>
                  <a:srgbClr val="53685B"/>
                </a:solidFill>
                <a:latin typeface="Segoe UI"/>
                <a:ea typeface="Segoe UI"/>
                <a:cs typeface="Segoe UI"/>
              </a:defRPr>
            </a:pPr>
            <a:r>
              <a:rPr sz="1275" b="0">
                <a:solidFill>
                  <a:srgbClr val="53685B"/>
                </a:solidFill>
                <a:latin typeface="Segoe UI"/>
                <a:ea typeface="Segoe UI"/>
                <a:cs typeface="Segoe UI"/>
              </a:rPr>
              <a:t>12 / 19</a:t>
            </a:r>
          </a:p>
        </p:txBody>
      </p:sp>
      <p:sp>
        <p:nvSpPr>
          <p:cNvPr id="26" name="!!caption">
            <a:extLst>
              <a:ext uri="{FF2B5EF4-FFF2-40B4-BE49-F238E27FC236}">
                <a16:creationId xmlns:a16="http://schemas.microsoft.com/office/drawing/2014/main" id="{587A06B3-5A8F-4095-B069-D2E0910C9C62}"/>
              </a:ext>
            </a:extLst>
          </p:cNvPr>
          <p:cNvSpPr>
            <a:spLocks noGrp="1"/>
          </p:cNvSpPr>
          <p:nvPr/>
        </p:nvSpPr>
        <p:spPr>
          <a:xfrm>
            <a:off x="609600" y="6381750"/>
            <a:ext cx="9525000" cy="228600"/>
          </a:xfrm>
          <a:prstGeom prst="rect">
            <a:avLst/>
          </a:prstGeom>
          <a:noFill/>
          <a:ln w="0">
            <a:noFill/>
          </a:ln>
        </p:spPr>
        <p:txBody>
          <a:bodyPr wrap="square" lIns="0" tIns="0" rIns="0" bIns="0" anchor="t">
            <a:normAutofit/>
          </a:bodyPr>
          <a:lstStyle/>
          <a:p>
            <a:pPr>
              <a:defRPr sz="1275" b="0">
                <a:solidFill>
                  <a:srgbClr val="53685B"/>
                </a:solidFill>
                <a:latin typeface="Segoe UI"/>
                <a:ea typeface="Segoe UI"/>
                <a:cs typeface="Segoe UI"/>
              </a:defRPr>
            </a:pPr>
            <a:r>
              <a:rPr sz="1275" b="0">
                <a:solidFill>
                  <a:srgbClr val="53685B"/>
                </a:solidFill>
                <a:latin typeface="Segoe UI"/>
                <a:ea typeface="Segoe UI"/>
                <a:cs typeface="Segoe UI"/>
              </a:rPr>
              <a:t>Tính năng thử nghiệm độc lập trên Devnet. Hình nền tạo bằng AI</a:t>
            </a:r>
          </a:p>
        </p:txBody>
      </p:sp>
      <p:pic>
        <p:nvPicPr>
          <p:cNvPr id="48" name="!!tech-logo-rust" descr="rust technology logo"/>
          <p:cNvPicPr>
            <a:picLocks noChangeAspect="1"/>
          </p:cNvPicPr>
          <p:nvPr/>
        </p:nvPicPr>
        <p:blipFill>
          <a:blip r:embed="rId4"/>
          <a:srcRect/>
          <a:stretch>
            <a:fillRect/>
          </a:stretch>
        </p:blipFill>
        <p:spPr>
          <a:xfrm>
            <a:off x="609600" y="1495425"/>
            <a:ext cx="304800" cy="304800"/>
          </a:xfrm>
          <a:prstGeom prst="rect">
            <a:avLst/>
          </a:prstGeom>
        </p:spPr>
      </p:pic>
      <p:sp>
        <p:nvSpPr>
          <p:cNvPr id="49" name="!!tech-label-rust">
            <a:extLst>
              <a:ext uri="{FF2B5EF4-FFF2-40B4-BE49-F238E27FC236}">
                <a16:creationId xmlns:a16="http://schemas.microsoft.com/office/drawing/2014/main" id="{C0B316C9-FB1F-47D6-89DD-A327E9D0299F}"/>
              </a:ext>
            </a:extLst>
          </p:cNvPr>
          <p:cNvSpPr>
            <a:spLocks noGrp="1"/>
          </p:cNvSpPr>
          <p:nvPr/>
        </p:nvSpPr>
        <p:spPr>
          <a:xfrm>
            <a:off x="1019175" y="1504950"/>
            <a:ext cx="571500" cy="352425"/>
          </a:xfrm>
          <a:prstGeom prst="rect">
            <a:avLst/>
          </a:prstGeom>
          <a:noFill/>
          <a:ln w="0">
            <a:noFill/>
          </a:ln>
        </p:spPr>
        <p:txBody>
          <a:bodyPr>
            <a:noAutofit/>
          </a:bodyPr>
          <a:lstStyle/>
          <a:p>
            <a:pPr>
              <a:defRPr sz="1575" b="1">
                <a:solidFill>
                  <a:srgbClr val="176F52"/>
                </a:solidFill>
                <a:latin typeface="Aptos"/>
                <a:ea typeface="Aptos"/>
                <a:cs typeface="Aptos"/>
              </a:defRPr>
            </a:pPr>
            <a:r>
              <a:rPr sz="1575" b="1">
                <a:solidFill>
                  <a:srgbClr val="176F52"/>
                </a:solidFill>
                <a:latin typeface="Aptos"/>
                <a:ea typeface="Aptos"/>
                <a:cs typeface="Aptos"/>
              </a:rPr>
              <a:t>Rust</a:t>
            </a:r>
          </a:p>
        </p:txBody>
      </p:sp>
      <p:pic>
        <p:nvPicPr>
          <p:cNvPr id="50" name="!!tech-logo-anchor" descr="anchor technology logo"/>
          <p:cNvPicPr>
            <a:picLocks noChangeAspect="1"/>
          </p:cNvPicPr>
          <p:nvPr/>
        </p:nvPicPr>
        <p:blipFill>
          <a:blip r:embed="rId5"/>
          <a:srcRect/>
          <a:stretch>
            <a:fillRect/>
          </a:stretch>
        </p:blipFill>
        <p:spPr>
          <a:xfrm>
            <a:off x="1638300" y="1495425"/>
            <a:ext cx="304800" cy="304800"/>
          </a:xfrm>
          <a:prstGeom prst="rect">
            <a:avLst/>
          </a:prstGeom>
        </p:spPr>
      </p:pic>
      <p:sp>
        <p:nvSpPr>
          <p:cNvPr id="51" name="!!tech-label-anchor">
            <a:extLst>
              <a:ext uri="{FF2B5EF4-FFF2-40B4-BE49-F238E27FC236}">
                <a16:creationId xmlns:a16="http://schemas.microsoft.com/office/drawing/2014/main" id="{82178C72-A994-4D6C-A18E-7CA5B5309412}"/>
              </a:ext>
            </a:extLst>
          </p:cNvPr>
          <p:cNvSpPr>
            <a:spLocks noGrp="1"/>
          </p:cNvSpPr>
          <p:nvPr/>
        </p:nvSpPr>
        <p:spPr>
          <a:xfrm>
            <a:off x="2047875" y="1504950"/>
            <a:ext cx="1362075" cy="352425"/>
          </a:xfrm>
          <a:prstGeom prst="rect">
            <a:avLst/>
          </a:prstGeom>
          <a:noFill/>
          <a:ln w="0">
            <a:noFill/>
          </a:ln>
        </p:spPr>
        <p:txBody>
          <a:bodyPr>
            <a:noAutofit/>
          </a:bodyPr>
          <a:lstStyle/>
          <a:p>
            <a:pPr>
              <a:defRPr sz="1575" b="1">
                <a:solidFill>
                  <a:srgbClr val="176F52"/>
                </a:solidFill>
                <a:latin typeface="Aptos"/>
                <a:ea typeface="Aptos"/>
                <a:cs typeface="Aptos"/>
              </a:defRPr>
            </a:pPr>
            <a:r>
              <a:rPr sz="1575" b="1">
                <a:solidFill>
                  <a:srgbClr val="176F52"/>
                </a:solidFill>
                <a:latin typeface="Aptos"/>
                <a:ea typeface="Aptos"/>
                <a:cs typeface="Aptos"/>
              </a:rPr>
              <a:t>Anchor 0.31</a:t>
            </a:r>
          </a:p>
        </p:txBody>
      </p:sp>
      <p:pic>
        <p:nvPicPr>
          <p:cNvPr id="52" name="!!tech-logo-solana" descr="solana technology logo"/>
          <p:cNvPicPr>
            <a:picLocks noChangeAspect="1"/>
          </p:cNvPicPr>
          <p:nvPr/>
        </p:nvPicPr>
        <p:blipFill>
          <a:blip r:embed="rId6"/>
          <a:srcRect/>
          <a:stretch>
            <a:fillRect/>
          </a:stretch>
        </p:blipFill>
        <p:spPr>
          <a:xfrm>
            <a:off x="3486150" y="1514973"/>
            <a:ext cx="304800" cy="265705"/>
          </a:xfrm>
          <a:prstGeom prst="rect">
            <a:avLst/>
          </a:prstGeom>
        </p:spPr>
      </p:pic>
      <p:sp>
        <p:nvSpPr>
          <p:cNvPr id="53" name="!!tech-label-solana">
            <a:extLst>
              <a:ext uri="{FF2B5EF4-FFF2-40B4-BE49-F238E27FC236}">
                <a16:creationId xmlns:a16="http://schemas.microsoft.com/office/drawing/2014/main" id="{06A2388B-CCED-42E4-BF8A-BA8B5E2D6D3F}"/>
              </a:ext>
            </a:extLst>
          </p:cNvPr>
          <p:cNvSpPr>
            <a:spLocks noGrp="1"/>
          </p:cNvSpPr>
          <p:nvPr/>
        </p:nvSpPr>
        <p:spPr>
          <a:xfrm>
            <a:off x="3895725" y="1504950"/>
            <a:ext cx="1866900" cy="352425"/>
          </a:xfrm>
          <a:prstGeom prst="rect">
            <a:avLst/>
          </a:prstGeom>
          <a:noFill/>
          <a:ln w="0">
            <a:noFill/>
          </a:ln>
        </p:spPr>
        <p:txBody>
          <a:bodyPr>
            <a:noAutofit/>
          </a:bodyPr>
          <a:lstStyle/>
          <a:p>
            <a:pPr>
              <a:defRPr sz="1575" b="1">
                <a:solidFill>
                  <a:srgbClr val="176F52"/>
                </a:solidFill>
                <a:latin typeface="Aptos"/>
                <a:ea typeface="Aptos"/>
                <a:cs typeface="Aptos"/>
              </a:defRPr>
            </a:pPr>
            <a:r>
              <a:rPr sz="1575" b="1">
                <a:solidFill>
                  <a:srgbClr val="176F52"/>
                </a:solidFill>
                <a:latin typeface="Aptos"/>
                <a:ea typeface="Aptos"/>
                <a:cs typeface="Aptos"/>
              </a:rPr>
              <a:t>Solana Devnet</a:t>
            </a:r>
          </a:p>
        </p:txBody>
      </p:sp>
    </p:spTree>
    <p:extLst>
      <p:ext uri="{BB962C8B-B14F-4D97-AF65-F5344CB8AC3E}">
        <p14:creationId xmlns:p14="http://schemas.microsoft.com/office/powerpoint/2010/main" val="16064383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00">
        <p159:morph option="byObject"/>
      </p:transition>
    </mc:Choice>
    <mc:Fallback xmlns="" xmlns:p14="http://schemas.microsoft.com/office/powerpoint/2010/main">
      <p:transition advClick="1" spd="fast">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02C21"/>
        </a:solidFill>
        <a:effectLst/>
      </p:bgPr>
    </p:bg>
    <p:spTree>
      <p:nvGrpSpPr>
        <p:cNvPr id="1" name=""/>
        <p:cNvGrpSpPr/>
        <p:nvPr/>
      </p:nvGrpSpPr>
      <p:grpSpPr>
        <a:xfrm>
          <a:off x="0" y="0"/>
          <a:ext cx="0" cy="0"/>
          <a:chOff x="0" y="0"/>
          <a:chExt cx="0" cy="0"/>
        </a:xfrm>
      </p:grpSpPr>
      <p:pic>
        <p:nvPicPr>
          <p:cNvPr id="22" name="!!backdrop"/>
          <p:cNvPicPr>
            <a:picLocks noChangeAspect="1"/>
          </p:cNvPicPr>
          <p:nvPr/>
        </p:nvPicPr>
        <p:blipFill>
          <a:blip r:embed="rId3"/>
          <a:srcRect t="27" b="27"/>
          <a:stretch>
            <a:fillRect/>
          </a:stretch>
        </p:blipFill>
        <p:spPr>
          <a:xfrm>
            <a:off x="0" y="0"/>
            <a:ext cx="12192000" cy="6858000"/>
          </a:xfrm>
          <a:prstGeom prst="rect">
            <a:avLst/>
          </a:prstGeom>
        </p:spPr>
      </p:pic>
      <p:sp>
        <p:nvSpPr>
          <p:cNvPr id="2" name="!!backdrop-tint">
            <a:extLst>
              <a:ext uri="{FF2B5EF4-FFF2-40B4-BE49-F238E27FC236}">
                <a16:creationId xmlns:a16="http://schemas.microsoft.com/office/drawing/2014/main" id="{61DB35CF-1531-49E0-AE31-ADF187898EBD}"/>
              </a:ext>
            </a:extLst>
          </p:cNvPr>
          <p:cNvSpPr>
            <a:spLocks noGrp="1"/>
          </p:cNvSpPr>
          <p:nvPr/>
        </p:nvSpPr>
        <p:spPr>
          <a:xfrm>
            <a:off x="0" y="0"/>
            <a:ext cx="12192000" cy="6858000"/>
          </a:xfrm>
          <a:prstGeom prst="rect">
            <a:avLst/>
          </a:prstGeom>
          <a:solidFill>
            <a:srgbClr val="102C21">
              <a:alpha val="35000"/>
            </a:srgbClr>
          </a:solidFill>
          <a:ln w="0">
            <a:noFill/>
          </a:ln>
        </p:spPr>
        <p:txBody>
          <a:bodyPr/>
          <a:lstStyle/>
          <a:p>
            <a:endParaRPr lang="en-US"/>
          </a:p>
        </p:txBody>
      </p:sp>
      <p:sp>
        <p:nvSpPr>
          <p:cNvPr id="3" name="!!headline">
            <a:extLst>
              <a:ext uri="{FF2B5EF4-FFF2-40B4-BE49-F238E27FC236}">
                <a16:creationId xmlns:a16="http://schemas.microsoft.com/office/drawing/2014/main" id="{2D2713E3-DCCB-4B46-91B7-B10FDBB8BF1A}"/>
              </a:ext>
            </a:extLst>
          </p:cNvPr>
          <p:cNvSpPr>
            <a:spLocks noGrp="1"/>
          </p:cNvSpPr>
          <p:nvPr/>
        </p:nvSpPr>
        <p:spPr>
          <a:xfrm>
            <a:off x="609600" y="533400"/>
            <a:ext cx="10953750" cy="1104900"/>
          </a:xfrm>
          <a:prstGeom prst="rect">
            <a:avLst/>
          </a:prstGeom>
          <a:noFill/>
          <a:ln w="0">
            <a:noFill/>
          </a:ln>
        </p:spPr>
        <p:txBody>
          <a:bodyPr wrap="square" lIns="0" tIns="0" rIns="0" bIns="0" anchor="t">
            <a:normAutofit/>
          </a:bodyPr>
          <a:lstStyle/>
          <a:p>
            <a:pPr>
              <a:defRPr sz="3450" b="1">
                <a:solidFill>
                  <a:srgbClr val="F4F1E8"/>
                </a:solidFill>
                <a:latin typeface="Segoe UI"/>
                <a:ea typeface="Segoe UI"/>
                <a:cs typeface="Segoe UI"/>
              </a:defRPr>
            </a:pPr>
            <a:r>
              <a:rPr sz="3450" b="1">
                <a:solidFill>
                  <a:srgbClr val="F4F1E8"/>
                </a:solidFill>
                <a:latin typeface="Segoe UI"/>
                <a:ea typeface="Segoe UI"/>
                <a:cs typeface="Segoe UI"/>
              </a:rPr>
              <a:t>Chữ ký và giới hạn bằng chứng</a:t>
            </a:r>
          </a:p>
        </p:txBody>
      </p:sp>
      <p:sp>
        <p:nvSpPr>
          <p:cNvPr id="4" name="!!signed-selection">
            <a:extLst>
              <a:ext uri="{FF2B5EF4-FFF2-40B4-BE49-F238E27FC236}">
                <a16:creationId xmlns:a16="http://schemas.microsoft.com/office/drawing/2014/main" id="{3486F067-4EA9-47B9-A309-1E729C20B211}"/>
              </a:ext>
            </a:extLst>
          </p:cNvPr>
          <p:cNvSpPr>
            <a:spLocks noGrp="1"/>
          </p:cNvSpPr>
          <p:nvPr/>
        </p:nvSpPr>
        <p:spPr>
          <a:xfrm>
            <a:off x="666750" y="2190750"/>
            <a:ext cx="571500" cy="571500"/>
          </a:xfrm>
          <a:prstGeom prst="ellipse">
            <a:avLst/>
          </a:prstGeom>
          <a:solidFill>
            <a:srgbClr val="183A2C"/>
          </a:solidFill>
          <a:ln w="9525">
            <a:solidFill>
              <a:srgbClr val="A3BCAB"/>
            </a:solidFill>
          </a:ln>
        </p:spPr>
        <p:txBody>
          <a:bodyPr/>
          <a:lstStyle/>
          <a:p>
            <a:endParaRPr lang="en-US"/>
          </a:p>
        </p:txBody>
      </p:sp>
      <p:sp>
        <p:nvSpPr>
          <p:cNvPr id="5" name="!!signed-icon-0">
            <a:extLst>
              <a:ext uri="{FF2B5EF4-FFF2-40B4-BE49-F238E27FC236}">
                <a16:creationId xmlns:a16="http://schemas.microsoft.com/office/drawing/2014/main" id="{C76CE9E5-A5F8-4A5B-A37A-3721FE5BAEAB}"/>
              </a:ext>
            </a:extLst>
          </p:cNvPr>
          <p:cNvSpPr>
            <a:spLocks noGrp="1"/>
          </p:cNvSpPr>
          <p:nvPr/>
        </p:nvSpPr>
        <p:spPr>
          <a:xfrm>
            <a:off x="798195" y="2322195"/>
            <a:ext cx="308610" cy="308610"/>
          </a:xfrm>
          <a:custGeom>
            <a:avLst/>
            <a:gdLst/>
            <a:ahLst/>
            <a:cxnLst/>
            <a:rect l="0" t="0" r="0" b="0"/>
            <a:pathLst>
              <a:path w="228600" h="228600">
                <a:moveTo>
                  <a:pt x="38100" y="161925"/>
                </a:moveTo>
                <a:lnTo>
                  <a:pt x="28575" y="209550"/>
                </a:lnTo>
                <a:lnTo>
                  <a:pt x="76200" y="200025"/>
                </a:lnTo>
                <a:lnTo>
                  <a:pt x="200025" y="76200"/>
                </a:lnTo>
                <a:lnTo>
                  <a:pt x="152400" y="28575"/>
                </a:lnTo>
                <a:close/>
              </a:path>
            </a:pathLst>
          </a:custGeom>
          <a:noFill/>
          <a:ln w="19050">
            <a:solidFill>
              <a:srgbClr val="A3BCAB"/>
            </a:solidFill>
            <a:prstDash val="solid"/>
          </a:ln>
        </p:spPr>
        <p:txBody>
          <a:bodyPr/>
          <a:lstStyle/>
          <a:p>
            <a:endParaRPr lang="en-US"/>
          </a:p>
        </p:txBody>
      </p:sp>
      <p:sp>
        <p:nvSpPr>
          <p:cNvPr id="6" name="!!signed-icon-1">
            <a:extLst>
              <a:ext uri="{FF2B5EF4-FFF2-40B4-BE49-F238E27FC236}">
                <a16:creationId xmlns:a16="http://schemas.microsoft.com/office/drawing/2014/main" id="{9C417B0A-FAF2-4B73-B331-69984C2EF566}"/>
              </a:ext>
            </a:extLst>
          </p:cNvPr>
          <p:cNvSpPr>
            <a:spLocks noGrp="1"/>
          </p:cNvSpPr>
          <p:nvPr/>
        </p:nvSpPr>
        <p:spPr>
          <a:xfrm>
            <a:off x="798195" y="2322195"/>
            <a:ext cx="308610" cy="308610"/>
          </a:xfrm>
          <a:custGeom>
            <a:avLst/>
            <a:gdLst/>
            <a:ahLst/>
            <a:cxnLst/>
            <a:rect l="0" t="0" r="0" b="0"/>
            <a:pathLst>
              <a:path w="228600" h="228600">
                <a:moveTo>
                  <a:pt x="133350" y="47625"/>
                </a:moveTo>
                <a:lnTo>
                  <a:pt x="180975" y="95250"/>
                </a:lnTo>
              </a:path>
            </a:pathLst>
          </a:custGeom>
          <a:noFill/>
          <a:ln w="19050">
            <a:solidFill>
              <a:srgbClr val="A3BCAB"/>
            </a:solidFill>
            <a:prstDash val="solid"/>
          </a:ln>
        </p:spPr>
        <p:txBody>
          <a:bodyPr/>
          <a:lstStyle/>
          <a:p>
            <a:endParaRPr lang="en-US"/>
          </a:p>
        </p:txBody>
      </p:sp>
      <p:sp>
        <p:nvSpPr>
          <p:cNvPr id="7" name="!!signed-icon-2">
            <a:extLst>
              <a:ext uri="{FF2B5EF4-FFF2-40B4-BE49-F238E27FC236}">
                <a16:creationId xmlns:a16="http://schemas.microsoft.com/office/drawing/2014/main" id="{1270AE5C-E170-4228-96F7-73E319E9F734}"/>
              </a:ext>
            </a:extLst>
          </p:cNvPr>
          <p:cNvSpPr>
            <a:spLocks noGrp="1"/>
          </p:cNvSpPr>
          <p:nvPr/>
        </p:nvSpPr>
        <p:spPr>
          <a:xfrm>
            <a:off x="798195" y="2322195"/>
            <a:ext cx="308610" cy="308610"/>
          </a:xfrm>
          <a:custGeom>
            <a:avLst/>
            <a:gdLst/>
            <a:ahLst/>
            <a:cxnLst/>
            <a:rect l="0" t="0" r="0" b="0"/>
            <a:pathLst>
              <a:path w="228600" h="228600">
                <a:moveTo>
                  <a:pt x="95250" y="209550"/>
                </a:moveTo>
                <a:lnTo>
                  <a:pt x="209550" y="209550"/>
                </a:lnTo>
              </a:path>
            </a:pathLst>
          </a:custGeom>
          <a:noFill/>
          <a:ln w="19050">
            <a:solidFill>
              <a:srgbClr val="A3BCAB"/>
            </a:solidFill>
            <a:prstDash val="solid"/>
          </a:ln>
        </p:spPr>
        <p:txBody>
          <a:bodyPr/>
          <a:lstStyle/>
          <a:p>
            <a:endParaRPr lang="en-US"/>
          </a:p>
        </p:txBody>
      </p:sp>
      <p:sp>
        <p:nvSpPr>
          <p:cNvPr id="8" name="!!signed-label">
            <a:extLst>
              <a:ext uri="{FF2B5EF4-FFF2-40B4-BE49-F238E27FC236}">
                <a16:creationId xmlns:a16="http://schemas.microsoft.com/office/drawing/2014/main" id="{559706E2-D0C3-4C67-8ED7-96E3DCAC39CA}"/>
              </a:ext>
            </a:extLst>
          </p:cNvPr>
          <p:cNvSpPr>
            <a:spLocks noGrp="1"/>
          </p:cNvSpPr>
          <p:nvPr/>
        </p:nvSpPr>
        <p:spPr>
          <a:xfrm>
            <a:off x="1524000" y="2133600"/>
            <a:ext cx="9658350" cy="571500"/>
          </a:xfrm>
          <a:prstGeom prst="rect">
            <a:avLst/>
          </a:prstGeom>
          <a:noFill/>
          <a:ln w="0">
            <a:noFill/>
          </a:ln>
        </p:spPr>
        <p:txBody>
          <a:bodyPr wrap="square" lIns="0" tIns="0" rIns="0" bIns="0" anchor="t">
            <a:normAutofit/>
          </a:bodyPr>
          <a:lstStyle/>
          <a:p>
            <a:pPr>
              <a:defRPr sz="2100" b="1">
                <a:solidFill>
                  <a:srgbClr val="F4F1E8"/>
                </a:solidFill>
                <a:latin typeface="Segoe UI"/>
                <a:ea typeface="Segoe UI"/>
                <a:cs typeface="Segoe UI"/>
              </a:defRPr>
            </a:pPr>
            <a:r>
              <a:rPr sz="2100" b="1">
                <a:solidFill>
                  <a:srgbClr val="F4F1E8"/>
                </a:solidFill>
                <a:latin typeface="Segoe UI"/>
                <a:ea typeface="Segoe UI"/>
                <a:cs typeface="Segoe UI"/>
              </a:rPr>
              <a:t>Ví đã ký giao dịch</a:t>
            </a:r>
          </a:p>
        </p:txBody>
      </p:sp>
      <p:sp>
        <p:nvSpPr>
          <p:cNvPr id="9" name="!!signed-detail">
            <a:extLst>
              <a:ext uri="{FF2B5EF4-FFF2-40B4-BE49-F238E27FC236}">
                <a16:creationId xmlns:a16="http://schemas.microsoft.com/office/drawing/2014/main" id="{470BAEFE-221C-4DC0-923A-84EAE2BC5770}"/>
              </a:ext>
            </a:extLst>
          </p:cNvPr>
          <p:cNvSpPr>
            <a:spLocks noGrp="1"/>
          </p:cNvSpPr>
          <p:nvPr/>
        </p:nvSpPr>
        <p:spPr>
          <a:xfrm>
            <a:off x="1524000" y="2705100"/>
            <a:ext cx="9658350" cy="666750"/>
          </a:xfrm>
          <a:prstGeom prst="rect">
            <a:avLst/>
          </a:prstGeom>
          <a:noFill/>
          <a:ln w="0">
            <a:noFill/>
          </a:ln>
        </p:spPr>
        <p:txBody>
          <a:bodyPr wrap="square" lIns="0" tIns="0" rIns="0" bIns="0" anchor="t">
            <a:normAutofit/>
          </a:bodyPr>
          <a:lstStyle/>
          <a:p>
            <a:pPr>
              <a:defRPr sz="1800" b="0">
                <a:solidFill>
                  <a:srgbClr val="A3BCAB"/>
                </a:solidFill>
                <a:latin typeface="Segoe UI"/>
                <a:ea typeface="Segoe UI"/>
                <a:cs typeface="Segoe UI"/>
              </a:defRPr>
            </a:pPr>
            <a:r>
              <a:rPr sz="1800" b="0">
                <a:solidFill>
                  <a:srgbClr val="A3BCAB"/>
                </a:solidFill>
                <a:latin typeface="Segoe UI"/>
                <a:ea typeface="Segoe UI"/>
                <a:cs typeface="Segoe UI"/>
              </a:rPr>
              <a:t>Ai đề xuất và ai chấp nhận trạng thái số</a:t>
            </a:r>
          </a:p>
        </p:txBody>
      </p:sp>
      <p:sp>
        <p:nvSpPr>
          <p:cNvPr id="10" name="!!audit-selection">
            <a:extLst>
              <a:ext uri="{FF2B5EF4-FFF2-40B4-BE49-F238E27FC236}">
                <a16:creationId xmlns:a16="http://schemas.microsoft.com/office/drawing/2014/main" id="{5315FEF6-96C9-4AA2-AEF6-5954E05E31FE}"/>
              </a:ext>
            </a:extLst>
          </p:cNvPr>
          <p:cNvSpPr>
            <a:spLocks noGrp="1"/>
          </p:cNvSpPr>
          <p:nvPr/>
        </p:nvSpPr>
        <p:spPr>
          <a:xfrm>
            <a:off x="666750" y="3429000"/>
            <a:ext cx="571500" cy="571500"/>
          </a:xfrm>
          <a:prstGeom prst="ellipse">
            <a:avLst/>
          </a:prstGeom>
          <a:solidFill>
            <a:srgbClr val="183A2C"/>
          </a:solidFill>
          <a:ln w="9525">
            <a:solidFill>
              <a:srgbClr val="A3BCAB"/>
            </a:solidFill>
          </a:ln>
        </p:spPr>
        <p:txBody>
          <a:bodyPr/>
          <a:lstStyle/>
          <a:p>
            <a:endParaRPr lang="en-US"/>
          </a:p>
        </p:txBody>
      </p:sp>
      <p:sp>
        <p:nvSpPr>
          <p:cNvPr id="11" name="!!audit-icon-0">
            <a:extLst>
              <a:ext uri="{FF2B5EF4-FFF2-40B4-BE49-F238E27FC236}">
                <a16:creationId xmlns:a16="http://schemas.microsoft.com/office/drawing/2014/main" id="{FDF44D24-BD67-4583-834C-F23993DACAA1}"/>
              </a:ext>
            </a:extLst>
          </p:cNvPr>
          <p:cNvSpPr>
            <a:spLocks noGrp="1"/>
          </p:cNvSpPr>
          <p:nvPr/>
        </p:nvSpPr>
        <p:spPr>
          <a:xfrm>
            <a:off x="823913" y="3586163"/>
            <a:ext cx="257175" cy="257175"/>
          </a:xfrm>
          <a:prstGeom prst="ellipse">
            <a:avLst/>
          </a:prstGeom>
          <a:noFill/>
          <a:ln w="19050">
            <a:solidFill>
              <a:srgbClr val="A3BCAB"/>
            </a:solidFill>
            <a:prstDash val="solid"/>
          </a:ln>
        </p:spPr>
        <p:txBody>
          <a:bodyPr/>
          <a:lstStyle/>
          <a:p>
            <a:endParaRPr lang="en-US"/>
          </a:p>
        </p:txBody>
      </p:sp>
      <p:sp>
        <p:nvSpPr>
          <p:cNvPr id="12" name="!!audit-icon-1">
            <a:extLst>
              <a:ext uri="{FF2B5EF4-FFF2-40B4-BE49-F238E27FC236}">
                <a16:creationId xmlns:a16="http://schemas.microsoft.com/office/drawing/2014/main" id="{BCDBCF33-52B1-48BB-B53A-9C4570D219D0}"/>
              </a:ext>
            </a:extLst>
          </p:cNvPr>
          <p:cNvSpPr>
            <a:spLocks noGrp="1"/>
          </p:cNvSpPr>
          <p:nvPr/>
        </p:nvSpPr>
        <p:spPr>
          <a:xfrm>
            <a:off x="798195" y="3560445"/>
            <a:ext cx="308610" cy="308610"/>
          </a:xfrm>
          <a:custGeom>
            <a:avLst/>
            <a:gdLst/>
            <a:ahLst/>
            <a:cxnLst/>
            <a:rect l="0" t="0" r="0" b="0"/>
            <a:pathLst>
              <a:path w="228600" h="228600">
                <a:moveTo>
                  <a:pt x="114300" y="47625"/>
                </a:moveTo>
                <a:lnTo>
                  <a:pt x="114300" y="114300"/>
                </a:lnTo>
                <a:lnTo>
                  <a:pt x="161925" y="142875"/>
                </a:lnTo>
              </a:path>
            </a:pathLst>
          </a:custGeom>
          <a:noFill/>
          <a:ln w="19050">
            <a:solidFill>
              <a:srgbClr val="A3BCAB"/>
            </a:solidFill>
            <a:prstDash val="solid"/>
          </a:ln>
        </p:spPr>
        <p:txBody>
          <a:bodyPr/>
          <a:lstStyle/>
          <a:p>
            <a:endParaRPr lang="en-US"/>
          </a:p>
        </p:txBody>
      </p:sp>
      <p:sp>
        <p:nvSpPr>
          <p:cNvPr id="13" name="!!audit-label">
            <a:extLst>
              <a:ext uri="{FF2B5EF4-FFF2-40B4-BE49-F238E27FC236}">
                <a16:creationId xmlns:a16="http://schemas.microsoft.com/office/drawing/2014/main" id="{0A4C14F2-170B-4F56-859E-FC4E1B86F741}"/>
              </a:ext>
            </a:extLst>
          </p:cNvPr>
          <p:cNvSpPr>
            <a:spLocks noGrp="1"/>
          </p:cNvSpPr>
          <p:nvPr/>
        </p:nvSpPr>
        <p:spPr>
          <a:xfrm>
            <a:off x="1524000" y="3371850"/>
            <a:ext cx="9658350" cy="571500"/>
          </a:xfrm>
          <a:prstGeom prst="rect">
            <a:avLst/>
          </a:prstGeom>
          <a:noFill/>
          <a:ln w="0">
            <a:noFill/>
          </a:ln>
        </p:spPr>
        <p:txBody>
          <a:bodyPr wrap="square" lIns="0" tIns="0" rIns="0" bIns="0" anchor="t">
            <a:normAutofit/>
          </a:bodyPr>
          <a:lstStyle/>
          <a:p>
            <a:pPr>
              <a:defRPr sz="2100" b="1">
                <a:solidFill>
                  <a:srgbClr val="F4F1E8"/>
                </a:solidFill>
                <a:latin typeface="Segoe UI"/>
                <a:ea typeface="Segoe UI"/>
                <a:cs typeface="Segoe UI"/>
              </a:defRPr>
            </a:pPr>
            <a:r>
              <a:rPr sz="2100" b="1">
                <a:solidFill>
                  <a:srgbClr val="F4F1E8"/>
                </a:solidFill>
                <a:latin typeface="Segoe UI"/>
                <a:ea typeface="Segoe UI"/>
                <a:cs typeface="Segoe UI"/>
              </a:rPr>
              <a:t>Lịch sử để đối chiếu</a:t>
            </a:r>
          </a:p>
        </p:txBody>
      </p:sp>
      <p:sp>
        <p:nvSpPr>
          <p:cNvPr id="14" name="!!audit-detail">
            <a:extLst>
              <a:ext uri="{FF2B5EF4-FFF2-40B4-BE49-F238E27FC236}">
                <a16:creationId xmlns:a16="http://schemas.microsoft.com/office/drawing/2014/main" id="{2D8361A0-2399-4435-A338-CBC6A8A190EC}"/>
              </a:ext>
            </a:extLst>
          </p:cNvPr>
          <p:cNvSpPr>
            <a:spLocks noGrp="1"/>
          </p:cNvSpPr>
          <p:nvPr/>
        </p:nvSpPr>
        <p:spPr>
          <a:xfrm>
            <a:off x="1524000" y="3943350"/>
            <a:ext cx="9658350" cy="666750"/>
          </a:xfrm>
          <a:prstGeom prst="rect">
            <a:avLst/>
          </a:prstGeom>
          <a:noFill/>
          <a:ln w="0">
            <a:noFill/>
          </a:ln>
        </p:spPr>
        <p:txBody>
          <a:bodyPr wrap="square" lIns="0" tIns="0" rIns="0" bIns="0" anchor="t">
            <a:normAutofit/>
          </a:bodyPr>
          <a:lstStyle/>
          <a:p>
            <a:pPr>
              <a:defRPr sz="1800" b="0">
                <a:solidFill>
                  <a:srgbClr val="A3BCAB"/>
                </a:solidFill>
                <a:latin typeface="Segoe UI"/>
                <a:ea typeface="Segoe UI"/>
                <a:cs typeface="Segoe UI"/>
              </a:defRPr>
            </a:pPr>
            <a:r>
              <a:rPr sz="1800" b="0">
                <a:solidFill>
                  <a:srgbClr val="A3BCAB"/>
                </a:solidFill>
                <a:latin typeface="Segoe UI"/>
                <a:ea typeface="Segoe UI"/>
                <a:cs typeface="Segoe UI"/>
              </a:rPr>
              <a:t>Bản ghi số và transaction liên quan</a:t>
            </a:r>
          </a:p>
        </p:txBody>
      </p:sp>
      <p:sp>
        <p:nvSpPr>
          <p:cNvPr id="15" name="!!external-source-selection">
            <a:extLst>
              <a:ext uri="{FF2B5EF4-FFF2-40B4-BE49-F238E27FC236}">
                <a16:creationId xmlns:a16="http://schemas.microsoft.com/office/drawing/2014/main" id="{C50EB467-72E9-40CC-AA48-26F72B4BA418}"/>
              </a:ext>
            </a:extLst>
          </p:cNvPr>
          <p:cNvSpPr>
            <a:spLocks noGrp="1"/>
          </p:cNvSpPr>
          <p:nvPr/>
        </p:nvSpPr>
        <p:spPr>
          <a:xfrm>
            <a:off x="600075" y="4867275"/>
            <a:ext cx="723900" cy="723900"/>
          </a:xfrm>
          <a:prstGeom prst="ellipse">
            <a:avLst/>
          </a:prstGeom>
          <a:solidFill>
            <a:srgbClr val="166447"/>
          </a:solidFill>
          <a:ln w="28575">
            <a:solidFill>
              <a:srgbClr val="C8A45B"/>
            </a:solidFill>
          </a:ln>
        </p:spPr>
        <p:txBody>
          <a:bodyPr/>
          <a:lstStyle/>
          <a:p>
            <a:endParaRPr lang="en-US"/>
          </a:p>
        </p:txBody>
      </p:sp>
      <p:sp>
        <p:nvSpPr>
          <p:cNvPr id="16" name="!!external-source-icon-0">
            <a:extLst>
              <a:ext uri="{FF2B5EF4-FFF2-40B4-BE49-F238E27FC236}">
                <a16:creationId xmlns:a16="http://schemas.microsoft.com/office/drawing/2014/main" id="{B7798323-9C5B-450E-88AA-60534FC8C138}"/>
              </a:ext>
            </a:extLst>
          </p:cNvPr>
          <p:cNvSpPr>
            <a:spLocks noGrp="1"/>
          </p:cNvSpPr>
          <p:nvPr/>
        </p:nvSpPr>
        <p:spPr>
          <a:xfrm>
            <a:off x="799147" y="5066348"/>
            <a:ext cx="228029" cy="228029"/>
          </a:xfrm>
          <a:prstGeom prst="ellipse">
            <a:avLst/>
          </a:prstGeom>
          <a:noFill/>
          <a:ln w="19050">
            <a:solidFill>
              <a:srgbClr val="FFFFFF"/>
            </a:solidFill>
            <a:prstDash val="solid"/>
          </a:ln>
        </p:spPr>
        <p:txBody>
          <a:bodyPr/>
          <a:lstStyle/>
          <a:p>
            <a:endParaRPr lang="en-US"/>
          </a:p>
        </p:txBody>
      </p:sp>
      <p:sp>
        <p:nvSpPr>
          <p:cNvPr id="17" name="!!external-source-icon-1">
            <a:extLst>
              <a:ext uri="{FF2B5EF4-FFF2-40B4-BE49-F238E27FC236}">
                <a16:creationId xmlns:a16="http://schemas.microsoft.com/office/drawing/2014/main" id="{2FA73D58-6DEA-4DB4-A17C-7E508985A3F2}"/>
              </a:ext>
            </a:extLst>
          </p:cNvPr>
          <p:cNvSpPr>
            <a:spLocks noGrp="1"/>
          </p:cNvSpPr>
          <p:nvPr/>
        </p:nvSpPr>
        <p:spPr>
          <a:xfrm>
            <a:off x="766572" y="5033772"/>
            <a:ext cx="390906" cy="390906"/>
          </a:xfrm>
          <a:custGeom>
            <a:avLst/>
            <a:gdLst/>
            <a:ahLst/>
            <a:cxnLst/>
            <a:rect l="0" t="0" r="0" b="0"/>
            <a:pathLst>
              <a:path w="228600" h="228600">
                <a:moveTo>
                  <a:pt x="133350" y="133350"/>
                </a:moveTo>
                <a:lnTo>
                  <a:pt x="209550" y="209550"/>
                </a:lnTo>
              </a:path>
            </a:pathLst>
          </a:custGeom>
          <a:noFill/>
          <a:ln w="19050">
            <a:solidFill>
              <a:srgbClr val="FFFFFF"/>
            </a:solidFill>
            <a:prstDash val="solid"/>
          </a:ln>
        </p:spPr>
        <p:txBody>
          <a:bodyPr/>
          <a:lstStyle/>
          <a:p>
            <a:endParaRPr lang="en-US"/>
          </a:p>
        </p:txBody>
      </p:sp>
      <p:sp>
        <p:nvSpPr>
          <p:cNvPr id="18" name="!!external-evidence">
            <a:extLst>
              <a:ext uri="{FF2B5EF4-FFF2-40B4-BE49-F238E27FC236}">
                <a16:creationId xmlns:a16="http://schemas.microsoft.com/office/drawing/2014/main" id="{802B0583-17E6-4FB1-A88E-EB18B39DDE9A}"/>
              </a:ext>
            </a:extLst>
          </p:cNvPr>
          <p:cNvSpPr>
            <a:spLocks noGrp="1"/>
          </p:cNvSpPr>
          <p:nvPr/>
        </p:nvSpPr>
        <p:spPr>
          <a:xfrm>
            <a:off x="1524000" y="4867275"/>
            <a:ext cx="9620250" cy="552450"/>
          </a:xfrm>
          <a:prstGeom prst="rect">
            <a:avLst/>
          </a:prstGeom>
          <a:noFill/>
          <a:ln w="0">
            <a:noFill/>
          </a:ln>
        </p:spPr>
        <p:txBody>
          <a:bodyPr wrap="square" lIns="0" tIns="0" rIns="0" bIns="0" anchor="t">
            <a:normAutofit/>
          </a:bodyPr>
          <a:lstStyle/>
          <a:p>
            <a:pPr>
              <a:defRPr sz="2775" b="1">
                <a:solidFill>
                  <a:srgbClr val="C8A45B"/>
                </a:solidFill>
                <a:latin typeface="Segoe UI"/>
                <a:ea typeface="Segoe UI"/>
                <a:cs typeface="Segoe UI"/>
              </a:defRPr>
            </a:pPr>
            <a:r>
              <a:rPr sz="2775" b="1">
                <a:solidFill>
                  <a:srgbClr val="C8A45B"/>
                </a:solidFill>
                <a:latin typeface="Segoe UI"/>
                <a:ea typeface="Segoe UI"/>
                <a:cs typeface="Segoe UI"/>
              </a:rPr>
              <a:t>Cần xác minh ngoài hệ thống</a:t>
            </a:r>
          </a:p>
        </p:txBody>
      </p:sp>
      <p:sp>
        <p:nvSpPr>
          <p:cNvPr id="19" name="!!physical-evidence">
            <a:extLst>
              <a:ext uri="{FF2B5EF4-FFF2-40B4-BE49-F238E27FC236}">
                <a16:creationId xmlns:a16="http://schemas.microsoft.com/office/drawing/2014/main" id="{7FA03B00-7FCB-474A-896B-31E36412DAA6}"/>
              </a:ext>
            </a:extLst>
          </p:cNvPr>
          <p:cNvSpPr>
            <a:spLocks noGrp="1"/>
          </p:cNvSpPr>
          <p:nvPr/>
        </p:nvSpPr>
        <p:spPr>
          <a:xfrm>
            <a:off x="1524000" y="5562600"/>
            <a:ext cx="9620250" cy="533400"/>
          </a:xfrm>
          <a:prstGeom prst="rect">
            <a:avLst/>
          </a:prstGeom>
          <a:noFill/>
          <a:ln w="0">
            <a:noFill/>
          </a:ln>
        </p:spPr>
        <p:txBody>
          <a:bodyPr wrap="square" lIns="0" tIns="0" rIns="0" bIns="0" anchor="t">
            <a:normAutofit/>
          </a:bodyPr>
          <a:lstStyle/>
          <a:p>
            <a:pPr>
              <a:defRPr sz="2100" b="0">
                <a:solidFill>
                  <a:srgbClr val="F4F1E8"/>
                </a:solidFill>
                <a:latin typeface="Segoe UI"/>
                <a:ea typeface="Segoe UI"/>
                <a:cs typeface="Segoe UI"/>
              </a:defRPr>
            </a:pPr>
            <a:r>
              <a:rPr sz="2100" b="0">
                <a:solidFill>
                  <a:srgbClr val="F4F1E8"/>
                </a:solidFill>
                <a:latin typeface="Segoe UI"/>
                <a:ea typeface="Segoe UI"/>
                <a:cs typeface="Segoe UI"/>
              </a:rPr>
              <a:t>Mẫu vật, chứng thư lab và bàn giao vật lý</a:t>
            </a:r>
          </a:p>
        </p:txBody>
      </p:sp>
      <p:sp>
        <p:nvSpPr>
          <p:cNvPr id="20" name="!!page">
            <a:extLst>
              <a:ext uri="{FF2B5EF4-FFF2-40B4-BE49-F238E27FC236}">
                <a16:creationId xmlns:a16="http://schemas.microsoft.com/office/drawing/2014/main" id="{42322DAE-CAC8-416D-9C5D-824D37F6387E}"/>
              </a:ext>
            </a:extLst>
          </p:cNvPr>
          <p:cNvSpPr>
            <a:spLocks noGrp="1"/>
          </p:cNvSpPr>
          <p:nvPr/>
        </p:nvSpPr>
        <p:spPr>
          <a:xfrm>
            <a:off x="10706100" y="6381750"/>
            <a:ext cx="876300" cy="228600"/>
          </a:xfrm>
          <a:prstGeom prst="rect">
            <a:avLst/>
          </a:prstGeom>
          <a:noFill/>
          <a:ln w="0">
            <a:noFill/>
          </a:ln>
        </p:spPr>
        <p:txBody>
          <a:bodyPr wrap="square" lIns="0" tIns="0" rIns="0" bIns="0" anchor="t">
            <a:normAutofit/>
          </a:bodyPr>
          <a:lstStyle/>
          <a:p>
            <a:pPr>
              <a:defRPr sz="1275" b="0">
                <a:solidFill>
                  <a:srgbClr val="A3BCAB"/>
                </a:solidFill>
                <a:latin typeface="Segoe UI"/>
                <a:ea typeface="Segoe UI"/>
                <a:cs typeface="Segoe UI"/>
              </a:defRPr>
            </a:pPr>
            <a:r>
              <a:rPr sz="1275" b="0">
                <a:solidFill>
                  <a:srgbClr val="A3BCAB"/>
                </a:solidFill>
                <a:latin typeface="Segoe UI"/>
                <a:ea typeface="Segoe UI"/>
                <a:cs typeface="Segoe UI"/>
              </a:rPr>
              <a:t>13 / 19</a:t>
            </a:r>
          </a:p>
        </p:txBody>
      </p:sp>
      <p:sp>
        <p:nvSpPr>
          <p:cNvPr id="21" name="!!caption">
            <a:extLst>
              <a:ext uri="{FF2B5EF4-FFF2-40B4-BE49-F238E27FC236}">
                <a16:creationId xmlns:a16="http://schemas.microsoft.com/office/drawing/2014/main" id="{D2C910F0-3B69-494D-A67E-05503833057B}"/>
              </a:ext>
            </a:extLst>
          </p:cNvPr>
          <p:cNvSpPr>
            <a:spLocks noGrp="1"/>
          </p:cNvSpPr>
          <p:nvPr/>
        </p:nvSpPr>
        <p:spPr>
          <a:xfrm>
            <a:off x="609600" y="6381750"/>
            <a:ext cx="9525000" cy="228600"/>
          </a:xfrm>
          <a:prstGeom prst="rect">
            <a:avLst/>
          </a:prstGeom>
          <a:noFill/>
          <a:ln w="0">
            <a:noFill/>
          </a:ln>
        </p:spPr>
        <p:txBody>
          <a:bodyPr wrap="square" lIns="0" tIns="0" rIns="0" bIns="0" anchor="t">
            <a:normAutofit/>
          </a:bodyPr>
          <a:lstStyle/>
          <a:p>
            <a:pPr>
              <a:defRPr sz="1275" b="0">
                <a:solidFill>
                  <a:srgbClr val="A3BCAB"/>
                </a:solidFill>
                <a:latin typeface="Segoe UI"/>
                <a:ea typeface="Segoe UI"/>
                <a:cs typeface="Segoe UI"/>
              </a:defRPr>
            </a:pPr>
            <a:r>
              <a:rPr sz="1275" b="0">
                <a:solidFill>
                  <a:srgbClr val="A3BCAB"/>
                </a:solidFill>
                <a:latin typeface="Segoe UI"/>
                <a:ea typeface="Segoe UI"/>
                <a:cs typeface="Segoe UI"/>
              </a:rPr>
              <a:t>Source contract và kết quả local validator trong repo</a:t>
            </a:r>
          </a:p>
        </p:txBody>
      </p:sp>
    </p:spTree>
    <p:extLst>
      <p:ext uri="{BB962C8B-B14F-4D97-AF65-F5344CB8AC3E}">
        <p14:creationId xmlns:p14="http://schemas.microsoft.com/office/powerpoint/2010/main" val="9907531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00">
        <p159:morph option="byObject"/>
      </p:transition>
    </mc:Choice>
    <mc:Fallback xmlns="" xmlns:p14="http://schemas.microsoft.com/office/powerpoint/2010/main">
      <p:transition advClick="1" spd="fast">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4F1E8"/>
        </a:solidFill>
        <a:effectLst/>
      </p:bgPr>
    </p:bg>
    <p:spTree>
      <p:nvGrpSpPr>
        <p:cNvPr id="1" name=""/>
        <p:cNvGrpSpPr/>
        <p:nvPr/>
      </p:nvGrpSpPr>
      <p:grpSpPr>
        <a:xfrm>
          <a:off x="0" y="0"/>
          <a:ext cx="0" cy="0"/>
          <a:chOff x="0" y="0"/>
          <a:chExt cx="0" cy="0"/>
        </a:xfrm>
      </p:grpSpPr>
      <p:pic>
        <p:nvPicPr>
          <p:cNvPr id="20" name="!!backdrop"/>
          <p:cNvPicPr>
            <a:picLocks noChangeAspect="1"/>
          </p:cNvPicPr>
          <p:nvPr/>
        </p:nvPicPr>
        <p:blipFill>
          <a:blip r:embed="rId3"/>
          <a:srcRect t="27" b="27"/>
          <a:stretch>
            <a:fillRect/>
          </a:stretch>
        </p:blipFill>
        <p:spPr>
          <a:xfrm>
            <a:off x="0" y="0"/>
            <a:ext cx="12192000" cy="6858000"/>
          </a:xfrm>
          <a:prstGeom prst="rect">
            <a:avLst/>
          </a:prstGeom>
        </p:spPr>
      </p:pic>
      <p:sp>
        <p:nvSpPr>
          <p:cNvPr id="2" name="!!headline">
            <a:extLst>
              <a:ext uri="{FF2B5EF4-FFF2-40B4-BE49-F238E27FC236}">
                <a16:creationId xmlns:a16="http://schemas.microsoft.com/office/drawing/2014/main" id="{E7FA9518-BF3F-437B-A6E7-5AE5E2E1135B}"/>
              </a:ext>
            </a:extLst>
          </p:cNvPr>
          <p:cNvSpPr>
            <a:spLocks noGrp="1"/>
          </p:cNvSpPr>
          <p:nvPr/>
        </p:nvSpPr>
        <p:spPr>
          <a:xfrm>
            <a:off x="609600" y="533400"/>
            <a:ext cx="10953750" cy="1104900"/>
          </a:xfrm>
          <a:prstGeom prst="rect">
            <a:avLst/>
          </a:prstGeom>
          <a:noFill/>
          <a:ln w="0">
            <a:noFill/>
          </a:ln>
        </p:spPr>
        <p:txBody>
          <a:bodyPr wrap="square" lIns="0" tIns="0" rIns="0" bIns="0" anchor="t">
            <a:normAutofit/>
          </a:bodyPr>
          <a:lstStyle/>
          <a:p>
            <a:pPr>
              <a:defRPr sz="3450" b="1">
                <a:solidFill>
                  <a:srgbClr val="142F24"/>
                </a:solidFill>
                <a:latin typeface="Segoe UI"/>
                <a:ea typeface="Segoe UI"/>
                <a:cs typeface="Segoe UI"/>
              </a:defRPr>
            </a:pPr>
            <a:r>
              <a:rPr sz="3450" b="1">
                <a:solidFill>
                  <a:srgbClr val="142F24"/>
                </a:solidFill>
                <a:latin typeface="Segoe UI"/>
                <a:ea typeface="Segoe UI"/>
                <a:cs typeface="Segoe UI"/>
              </a:rPr>
              <a:t>AI gợi ý từ ảnh lá</a:t>
            </a:r>
          </a:p>
        </p:txBody>
      </p:sp>
      <p:pic>
        <p:nvPicPr>
          <p:cNvPr id="34" name="!!leaf-result"/>
          <p:cNvPicPr>
            <a:picLocks noChangeAspect="1"/>
          </p:cNvPicPr>
          <p:nvPr/>
        </p:nvPicPr>
        <p:blipFill>
          <a:blip r:embed="rId4"/>
          <a:stretch/>
        </p:blipFill>
        <p:spPr>
          <a:xfrm>
            <a:off x="5524500" y="2078543"/>
            <a:ext cx="6000750" cy="3377188"/>
          </a:xfrm>
          <a:prstGeom prst="rect">
            <a:avLst/>
          </a:prstGeom>
        </p:spPr>
      </p:pic>
      <p:sp>
        <p:nvSpPr>
          <p:cNvPr id="16" name="!!leaf-limit">
            <a:extLst>
              <a:ext uri="{FF2B5EF4-FFF2-40B4-BE49-F238E27FC236}">
                <a16:creationId xmlns:a16="http://schemas.microsoft.com/office/drawing/2014/main" id="{627D00F8-E261-4033-BDF6-9135197D9B52}"/>
              </a:ext>
            </a:extLst>
          </p:cNvPr>
          <p:cNvSpPr>
            <a:spLocks noGrp="1"/>
          </p:cNvSpPr>
          <p:nvPr/>
        </p:nvSpPr>
        <p:spPr>
          <a:xfrm>
            <a:off x="609600" y="2400300"/>
            <a:ext cx="4495800" cy="1200150"/>
          </a:xfrm>
          <a:prstGeom prst="rect">
            <a:avLst/>
          </a:prstGeom>
          <a:noFill/>
          <a:ln w="0">
            <a:noFill/>
          </a:ln>
        </p:spPr>
        <p:txBody>
          <a:bodyPr wrap="square" lIns="0" tIns="0" rIns="0" bIns="0" anchor="t">
            <a:normAutofit/>
          </a:bodyPr>
          <a:lstStyle/>
          <a:p>
            <a:pPr>
              <a:defRPr sz="2550" b="1">
                <a:solidFill>
                  <a:srgbClr val="142F24"/>
                </a:solidFill>
                <a:latin typeface="Segoe UI"/>
                <a:ea typeface="Segoe UI"/>
                <a:cs typeface="Segoe UI"/>
              </a:defRPr>
            </a:pPr>
            <a:r>
              <a:rPr sz="2550" b="1">
                <a:solidFill>
                  <a:srgbClr val="142F24"/>
                </a:solidFill>
                <a:latin typeface="Segoe UI"/>
                <a:ea typeface="Segoe UI"/>
                <a:cs typeface="Segoe UI"/>
              </a:rPr>
              <a:t>Classifier 5 nhóm lá</a:t>
            </a:r>
          </a:p>
          <a:p>
            <a:pPr>
              <a:defRPr sz="2550" b="1">
                <a:solidFill>
                  <a:srgbClr val="142F24"/>
                </a:solidFill>
                <a:latin typeface="Segoe UI"/>
                <a:ea typeface="Segoe UI"/>
                <a:cs typeface="Segoe UI"/>
              </a:defRPr>
            </a:pPr>
            <a:r>
              <a:rPr sz="2550" b="1">
                <a:solidFill>
                  <a:srgbClr val="142F24"/>
                </a:solidFill>
                <a:latin typeface="Segoe UI"/>
                <a:ea typeface="Segoe UI"/>
                <a:cs typeface="Segoe UI"/>
              </a:rPr>
              <a:t>Cần chuyên gia đối chiếu</a:t>
            </a:r>
          </a:p>
        </p:txBody>
      </p:sp>
      <p:sp>
        <p:nvSpPr>
          <p:cNvPr id="17" name="!!leaf-chemistry">
            <a:extLst>
              <a:ext uri="{FF2B5EF4-FFF2-40B4-BE49-F238E27FC236}">
                <a16:creationId xmlns:a16="http://schemas.microsoft.com/office/drawing/2014/main" id="{D9C1DA34-3783-49BD-A4AD-C0FCE06F74F1}"/>
              </a:ext>
            </a:extLst>
          </p:cNvPr>
          <p:cNvSpPr>
            <a:spLocks noGrp="1"/>
          </p:cNvSpPr>
          <p:nvPr/>
        </p:nvSpPr>
        <p:spPr>
          <a:xfrm>
            <a:off x="609600" y="4171950"/>
            <a:ext cx="4495800" cy="1095375"/>
          </a:xfrm>
          <a:prstGeom prst="rect">
            <a:avLst/>
          </a:prstGeom>
          <a:noFill/>
          <a:ln w="0">
            <a:noFill/>
          </a:ln>
        </p:spPr>
        <p:txBody>
          <a:bodyPr wrap="square" lIns="0" tIns="0" rIns="0" bIns="0" anchor="t">
            <a:normAutofit/>
          </a:bodyPr>
          <a:lstStyle/>
          <a:p>
            <a:pPr>
              <a:defRPr sz="2175" b="0">
                <a:solidFill>
                  <a:srgbClr val="825525"/>
                </a:solidFill>
                <a:latin typeface="Segoe UI"/>
                <a:ea typeface="Segoe UI"/>
                <a:cs typeface="Segoe UI"/>
              </a:defRPr>
            </a:pPr>
            <a:r>
              <a:rPr sz="2175" b="0">
                <a:solidFill>
                  <a:srgbClr val="825525"/>
                </a:solidFill>
                <a:latin typeface="Segoe UI"/>
                <a:ea typeface="Segoe UI"/>
                <a:cs typeface="Segoe UI"/>
              </a:rPr>
              <a:t>Ảnh lá không đo</a:t>
            </a:r>
          </a:p>
          <a:p>
            <a:pPr>
              <a:defRPr sz="2175" b="0">
                <a:solidFill>
                  <a:srgbClr val="825525"/>
                </a:solidFill>
                <a:latin typeface="Segoe UI"/>
                <a:ea typeface="Segoe UI"/>
                <a:cs typeface="Segoe UI"/>
              </a:defRPr>
            </a:pPr>
            <a:r>
              <a:rPr sz="2175" b="0">
                <a:solidFill>
                  <a:srgbClr val="825525"/>
                </a:solidFill>
                <a:latin typeface="Segoe UI"/>
                <a:ea typeface="Segoe UI"/>
                <a:cs typeface="Segoe UI"/>
              </a:rPr>
              <a:t>Cadimi hoặc Vàng O</a:t>
            </a:r>
          </a:p>
        </p:txBody>
      </p:sp>
      <p:sp>
        <p:nvSpPr>
          <p:cNvPr id="18" name="!!page">
            <a:extLst>
              <a:ext uri="{FF2B5EF4-FFF2-40B4-BE49-F238E27FC236}">
                <a16:creationId xmlns:a16="http://schemas.microsoft.com/office/drawing/2014/main" id="{7ABAD889-7375-425D-B909-7E0C5C864CF8}"/>
              </a:ext>
            </a:extLst>
          </p:cNvPr>
          <p:cNvSpPr>
            <a:spLocks noGrp="1"/>
          </p:cNvSpPr>
          <p:nvPr/>
        </p:nvSpPr>
        <p:spPr>
          <a:xfrm>
            <a:off x="10706100" y="6381750"/>
            <a:ext cx="876300" cy="228600"/>
          </a:xfrm>
          <a:prstGeom prst="rect">
            <a:avLst/>
          </a:prstGeom>
          <a:noFill/>
          <a:ln w="0">
            <a:noFill/>
          </a:ln>
        </p:spPr>
        <p:txBody>
          <a:bodyPr wrap="square" lIns="0" tIns="0" rIns="0" bIns="0" anchor="t">
            <a:normAutofit/>
          </a:bodyPr>
          <a:lstStyle/>
          <a:p>
            <a:pPr>
              <a:defRPr sz="1275" b="0">
                <a:solidFill>
                  <a:srgbClr val="53685B"/>
                </a:solidFill>
                <a:latin typeface="Segoe UI"/>
                <a:ea typeface="Segoe UI"/>
                <a:cs typeface="Segoe UI"/>
              </a:defRPr>
            </a:pPr>
            <a:r>
              <a:rPr sz="1275" b="0">
                <a:solidFill>
                  <a:srgbClr val="53685B"/>
                </a:solidFill>
                <a:latin typeface="Segoe UI"/>
                <a:ea typeface="Segoe UI"/>
                <a:cs typeface="Segoe UI"/>
              </a:rPr>
              <a:t>14 / 19</a:t>
            </a:r>
          </a:p>
        </p:txBody>
      </p:sp>
      <p:sp>
        <p:nvSpPr>
          <p:cNvPr id="19" name="!!caption">
            <a:extLst>
              <a:ext uri="{FF2B5EF4-FFF2-40B4-BE49-F238E27FC236}">
                <a16:creationId xmlns:a16="http://schemas.microsoft.com/office/drawing/2014/main" id="{5129D993-F0EB-4E45-99B0-58A7D1224AC8}"/>
              </a:ext>
            </a:extLst>
          </p:cNvPr>
          <p:cNvSpPr>
            <a:spLocks noGrp="1"/>
          </p:cNvSpPr>
          <p:nvPr/>
        </p:nvSpPr>
        <p:spPr>
          <a:xfrm>
            <a:off x="609600" y="6381750"/>
            <a:ext cx="9525000" cy="228600"/>
          </a:xfrm>
          <a:prstGeom prst="rect">
            <a:avLst/>
          </a:prstGeom>
          <a:noFill/>
          <a:ln w="0">
            <a:noFill/>
          </a:ln>
        </p:spPr>
        <p:txBody>
          <a:bodyPr wrap="square" lIns="0" tIns="0" rIns="0" bIns="0" anchor="t">
            <a:normAutofit/>
          </a:bodyPr>
          <a:lstStyle/>
          <a:p>
            <a:pPr>
              <a:defRPr sz="1275" b="0">
                <a:solidFill>
                  <a:srgbClr val="53685B"/>
                </a:solidFill>
                <a:latin typeface="Segoe UI"/>
                <a:ea typeface="Segoe UI"/>
                <a:cs typeface="Segoe UI"/>
              </a:defRPr>
            </a:pPr>
            <a:r>
              <a:rPr sz="1275" b="0">
                <a:solidFill>
                  <a:srgbClr val="53685B"/>
                </a:solidFill>
                <a:latin typeface="Segoe UI"/>
                <a:ea typeface="Segoe UI"/>
                <a:cs typeface="Segoe UI"/>
              </a:rPr>
              <a:t>AI thử nghiệm · Chi tiết đánh giá ở phụ lục</a:t>
            </a:r>
          </a:p>
        </p:txBody>
      </p:sp>
      <p:pic>
        <p:nvPicPr>
          <p:cNvPr id="35" name="!!tech-logo-onnxruntime" descr="onnxruntime technology logo"/>
          <p:cNvPicPr>
            <a:picLocks noChangeAspect="1"/>
          </p:cNvPicPr>
          <p:nvPr/>
        </p:nvPicPr>
        <p:blipFill>
          <a:blip r:embed="rId5"/>
          <a:srcRect l="9924" t="23439" r="9336" b="27816"/>
          <a:stretch>
            <a:fillRect/>
          </a:stretch>
        </p:blipFill>
        <p:spPr>
          <a:xfrm>
            <a:off x="930289" y="1571625"/>
            <a:ext cx="1682721" cy="571500"/>
          </a:xfrm>
          <a:prstGeom prst="rect">
            <a:avLst/>
          </a:prstGeom>
        </p:spPr>
      </p:pic>
      <p:pic>
        <p:nvPicPr>
          <p:cNvPr id="36" name="!!tech-logo-fastapi-teal" descr="fastapi-teal technology logo"/>
          <p:cNvPicPr>
            <a:picLocks noChangeAspect="1"/>
          </p:cNvPicPr>
          <p:nvPr/>
        </p:nvPicPr>
        <p:blipFill>
          <a:blip r:embed="rId6"/>
          <a:srcRect l="11621" t="30352" r="11621" b="30352"/>
          <a:stretch>
            <a:fillRect/>
          </a:stretch>
        </p:blipFill>
        <p:spPr>
          <a:xfrm>
            <a:off x="3238500" y="1653824"/>
            <a:ext cx="2000250" cy="369003"/>
          </a:xfrm>
          <a:prstGeom prst="rect">
            <a:avLst/>
          </a:prstGeom>
        </p:spPr>
      </p:pic>
    </p:spTree>
    <p:extLst>
      <p:ext uri="{BB962C8B-B14F-4D97-AF65-F5344CB8AC3E}">
        <p14:creationId xmlns:p14="http://schemas.microsoft.com/office/powerpoint/2010/main" val="3814130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00">
        <p159:morph option="byObject"/>
      </p:transition>
    </mc:Choice>
    <mc:Fallback xmlns="" xmlns:p14="http://schemas.microsoft.com/office/powerpoint/2010/main">
      <p:transition advClick="1" spd="fast">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4F1E8"/>
        </a:solidFill>
        <a:effectLst/>
      </p:bgPr>
    </p:bg>
    <p:spTree>
      <p:nvGrpSpPr>
        <p:cNvPr id="1" name=""/>
        <p:cNvGrpSpPr/>
        <p:nvPr/>
      </p:nvGrpSpPr>
      <p:grpSpPr>
        <a:xfrm>
          <a:off x="0" y="0"/>
          <a:ext cx="0" cy="0"/>
          <a:chOff x="0" y="0"/>
          <a:chExt cx="0" cy="0"/>
        </a:xfrm>
      </p:grpSpPr>
      <p:pic>
        <p:nvPicPr>
          <p:cNvPr id="24" name="!!backdrop"/>
          <p:cNvPicPr>
            <a:picLocks noChangeAspect="1"/>
          </p:cNvPicPr>
          <p:nvPr/>
        </p:nvPicPr>
        <p:blipFill>
          <a:blip r:embed="rId3"/>
          <a:srcRect t="27" b="27"/>
          <a:stretch>
            <a:fillRect/>
          </a:stretch>
        </p:blipFill>
        <p:spPr>
          <a:xfrm>
            <a:off x="0" y="0"/>
            <a:ext cx="12192000" cy="6858000"/>
          </a:xfrm>
          <a:prstGeom prst="rect">
            <a:avLst/>
          </a:prstGeom>
        </p:spPr>
      </p:pic>
      <p:sp>
        <p:nvSpPr>
          <p:cNvPr id="2" name="!!headline">
            <a:extLst>
              <a:ext uri="{FF2B5EF4-FFF2-40B4-BE49-F238E27FC236}">
                <a16:creationId xmlns:a16="http://schemas.microsoft.com/office/drawing/2014/main" id="{C8C333B1-B2E8-47CE-8202-A9A63864902B}"/>
              </a:ext>
            </a:extLst>
          </p:cNvPr>
          <p:cNvSpPr>
            <a:spLocks noGrp="1"/>
          </p:cNvSpPr>
          <p:nvPr/>
        </p:nvSpPr>
        <p:spPr>
          <a:xfrm>
            <a:off x="609600" y="533400"/>
            <a:ext cx="10953750" cy="1104900"/>
          </a:xfrm>
          <a:prstGeom prst="rect">
            <a:avLst/>
          </a:prstGeom>
          <a:noFill/>
          <a:ln w="0">
            <a:noFill/>
          </a:ln>
        </p:spPr>
        <p:txBody>
          <a:bodyPr wrap="square" lIns="0" tIns="0" rIns="0" bIns="0" anchor="t">
            <a:normAutofit/>
          </a:bodyPr>
          <a:lstStyle/>
          <a:p>
            <a:pPr>
              <a:defRPr sz="3450" b="1">
                <a:solidFill>
                  <a:srgbClr val="142F24"/>
                </a:solidFill>
                <a:latin typeface="Segoe UI"/>
                <a:ea typeface="Segoe UI"/>
                <a:cs typeface="Segoe UI"/>
              </a:defRPr>
            </a:pPr>
            <a:r>
              <a:rPr sz="3450" b="1">
                <a:solidFill>
                  <a:srgbClr val="142F24"/>
                </a:solidFill>
                <a:latin typeface="Segoe UI"/>
                <a:ea typeface="Segoe UI"/>
                <a:cs typeface="Segoe UI"/>
              </a:rPr>
              <a:t>Các thử nghiệm dự đoán</a:t>
            </a:r>
          </a:p>
        </p:txBody>
      </p:sp>
      <p:sp>
        <p:nvSpPr>
          <p:cNvPr id="3" name="!!synthetic-symbol-selection">
            <a:extLst>
              <a:ext uri="{FF2B5EF4-FFF2-40B4-BE49-F238E27FC236}">
                <a16:creationId xmlns:a16="http://schemas.microsoft.com/office/drawing/2014/main" id="{687C282B-ADB5-421C-88EE-F296E807D95F}"/>
              </a:ext>
            </a:extLst>
          </p:cNvPr>
          <p:cNvSpPr>
            <a:spLocks noGrp="1"/>
          </p:cNvSpPr>
          <p:nvPr/>
        </p:nvSpPr>
        <p:spPr>
          <a:xfrm>
            <a:off x="685800" y="2362200"/>
            <a:ext cx="609600" cy="609600"/>
          </a:xfrm>
          <a:prstGeom prst="hexagon">
            <a:avLst/>
          </a:prstGeom>
          <a:solidFill>
            <a:srgbClr val="E5EBDD"/>
          </a:solidFill>
          <a:ln w="9525">
            <a:solidFill>
              <a:srgbClr val="166447"/>
            </a:solidFill>
          </a:ln>
        </p:spPr>
        <p:txBody>
          <a:bodyPr/>
          <a:lstStyle/>
          <a:p>
            <a:endParaRPr lang="en-US"/>
          </a:p>
        </p:txBody>
      </p:sp>
      <p:sp>
        <p:nvSpPr>
          <p:cNvPr id="4" name="!!synthetic-symbol-icon-0">
            <a:extLst>
              <a:ext uri="{FF2B5EF4-FFF2-40B4-BE49-F238E27FC236}">
                <a16:creationId xmlns:a16="http://schemas.microsoft.com/office/drawing/2014/main" id="{DD079F0C-3650-415E-98BE-4E3B103458BB}"/>
              </a:ext>
            </a:extLst>
          </p:cNvPr>
          <p:cNvSpPr>
            <a:spLocks noGrp="1"/>
          </p:cNvSpPr>
          <p:nvPr/>
        </p:nvSpPr>
        <p:spPr>
          <a:xfrm>
            <a:off x="923544" y="2599944"/>
            <a:ext cx="134112" cy="134112"/>
          </a:xfrm>
          <a:prstGeom prst="rect">
            <a:avLst/>
          </a:prstGeom>
          <a:noFill/>
          <a:ln w="19050">
            <a:solidFill>
              <a:srgbClr val="166447"/>
            </a:solidFill>
            <a:prstDash val="solid"/>
          </a:ln>
        </p:spPr>
        <p:txBody>
          <a:bodyPr/>
          <a:lstStyle/>
          <a:p>
            <a:endParaRPr lang="en-US"/>
          </a:p>
        </p:txBody>
      </p:sp>
      <p:sp>
        <p:nvSpPr>
          <p:cNvPr id="5" name="!!synthetic-symbol-icon-1">
            <a:extLst>
              <a:ext uri="{FF2B5EF4-FFF2-40B4-BE49-F238E27FC236}">
                <a16:creationId xmlns:a16="http://schemas.microsoft.com/office/drawing/2014/main" id="{C3220D69-C9C2-413F-B763-FB7330D1BDA7}"/>
              </a:ext>
            </a:extLst>
          </p:cNvPr>
          <p:cNvSpPr>
            <a:spLocks noGrp="1"/>
          </p:cNvSpPr>
          <p:nvPr/>
        </p:nvSpPr>
        <p:spPr>
          <a:xfrm>
            <a:off x="957072" y="2633472"/>
            <a:ext cx="67056" cy="67056"/>
          </a:xfrm>
          <a:prstGeom prst="rect">
            <a:avLst/>
          </a:prstGeom>
          <a:noFill/>
          <a:ln w="19050">
            <a:solidFill>
              <a:srgbClr val="166447"/>
            </a:solidFill>
            <a:prstDash val="solid"/>
          </a:ln>
        </p:spPr>
        <p:txBody>
          <a:bodyPr/>
          <a:lstStyle/>
          <a:p>
            <a:endParaRPr lang="en-US"/>
          </a:p>
        </p:txBody>
      </p:sp>
      <p:sp>
        <p:nvSpPr>
          <p:cNvPr id="6" name="!!synthetic-symbol-icon-2">
            <a:extLst>
              <a:ext uri="{FF2B5EF4-FFF2-40B4-BE49-F238E27FC236}">
                <a16:creationId xmlns:a16="http://schemas.microsoft.com/office/drawing/2014/main" id="{90771EED-E7F0-4339-B8C4-7ACC4C2B251F}"/>
              </a:ext>
            </a:extLst>
          </p:cNvPr>
          <p:cNvSpPr>
            <a:spLocks noGrp="1"/>
          </p:cNvSpPr>
          <p:nvPr/>
        </p:nvSpPr>
        <p:spPr>
          <a:xfrm>
            <a:off x="856488" y="2532888"/>
            <a:ext cx="268224" cy="268224"/>
          </a:xfrm>
          <a:custGeom>
            <a:avLst/>
            <a:gdLst/>
            <a:ahLst/>
            <a:cxnLst/>
            <a:rect l="0" t="0" r="0" b="0"/>
            <a:pathLst>
              <a:path w="228600" h="228600">
                <a:moveTo>
                  <a:pt x="85725" y="19050"/>
                </a:moveTo>
                <a:lnTo>
                  <a:pt x="85725" y="57150"/>
                </a:lnTo>
              </a:path>
            </a:pathLst>
          </a:custGeom>
          <a:noFill/>
          <a:ln w="19050">
            <a:solidFill>
              <a:srgbClr val="166447"/>
            </a:solidFill>
            <a:prstDash val="solid"/>
          </a:ln>
        </p:spPr>
        <p:txBody>
          <a:bodyPr/>
          <a:lstStyle/>
          <a:p>
            <a:endParaRPr lang="en-US"/>
          </a:p>
        </p:txBody>
      </p:sp>
      <p:sp>
        <p:nvSpPr>
          <p:cNvPr id="7" name="!!synthetic-symbol-icon-3">
            <a:extLst>
              <a:ext uri="{FF2B5EF4-FFF2-40B4-BE49-F238E27FC236}">
                <a16:creationId xmlns:a16="http://schemas.microsoft.com/office/drawing/2014/main" id="{58EE848D-47F8-489E-8F93-DEB3C0A5835C}"/>
              </a:ext>
            </a:extLst>
          </p:cNvPr>
          <p:cNvSpPr>
            <a:spLocks noGrp="1"/>
          </p:cNvSpPr>
          <p:nvPr/>
        </p:nvSpPr>
        <p:spPr>
          <a:xfrm>
            <a:off x="856488" y="2532888"/>
            <a:ext cx="268224" cy="268224"/>
          </a:xfrm>
          <a:custGeom>
            <a:avLst/>
            <a:gdLst/>
            <a:ahLst/>
            <a:cxnLst/>
            <a:rect l="0" t="0" r="0" b="0"/>
            <a:pathLst>
              <a:path w="228600" h="228600">
                <a:moveTo>
                  <a:pt x="85725" y="171450"/>
                </a:moveTo>
                <a:lnTo>
                  <a:pt x="85725" y="209550"/>
                </a:lnTo>
              </a:path>
            </a:pathLst>
          </a:custGeom>
          <a:noFill/>
          <a:ln w="19050">
            <a:solidFill>
              <a:srgbClr val="166447"/>
            </a:solidFill>
            <a:prstDash val="solid"/>
          </a:ln>
        </p:spPr>
        <p:txBody>
          <a:bodyPr/>
          <a:lstStyle/>
          <a:p>
            <a:endParaRPr lang="en-US"/>
          </a:p>
        </p:txBody>
      </p:sp>
      <p:sp>
        <p:nvSpPr>
          <p:cNvPr id="8" name="!!synthetic-symbol-icon-4">
            <a:extLst>
              <a:ext uri="{FF2B5EF4-FFF2-40B4-BE49-F238E27FC236}">
                <a16:creationId xmlns:a16="http://schemas.microsoft.com/office/drawing/2014/main" id="{1423C817-29A2-4179-AC39-916BEF868263}"/>
              </a:ext>
            </a:extLst>
          </p:cNvPr>
          <p:cNvSpPr>
            <a:spLocks noGrp="1"/>
          </p:cNvSpPr>
          <p:nvPr/>
        </p:nvSpPr>
        <p:spPr>
          <a:xfrm>
            <a:off x="856488" y="2532888"/>
            <a:ext cx="268224" cy="268224"/>
          </a:xfrm>
          <a:custGeom>
            <a:avLst/>
            <a:gdLst/>
            <a:ahLst/>
            <a:cxnLst/>
            <a:rect l="0" t="0" r="0" b="0"/>
            <a:pathLst>
              <a:path w="228600" h="228600">
                <a:moveTo>
                  <a:pt x="19050" y="85725"/>
                </a:moveTo>
                <a:lnTo>
                  <a:pt x="57150" y="85725"/>
                </a:lnTo>
              </a:path>
            </a:pathLst>
          </a:custGeom>
          <a:noFill/>
          <a:ln w="19050">
            <a:solidFill>
              <a:srgbClr val="166447"/>
            </a:solidFill>
            <a:prstDash val="solid"/>
          </a:ln>
        </p:spPr>
        <p:txBody>
          <a:bodyPr/>
          <a:lstStyle/>
          <a:p>
            <a:endParaRPr lang="en-US"/>
          </a:p>
        </p:txBody>
      </p:sp>
      <p:sp>
        <p:nvSpPr>
          <p:cNvPr id="9" name="!!synthetic-symbol-icon-5">
            <a:extLst>
              <a:ext uri="{FF2B5EF4-FFF2-40B4-BE49-F238E27FC236}">
                <a16:creationId xmlns:a16="http://schemas.microsoft.com/office/drawing/2014/main" id="{775E0BBA-3E03-4394-B620-5B999CDCD94F}"/>
              </a:ext>
            </a:extLst>
          </p:cNvPr>
          <p:cNvSpPr>
            <a:spLocks noGrp="1"/>
          </p:cNvSpPr>
          <p:nvPr/>
        </p:nvSpPr>
        <p:spPr>
          <a:xfrm>
            <a:off x="856488" y="2532888"/>
            <a:ext cx="268224" cy="268224"/>
          </a:xfrm>
          <a:custGeom>
            <a:avLst/>
            <a:gdLst/>
            <a:ahLst/>
            <a:cxnLst/>
            <a:rect l="0" t="0" r="0" b="0"/>
            <a:pathLst>
              <a:path w="228600" h="228600">
                <a:moveTo>
                  <a:pt x="171450" y="85725"/>
                </a:moveTo>
                <a:lnTo>
                  <a:pt x="209550" y="85725"/>
                </a:lnTo>
              </a:path>
            </a:pathLst>
          </a:custGeom>
          <a:noFill/>
          <a:ln w="19050">
            <a:solidFill>
              <a:srgbClr val="166447"/>
            </a:solidFill>
            <a:prstDash val="solid"/>
          </a:ln>
        </p:spPr>
        <p:txBody>
          <a:bodyPr/>
          <a:lstStyle/>
          <a:p>
            <a:endParaRPr lang="en-US"/>
          </a:p>
        </p:txBody>
      </p:sp>
      <p:sp>
        <p:nvSpPr>
          <p:cNvPr id="10" name="!!synthetic-symbol-icon-6">
            <a:extLst>
              <a:ext uri="{FF2B5EF4-FFF2-40B4-BE49-F238E27FC236}">
                <a16:creationId xmlns:a16="http://schemas.microsoft.com/office/drawing/2014/main" id="{6EBE0A23-C6E4-40A6-B7C6-B08CDEE317A3}"/>
              </a:ext>
            </a:extLst>
          </p:cNvPr>
          <p:cNvSpPr>
            <a:spLocks noGrp="1"/>
          </p:cNvSpPr>
          <p:nvPr/>
        </p:nvSpPr>
        <p:spPr>
          <a:xfrm>
            <a:off x="856488" y="2532888"/>
            <a:ext cx="268224" cy="268224"/>
          </a:xfrm>
          <a:custGeom>
            <a:avLst/>
            <a:gdLst/>
            <a:ahLst/>
            <a:cxnLst/>
            <a:rect l="0" t="0" r="0" b="0"/>
            <a:pathLst>
              <a:path w="228600" h="228600">
                <a:moveTo>
                  <a:pt x="142875" y="19050"/>
                </a:moveTo>
                <a:lnTo>
                  <a:pt x="142875" y="57150"/>
                </a:lnTo>
              </a:path>
            </a:pathLst>
          </a:custGeom>
          <a:noFill/>
          <a:ln w="19050">
            <a:solidFill>
              <a:srgbClr val="166447"/>
            </a:solidFill>
            <a:prstDash val="solid"/>
          </a:ln>
        </p:spPr>
        <p:txBody>
          <a:bodyPr/>
          <a:lstStyle/>
          <a:p>
            <a:endParaRPr lang="en-US"/>
          </a:p>
        </p:txBody>
      </p:sp>
      <p:sp>
        <p:nvSpPr>
          <p:cNvPr id="11" name="!!synthetic-symbol-icon-7">
            <a:extLst>
              <a:ext uri="{FF2B5EF4-FFF2-40B4-BE49-F238E27FC236}">
                <a16:creationId xmlns:a16="http://schemas.microsoft.com/office/drawing/2014/main" id="{17ADD63E-908F-441A-AF50-86EA59E2BDF2}"/>
              </a:ext>
            </a:extLst>
          </p:cNvPr>
          <p:cNvSpPr>
            <a:spLocks noGrp="1"/>
          </p:cNvSpPr>
          <p:nvPr/>
        </p:nvSpPr>
        <p:spPr>
          <a:xfrm>
            <a:off x="856488" y="2532888"/>
            <a:ext cx="268224" cy="268224"/>
          </a:xfrm>
          <a:custGeom>
            <a:avLst/>
            <a:gdLst/>
            <a:ahLst/>
            <a:cxnLst/>
            <a:rect l="0" t="0" r="0" b="0"/>
            <a:pathLst>
              <a:path w="228600" h="228600">
                <a:moveTo>
                  <a:pt x="142875" y="171450"/>
                </a:moveTo>
                <a:lnTo>
                  <a:pt x="142875" y="209550"/>
                </a:lnTo>
              </a:path>
            </a:pathLst>
          </a:custGeom>
          <a:noFill/>
          <a:ln w="19050">
            <a:solidFill>
              <a:srgbClr val="166447"/>
            </a:solidFill>
            <a:prstDash val="solid"/>
          </a:ln>
        </p:spPr>
        <p:txBody>
          <a:bodyPr/>
          <a:lstStyle/>
          <a:p>
            <a:endParaRPr lang="en-US"/>
          </a:p>
        </p:txBody>
      </p:sp>
      <p:sp>
        <p:nvSpPr>
          <p:cNvPr id="12" name="!!synthetic-symbol-icon-8">
            <a:extLst>
              <a:ext uri="{FF2B5EF4-FFF2-40B4-BE49-F238E27FC236}">
                <a16:creationId xmlns:a16="http://schemas.microsoft.com/office/drawing/2014/main" id="{1EEC89C5-FD83-4BE1-8358-05A7344D2333}"/>
              </a:ext>
            </a:extLst>
          </p:cNvPr>
          <p:cNvSpPr>
            <a:spLocks noGrp="1"/>
          </p:cNvSpPr>
          <p:nvPr/>
        </p:nvSpPr>
        <p:spPr>
          <a:xfrm>
            <a:off x="856488" y="2532888"/>
            <a:ext cx="268224" cy="268224"/>
          </a:xfrm>
          <a:custGeom>
            <a:avLst/>
            <a:gdLst/>
            <a:ahLst/>
            <a:cxnLst/>
            <a:rect l="0" t="0" r="0" b="0"/>
            <a:pathLst>
              <a:path w="228600" h="228600">
                <a:moveTo>
                  <a:pt x="19050" y="142875"/>
                </a:moveTo>
                <a:lnTo>
                  <a:pt x="57150" y="142875"/>
                </a:lnTo>
              </a:path>
            </a:pathLst>
          </a:custGeom>
          <a:noFill/>
          <a:ln w="19050">
            <a:solidFill>
              <a:srgbClr val="166447"/>
            </a:solidFill>
            <a:prstDash val="solid"/>
          </a:ln>
        </p:spPr>
        <p:txBody>
          <a:bodyPr/>
          <a:lstStyle/>
          <a:p>
            <a:endParaRPr lang="en-US"/>
          </a:p>
        </p:txBody>
      </p:sp>
      <p:sp>
        <p:nvSpPr>
          <p:cNvPr id="13" name="!!synthetic-symbol-icon-9">
            <a:extLst>
              <a:ext uri="{FF2B5EF4-FFF2-40B4-BE49-F238E27FC236}">
                <a16:creationId xmlns:a16="http://schemas.microsoft.com/office/drawing/2014/main" id="{0A2D151E-8B76-4BDF-9E9D-6634493234E9}"/>
              </a:ext>
            </a:extLst>
          </p:cNvPr>
          <p:cNvSpPr>
            <a:spLocks noGrp="1"/>
          </p:cNvSpPr>
          <p:nvPr/>
        </p:nvSpPr>
        <p:spPr>
          <a:xfrm>
            <a:off x="856488" y="2532888"/>
            <a:ext cx="268224" cy="268224"/>
          </a:xfrm>
          <a:custGeom>
            <a:avLst/>
            <a:gdLst/>
            <a:ahLst/>
            <a:cxnLst/>
            <a:rect l="0" t="0" r="0" b="0"/>
            <a:pathLst>
              <a:path w="228600" h="228600">
                <a:moveTo>
                  <a:pt x="171450" y="142875"/>
                </a:moveTo>
                <a:lnTo>
                  <a:pt x="209550" y="142875"/>
                </a:lnTo>
              </a:path>
            </a:pathLst>
          </a:custGeom>
          <a:noFill/>
          <a:ln w="19050">
            <a:solidFill>
              <a:srgbClr val="166447"/>
            </a:solidFill>
            <a:prstDash val="solid"/>
          </a:ln>
        </p:spPr>
        <p:txBody>
          <a:bodyPr/>
          <a:lstStyle/>
          <a:p>
            <a:endParaRPr lang="en-US"/>
          </a:p>
        </p:txBody>
      </p:sp>
      <p:sp>
        <p:nvSpPr>
          <p:cNvPr id="14" name="!!synthetic">
            <a:extLst>
              <a:ext uri="{FF2B5EF4-FFF2-40B4-BE49-F238E27FC236}">
                <a16:creationId xmlns:a16="http://schemas.microsoft.com/office/drawing/2014/main" id="{7D1D60E9-BC99-4059-A68A-BCA83CE3DD1B}"/>
              </a:ext>
            </a:extLst>
          </p:cNvPr>
          <p:cNvSpPr>
            <a:spLocks noGrp="1"/>
          </p:cNvSpPr>
          <p:nvPr/>
        </p:nvSpPr>
        <p:spPr>
          <a:xfrm>
            <a:off x="1600200" y="2362200"/>
            <a:ext cx="4429125" cy="628650"/>
          </a:xfrm>
          <a:prstGeom prst="rect">
            <a:avLst/>
          </a:prstGeom>
          <a:noFill/>
          <a:ln w="0">
            <a:noFill/>
          </a:ln>
        </p:spPr>
        <p:txBody>
          <a:bodyPr wrap="square" lIns="0" tIns="0" rIns="0" bIns="0" anchor="t">
            <a:normAutofit/>
          </a:bodyPr>
          <a:lstStyle/>
          <a:p>
            <a:pPr>
              <a:defRPr sz="2850" b="1">
                <a:solidFill>
                  <a:srgbClr val="142F24"/>
                </a:solidFill>
                <a:latin typeface="Segoe UI"/>
                <a:ea typeface="Segoe UI"/>
                <a:cs typeface="Segoe UI"/>
              </a:defRPr>
            </a:pPr>
            <a:r>
              <a:rPr sz="2850" b="1">
                <a:solidFill>
                  <a:srgbClr val="142F24"/>
                </a:solidFill>
                <a:latin typeface="Segoe UI"/>
                <a:ea typeface="Segoe UI"/>
                <a:cs typeface="Segoe UI"/>
              </a:rPr>
              <a:t>Dữ liệu synthetic</a:t>
            </a:r>
          </a:p>
        </p:txBody>
      </p:sp>
      <p:sp>
        <p:nvSpPr>
          <p:cNvPr id="15" name="!!synthetic-detail">
            <a:extLst>
              <a:ext uri="{FF2B5EF4-FFF2-40B4-BE49-F238E27FC236}">
                <a16:creationId xmlns:a16="http://schemas.microsoft.com/office/drawing/2014/main" id="{5A638616-357F-46C4-9C51-2B4206462FC0}"/>
              </a:ext>
            </a:extLst>
          </p:cNvPr>
          <p:cNvSpPr>
            <a:spLocks noGrp="1"/>
          </p:cNvSpPr>
          <p:nvPr/>
        </p:nvSpPr>
        <p:spPr>
          <a:xfrm>
            <a:off x="1600200" y="3228975"/>
            <a:ext cx="4286250" cy="1333500"/>
          </a:xfrm>
          <a:prstGeom prst="rect">
            <a:avLst/>
          </a:prstGeom>
          <a:noFill/>
          <a:ln w="0">
            <a:noFill/>
          </a:ln>
        </p:spPr>
        <p:txBody>
          <a:bodyPr wrap="square" lIns="0" tIns="0" rIns="0" bIns="0" anchor="t">
            <a:normAutofit/>
          </a:bodyPr>
          <a:lstStyle/>
          <a:p>
            <a:pPr>
              <a:defRPr sz="2025" b="0">
                <a:solidFill>
                  <a:srgbClr val="53685B"/>
                </a:solidFill>
                <a:latin typeface="Segoe UI"/>
                <a:ea typeface="Segoe UI"/>
                <a:cs typeface="Segoe UI"/>
              </a:defRPr>
            </a:pPr>
            <a:r>
              <a:rPr sz="2025" b="0">
                <a:solidFill>
                  <a:srgbClr val="53685B"/>
                </a:solidFill>
                <a:latin typeface="Segoe UI"/>
                <a:ea typeface="Segoe UI"/>
                <a:cs typeface="Segoe UI"/>
              </a:rPr>
              <a:t>scikit-learn → ONNX Runtime</a:t>
            </a:r>
          </a:p>
          <a:p>
            <a:pPr>
              <a:defRPr sz="2025" b="0">
                <a:solidFill>
                  <a:srgbClr val="53685B"/>
                </a:solidFill>
                <a:latin typeface="Segoe UI"/>
                <a:ea typeface="Segoe UI"/>
                <a:cs typeface="Segoe UI"/>
              </a:defRPr>
            </a:pPr>
            <a:r>
              <a:rPr sz="2025" b="0">
                <a:solidFill>
                  <a:srgbClr val="53685B"/>
                </a:solidFill>
                <a:latin typeface="Segoe UI"/>
                <a:ea typeface="Segoe UI"/>
                <a:cs typeface="Segoe UI"/>
              </a:rPr>
              <a:t>Chưa có giá trị dự báo thực địa</a:t>
            </a:r>
          </a:p>
        </p:txBody>
      </p:sp>
      <p:sp>
        <p:nvSpPr>
          <p:cNvPr id="16" name="!!rule-line">
            <a:extLst>
              <a:ext uri="{FF2B5EF4-FFF2-40B4-BE49-F238E27FC236}">
                <a16:creationId xmlns:a16="http://schemas.microsoft.com/office/drawing/2014/main" id="{E53A5EEA-1543-42AC-B77E-A53A28F7B2D9}"/>
              </a:ext>
            </a:extLst>
          </p:cNvPr>
          <p:cNvSpPr>
            <a:spLocks noGrp="1"/>
          </p:cNvSpPr>
          <p:nvPr/>
        </p:nvSpPr>
        <p:spPr>
          <a:xfrm>
            <a:off x="609600" y="4867275"/>
            <a:ext cx="5238750" cy="19050"/>
          </a:xfrm>
          <a:prstGeom prst="rect">
            <a:avLst/>
          </a:prstGeom>
          <a:solidFill>
            <a:srgbClr val="166447"/>
          </a:solidFill>
          <a:ln w="0">
            <a:noFill/>
          </a:ln>
        </p:spPr>
        <p:txBody>
          <a:bodyPr/>
          <a:lstStyle/>
          <a:p>
            <a:endParaRPr lang="en-US"/>
          </a:p>
        </p:txBody>
      </p:sp>
      <p:sp>
        <p:nvSpPr>
          <p:cNvPr id="17" name="!!rule-symbol-selection">
            <a:extLst>
              <a:ext uri="{FF2B5EF4-FFF2-40B4-BE49-F238E27FC236}">
                <a16:creationId xmlns:a16="http://schemas.microsoft.com/office/drawing/2014/main" id="{DCB65B5E-6069-420A-BEBA-A29F124E028A}"/>
              </a:ext>
            </a:extLst>
          </p:cNvPr>
          <p:cNvSpPr>
            <a:spLocks noGrp="1"/>
          </p:cNvSpPr>
          <p:nvPr/>
        </p:nvSpPr>
        <p:spPr>
          <a:xfrm>
            <a:off x="609600" y="5114925"/>
            <a:ext cx="666750" cy="666750"/>
          </a:xfrm>
          <a:prstGeom prst="ellipse">
            <a:avLst/>
          </a:prstGeom>
          <a:solidFill>
            <a:srgbClr val="166447"/>
          </a:solidFill>
          <a:ln w="28575">
            <a:solidFill>
              <a:srgbClr val="C8A45B"/>
            </a:solidFill>
          </a:ln>
        </p:spPr>
        <p:txBody>
          <a:bodyPr/>
          <a:lstStyle/>
          <a:p>
            <a:endParaRPr lang="en-US"/>
          </a:p>
        </p:txBody>
      </p:sp>
      <p:sp>
        <p:nvSpPr>
          <p:cNvPr id="18" name="!!rule-symbol-icon-0">
            <a:extLst>
              <a:ext uri="{FF2B5EF4-FFF2-40B4-BE49-F238E27FC236}">
                <a16:creationId xmlns:a16="http://schemas.microsoft.com/office/drawing/2014/main" id="{C2882E14-D77D-40C8-B5AF-C0DDB2337B3C}"/>
              </a:ext>
            </a:extLst>
          </p:cNvPr>
          <p:cNvSpPr>
            <a:spLocks noGrp="1"/>
          </p:cNvSpPr>
          <p:nvPr/>
        </p:nvSpPr>
        <p:spPr>
          <a:xfrm>
            <a:off x="792956" y="5298281"/>
            <a:ext cx="210026" cy="210026"/>
          </a:xfrm>
          <a:prstGeom prst="ellipse">
            <a:avLst/>
          </a:prstGeom>
          <a:noFill/>
          <a:ln w="19050">
            <a:solidFill>
              <a:srgbClr val="FFFFFF"/>
            </a:solidFill>
            <a:prstDash val="solid"/>
          </a:ln>
        </p:spPr>
        <p:txBody>
          <a:bodyPr/>
          <a:lstStyle/>
          <a:p>
            <a:endParaRPr lang="en-US"/>
          </a:p>
        </p:txBody>
      </p:sp>
      <p:sp>
        <p:nvSpPr>
          <p:cNvPr id="19" name="!!rule-symbol-icon-1">
            <a:extLst>
              <a:ext uri="{FF2B5EF4-FFF2-40B4-BE49-F238E27FC236}">
                <a16:creationId xmlns:a16="http://schemas.microsoft.com/office/drawing/2014/main" id="{8B273C73-AC5C-4246-9638-507713C241E6}"/>
              </a:ext>
            </a:extLst>
          </p:cNvPr>
          <p:cNvSpPr>
            <a:spLocks noGrp="1"/>
          </p:cNvSpPr>
          <p:nvPr/>
        </p:nvSpPr>
        <p:spPr>
          <a:xfrm>
            <a:off x="762953" y="5268278"/>
            <a:ext cx="360045" cy="360045"/>
          </a:xfrm>
          <a:custGeom>
            <a:avLst/>
            <a:gdLst/>
            <a:ahLst/>
            <a:cxnLst/>
            <a:rect l="0" t="0" r="0" b="0"/>
            <a:pathLst>
              <a:path w="228600" h="228600">
                <a:moveTo>
                  <a:pt x="133350" y="133350"/>
                </a:moveTo>
                <a:lnTo>
                  <a:pt x="209550" y="209550"/>
                </a:lnTo>
              </a:path>
            </a:pathLst>
          </a:custGeom>
          <a:noFill/>
          <a:ln w="19050">
            <a:solidFill>
              <a:srgbClr val="FFFFFF"/>
            </a:solidFill>
            <a:prstDash val="solid"/>
          </a:ln>
        </p:spPr>
        <p:txBody>
          <a:bodyPr/>
          <a:lstStyle/>
          <a:p>
            <a:endParaRPr lang="en-US"/>
          </a:p>
        </p:txBody>
      </p:sp>
      <p:sp>
        <p:nvSpPr>
          <p:cNvPr id="20" name="!!rule">
            <a:extLst>
              <a:ext uri="{FF2B5EF4-FFF2-40B4-BE49-F238E27FC236}">
                <a16:creationId xmlns:a16="http://schemas.microsoft.com/office/drawing/2014/main" id="{01DEBA63-676E-4D04-9ACC-DC3F8CA4875B}"/>
              </a:ext>
            </a:extLst>
          </p:cNvPr>
          <p:cNvSpPr>
            <a:spLocks noGrp="1"/>
          </p:cNvSpPr>
          <p:nvPr/>
        </p:nvSpPr>
        <p:spPr>
          <a:xfrm>
            <a:off x="1447800" y="5162550"/>
            <a:ext cx="4591050" cy="581025"/>
          </a:xfrm>
          <a:prstGeom prst="rect">
            <a:avLst/>
          </a:prstGeom>
          <a:noFill/>
          <a:ln w="0">
            <a:noFill/>
          </a:ln>
        </p:spPr>
        <p:txBody>
          <a:bodyPr wrap="square" lIns="0" tIns="0" rIns="0" bIns="0" anchor="t">
            <a:normAutofit/>
          </a:bodyPr>
          <a:lstStyle/>
          <a:p>
            <a:pPr>
              <a:defRPr sz="2175" b="1">
                <a:solidFill>
                  <a:srgbClr val="166447"/>
                </a:solidFill>
                <a:latin typeface="Segoe UI"/>
                <a:ea typeface="Segoe UI"/>
                <a:cs typeface="Segoe UI"/>
              </a:defRPr>
            </a:pPr>
            <a:r>
              <a:rPr sz="2175" b="1">
                <a:solidFill>
                  <a:srgbClr val="166447"/>
                </a:solidFill>
                <a:latin typeface="Segoe UI"/>
                <a:ea typeface="Segoe UI"/>
                <a:cs typeface="Segoe UI"/>
              </a:rPr>
              <a:t>Đối chiếu ngưỡng là quy tắc</a:t>
            </a:r>
          </a:p>
        </p:txBody>
      </p:sp>
      <p:sp>
        <p:nvSpPr>
          <p:cNvPr id="21" name="!!rule-caveat">
            <a:extLst>
              <a:ext uri="{FF2B5EF4-FFF2-40B4-BE49-F238E27FC236}">
                <a16:creationId xmlns:a16="http://schemas.microsoft.com/office/drawing/2014/main" id="{B77BF9E6-429B-40E8-B0D3-43B46A520A18}"/>
              </a:ext>
            </a:extLst>
          </p:cNvPr>
          <p:cNvSpPr>
            <a:spLocks noGrp="1"/>
          </p:cNvSpPr>
          <p:nvPr/>
        </p:nvSpPr>
        <p:spPr>
          <a:xfrm>
            <a:off x="609600" y="5829300"/>
            <a:ext cx="5572125" cy="419100"/>
          </a:xfrm>
          <a:prstGeom prst="rect">
            <a:avLst/>
          </a:prstGeom>
          <a:noFill/>
          <a:ln w="0">
            <a:noFill/>
          </a:ln>
        </p:spPr>
        <p:txBody>
          <a:bodyPr wrap="square" lIns="0" tIns="0" rIns="0" bIns="0" anchor="t">
            <a:normAutofit/>
          </a:bodyPr>
          <a:lstStyle/>
          <a:p>
            <a:pPr>
              <a:defRPr sz="1725" b="0">
                <a:solidFill>
                  <a:srgbClr val="825525"/>
                </a:solidFill>
                <a:latin typeface="Segoe UI"/>
                <a:ea typeface="Segoe UI"/>
                <a:cs typeface="Segoe UI"/>
              </a:defRPr>
            </a:pPr>
            <a:r>
              <a:rPr sz="1725" b="0">
                <a:solidFill>
                  <a:srgbClr val="825525"/>
                </a:solidFill>
                <a:latin typeface="Segoe UI"/>
                <a:ea typeface="Segoe UI"/>
                <a:cs typeface="Segoe UI"/>
              </a:rPr>
              <a:t>Ngưỡng trong demo chưa xác minh pháp lý</a:t>
            </a:r>
          </a:p>
        </p:txBody>
      </p:sp>
      <p:sp>
        <p:nvSpPr>
          <p:cNvPr id="22" name="!!page">
            <a:extLst>
              <a:ext uri="{FF2B5EF4-FFF2-40B4-BE49-F238E27FC236}">
                <a16:creationId xmlns:a16="http://schemas.microsoft.com/office/drawing/2014/main" id="{F935CFCC-753F-44EA-BD4F-48DEDCF9C40B}"/>
              </a:ext>
            </a:extLst>
          </p:cNvPr>
          <p:cNvSpPr>
            <a:spLocks noGrp="1"/>
          </p:cNvSpPr>
          <p:nvPr/>
        </p:nvSpPr>
        <p:spPr>
          <a:xfrm>
            <a:off x="10706100" y="6381750"/>
            <a:ext cx="876300" cy="228600"/>
          </a:xfrm>
          <a:prstGeom prst="rect">
            <a:avLst/>
          </a:prstGeom>
          <a:noFill/>
          <a:ln w="0">
            <a:noFill/>
          </a:ln>
        </p:spPr>
        <p:txBody>
          <a:bodyPr wrap="square" lIns="0" tIns="0" rIns="0" bIns="0" anchor="t">
            <a:normAutofit/>
          </a:bodyPr>
          <a:lstStyle/>
          <a:p>
            <a:pPr>
              <a:defRPr sz="1275" b="0">
                <a:solidFill>
                  <a:srgbClr val="53685B"/>
                </a:solidFill>
                <a:latin typeface="Segoe UI"/>
                <a:ea typeface="Segoe UI"/>
                <a:cs typeface="Segoe UI"/>
              </a:defRPr>
            </a:pPr>
            <a:r>
              <a:rPr sz="1275" b="0">
                <a:solidFill>
                  <a:srgbClr val="53685B"/>
                </a:solidFill>
                <a:latin typeface="Segoe UI"/>
                <a:ea typeface="Segoe UI"/>
                <a:cs typeface="Segoe UI"/>
              </a:rPr>
              <a:t>15 / 19</a:t>
            </a:r>
          </a:p>
        </p:txBody>
      </p:sp>
      <p:sp>
        <p:nvSpPr>
          <p:cNvPr id="23" name="!!caption">
            <a:extLst>
              <a:ext uri="{FF2B5EF4-FFF2-40B4-BE49-F238E27FC236}">
                <a16:creationId xmlns:a16="http://schemas.microsoft.com/office/drawing/2014/main" id="{D6DA4087-78FA-4BAE-8BF5-BD55A51086FA}"/>
              </a:ext>
            </a:extLst>
          </p:cNvPr>
          <p:cNvSpPr>
            <a:spLocks noGrp="1"/>
          </p:cNvSpPr>
          <p:nvPr/>
        </p:nvSpPr>
        <p:spPr>
          <a:xfrm>
            <a:off x="609600" y="6381750"/>
            <a:ext cx="9525000" cy="228600"/>
          </a:xfrm>
          <a:prstGeom prst="rect">
            <a:avLst/>
          </a:prstGeom>
          <a:noFill/>
          <a:ln w="0">
            <a:noFill/>
          </a:ln>
        </p:spPr>
        <p:txBody>
          <a:bodyPr wrap="square" lIns="0" tIns="0" rIns="0" bIns="0" anchor="t">
            <a:normAutofit/>
          </a:bodyPr>
          <a:lstStyle/>
          <a:p>
            <a:pPr>
              <a:defRPr sz="1275" b="0">
                <a:solidFill>
                  <a:srgbClr val="53685B"/>
                </a:solidFill>
                <a:latin typeface="Segoe UI"/>
                <a:ea typeface="Segoe UI"/>
                <a:cs typeface="Segoe UI"/>
              </a:defRPr>
            </a:pPr>
            <a:r>
              <a:rPr sz="1275" b="0">
                <a:solidFill>
                  <a:srgbClr val="53685B"/>
                </a:solidFill>
                <a:latin typeface="Segoe UI"/>
                <a:ea typeface="Segoe UI"/>
                <a:cs typeface="Segoe UI"/>
              </a:rPr>
              <a:t>Mô hình tabular dùng dữ liệu synthetic</a:t>
            </a:r>
          </a:p>
        </p:txBody>
      </p:sp>
    </p:spTree>
    <p:extLst>
      <p:ext uri="{BB962C8B-B14F-4D97-AF65-F5344CB8AC3E}">
        <p14:creationId xmlns:p14="http://schemas.microsoft.com/office/powerpoint/2010/main" val="9891295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00">
        <p159:morph option="byObject"/>
      </p:transition>
    </mc:Choice>
    <mc:Fallback xmlns="" xmlns:p14="http://schemas.microsoft.com/office/powerpoint/2010/main">
      <p:transition advClick="1" spd="fast">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02C21"/>
        </a:solidFill>
        <a:effectLst/>
      </p:bgPr>
    </p:bg>
    <p:spTree>
      <p:nvGrpSpPr>
        <p:cNvPr id="1" name=""/>
        <p:cNvGrpSpPr/>
        <p:nvPr/>
      </p:nvGrpSpPr>
      <p:grpSpPr>
        <a:xfrm>
          <a:off x="0" y="0"/>
          <a:ext cx="0" cy="0"/>
          <a:chOff x="0" y="0"/>
          <a:chExt cx="0" cy="0"/>
        </a:xfrm>
      </p:grpSpPr>
      <p:pic>
        <p:nvPicPr>
          <p:cNvPr id="9" name="!!backdrop"/>
          <p:cNvPicPr>
            <a:picLocks noChangeAspect="1"/>
          </p:cNvPicPr>
          <p:nvPr/>
        </p:nvPicPr>
        <p:blipFill>
          <a:blip r:embed="rId3"/>
          <a:srcRect t="27" b="27"/>
          <a:stretch>
            <a:fillRect/>
          </a:stretch>
        </p:blipFill>
        <p:spPr>
          <a:xfrm>
            <a:off x="0" y="0"/>
            <a:ext cx="12192000" cy="6858000"/>
          </a:xfrm>
          <a:prstGeom prst="rect">
            <a:avLst/>
          </a:prstGeom>
        </p:spPr>
      </p:pic>
      <p:sp>
        <p:nvSpPr>
          <p:cNvPr id="2" name="!!backdrop-tint">
            <a:extLst>
              <a:ext uri="{FF2B5EF4-FFF2-40B4-BE49-F238E27FC236}">
                <a16:creationId xmlns:a16="http://schemas.microsoft.com/office/drawing/2014/main" id="{6CDC97E2-591B-417D-ACD4-C5E08CC3BBF1}"/>
              </a:ext>
            </a:extLst>
          </p:cNvPr>
          <p:cNvSpPr>
            <a:spLocks noGrp="1"/>
          </p:cNvSpPr>
          <p:nvPr/>
        </p:nvSpPr>
        <p:spPr>
          <a:xfrm>
            <a:off x="0" y="0"/>
            <a:ext cx="12192000" cy="6858000"/>
          </a:xfrm>
          <a:prstGeom prst="rect">
            <a:avLst/>
          </a:prstGeom>
          <a:solidFill>
            <a:srgbClr val="102C21">
              <a:alpha val="35000"/>
            </a:srgbClr>
          </a:solidFill>
          <a:ln w="0">
            <a:noFill/>
          </a:ln>
        </p:spPr>
        <p:txBody>
          <a:bodyPr/>
          <a:lstStyle/>
          <a:p>
            <a:endParaRPr lang="en-US"/>
          </a:p>
        </p:txBody>
      </p:sp>
      <p:sp>
        <p:nvSpPr>
          <p:cNvPr id="3" name="!!headline">
            <a:extLst>
              <a:ext uri="{FF2B5EF4-FFF2-40B4-BE49-F238E27FC236}">
                <a16:creationId xmlns:a16="http://schemas.microsoft.com/office/drawing/2014/main" id="{AC42F45C-8C27-4CCC-BB2F-4AC470A7FB09}"/>
              </a:ext>
            </a:extLst>
          </p:cNvPr>
          <p:cNvSpPr>
            <a:spLocks noGrp="1"/>
          </p:cNvSpPr>
          <p:nvPr/>
        </p:nvSpPr>
        <p:spPr>
          <a:xfrm>
            <a:off x="609600" y="533400"/>
            <a:ext cx="10953750" cy="1104900"/>
          </a:xfrm>
          <a:prstGeom prst="rect">
            <a:avLst/>
          </a:prstGeom>
          <a:noFill/>
          <a:ln w="0">
            <a:noFill/>
          </a:ln>
        </p:spPr>
        <p:txBody>
          <a:bodyPr wrap="square" lIns="0" tIns="0" rIns="0" bIns="0" anchor="t">
            <a:normAutofit/>
          </a:bodyPr>
          <a:lstStyle/>
          <a:p>
            <a:pPr>
              <a:defRPr sz="3450" b="1">
                <a:solidFill>
                  <a:srgbClr val="F4F1E8"/>
                </a:solidFill>
                <a:latin typeface="Segoe UI"/>
                <a:ea typeface="Segoe UI"/>
                <a:cs typeface="Segoe UI"/>
              </a:defRPr>
            </a:pPr>
            <a:r>
              <a:rPr sz="3450" b="1">
                <a:solidFill>
                  <a:srgbClr val="F4F1E8"/>
                </a:solidFill>
                <a:latin typeface="Segoe UI"/>
                <a:ea typeface="Segoe UI"/>
                <a:cs typeface="Segoe UI"/>
              </a:rPr>
              <a:t>MVP hiện tại</a:t>
            </a:r>
          </a:p>
        </p:txBody>
      </p:sp>
      <p:graphicFrame>
        <p:nvGraphicFramePr>
          <p:cNvPr id="12" name="Table 11"/>
          <p:cNvGraphicFramePr/>
          <p:nvPr/>
        </p:nvGraphicFramePr>
        <p:xfrm>
          <a:off x="609600" y="2114550"/>
          <a:ext cx="10896600" cy="3733800"/>
        </p:xfrm>
        <a:graphic>
          <a:graphicData uri="http://schemas.openxmlformats.org/drawingml/2006/table">
            <a:tbl>
              <a:tblPr/>
              <a:tblGrid>
                <a:gridCol w="1647825">
                  <a:extLst>
                    <a:ext uri="{9D8B030D-6E8A-4147-A177-3AD203B41FA5}">
                      <a16:colId xmlns:a16="http://schemas.microsoft.com/office/drawing/2014/main" val="20000"/>
                    </a:ext>
                  </a:extLst>
                </a:gridCol>
                <a:gridCol w="4171950">
                  <a:extLst>
                    <a:ext uri="{9D8B030D-6E8A-4147-A177-3AD203B41FA5}">
                      <a16:colId xmlns:a16="http://schemas.microsoft.com/office/drawing/2014/main" val="20001"/>
                    </a:ext>
                  </a:extLst>
                </a:gridCol>
                <a:gridCol w="5076825">
                  <a:extLst>
                    <a:ext uri="{9D8B030D-6E8A-4147-A177-3AD203B41FA5}">
                      <a16:colId xmlns:a16="http://schemas.microsoft.com/office/drawing/2014/main" val="20002"/>
                    </a:ext>
                  </a:extLst>
                </a:gridCol>
              </a:tblGrid>
              <a:tr h="933450">
                <a:tc>
                  <a:txBody>
                    <a:bodyPr/>
                    <a:lstStyle/>
                    <a:p>
                      <a:r>
                        <a:rPr sz="1875" b="1">
                          <a:solidFill>
                            <a:srgbClr val="F4F1E8"/>
                          </a:solidFill>
                          <a:latin typeface="Segoe UI"/>
                          <a:ea typeface="Segoe UI"/>
                          <a:cs typeface="Segoe UI"/>
                        </a:rPr>
                        <a:t>Luồng</a:t>
                      </a:r>
                    </a:p>
                  </a:txBody>
                  <a:tcPr anchor="ctr">
                    <a:solidFill>
                      <a:srgbClr val="166447"/>
                    </a:solidFill>
                  </a:tcPr>
                </a:tc>
                <a:tc>
                  <a:txBody>
                    <a:bodyPr/>
                    <a:lstStyle/>
                    <a:p>
                      <a:r>
                        <a:rPr sz="1875" b="1">
                          <a:solidFill>
                            <a:srgbClr val="F4F1E8"/>
                          </a:solidFill>
                          <a:latin typeface="Segoe UI"/>
                          <a:ea typeface="Segoe UI"/>
                          <a:cs typeface="Segoe UI"/>
                        </a:rPr>
                        <a:t>Hiện có</a:t>
                      </a:r>
                    </a:p>
                  </a:txBody>
                  <a:tcPr anchor="ctr">
                    <a:solidFill>
                      <a:srgbClr val="166447"/>
                    </a:solidFill>
                  </a:tcPr>
                </a:tc>
                <a:tc>
                  <a:txBody>
                    <a:bodyPr/>
                    <a:lstStyle/>
                    <a:p>
                      <a:r>
                        <a:rPr sz="1875" b="1">
                          <a:solidFill>
                            <a:srgbClr val="F4F1E8"/>
                          </a:solidFill>
                          <a:latin typeface="Segoe UI"/>
                          <a:ea typeface="Segoe UI"/>
                          <a:cs typeface="Segoe UI"/>
                        </a:rPr>
                        <a:t>Cần xác nhận</a:t>
                      </a:r>
                    </a:p>
                  </a:txBody>
                  <a:tcPr anchor="ctr">
                    <a:solidFill>
                      <a:srgbClr val="166447"/>
                    </a:solidFill>
                  </a:tcPr>
                </a:tc>
                <a:extLst>
                  <a:ext uri="{0D108BD9-81ED-4DB2-BD59-A6C34878D82A}">
                    <a16:rowId xmlns:a16="http://schemas.microsoft.com/office/drawing/2014/main" val="10000"/>
                  </a:ext>
                </a:extLst>
              </a:tr>
              <a:tr h="933450">
                <a:tc>
                  <a:txBody>
                    <a:bodyPr/>
                    <a:lstStyle/>
                    <a:p>
                      <a:r>
                        <a:rPr sz="1800" b="0">
                          <a:solidFill>
                            <a:srgbClr val="F4F1E8"/>
                          </a:solidFill>
                          <a:latin typeface="Segoe UI"/>
                          <a:ea typeface="Segoe UI"/>
                          <a:cs typeface="Segoe UI"/>
                        </a:rPr>
                        <a:t>Cloud</a:t>
                      </a:r>
                    </a:p>
                  </a:txBody>
                  <a:tcPr anchor="ctr">
                    <a:solidFill>
                      <a:srgbClr val="143629"/>
                    </a:solidFill>
                  </a:tcPr>
                </a:tc>
                <a:tc>
                  <a:txBody>
                    <a:bodyPr/>
                    <a:lstStyle/>
                    <a:p>
                      <a:r>
                        <a:rPr sz="1800" b="0">
                          <a:solidFill>
                            <a:srgbClr val="F4F1E8"/>
                          </a:solidFill>
                          <a:latin typeface="Segoe UI"/>
                          <a:ea typeface="Segoe UI"/>
                          <a:cs typeface="Segoe UI"/>
                        </a:rPr>
                        <a:t>UI, API, RLS, Google login</a:t>
                      </a:r>
                    </a:p>
                  </a:txBody>
                  <a:tcPr anchor="ctr">
                    <a:solidFill>
                      <a:srgbClr val="143629"/>
                    </a:solidFill>
                  </a:tcPr>
                </a:tc>
                <a:tc>
                  <a:txBody>
                    <a:bodyPr/>
                    <a:lstStyle/>
                    <a:p>
                      <a:r>
                        <a:rPr sz="1800" b="0">
                          <a:solidFill>
                            <a:srgbClr val="F4F1E8"/>
                          </a:solidFill>
                          <a:latin typeface="Segoe UI"/>
                          <a:ea typeface="Segoe UI"/>
                          <a:cs typeface="Segoe UI"/>
                        </a:rPr>
                        <a:t>Tạo lô / upload / QR trên production</a:t>
                      </a:r>
                    </a:p>
                  </a:txBody>
                  <a:tcPr anchor="ctr">
                    <a:solidFill>
                      <a:srgbClr val="143629"/>
                    </a:solidFill>
                  </a:tcPr>
                </a:tc>
                <a:extLst>
                  <a:ext uri="{0D108BD9-81ED-4DB2-BD59-A6C34878D82A}">
                    <a16:rowId xmlns:a16="http://schemas.microsoft.com/office/drawing/2014/main" val="10001"/>
                  </a:ext>
                </a:extLst>
              </a:tr>
              <a:tr h="933450">
                <a:tc>
                  <a:txBody>
                    <a:bodyPr/>
                    <a:lstStyle/>
                    <a:p>
                      <a:r>
                        <a:rPr sz="1800" b="0">
                          <a:solidFill>
                            <a:srgbClr val="F4F1E8"/>
                          </a:solidFill>
                          <a:latin typeface="Segoe UI"/>
                          <a:ea typeface="Segoe UI"/>
                          <a:cs typeface="Segoe UI"/>
                        </a:rPr>
                        <a:t>Solana</a:t>
                      </a:r>
                    </a:p>
                  </a:txBody>
                  <a:tcPr anchor="ctr">
                    <a:solidFill>
                      <a:srgbClr val="143629"/>
                    </a:solidFill>
                  </a:tcPr>
                </a:tc>
                <a:tc>
                  <a:txBody>
                    <a:bodyPr/>
                    <a:lstStyle/>
                    <a:p>
                      <a:r>
                        <a:rPr sz="1800" b="0">
                          <a:solidFill>
                            <a:srgbClr val="F4F1E8"/>
                          </a:solidFill>
                          <a:latin typeface="Segoe UI"/>
                          <a:ea typeface="Segoe UI"/>
                          <a:cs typeface="Segoe UI"/>
                        </a:rPr>
                        <a:t>Source và local validator</a:t>
                      </a:r>
                    </a:p>
                  </a:txBody>
                  <a:tcPr anchor="ctr">
                    <a:solidFill>
                      <a:srgbClr val="143629"/>
                    </a:solidFill>
                  </a:tcPr>
                </a:tc>
                <a:tc>
                  <a:txBody>
                    <a:bodyPr/>
                    <a:lstStyle/>
                    <a:p>
                      <a:r>
                        <a:rPr sz="1800" b="0">
                          <a:solidFill>
                            <a:srgbClr val="F4F1E8"/>
                          </a:solidFill>
                          <a:latin typeface="Segoe UI"/>
                          <a:ea typeface="Segoe UI"/>
                          <a:cs typeface="Segoe UI"/>
                        </a:rPr>
                        <a:t>Binary Devnet khớp source hiện tại</a:t>
                      </a:r>
                    </a:p>
                  </a:txBody>
                  <a:tcPr anchor="ctr">
                    <a:solidFill>
                      <a:srgbClr val="143629"/>
                    </a:solidFill>
                  </a:tcPr>
                </a:tc>
                <a:extLst>
                  <a:ext uri="{0D108BD9-81ED-4DB2-BD59-A6C34878D82A}">
                    <a16:rowId xmlns:a16="http://schemas.microsoft.com/office/drawing/2014/main" val="10002"/>
                  </a:ext>
                </a:extLst>
              </a:tr>
              <a:tr h="933450">
                <a:tc>
                  <a:txBody>
                    <a:bodyPr/>
                    <a:lstStyle/>
                    <a:p>
                      <a:r>
                        <a:rPr sz="1800" b="0">
                          <a:solidFill>
                            <a:srgbClr val="F4F1E8"/>
                          </a:solidFill>
                          <a:latin typeface="Segoe UI"/>
                          <a:ea typeface="Segoe UI"/>
                          <a:cs typeface="Segoe UI"/>
                        </a:rPr>
                        <a:t>AI</a:t>
                      </a:r>
                    </a:p>
                  </a:txBody>
                  <a:tcPr anchor="ctr">
                    <a:solidFill>
                      <a:srgbClr val="143629"/>
                    </a:solidFill>
                  </a:tcPr>
                </a:tc>
                <a:tc>
                  <a:txBody>
                    <a:bodyPr/>
                    <a:lstStyle/>
                    <a:p>
                      <a:r>
                        <a:rPr sz="1800" b="0">
                          <a:solidFill>
                            <a:srgbClr val="F4F1E8"/>
                          </a:solidFill>
                          <a:latin typeface="Segoe UI"/>
                          <a:ea typeface="Segoe UI"/>
                          <a:cs typeface="Segoe UI"/>
                        </a:rPr>
                        <a:t>Classifier thử nghiệm</a:t>
                      </a:r>
                    </a:p>
                  </a:txBody>
                  <a:tcPr anchor="ctr">
                    <a:solidFill>
                      <a:srgbClr val="143629"/>
                    </a:solidFill>
                  </a:tcPr>
                </a:tc>
                <a:tc>
                  <a:txBody>
                    <a:bodyPr/>
                    <a:lstStyle/>
                    <a:p>
                      <a:r>
                        <a:rPr sz="1800" b="0">
                          <a:solidFill>
                            <a:srgbClr val="F4F1E8"/>
                          </a:solidFill>
                          <a:latin typeface="Segoe UI"/>
                          <a:ea typeface="Segoe UI"/>
                          <a:cs typeface="Segoe UI"/>
                        </a:rPr>
                        <a:t>Kiểm thử theo vườn/cây</a:t>
                      </a:r>
                    </a:p>
                  </a:txBody>
                  <a:tcPr anchor="ctr">
                    <a:solidFill>
                      <a:srgbClr val="143629"/>
                    </a:solidFill>
                  </a:tcPr>
                </a:tc>
                <a:extLst>
                  <a:ext uri="{0D108BD9-81ED-4DB2-BD59-A6C34878D82A}">
                    <a16:rowId xmlns:a16="http://schemas.microsoft.com/office/drawing/2014/main" val="10003"/>
                  </a:ext>
                </a:extLst>
              </a:tr>
            </a:tbl>
          </a:graphicData>
        </a:graphic>
      </p:graphicFrame>
      <p:sp>
        <p:nvSpPr>
          <p:cNvPr id="5" name="!!mvp-selected-row">
            <a:extLst>
              <a:ext uri="{FF2B5EF4-FFF2-40B4-BE49-F238E27FC236}">
                <a16:creationId xmlns:a16="http://schemas.microsoft.com/office/drawing/2014/main" id="{65F0D8F3-D11E-49BA-9866-9C57066DE099}"/>
              </a:ext>
            </a:extLst>
          </p:cNvPr>
          <p:cNvSpPr>
            <a:spLocks noGrp="1"/>
          </p:cNvSpPr>
          <p:nvPr/>
        </p:nvSpPr>
        <p:spPr>
          <a:xfrm>
            <a:off x="609600" y="4914900"/>
            <a:ext cx="10896600" cy="933450"/>
          </a:xfrm>
          <a:prstGeom prst="rect">
            <a:avLst/>
          </a:prstGeom>
          <a:noFill/>
          <a:ln w="28575">
            <a:solidFill>
              <a:srgbClr val="C8A45B"/>
            </a:solidFill>
          </a:ln>
        </p:spPr>
        <p:txBody>
          <a:bodyPr/>
          <a:lstStyle/>
          <a:p>
            <a:endParaRPr lang="en-US"/>
          </a:p>
        </p:txBody>
      </p:sp>
      <p:sp>
        <p:nvSpPr>
          <p:cNvPr id="6" name="!!mvp-next">
            <a:extLst>
              <a:ext uri="{FF2B5EF4-FFF2-40B4-BE49-F238E27FC236}">
                <a16:creationId xmlns:a16="http://schemas.microsoft.com/office/drawing/2014/main" id="{696A6AC6-88E7-4B74-B87F-2F6A0A95F4BC}"/>
              </a:ext>
            </a:extLst>
          </p:cNvPr>
          <p:cNvSpPr>
            <a:spLocks noGrp="1"/>
          </p:cNvSpPr>
          <p:nvPr/>
        </p:nvSpPr>
        <p:spPr>
          <a:xfrm>
            <a:off x="609600" y="6086475"/>
            <a:ext cx="10763250" cy="361950"/>
          </a:xfrm>
          <a:prstGeom prst="rect">
            <a:avLst/>
          </a:prstGeom>
          <a:noFill/>
          <a:ln w="0">
            <a:noFill/>
          </a:ln>
        </p:spPr>
        <p:txBody>
          <a:bodyPr wrap="square" lIns="0" tIns="0" rIns="0" bIns="0" anchor="t">
            <a:normAutofit/>
          </a:bodyPr>
          <a:lstStyle/>
          <a:p>
            <a:pPr>
              <a:defRPr sz="1875" b="1">
                <a:solidFill>
                  <a:srgbClr val="C8A45B"/>
                </a:solidFill>
                <a:latin typeface="Segoe UI"/>
                <a:ea typeface="Segoe UI"/>
                <a:cs typeface="Segoe UI"/>
              </a:defRPr>
            </a:pPr>
            <a:r>
              <a:rPr sz="1875" b="1">
                <a:solidFill>
                  <a:srgbClr val="C8A45B"/>
                </a:solidFill>
                <a:latin typeface="Segoe UI"/>
                <a:ea typeface="Segoe UI"/>
                <a:cs typeface="Segoe UI"/>
              </a:rPr>
              <a:t>Bước tiếp theo: kiểm chứng flow và pilot nhỏ</a:t>
            </a:r>
          </a:p>
        </p:txBody>
      </p:sp>
      <p:sp>
        <p:nvSpPr>
          <p:cNvPr id="7" name="!!page">
            <a:extLst>
              <a:ext uri="{FF2B5EF4-FFF2-40B4-BE49-F238E27FC236}">
                <a16:creationId xmlns:a16="http://schemas.microsoft.com/office/drawing/2014/main" id="{34B51362-C0D7-4431-A12E-0D29608049D2}"/>
              </a:ext>
            </a:extLst>
          </p:cNvPr>
          <p:cNvSpPr>
            <a:spLocks noGrp="1"/>
          </p:cNvSpPr>
          <p:nvPr/>
        </p:nvSpPr>
        <p:spPr>
          <a:xfrm>
            <a:off x="10706100" y="6381750"/>
            <a:ext cx="876300" cy="228600"/>
          </a:xfrm>
          <a:prstGeom prst="rect">
            <a:avLst/>
          </a:prstGeom>
          <a:noFill/>
          <a:ln w="0">
            <a:noFill/>
          </a:ln>
        </p:spPr>
        <p:txBody>
          <a:bodyPr wrap="square" lIns="0" tIns="0" rIns="0" bIns="0" anchor="t">
            <a:normAutofit/>
          </a:bodyPr>
          <a:lstStyle/>
          <a:p>
            <a:pPr>
              <a:defRPr sz="1275" b="0">
                <a:solidFill>
                  <a:srgbClr val="A3BCAB"/>
                </a:solidFill>
                <a:latin typeface="Segoe UI"/>
                <a:ea typeface="Segoe UI"/>
                <a:cs typeface="Segoe UI"/>
              </a:defRPr>
            </a:pPr>
            <a:r>
              <a:rPr sz="1275" b="0">
                <a:solidFill>
                  <a:srgbClr val="A3BCAB"/>
                </a:solidFill>
                <a:latin typeface="Segoe UI"/>
                <a:ea typeface="Segoe UI"/>
                <a:cs typeface="Segoe UI"/>
              </a:rPr>
              <a:t>16 / 19</a:t>
            </a:r>
          </a:p>
        </p:txBody>
      </p:sp>
      <p:sp>
        <p:nvSpPr>
          <p:cNvPr id="8" name="!!caption">
            <a:extLst>
              <a:ext uri="{FF2B5EF4-FFF2-40B4-BE49-F238E27FC236}">
                <a16:creationId xmlns:a16="http://schemas.microsoft.com/office/drawing/2014/main" id="{2CBA6854-D63B-4536-8066-98673140B7CA}"/>
              </a:ext>
            </a:extLst>
          </p:cNvPr>
          <p:cNvSpPr>
            <a:spLocks noGrp="1"/>
          </p:cNvSpPr>
          <p:nvPr/>
        </p:nvSpPr>
        <p:spPr>
          <a:xfrm>
            <a:off x="609600" y="6381750"/>
            <a:ext cx="9525000" cy="228600"/>
          </a:xfrm>
          <a:prstGeom prst="rect">
            <a:avLst/>
          </a:prstGeom>
          <a:noFill/>
          <a:ln w="0">
            <a:noFill/>
          </a:ln>
        </p:spPr>
        <p:txBody>
          <a:bodyPr wrap="square" lIns="0" tIns="0" rIns="0" bIns="0" anchor="t">
            <a:normAutofit/>
          </a:bodyPr>
          <a:lstStyle/>
          <a:p>
            <a:pPr>
              <a:defRPr sz="1275" b="0">
                <a:solidFill>
                  <a:srgbClr val="A3BCAB"/>
                </a:solidFill>
                <a:latin typeface="Segoe UI"/>
                <a:ea typeface="Segoe UI"/>
                <a:cs typeface="Segoe UI"/>
              </a:defRPr>
            </a:pPr>
            <a:r>
              <a:rPr sz="1275" b="0">
                <a:solidFill>
                  <a:srgbClr val="A3BCAB"/>
                </a:solidFill>
                <a:latin typeface="Segoe UI"/>
                <a:ea typeface="Segoe UI"/>
                <a:cs typeface="Segoe UI"/>
              </a:rPr>
              <a:t>Trạng thái 29/09/2026. Chưa có pilot thực địa</a:t>
            </a:r>
          </a:p>
        </p:txBody>
      </p:sp>
    </p:spTree>
    <p:extLst>
      <p:ext uri="{BB962C8B-B14F-4D97-AF65-F5344CB8AC3E}">
        <p14:creationId xmlns:p14="http://schemas.microsoft.com/office/powerpoint/2010/main" val="6390871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00">
        <p159:morph option="byObject"/>
      </p:transition>
    </mc:Choice>
    <mc:Fallback xmlns="" xmlns:p14="http://schemas.microsoft.com/office/powerpoint/2010/main">
      <p:transition advClick="1" spd="fast">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02C21"/>
        </a:solidFill>
        <a:effectLst/>
      </p:bgPr>
    </p:bg>
    <p:spTree>
      <p:nvGrpSpPr>
        <p:cNvPr id="1" name=""/>
        <p:cNvGrpSpPr/>
        <p:nvPr/>
      </p:nvGrpSpPr>
      <p:grpSpPr>
        <a:xfrm>
          <a:off x="0" y="0"/>
          <a:ext cx="0" cy="0"/>
          <a:chOff x="0" y="0"/>
          <a:chExt cx="0" cy="0"/>
        </a:xfrm>
      </p:grpSpPr>
      <p:pic>
        <p:nvPicPr>
          <p:cNvPr id="22" name="!!backdrop"/>
          <p:cNvPicPr>
            <a:picLocks noChangeAspect="1"/>
          </p:cNvPicPr>
          <p:nvPr/>
        </p:nvPicPr>
        <p:blipFill>
          <a:blip r:embed="rId3"/>
          <a:srcRect t="27" b="27"/>
          <a:stretch>
            <a:fillRect/>
          </a:stretch>
        </p:blipFill>
        <p:spPr>
          <a:xfrm>
            <a:off x="0" y="0"/>
            <a:ext cx="12192000" cy="6858000"/>
          </a:xfrm>
          <a:prstGeom prst="rect">
            <a:avLst/>
          </a:prstGeom>
        </p:spPr>
      </p:pic>
      <p:sp>
        <p:nvSpPr>
          <p:cNvPr id="2" name="!!backdrop-tint">
            <a:extLst>
              <a:ext uri="{FF2B5EF4-FFF2-40B4-BE49-F238E27FC236}">
                <a16:creationId xmlns:a16="http://schemas.microsoft.com/office/drawing/2014/main" id="{C7A8D730-FB06-4E4E-AED6-C59D68D9B00B}"/>
              </a:ext>
            </a:extLst>
          </p:cNvPr>
          <p:cNvSpPr>
            <a:spLocks noGrp="1"/>
          </p:cNvSpPr>
          <p:nvPr/>
        </p:nvSpPr>
        <p:spPr>
          <a:xfrm>
            <a:off x="0" y="0"/>
            <a:ext cx="12192000" cy="6858000"/>
          </a:xfrm>
          <a:prstGeom prst="rect">
            <a:avLst/>
          </a:prstGeom>
          <a:solidFill>
            <a:srgbClr val="102C21">
              <a:alpha val="35000"/>
            </a:srgbClr>
          </a:solidFill>
          <a:ln w="0">
            <a:noFill/>
          </a:ln>
        </p:spPr>
        <p:txBody>
          <a:bodyPr/>
          <a:lstStyle/>
          <a:p>
            <a:endParaRPr lang="en-US"/>
          </a:p>
        </p:txBody>
      </p:sp>
      <p:sp>
        <p:nvSpPr>
          <p:cNvPr id="3" name="!!headline">
            <a:extLst>
              <a:ext uri="{FF2B5EF4-FFF2-40B4-BE49-F238E27FC236}">
                <a16:creationId xmlns:a16="http://schemas.microsoft.com/office/drawing/2014/main" id="{FDCA456E-BDBE-4F6F-92A4-89FAD96F9C90}"/>
              </a:ext>
            </a:extLst>
          </p:cNvPr>
          <p:cNvSpPr>
            <a:spLocks noGrp="1"/>
          </p:cNvSpPr>
          <p:nvPr/>
        </p:nvSpPr>
        <p:spPr>
          <a:xfrm>
            <a:off x="609600" y="533400"/>
            <a:ext cx="10953750" cy="1104900"/>
          </a:xfrm>
          <a:prstGeom prst="rect">
            <a:avLst/>
          </a:prstGeom>
          <a:noFill/>
          <a:ln w="0">
            <a:noFill/>
          </a:ln>
        </p:spPr>
        <p:txBody>
          <a:bodyPr wrap="square" lIns="0" tIns="0" rIns="0" bIns="0" anchor="t">
            <a:normAutofit/>
          </a:bodyPr>
          <a:lstStyle/>
          <a:p>
            <a:pPr>
              <a:defRPr sz="3450" b="1">
                <a:solidFill>
                  <a:srgbClr val="F4F1E8"/>
                </a:solidFill>
                <a:latin typeface="Segoe UI"/>
                <a:ea typeface="Segoe UI"/>
                <a:cs typeface="Segoe UI"/>
              </a:defRPr>
            </a:pPr>
            <a:r>
              <a:rPr sz="3450" b="1">
                <a:solidFill>
                  <a:srgbClr val="F4F1E8"/>
                </a:solidFill>
                <a:latin typeface="Segoe UI"/>
                <a:ea typeface="Segoe UI"/>
                <a:cs typeface="Segoe UI"/>
              </a:rPr>
              <a:t>Pilot với một hợp tác xã</a:t>
            </a:r>
          </a:p>
        </p:txBody>
      </p:sp>
      <p:sp>
        <p:nvSpPr>
          <p:cNvPr id="4" name="!!pilot-start-selection">
            <a:extLst>
              <a:ext uri="{FF2B5EF4-FFF2-40B4-BE49-F238E27FC236}">
                <a16:creationId xmlns:a16="http://schemas.microsoft.com/office/drawing/2014/main" id="{BB66DD87-D841-4F07-B1A2-3FF723B3DE65}"/>
              </a:ext>
            </a:extLst>
          </p:cNvPr>
          <p:cNvSpPr>
            <a:spLocks noGrp="1"/>
          </p:cNvSpPr>
          <p:nvPr/>
        </p:nvSpPr>
        <p:spPr>
          <a:xfrm>
            <a:off x="666750" y="2190750"/>
            <a:ext cx="571500" cy="571500"/>
          </a:xfrm>
          <a:prstGeom prst="ellipse">
            <a:avLst/>
          </a:prstGeom>
          <a:solidFill>
            <a:srgbClr val="183A2C"/>
          </a:solidFill>
          <a:ln w="9525">
            <a:solidFill>
              <a:srgbClr val="A3BCAB"/>
            </a:solidFill>
          </a:ln>
        </p:spPr>
        <p:txBody>
          <a:bodyPr/>
          <a:lstStyle/>
          <a:p>
            <a:endParaRPr lang="en-US"/>
          </a:p>
        </p:txBody>
      </p:sp>
      <p:sp>
        <p:nvSpPr>
          <p:cNvPr id="5" name="!!pilot-start-icon-0">
            <a:extLst>
              <a:ext uri="{FF2B5EF4-FFF2-40B4-BE49-F238E27FC236}">
                <a16:creationId xmlns:a16="http://schemas.microsoft.com/office/drawing/2014/main" id="{CA565E7F-7304-4776-8400-32C1056D4EDE}"/>
              </a:ext>
            </a:extLst>
          </p:cNvPr>
          <p:cNvSpPr>
            <a:spLocks noGrp="1"/>
          </p:cNvSpPr>
          <p:nvPr/>
        </p:nvSpPr>
        <p:spPr>
          <a:xfrm>
            <a:off x="901065" y="2347913"/>
            <a:ext cx="102870" cy="102870"/>
          </a:xfrm>
          <a:prstGeom prst="ellipse">
            <a:avLst/>
          </a:prstGeom>
          <a:noFill/>
          <a:ln w="19050">
            <a:solidFill>
              <a:srgbClr val="A3BCAB"/>
            </a:solidFill>
            <a:prstDash val="solid"/>
          </a:ln>
        </p:spPr>
        <p:txBody>
          <a:bodyPr/>
          <a:lstStyle/>
          <a:p>
            <a:endParaRPr lang="en-US"/>
          </a:p>
        </p:txBody>
      </p:sp>
      <p:sp>
        <p:nvSpPr>
          <p:cNvPr id="6" name="!!pilot-start-icon-1">
            <a:extLst>
              <a:ext uri="{FF2B5EF4-FFF2-40B4-BE49-F238E27FC236}">
                <a16:creationId xmlns:a16="http://schemas.microsoft.com/office/drawing/2014/main" id="{63133A5D-E4B4-4623-9F86-A1734BAD9AE1}"/>
              </a:ext>
            </a:extLst>
          </p:cNvPr>
          <p:cNvSpPr>
            <a:spLocks noGrp="1"/>
          </p:cNvSpPr>
          <p:nvPr/>
        </p:nvSpPr>
        <p:spPr>
          <a:xfrm>
            <a:off x="849630" y="2489359"/>
            <a:ext cx="205740" cy="115729"/>
          </a:xfrm>
          <a:prstGeom prst="roundRect">
            <a:avLst>
              <a:gd name="adj" fmla="val 50000"/>
            </a:avLst>
          </a:prstGeom>
          <a:noFill/>
          <a:ln w="19050">
            <a:solidFill>
              <a:srgbClr val="A3BCAB"/>
            </a:solidFill>
            <a:prstDash val="solid"/>
          </a:ln>
        </p:spPr>
        <p:txBody>
          <a:bodyPr/>
          <a:lstStyle/>
          <a:p>
            <a:endParaRPr lang="en-US"/>
          </a:p>
        </p:txBody>
      </p:sp>
      <p:sp>
        <p:nvSpPr>
          <p:cNvPr id="7" name="!!pilot-start-label">
            <a:extLst>
              <a:ext uri="{FF2B5EF4-FFF2-40B4-BE49-F238E27FC236}">
                <a16:creationId xmlns:a16="http://schemas.microsoft.com/office/drawing/2014/main" id="{B3AADED3-5533-4224-BE8C-996B55865D40}"/>
              </a:ext>
            </a:extLst>
          </p:cNvPr>
          <p:cNvSpPr>
            <a:spLocks noGrp="1"/>
          </p:cNvSpPr>
          <p:nvPr/>
        </p:nvSpPr>
        <p:spPr>
          <a:xfrm>
            <a:off x="1524000" y="2133600"/>
            <a:ext cx="4562475" cy="571500"/>
          </a:xfrm>
          <a:prstGeom prst="rect">
            <a:avLst/>
          </a:prstGeom>
          <a:noFill/>
          <a:ln w="0">
            <a:noFill/>
          </a:ln>
        </p:spPr>
        <p:txBody>
          <a:bodyPr wrap="square" lIns="0" tIns="0" rIns="0" bIns="0" anchor="t">
            <a:normAutofit/>
          </a:bodyPr>
          <a:lstStyle/>
          <a:p>
            <a:pPr>
              <a:defRPr sz="2100" b="1">
                <a:solidFill>
                  <a:srgbClr val="F4F1E8"/>
                </a:solidFill>
                <a:latin typeface="Segoe UI"/>
                <a:ea typeface="Segoe UI"/>
                <a:cs typeface="Segoe UI"/>
              </a:defRPr>
            </a:pPr>
            <a:r>
              <a:rPr sz="2100" b="1">
                <a:solidFill>
                  <a:srgbClr val="F4F1E8"/>
                </a:solidFill>
                <a:latin typeface="Segoe UI"/>
                <a:ea typeface="Segoe UI"/>
                <a:cs typeface="Segoe UI"/>
              </a:rPr>
              <a:t>Một HTX, nhóm lô nhỏ</a:t>
            </a:r>
          </a:p>
        </p:txBody>
      </p:sp>
      <p:sp>
        <p:nvSpPr>
          <p:cNvPr id="8" name="!!pilot-start-detail">
            <a:extLst>
              <a:ext uri="{FF2B5EF4-FFF2-40B4-BE49-F238E27FC236}">
                <a16:creationId xmlns:a16="http://schemas.microsoft.com/office/drawing/2014/main" id="{81643FEF-AD59-4DE1-91D9-A504E7D19C1C}"/>
              </a:ext>
            </a:extLst>
          </p:cNvPr>
          <p:cNvSpPr>
            <a:spLocks noGrp="1"/>
          </p:cNvSpPr>
          <p:nvPr/>
        </p:nvSpPr>
        <p:spPr>
          <a:xfrm>
            <a:off x="1524000" y="2705100"/>
            <a:ext cx="4562475" cy="666750"/>
          </a:xfrm>
          <a:prstGeom prst="rect">
            <a:avLst/>
          </a:prstGeom>
          <a:noFill/>
          <a:ln w="0">
            <a:noFill/>
          </a:ln>
        </p:spPr>
        <p:txBody>
          <a:bodyPr wrap="square" lIns="0" tIns="0" rIns="0" bIns="0" anchor="t">
            <a:normAutofit/>
          </a:bodyPr>
          <a:lstStyle/>
          <a:p>
            <a:pPr>
              <a:defRPr sz="1800" b="0">
                <a:solidFill>
                  <a:srgbClr val="A3BCAB"/>
                </a:solidFill>
                <a:latin typeface="Segoe UI"/>
                <a:ea typeface="Segoe UI"/>
                <a:cs typeface="Segoe UI"/>
              </a:defRPr>
            </a:pPr>
            <a:r>
              <a:rPr sz="1800" b="0">
                <a:solidFill>
                  <a:srgbClr val="A3BCAB"/>
                </a:solidFill>
                <a:latin typeface="Segoe UI"/>
                <a:ea typeface="Segoe UI"/>
                <a:cs typeface="Segoe UI"/>
              </a:rPr>
              <a:t>Làm cùng người phụ trách hồ sơ</a:t>
            </a:r>
          </a:p>
        </p:txBody>
      </p:sp>
      <p:sp>
        <p:nvSpPr>
          <p:cNvPr id="9" name="!!pilot-measure-selection">
            <a:extLst>
              <a:ext uri="{FF2B5EF4-FFF2-40B4-BE49-F238E27FC236}">
                <a16:creationId xmlns:a16="http://schemas.microsoft.com/office/drawing/2014/main" id="{E962CE5C-09BF-4686-8250-D57E1D803620}"/>
              </a:ext>
            </a:extLst>
          </p:cNvPr>
          <p:cNvSpPr>
            <a:spLocks noGrp="1"/>
          </p:cNvSpPr>
          <p:nvPr/>
        </p:nvSpPr>
        <p:spPr>
          <a:xfrm>
            <a:off x="666750" y="3429000"/>
            <a:ext cx="571500" cy="571500"/>
          </a:xfrm>
          <a:prstGeom prst="ellipse">
            <a:avLst/>
          </a:prstGeom>
          <a:solidFill>
            <a:srgbClr val="183A2C"/>
          </a:solidFill>
          <a:ln w="9525">
            <a:solidFill>
              <a:srgbClr val="A3BCAB"/>
            </a:solidFill>
          </a:ln>
        </p:spPr>
        <p:txBody>
          <a:bodyPr/>
          <a:lstStyle/>
          <a:p>
            <a:endParaRPr lang="en-US"/>
          </a:p>
        </p:txBody>
      </p:sp>
      <p:sp>
        <p:nvSpPr>
          <p:cNvPr id="10" name="!!pilot-measure-icon-0">
            <a:extLst>
              <a:ext uri="{FF2B5EF4-FFF2-40B4-BE49-F238E27FC236}">
                <a16:creationId xmlns:a16="http://schemas.microsoft.com/office/drawing/2014/main" id="{10F0826C-7FB0-4041-A2C1-C05FC98BBD55}"/>
              </a:ext>
            </a:extLst>
          </p:cNvPr>
          <p:cNvSpPr>
            <a:spLocks noGrp="1"/>
          </p:cNvSpPr>
          <p:nvPr/>
        </p:nvSpPr>
        <p:spPr>
          <a:xfrm>
            <a:off x="823913" y="3586163"/>
            <a:ext cx="257175" cy="257175"/>
          </a:xfrm>
          <a:prstGeom prst="ellipse">
            <a:avLst/>
          </a:prstGeom>
          <a:noFill/>
          <a:ln w="19050">
            <a:solidFill>
              <a:srgbClr val="A3BCAB"/>
            </a:solidFill>
            <a:prstDash val="solid"/>
          </a:ln>
        </p:spPr>
        <p:txBody>
          <a:bodyPr/>
          <a:lstStyle/>
          <a:p>
            <a:endParaRPr lang="en-US"/>
          </a:p>
        </p:txBody>
      </p:sp>
      <p:sp>
        <p:nvSpPr>
          <p:cNvPr id="11" name="!!pilot-measure-icon-1">
            <a:extLst>
              <a:ext uri="{FF2B5EF4-FFF2-40B4-BE49-F238E27FC236}">
                <a16:creationId xmlns:a16="http://schemas.microsoft.com/office/drawing/2014/main" id="{ED966982-A8E2-413E-A343-B7534B96A1DC}"/>
              </a:ext>
            </a:extLst>
          </p:cNvPr>
          <p:cNvSpPr>
            <a:spLocks noGrp="1"/>
          </p:cNvSpPr>
          <p:nvPr/>
        </p:nvSpPr>
        <p:spPr>
          <a:xfrm>
            <a:off x="798195" y="3560445"/>
            <a:ext cx="308610" cy="308610"/>
          </a:xfrm>
          <a:custGeom>
            <a:avLst/>
            <a:gdLst/>
            <a:ahLst/>
            <a:cxnLst/>
            <a:rect l="0" t="0" r="0" b="0"/>
            <a:pathLst>
              <a:path w="228600" h="228600">
                <a:moveTo>
                  <a:pt x="114300" y="47625"/>
                </a:moveTo>
                <a:lnTo>
                  <a:pt x="114300" y="114300"/>
                </a:lnTo>
                <a:lnTo>
                  <a:pt x="161925" y="142875"/>
                </a:lnTo>
              </a:path>
            </a:pathLst>
          </a:custGeom>
          <a:noFill/>
          <a:ln w="19050">
            <a:solidFill>
              <a:srgbClr val="A3BCAB"/>
            </a:solidFill>
            <a:prstDash val="solid"/>
          </a:ln>
        </p:spPr>
        <p:txBody>
          <a:bodyPr/>
          <a:lstStyle/>
          <a:p>
            <a:endParaRPr lang="en-US"/>
          </a:p>
        </p:txBody>
      </p:sp>
      <p:sp>
        <p:nvSpPr>
          <p:cNvPr id="12" name="!!pilot-measure-label">
            <a:extLst>
              <a:ext uri="{FF2B5EF4-FFF2-40B4-BE49-F238E27FC236}">
                <a16:creationId xmlns:a16="http://schemas.microsoft.com/office/drawing/2014/main" id="{BBC75C94-F322-43F2-9D63-DABFEADD2585}"/>
              </a:ext>
            </a:extLst>
          </p:cNvPr>
          <p:cNvSpPr>
            <a:spLocks noGrp="1"/>
          </p:cNvSpPr>
          <p:nvPr/>
        </p:nvSpPr>
        <p:spPr>
          <a:xfrm>
            <a:off x="1524000" y="3371850"/>
            <a:ext cx="4562475" cy="571500"/>
          </a:xfrm>
          <a:prstGeom prst="rect">
            <a:avLst/>
          </a:prstGeom>
          <a:noFill/>
          <a:ln w="0">
            <a:noFill/>
          </a:ln>
        </p:spPr>
        <p:txBody>
          <a:bodyPr wrap="square" lIns="0" tIns="0" rIns="0" bIns="0" anchor="t">
            <a:normAutofit/>
          </a:bodyPr>
          <a:lstStyle/>
          <a:p>
            <a:pPr>
              <a:defRPr sz="2100" b="1">
                <a:solidFill>
                  <a:srgbClr val="F4F1E8"/>
                </a:solidFill>
                <a:latin typeface="Segoe UI"/>
                <a:ea typeface="Segoe UI"/>
                <a:cs typeface="Segoe UI"/>
              </a:defRPr>
            </a:pPr>
            <a:r>
              <a:rPr sz="2100" b="1">
                <a:solidFill>
                  <a:srgbClr val="F4F1E8"/>
                </a:solidFill>
                <a:latin typeface="Segoe UI"/>
                <a:ea typeface="Segoe UI"/>
                <a:cs typeface="Segoe UI"/>
              </a:rPr>
              <a:t>Đo trước và sau</a:t>
            </a:r>
          </a:p>
        </p:txBody>
      </p:sp>
      <p:sp>
        <p:nvSpPr>
          <p:cNvPr id="13" name="!!pilot-measure-detail">
            <a:extLst>
              <a:ext uri="{FF2B5EF4-FFF2-40B4-BE49-F238E27FC236}">
                <a16:creationId xmlns:a16="http://schemas.microsoft.com/office/drawing/2014/main" id="{CE29CEE1-9A7F-42C9-819B-1CD680FA8220}"/>
              </a:ext>
            </a:extLst>
          </p:cNvPr>
          <p:cNvSpPr>
            <a:spLocks noGrp="1"/>
          </p:cNvSpPr>
          <p:nvPr/>
        </p:nvSpPr>
        <p:spPr>
          <a:xfrm>
            <a:off x="1524000" y="3943350"/>
            <a:ext cx="4562475" cy="666750"/>
          </a:xfrm>
          <a:prstGeom prst="rect">
            <a:avLst/>
          </a:prstGeom>
          <a:noFill/>
          <a:ln w="0">
            <a:noFill/>
          </a:ln>
        </p:spPr>
        <p:txBody>
          <a:bodyPr wrap="square" lIns="0" tIns="0" rIns="0" bIns="0" anchor="t">
            <a:normAutofit/>
          </a:bodyPr>
          <a:lstStyle/>
          <a:p>
            <a:pPr>
              <a:defRPr sz="1800" b="0">
                <a:solidFill>
                  <a:srgbClr val="A3BCAB"/>
                </a:solidFill>
                <a:latin typeface="Segoe UI"/>
                <a:ea typeface="Segoe UI"/>
                <a:cs typeface="Segoe UI"/>
              </a:defRPr>
            </a:pPr>
            <a:r>
              <a:rPr sz="1800" b="0">
                <a:solidFill>
                  <a:srgbClr val="A3BCAB"/>
                </a:solidFill>
                <a:latin typeface="Segoe UI"/>
                <a:ea typeface="Segoe UI"/>
                <a:cs typeface="Segoe UI"/>
              </a:rPr>
              <a:t>Thời gian tìm hồ sơ, tài liệu còn thiếu</a:t>
            </a:r>
          </a:p>
        </p:txBody>
      </p:sp>
      <p:sp>
        <p:nvSpPr>
          <p:cNvPr id="14" name="!!payer-symbol-selection">
            <a:extLst>
              <a:ext uri="{FF2B5EF4-FFF2-40B4-BE49-F238E27FC236}">
                <a16:creationId xmlns:a16="http://schemas.microsoft.com/office/drawing/2014/main" id="{08B75FF3-7F29-4084-A8DD-6392F80B2895}"/>
              </a:ext>
            </a:extLst>
          </p:cNvPr>
          <p:cNvSpPr>
            <a:spLocks noGrp="1"/>
          </p:cNvSpPr>
          <p:nvPr/>
        </p:nvSpPr>
        <p:spPr>
          <a:xfrm>
            <a:off x="600075" y="4953000"/>
            <a:ext cx="723900" cy="723900"/>
          </a:xfrm>
          <a:prstGeom prst="ellipse">
            <a:avLst/>
          </a:prstGeom>
          <a:solidFill>
            <a:srgbClr val="166447"/>
          </a:solidFill>
          <a:ln w="28575">
            <a:solidFill>
              <a:srgbClr val="C8A45B"/>
            </a:solidFill>
          </a:ln>
        </p:spPr>
        <p:txBody>
          <a:bodyPr/>
          <a:lstStyle/>
          <a:p>
            <a:endParaRPr lang="en-US"/>
          </a:p>
        </p:txBody>
      </p:sp>
      <p:sp>
        <p:nvSpPr>
          <p:cNvPr id="15" name="!!payer-symbol-icon-0">
            <a:extLst>
              <a:ext uri="{FF2B5EF4-FFF2-40B4-BE49-F238E27FC236}">
                <a16:creationId xmlns:a16="http://schemas.microsoft.com/office/drawing/2014/main" id="{BE23DA3D-C2C1-4E3A-BDF6-FBF1479AE567}"/>
              </a:ext>
            </a:extLst>
          </p:cNvPr>
          <p:cNvSpPr>
            <a:spLocks noGrp="1"/>
          </p:cNvSpPr>
          <p:nvPr/>
        </p:nvSpPr>
        <p:spPr>
          <a:xfrm>
            <a:off x="799147" y="5200936"/>
            <a:ext cx="325755" cy="260604"/>
          </a:xfrm>
          <a:prstGeom prst="roundRect">
            <a:avLst>
              <a:gd name="adj" fmla="val 29240"/>
            </a:avLst>
          </a:prstGeom>
          <a:noFill/>
          <a:ln w="19050">
            <a:solidFill>
              <a:srgbClr val="FFFFFF"/>
            </a:solidFill>
            <a:prstDash val="solid"/>
          </a:ln>
        </p:spPr>
        <p:txBody>
          <a:bodyPr/>
          <a:lstStyle/>
          <a:p>
            <a:endParaRPr lang="en-US"/>
          </a:p>
        </p:txBody>
      </p:sp>
      <p:sp>
        <p:nvSpPr>
          <p:cNvPr id="16" name="!!payer-symbol-icon-1">
            <a:extLst>
              <a:ext uri="{FF2B5EF4-FFF2-40B4-BE49-F238E27FC236}">
                <a16:creationId xmlns:a16="http://schemas.microsoft.com/office/drawing/2014/main" id="{B1B0001B-07EF-4366-A9E0-F851E51DD4D1}"/>
              </a:ext>
            </a:extLst>
          </p:cNvPr>
          <p:cNvSpPr>
            <a:spLocks noGrp="1"/>
          </p:cNvSpPr>
          <p:nvPr/>
        </p:nvSpPr>
        <p:spPr>
          <a:xfrm>
            <a:off x="1010888" y="5298662"/>
            <a:ext cx="114014" cy="97727"/>
          </a:xfrm>
          <a:prstGeom prst="rect">
            <a:avLst/>
          </a:prstGeom>
          <a:noFill/>
          <a:ln w="19050">
            <a:solidFill>
              <a:srgbClr val="FFFFFF"/>
            </a:solidFill>
            <a:prstDash val="solid"/>
          </a:ln>
        </p:spPr>
        <p:txBody>
          <a:bodyPr/>
          <a:lstStyle/>
          <a:p>
            <a:endParaRPr lang="en-US"/>
          </a:p>
        </p:txBody>
      </p:sp>
      <p:sp>
        <p:nvSpPr>
          <p:cNvPr id="17" name="!!payer-symbol-icon-2">
            <a:extLst>
              <a:ext uri="{FF2B5EF4-FFF2-40B4-BE49-F238E27FC236}">
                <a16:creationId xmlns:a16="http://schemas.microsoft.com/office/drawing/2014/main" id="{5228A420-DFB9-48F4-9108-62D5012EF895}"/>
              </a:ext>
            </a:extLst>
          </p:cNvPr>
          <p:cNvSpPr>
            <a:spLocks noGrp="1"/>
          </p:cNvSpPr>
          <p:nvPr/>
        </p:nvSpPr>
        <p:spPr>
          <a:xfrm>
            <a:off x="1043464" y="5331238"/>
            <a:ext cx="32576" cy="32576"/>
          </a:xfrm>
          <a:prstGeom prst="ellipse">
            <a:avLst/>
          </a:prstGeom>
          <a:noFill/>
          <a:ln w="19050">
            <a:solidFill>
              <a:srgbClr val="FFFFFF"/>
            </a:solidFill>
            <a:prstDash val="solid"/>
          </a:ln>
        </p:spPr>
        <p:txBody>
          <a:bodyPr/>
          <a:lstStyle/>
          <a:p>
            <a:endParaRPr lang="en-US"/>
          </a:p>
        </p:txBody>
      </p:sp>
      <p:sp>
        <p:nvSpPr>
          <p:cNvPr id="18" name="!!payer">
            <a:extLst>
              <a:ext uri="{FF2B5EF4-FFF2-40B4-BE49-F238E27FC236}">
                <a16:creationId xmlns:a16="http://schemas.microsoft.com/office/drawing/2014/main" id="{93A40949-8097-434D-AB6D-9C653EF7C8D7}"/>
              </a:ext>
            </a:extLst>
          </p:cNvPr>
          <p:cNvSpPr>
            <a:spLocks noGrp="1"/>
          </p:cNvSpPr>
          <p:nvPr/>
        </p:nvSpPr>
        <p:spPr>
          <a:xfrm>
            <a:off x="1524000" y="4972050"/>
            <a:ext cx="4381500" cy="523875"/>
          </a:xfrm>
          <a:prstGeom prst="rect">
            <a:avLst/>
          </a:prstGeom>
          <a:noFill/>
          <a:ln w="0">
            <a:noFill/>
          </a:ln>
        </p:spPr>
        <p:txBody>
          <a:bodyPr wrap="square" lIns="0" tIns="0" rIns="0" bIns="0" anchor="t">
            <a:normAutofit/>
          </a:bodyPr>
          <a:lstStyle/>
          <a:p>
            <a:pPr>
              <a:defRPr sz="2550" b="1">
                <a:solidFill>
                  <a:srgbClr val="C8A45B"/>
                </a:solidFill>
                <a:latin typeface="Segoe UI"/>
                <a:ea typeface="Segoe UI"/>
                <a:cs typeface="Segoe UI"/>
              </a:defRPr>
            </a:pPr>
            <a:r>
              <a:rPr sz="2550" b="1">
                <a:solidFill>
                  <a:srgbClr val="C8A45B"/>
                </a:solidFill>
                <a:latin typeface="Segoe UI"/>
                <a:ea typeface="Segoe UI"/>
                <a:cs typeface="Segoe UI"/>
              </a:rPr>
              <a:t>Giả thuyết trả phí</a:t>
            </a:r>
          </a:p>
        </p:txBody>
      </p:sp>
      <p:sp>
        <p:nvSpPr>
          <p:cNvPr id="19" name="!!payer-detail">
            <a:extLst>
              <a:ext uri="{FF2B5EF4-FFF2-40B4-BE49-F238E27FC236}">
                <a16:creationId xmlns:a16="http://schemas.microsoft.com/office/drawing/2014/main" id="{8DA82F7A-6A59-4DA9-B2C1-E3D31C0FD748}"/>
              </a:ext>
            </a:extLst>
          </p:cNvPr>
          <p:cNvSpPr>
            <a:spLocks noGrp="1"/>
          </p:cNvSpPr>
          <p:nvPr/>
        </p:nvSpPr>
        <p:spPr>
          <a:xfrm>
            <a:off x="1524000" y="5572125"/>
            <a:ext cx="4362450" cy="666750"/>
          </a:xfrm>
          <a:prstGeom prst="rect">
            <a:avLst/>
          </a:prstGeom>
          <a:noFill/>
          <a:ln w="0">
            <a:noFill/>
          </a:ln>
        </p:spPr>
        <p:txBody>
          <a:bodyPr wrap="square" lIns="0" tIns="0" rIns="0" bIns="0" anchor="t">
            <a:normAutofit/>
          </a:bodyPr>
          <a:lstStyle/>
          <a:p>
            <a:pPr>
              <a:defRPr sz="1800" b="0">
                <a:solidFill>
                  <a:srgbClr val="F4F1E8"/>
                </a:solidFill>
                <a:latin typeface="Segoe UI"/>
                <a:ea typeface="Segoe UI"/>
                <a:cs typeface="Segoe UI"/>
              </a:defRPr>
            </a:pPr>
            <a:r>
              <a:rPr sz="1800" b="0">
                <a:solidFill>
                  <a:srgbClr val="F4F1E8"/>
                </a:solidFill>
                <a:latin typeface="Segoe UI"/>
                <a:ea typeface="Segoe UI"/>
                <a:cs typeface="Segoe UI"/>
              </a:rPr>
              <a:t>HTX trả phí workspace nếu pilot hữu ích</a:t>
            </a:r>
          </a:p>
        </p:txBody>
      </p:sp>
      <p:sp>
        <p:nvSpPr>
          <p:cNvPr id="20" name="!!page">
            <a:extLst>
              <a:ext uri="{FF2B5EF4-FFF2-40B4-BE49-F238E27FC236}">
                <a16:creationId xmlns:a16="http://schemas.microsoft.com/office/drawing/2014/main" id="{F648EFDF-5D5E-4B1D-9615-20F6508B6A5A}"/>
              </a:ext>
            </a:extLst>
          </p:cNvPr>
          <p:cNvSpPr>
            <a:spLocks noGrp="1"/>
          </p:cNvSpPr>
          <p:nvPr/>
        </p:nvSpPr>
        <p:spPr>
          <a:xfrm>
            <a:off x="10706100" y="6381750"/>
            <a:ext cx="876300" cy="228600"/>
          </a:xfrm>
          <a:prstGeom prst="rect">
            <a:avLst/>
          </a:prstGeom>
          <a:noFill/>
          <a:ln w="0">
            <a:noFill/>
          </a:ln>
        </p:spPr>
        <p:txBody>
          <a:bodyPr wrap="square" lIns="0" tIns="0" rIns="0" bIns="0" anchor="t">
            <a:normAutofit/>
          </a:bodyPr>
          <a:lstStyle/>
          <a:p>
            <a:pPr>
              <a:defRPr sz="1275" b="0">
                <a:solidFill>
                  <a:srgbClr val="A3BCAB"/>
                </a:solidFill>
                <a:latin typeface="Segoe UI"/>
                <a:ea typeface="Segoe UI"/>
                <a:cs typeface="Segoe UI"/>
              </a:defRPr>
            </a:pPr>
            <a:r>
              <a:rPr sz="1275" b="0">
                <a:solidFill>
                  <a:srgbClr val="A3BCAB"/>
                </a:solidFill>
                <a:latin typeface="Segoe UI"/>
                <a:ea typeface="Segoe UI"/>
                <a:cs typeface="Segoe UI"/>
              </a:rPr>
              <a:t>17 / 19</a:t>
            </a:r>
          </a:p>
        </p:txBody>
      </p:sp>
      <p:sp>
        <p:nvSpPr>
          <p:cNvPr id="21" name="!!caption">
            <a:extLst>
              <a:ext uri="{FF2B5EF4-FFF2-40B4-BE49-F238E27FC236}">
                <a16:creationId xmlns:a16="http://schemas.microsoft.com/office/drawing/2014/main" id="{C34CFB29-F6C1-4700-B35E-303EA94D0A4A}"/>
              </a:ext>
            </a:extLst>
          </p:cNvPr>
          <p:cNvSpPr>
            <a:spLocks noGrp="1"/>
          </p:cNvSpPr>
          <p:nvPr/>
        </p:nvSpPr>
        <p:spPr>
          <a:xfrm>
            <a:off x="609600" y="6381750"/>
            <a:ext cx="9525000" cy="228600"/>
          </a:xfrm>
          <a:prstGeom prst="rect">
            <a:avLst/>
          </a:prstGeom>
          <a:noFill/>
          <a:ln w="0">
            <a:noFill/>
          </a:ln>
        </p:spPr>
        <p:txBody>
          <a:bodyPr wrap="square" lIns="0" tIns="0" rIns="0" bIns="0" anchor="t">
            <a:normAutofit/>
          </a:bodyPr>
          <a:lstStyle/>
          <a:p>
            <a:pPr>
              <a:defRPr sz="1275" b="0">
                <a:solidFill>
                  <a:srgbClr val="A3BCAB"/>
                </a:solidFill>
                <a:latin typeface="Segoe UI"/>
                <a:ea typeface="Segoe UI"/>
                <a:cs typeface="Segoe UI"/>
              </a:defRPr>
            </a:pPr>
            <a:r>
              <a:rPr sz="1275" b="0">
                <a:solidFill>
                  <a:srgbClr val="A3BCAB"/>
                </a:solidFill>
                <a:latin typeface="Segoe UI"/>
                <a:ea typeface="Segoe UI"/>
                <a:cs typeface="Segoe UI"/>
              </a:rPr>
              <a:t>Kế hoạch đề xuất. Chưa có pilot hoặc doanh thu được xác nhận</a:t>
            </a:r>
          </a:p>
        </p:txBody>
      </p:sp>
    </p:spTree>
    <p:extLst>
      <p:ext uri="{BB962C8B-B14F-4D97-AF65-F5344CB8AC3E}">
        <p14:creationId xmlns:p14="http://schemas.microsoft.com/office/powerpoint/2010/main" val="2666129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00">
        <p159:morph option="byObject"/>
      </p:transition>
    </mc:Choice>
    <mc:Fallback xmlns="" xmlns:p14="http://schemas.microsoft.com/office/powerpoint/2010/main">
      <p:transition advClick="1" spd="fast">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4F1E8"/>
        </a:solidFill>
        <a:effectLst/>
      </p:bgPr>
    </p:bg>
    <p:spTree>
      <p:nvGrpSpPr>
        <p:cNvPr id="1" name=""/>
        <p:cNvGrpSpPr/>
        <p:nvPr/>
      </p:nvGrpSpPr>
      <p:grpSpPr>
        <a:xfrm>
          <a:off x="0" y="0"/>
          <a:ext cx="0" cy="0"/>
          <a:chOff x="0" y="0"/>
          <a:chExt cx="0" cy="0"/>
        </a:xfrm>
      </p:grpSpPr>
      <p:pic>
        <p:nvPicPr>
          <p:cNvPr id="23" name="!!backdrop"/>
          <p:cNvPicPr>
            <a:picLocks noChangeAspect="1"/>
          </p:cNvPicPr>
          <p:nvPr/>
        </p:nvPicPr>
        <p:blipFill>
          <a:blip r:embed="rId3"/>
          <a:srcRect t="27" b="27"/>
          <a:stretch>
            <a:fillRect/>
          </a:stretch>
        </p:blipFill>
        <p:spPr>
          <a:xfrm>
            <a:off x="0" y="0"/>
            <a:ext cx="12192000" cy="6858000"/>
          </a:xfrm>
          <a:prstGeom prst="rect">
            <a:avLst/>
          </a:prstGeom>
        </p:spPr>
      </p:pic>
      <p:sp>
        <p:nvSpPr>
          <p:cNvPr id="2" name="!!headline">
            <a:extLst>
              <a:ext uri="{FF2B5EF4-FFF2-40B4-BE49-F238E27FC236}">
                <a16:creationId xmlns:a16="http://schemas.microsoft.com/office/drawing/2014/main" id="{C3FBDA18-A64B-481D-8FA6-8C2CC03E7D7D}"/>
              </a:ext>
            </a:extLst>
          </p:cNvPr>
          <p:cNvSpPr>
            <a:spLocks noGrp="1"/>
          </p:cNvSpPr>
          <p:nvPr/>
        </p:nvSpPr>
        <p:spPr>
          <a:xfrm>
            <a:off x="609600" y="533400"/>
            <a:ext cx="10953750" cy="1104900"/>
          </a:xfrm>
          <a:prstGeom prst="rect">
            <a:avLst/>
          </a:prstGeom>
          <a:noFill/>
          <a:ln w="0">
            <a:noFill/>
          </a:ln>
        </p:spPr>
        <p:txBody>
          <a:bodyPr wrap="square" lIns="0" tIns="0" rIns="0" bIns="0" anchor="t">
            <a:normAutofit/>
          </a:bodyPr>
          <a:lstStyle/>
          <a:p>
            <a:pPr>
              <a:defRPr sz="3450" b="1">
                <a:solidFill>
                  <a:srgbClr val="142F24"/>
                </a:solidFill>
                <a:latin typeface="Segoe UI"/>
                <a:ea typeface="Segoe UI"/>
                <a:cs typeface="Segoe UI"/>
              </a:defRPr>
            </a:pPr>
            <a:r>
              <a:rPr sz="3450" b="1">
                <a:solidFill>
                  <a:srgbClr val="142F24"/>
                </a:solidFill>
                <a:latin typeface="Segoe UI"/>
                <a:ea typeface="Segoe UI"/>
                <a:cs typeface="Segoe UI"/>
              </a:rPr>
              <a:t>Các bước phát triển tiếp theo</a:t>
            </a:r>
          </a:p>
        </p:txBody>
      </p:sp>
      <p:sp>
        <p:nvSpPr>
          <p:cNvPr id="3" name="!!next-0-selection">
            <a:extLst>
              <a:ext uri="{FF2B5EF4-FFF2-40B4-BE49-F238E27FC236}">
                <a16:creationId xmlns:a16="http://schemas.microsoft.com/office/drawing/2014/main" id="{B7B440DD-9C0A-4C61-9A93-D006B114A608}"/>
              </a:ext>
            </a:extLst>
          </p:cNvPr>
          <p:cNvSpPr>
            <a:spLocks noGrp="1"/>
          </p:cNvSpPr>
          <p:nvPr/>
        </p:nvSpPr>
        <p:spPr>
          <a:xfrm>
            <a:off x="666750" y="2190750"/>
            <a:ext cx="571500" cy="571500"/>
          </a:xfrm>
          <a:prstGeom prst="ellipse">
            <a:avLst/>
          </a:prstGeom>
          <a:solidFill>
            <a:srgbClr val="E5EBDD"/>
          </a:solidFill>
          <a:ln w="9525">
            <a:solidFill>
              <a:srgbClr val="166447"/>
            </a:solidFill>
          </a:ln>
        </p:spPr>
        <p:txBody>
          <a:bodyPr/>
          <a:lstStyle/>
          <a:p>
            <a:endParaRPr lang="en-US"/>
          </a:p>
        </p:txBody>
      </p:sp>
      <p:sp>
        <p:nvSpPr>
          <p:cNvPr id="4" name="!!next-0-icon-0">
            <a:extLst>
              <a:ext uri="{FF2B5EF4-FFF2-40B4-BE49-F238E27FC236}">
                <a16:creationId xmlns:a16="http://schemas.microsoft.com/office/drawing/2014/main" id="{313FDD19-18EA-4015-B1D4-8DE3235CF89F}"/>
              </a:ext>
            </a:extLst>
          </p:cNvPr>
          <p:cNvSpPr>
            <a:spLocks noGrp="1"/>
          </p:cNvSpPr>
          <p:nvPr/>
        </p:nvSpPr>
        <p:spPr>
          <a:xfrm>
            <a:off x="798195" y="2322195"/>
            <a:ext cx="308610" cy="308610"/>
          </a:xfrm>
          <a:custGeom>
            <a:avLst/>
            <a:gdLst/>
            <a:ahLst/>
            <a:cxnLst/>
            <a:rect l="0" t="0" r="0" b="0"/>
            <a:pathLst>
              <a:path w="228600" h="228600">
                <a:moveTo>
                  <a:pt x="19050" y="76200"/>
                </a:moveTo>
                <a:lnTo>
                  <a:pt x="19050" y="19050"/>
                </a:lnTo>
                <a:lnTo>
                  <a:pt x="76200" y="19050"/>
                </a:lnTo>
              </a:path>
            </a:pathLst>
          </a:custGeom>
          <a:noFill/>
          <a:ln w="19050">
            <a:solidFill>
              <a:srgbClr val="166447"/>
            </a:solidFill>
            <a:prstDash val="solid"/>
          </a:ln>
        </p:spPr>
        <p:txBody>
          <a:bodyPr/>
          <a:lstStyle/>
          <a:p>
            <a:endParaRPr lang="en-US"/>
          </a:p>
        </p:txBody>
      </p:sp>
      <p:sp>
        <p:nvSpPr>
          <p:cNvPr id="5" name="!!next-0-icon-1">
            <a:extLst>
              <a:ext uri="{FF2B5EF4-FFF2-40B4-BE49-F238E27FC236}">
                <a16:creationId xmlns:a16="http://schemas.microsoft.com/office/drawing/2014/main" id="{6F59683D-760F-48E1-A2C5-3C32BC420738}"/>
              </a:ext>
            </a:extLst>
          </p:cNvPr>
          <p:cNvSpPr>
            <a:spLocks noGrp="1"/>
          </p:cNvSpPr>
          <p:nvPr/>
        </p:nvSpPr>
        <p:spPr>
          <a:xfrm>
            <a:off x="798195" y="2322195"/>
            <a:ext cx="308610" cy="308610"/>
          </a:xfrm>
          <a:custGeom>
            <a:avLst/>
            <a:gdLst/>
            <a:ahLst/>
            <a:cxnLst/>
            <a:rect l="0" t="0" r="0" b="0"/>
            <a:pathLst>
              <a:path w="228600" h="228600">
                <a:moveTo>
                  <a:pt x="152400" y="19050"/>
                </a:moveTo>
                <a:lnTo>
                  <a:pt x="209550" y="19050"/>
                </a:lnTo>
                <a:lnTo>
                  <a:pt x="209550" y="76200"/>
                </a:lnTo>
              </a:path>
            </a:pathLst>
          </a:custGeom>
          <a:noFill/>
          <a:ln w="19050">
            <a:solidFill>
              <a:srgbClr val="166447"/>
            </a:solidFill>
            <a:prstDash val="solid"/>
          </a:ln>
        </p:spPr>
        <p:txBody>
          <a:bodyPr/>
          <a:lstStyle/>
          <a:p>
            <a:endParaRPr lang="en-US"/>
          </a:p>
        </p:txBody>
      </p:sp>
      <p:sp>
        <p:nvSpPr>
          <p:cNvPr id="6" name="!!next-0-icon-2">
            <a:extLst>
              <a:ext uri="{FF2B5EF4-FFF2-40B4-BE49-F238E27FC236}">
                <a16:creationId xmlns:a16="http://schemas.microsoft.com/office/drawing/2014/main" id="{4ED5CDE6-3F96-4A1D-BC7E-1B17F83F6C67}"/>
              </a:ext>
            </a:extLst>
          </p:cNvPr>
          <p:cNvSpPr>
            <a:spLocks noGrp="1"/>
          </p:cNvSpPr>
          <p:nvPr/>
        </p:nvSpPr>
        <p:spPr>
          <a:xfrm>
            <a:off x="798195" y="2322195"/>
            <a:ext cx="308610" cy="308610"/>
          </a:xfrm>
          <a:custGeom>
            <a:avLst/>
            <a:gdLst/>
            <a:ahLst/>
            <a:cxnLst/>
            <a:rect l="0" t="0" r="0" b="0"/>
            <a:pathLst>
              <a:path w="228600" h="228600">
                <a:moveTo>
                  <a:pt x="209550" y="152400"/>
                </a:moveTo>
                <a:lnTo>
                  <a:pt x="209550" y="209550"/>
                </a:lnTo>
                <a:lnTo>
                  <a:pt x="152400" y="209550"/>
                </a:lnTo>
              </a:path>
            </a:pathLst>
          </a:custGeom>
          <a:noFill/>
          <a:ln w="19050">
            <a:solidFill>
              <a:srgbClr val="166447"/>
            </a:solidFill>
            <a:prstDash val="solid"/>
          </a:ln>
        </p:spPr>
        <p:txBody>
          <a:bodyPr/>
          <a:lstStyle/>
          <a:p>
            <a:endParaRPr lang="en-US"/>
          </a:p>
        </p:txBody>
      </p:sp>
      <p:sp>
        <p:nvSpPr>
          <p:cNvPr id="7" name="!!next-0-icon-3">
            <a:extLst>
              <a:ext uri="{FF2B5EF4-FFF2-40B4-BE49-F238E27FC236}">
                <a16:creationId xmlns:a16="http://schemas.microsoft.com/office/drawing/2014/main" id="{EB163C6C-6CF7-482A-A702-A799832F38E9}"/>
              </a:ext>
            </a:extLst>
          </p:cNvPr>
          <p:cNvSpPr>
            <a:spLocks noGrp="1"/>
          </p:cNvSpPr>
          <p:nvPr/>
        </p:nvSpPr>
        <p:spPr>
          <a:xfrm>
            <a:off x="798195" y="2322195"/>
            <a:ext cx="308610" cy="308610"/>
          </a:xfrm>
          <a:custGeom>
            <a:avLst/>
            <a:gdLst/>
            <a:ahLst/>
            <a:cxnLst/>
            <a:rect l="0" t="0" r="0" b="0"/>
            <a:pathLst>
              <a:path w="228600" h="228600">
                <a:moveTo>
                  <a:pt x="76200" y="209550"/>
                </a:moveTo>
                <a:lnTo>
                  <a:pt x="19050" y="209550"/>
                </a:lnTo>
                <a:lnTo>
                  <a:pt x="19050" y="152400"/>
                </a:lnTo>
              </a:path>
            </a:pathLst>
          </a:custGeom>
          <a:noFill/>
          <a:ln w="19050">
            <a:solidFill>
              <a:srgbClr val="166447"/>
            </a:solidFill>
            <a:prstDash val="solid"/>
          </a:ln>
        </p:spPr>
        <p:txBody>
          <a:bodyPr/>
          <a:lstStyle/>
          <a:p>
            <a:endParaRPr lang="en-US"/>
          </a:p>
        </p:txBody>
      </p:sp>
      <p:sp>
        <p:nvSpPr>
          <p:cNvPr id="8" name="!!next-0-icon-4">
            <a:extLst>
              <a:ext uri="{FF2B5EF4-FFF2-40B4-BE49-F238E27FC236}">
                <a16:creationId xmlns:a16="http://schemas.microsoft.com/office/drawing/2014/main" id="{6224E839-9666-417D-A880-1A134F503D4F}"/>
              </a:ext>
            </a:extLst>
          </p:cNvPr>
          <p:cNvSpPr>
            <a:spLocks noGrp="1"/>
          </p:cNvSpPr>
          <p:nvPr/>
        </p:nvSpPr>
        <p:spPr>
          <a:xfrm>
            <a:off x="798195" y="2322195"/>
            <a:ext cx="308610" cy="308610"/>
          </a:xfrm>
          <a:custGeom>
            <a:avLst/>
            <a:gdLst/>
            <a:ahLst/>
            <a:cxnLst/>
            <a:rect l="0" t="0" r="0" b="0"/>
            <a:pathLst>
              <a:path w="228600" h="228600">
                <a:moveTo>
                  <a:pt x="57150" y="114300"/>
                </a:moveTo>
                <a:lnTo>
                  <a:pt x="171450" y="114300"/>
                </a:lnTo>
              </a:path>
            </a:pathLst>
          </a:custGeom>
          <a:noFill/>
          <a:ln w="19050">
            <a:solidFill>
              <a:srgbClr val="166447"/>
            </a:solidFill>
            <a:prstDash val="solid"/>
          </a:ln>
        </p:spPr>
        <p:txBody>
          <a:bodyPr/>
          <a:lstStyle/>
          <a:p>
            <a:endParaRPr lang="en-US"/>
          </a:p>
        </p:txBody>
      </p:sp>
      <p:sp>
        <p:nvSpPr>
          <p:cNvPr id="9" name="!!next-0-label">
            <a:extLst>
              <a:ext uri="{FF2B5EF4-FFF2-40B4-BE49-F238E27FC236}">
                <a16:creationId xmlns:a16="http://schemas.microsoft.com/office/drawing/2014/main" id="{B32EB303-49C9-4B08-B3D8-18F8CF0AEFC6}"/>
              </a:ext>
            </a:extLst>
          </p:cNvPr>
          <p:cNvSpPr>
            <a:spLocks noGrp="1"/>
          </p:cNvSpPr>
          <p:nvPr/>
        </p:nvSpPr>
        <p:spPr>
          <a:xfrm>
            <a:off x="1524000" y="2133600"/>
            <a:ext cx="4800600" cy="571500"/>
          </a:xfrm>
          <a:prstGeom prst="rect">
            <a:avLst/>
          </a:prstGeom>
          <a:noFill/>
          <a:ln w="0">
            <a:noFill/>
          </a:ln>
        </p:spPr>
        <p:txBody>
          <a:bodyPr wrap="square" lIns="0" tIns="0" rIns="0" bIns="0" anchor="t">
            <a:normAutofit/>
          </a:bodyPr>
          <a:lstStyle/>
          <a:p>
            <a:pPr>
              <a:defRPr sz="2100" b="1">
                <a:solidFill>
                  <a:srgbClr val="142F24"/>
                </a:solidFill>
                <a:latin typeface="Segoe UI"/>
                <a:ea typeface="Segoe UI"/>
                <a:cs typeface="Segoe UI"/>
              </a:defRPr>
            </a:pPr>
            <a:r>
              <a:rPr sz="2100" b="1">
                <a:solidFill>
                  <a:srgbClr val="142F24"/>
                </a:solidFill>
                <a:latin typeface="Segoe UI"/>
                <a:ea typeface="Segoe UI"/>
                <a:cs typeface="Segoe UI"/>
              </a:rPr>
              <a:t>1. Kiểm thử flow production</a:t>
            </a:r>
          </a:p>
        </p:txBody>
      </p:sp>
      <p:sp>
        <p:nvSpPr>
          <p:cNvPr id="10" name="!!next-0-detail">
            <a:extLst>
              <a:ext uri="{FF2B5EF4-FFF2-40B4-BE49-F238E27FC236}">
                <a16:creationId xmlns:a16="http://schemas.microsoft.com/office/drawing/2014/main" id="{5F4A07F4-13D8-4A49-ACD0-42051AD4B445}"/>
              </a:ext>
            </a:extLst>
          </p:cNvPr>
          <p:cNvSpPr>
            <a:spLocks noGrp="1"/>
          </p:cNvSpPr>
          <p:nvPr/>
        </p:nvSpPr>
        <p:spPr>
          <a:xfrm>
            <a:off x="1524000" y="2705100"/>
            <a:ext cx="4800600" cy="666750"/>
          </a:xfrm>
          <a:prstGeom prst="rect">
            <a:avLst/>
          </a:prstGeom>
          <a:noFill/>
          <a:ln w="0">
            <a:noFill/>
          </a:ln>
        </p:spPr>
        <p:txBody>
          <a:bodyPr wrap="square" lIns="0" tIns="0" rIns="0" bIns="0" anchor="t">
            <a:normAutofit/>
          </a:bodyPr>
          <a:lstStyle/>
          <a:p>
            <a:pPr>
              <a:defRPr sz="1800" b="0">
                <a:solidFill>
                  <a:srgbClr val="53685B"/>
                </a:solidFill>
                <a:latin typeface="Segoe UI"/>
                <a:ea typeface="Segoe UI"/>
                <a:cs typeface="Segoe UI"/>
              </a:defRPr>
            </a:pPr>
            <a:r>
              <a:rPr sz="1800" b="0">
                <a:solidFill>
                  <a:srgbClr val="53685B"/>
                </a:solidFill>
                <a:latin typeface="Segoe UI"/>
                <a:ea typeface="Segoe UI"/>
                <a:cs typeface="Segoe UI"/>
              </a:rPr>
              <a:t>Hai tài khoản và một phiên ẩn danh</a:t>
            </a:r>
          </a:p>
        </p:txBody>
      </p:sp>
      <p:sp>
        <p:nvSpPr>
          <p:cNvPr id="11" name="!!next-1-selection">
            <a:extLst>
              <a:ext uri="{FF2B5EF4-FFF2-40B4-BE49-F238E27FC236}">
                <a16:creationId xmlns:a16="http://schemas.microsoft.com/office/drawing/2014/main" id="{2428C988-E13E-41E2-98FD-9DE77E335AD8}"/>
              </a:ext>
            </a:extLst>
          </p:cNvPr>
          <p:cNvSpPr>
            <a:spLocks noGrp="1"/>
          </p:cNvSpPr>
          <p:nvPr/>
        </p:nvSpPr>
        <p:spPr>
          <a:xfrm>
            <a:off x="666750" y="3400425"/>
            <a:ext cx="571500" cy="571500"/>
          </a:xfrm>
          <a:prstGeom prst="ellipse">
            <a:avLst/>
          </a:prstGeom>
          <a:solidFill>
            <a:srgbClr val="E5EBDD"/>
          </a:solidFill>
          <a:ln w="9525">
            <a:solidFill>
              <a:srgbClr val="166447"/>
            </a:solidFill>
          </a:ln>
        </p:spPr>
        <p:txBody>
          <a:bodyPr/>
          <a:lstStyle/>
          <a:p>
            <a:endParaRPr lang="en-US"/>
          </a:p>
        </p:txBody>
      </p:sp>
      <p:sp>
        <p:nvSpPr>
          <p:cNvPr id="12" name="!!next-1-icon-0">
            <a:extLst>
              <a:ext uri="{FF2B5EF4-FFF2-40B4-BE49-F238E27FC236}">
                <a16:creationId xmlns:a16="http://schemas.microsoft.com/office/drawing/2014/main" id="{233641A4-3BB3-49F9-8375-2E8391C2ED23}"/>
              </a:ext>
            </a:extLst>
          </p:cNvPr>
          <p:cNvSpPr>
            <a:spLocks noGrp="1"/>
          </p:cNvSpPr>
          <p:nvPr/>
        </p:nvSpPr>
        <p:spPr>
          <a:xfrm>
            <a:off x="901065" y="3557588"/>
            <a:ext cx="102870" cy="102870"/>
          </a:xfrm>
          <a:prstGeom prst="ellipse">
            <a:avLst/>
          </a:prstGeom>
          <a:noFill/>
          <a:ln w="19050">
            <a:solidFill>
              <a:srgbClr val="166447"/>
            </a:solidFill>
            <a:prstDash val="solid"/>
          </a:ln>
        </p:spPr>
        <p:txBody>
          <a:bodyPr/>
          <a:lstStyle/>
          <a:p>
            <a:endParaRPr lang="en-US"/>
          </a:p>
        </p:txBody>
      </p:sp>
      <p:sp>
        <p:nvSpPr>
          <p:cNvPr id="13" name="!!next-1-icon-1">
            <a:extLst>
              <a:ext uri="{FF2B5EF4-FFF2-40B4-BE49-F238E27FC236}">
                <a16:creationId xmlns:a16="http://schemas.microsoft.com/office/drawing/2014/main" id="{7C5C8BA8-0488-4010-8C83-851E21ADE2C6}"/>
              </a:ext>
            </a:extLst>
          </p:cNvPr>
          <p:cNvSpPr>
            <a:spLocks noGrp="1"/>
          </p:cNvSpPr>
          <p:nvPr/>
        </p:nvSpPr>
        <p:spPr>
          <a:xfrm>
            <a:off x="849630" y="3699034"/>
            <a:ext cx="205740" cy="115729"/>
          </a:xfrm>
          <a:prstGeom prst="roundRect">
            <a:avLst>
              <a:gd name="adj" fmla="val 50000"/>
            </a:avLst>
          </a:prstGeom>
          <a:noFill/>
          <a:ln w="19050">
            <a:solidFill>
              <a:srgbClr val="166447"/>
            </a:solidFill>
            <a:prstDash val="solid"/>
          </a:ln>
        </p:spPr>
        <p:txBody>
          <a:bodyPr/>
          <a:lstStyle/>
          <a:p>
            <a:endParaRPr lang="en-US"/>
          </a:p>
        </p:txBody>
      </p:sp>
      <p:sp>
        <p:nvSpPr>
          <p:cNvPr id="14" name="!!next-1-label">
            <a:extLst>
              <a:ext uri="{FF2B5EF4-FFF2-40B4-BE49-F238E27FC236}">
                <a16:creationId xmlns:a16="http://schemas.microsoft.com/office/drawing/2014/main" id="{CF603A27-3F60-4C21-9DF5-551EBB5080B3}"/>
              </a:ext>
            </a:extLst>
          </p:cNvPr>
          <p:cNvSpPr>
            <a:spLocks noGrp="1"/>
          </p:cNvSpPr>
          <p:nvPr/>
        </p:nvSpPr>
        <p:spPr>
          <a:xfrm>
            <a:off x="1524000" y="3343275"/>
            <a:ext cx="4800600" cy="571500"/>
          </a:xfrm>
          <a:prstGeom prst="rect">
            <a:avLst/>
          </a:prstGeom>
          <a:noFill/>
          <a:ln w="0">
            <a:noFill/>
          </a:ln>
        </p:spPr>
        <p:txBody>
          <a:bodyPr wrap="square" lIns="0" tIns="0" rIns="0" bIns="0" anchor="t">
            <a:normAutofit/>
          </a:bodyPr>
          <a:lstStyle/>
          <a:p>
            <a:pPr>
              <a:defRPr sz="2100" b="1">
                <a:solidFill>
                  <a:srgbClr val="142F24"/>
                </a:solidFill>
                <a:latin typeface="Segoe UI"/>
                <a:ea typeface="Segoe UI"/>
                <a:cs typeface="Segoe UI"/>
              </a:defRPr>
            </a:pPr>
            <a:r>
              <a:rPr sz="2100" b="1">
                <a:solidFill>
                  <a:srgbClr val="142F24"/>
                </a:solidFill>
                <a:latin typeface="Segoe UI"/>
                <a:ea typeface="Segoe UI"/>
                <a:cs typeface="Segoe UI"/>
              </a:rPr>
              <a:t>2. Pilot với người dùng thật</a:t>
            </a:r>
          </a:p>
        </p:txBody>
      </p:sp>
      <p:sp>
        <p:nvSpPr>
          <p:cNvPr id="15" name="!!next-1-detail">
            <a:extLst>
              <a:ext uri="{FF2B5EF4-FFF2-40B4-BE49-F238E27FC236}">
                <a16:creationId xmlns:a16="http://schemas.microsoft.com/office/drawing/2014/main" id="{9A5B6066-D7A5-41BB-A3A4-9EC3DF7D9859}"/>
              </a:ext>
            </a:extLst>
          </p:cNvPr>
          <p:cNvSpPr>
            <a:spLocks noGrp="1"/>
          </p:cNvSpPr>
          <p:nvPr/>
        </p:nvSpPr>
        <p:spPr>
          <a:xfrm>
            <a:off x="1524000" y="3914775"/>
            <a:ext cx="4800600" cy="666750"/>
          </a:xfrm>
          <a:prstGeom prst="rect">
            <a:avLst/>
          </a:prstGeom>
          <a:noFill/>
          <a:ln w="0">
            <a:noFill/>
          </a:ln>
        </p:spPr>
        <p:txBody>
          <a:bodyPr wrap="square" lIns="0" tIns="0" rIns="0" bIns="0" anchor="t">
            <a:normAutofit/>
          </a:bodyPr>
          <a:lstStyle/>
          <a:p>
            <a:pPr>
              <a:defRPr sz="1800" b="0">
                <a:solidFill>
                  <a:srgbClr val="53685B"/>
                </a:solidFill>
                <a:latin typeface="Segoe UI"/>
                <a:ea typeface="Segoe UI"/>
                <a:cs typeface="Segoe UI"/>
              </a:defRPr>
            </a:pPr>
            <a:r>
              <a:rPr sz="1800" b="0">
                <a:solidFill>
                  <a:srgbClr val="53685B"/>
                </a:solidFill>
                <a:latin typeface="Segoe UI"/>
                <a:ea typeface="Segoe UI"/>
                <a:cs typeface="Segoe UI"/>
              </a:rPr>
              <a:t>Xác nhận công việc và tiêu chí đo</a:t>
            </a:r>
          </a:p>
        </p:txBody>
      </p:sp>
      <p:sp>
        <p:nvSpPr>
          <p:cNvPr id="16" name="!!next-2-selection">
            <a:extLst>
              <a:ext uri="{FF2B5EF4-FFF2-40B4-BE49-F238E27FC236}">
                <a16:creationId xmlns:a16="http://schemas.microsoft.com/office/drawing/2014/main" id="{39D0C219-94ED-4699-8C36-70BA77F1DA6E}"/>
              </a:ext>
            </a:extLst>
          </p:cNvPr>
          <p:cNvSpPr>
            <a:spLocks noGrp="1"/>
          </p:cNvSpPr>
          <p:nvPr/>
        </p:nvSpPr>
        <p:spPr>
          <a:xfrm>
            <a:off x="590550" y="4533900"/>
            <a:ext cx="723900" cy="723900"/>
          </a:xfrm>
          <a:prstGeom prst="ellipse">
            <a:avLst/>
          </a:prstGeom>
          <a:solidFill>
            <a:srgbClr val="166447"/>
          </a:solidFill>
          <a:ln w="28575">
            <a:solidFill>
              <a:srgbClr val="C8A45B"/>
            </a:solidFill>
          </a:ln>
        </p:spPr>
        <p:txBody>
          <a:bodyPr/>
          <a:lstStyle/>
          <a:p>
            <a:endParaRPr lang="en-US"/>
          </a:p>
        </p:txBody>
      </p:sp>
      <p:sp>
        <p:nvSpPr>
          <p:cNvPr id="17" name="!!next-2-icon-0">
            <a:extLst>
              <a:ext uri="{FF2B5EF4-FFF2-40B4-BE49-F238E27FC236}">
                <a16:creationId xmlns:a16="http://schemas.microsoft.com/office/drawing/2014/main" id="{F084A78C-86C5-41C3-82DA-82AA1F58A458}"/>
              </a:ext>
            </a:extLst>
          </p:cNvPr>
          <p:cNvSpPr>
            <a:spLocks noGrp="1"/>
          </p:cNvSpPr>
          <p:nvPr/>
        </p:nvSpPr>
        <p:spPr>
          <a:xfrm>
            <a:off x="789622" y="4732973"/>
            <a:ext cx="228029" cy="228029"/>
          </a:xfrm>
          <a:prstGeom prst="ellipse">
            <a:avLst/>
          </a:prstGeom>
          <a:noFill/>
          <a:ln w="19050">
            <a:solidFill>
              <a:srgbClr val="FFFFFF"/>
            </a:solidFill>
            <a:prstDash val="solid"/>
          </a:ln>
        </p:spPr>
        <p:txBody>
          <a:bodyPr/>
          <a:lstStyle/>
          <a:p>
            <a:endParaRPr lang="en-US"/>
          </a:p>
        </p:txBody>
      </p:sp>
      <p:sp>
        <p:nvSpPr>
          <p:cNvPr id="18" name="!!next-2-icon-1">
            <a:extLst>
              <a:ext uri="{FF2B5EF4-FFF2-40B4-BE49-F238E27FC236}">
                <a16:creationId xmlns:a16="http://schemas.microsoft.com/office/drawing/2014/main" id="{2565713A-44D3-4142-A6D8-16B1E9E4FA61}"/>
              </a:ext>
            </a:extLst>
          </p:cNvPr>
          <p:cNvSpPr>
            <a:spLocks noGrp="1"/>
          </p:cNvSpPr>
          <p:nvPr/>
        </p:nvSpPr>
        <p:spPr>
          <a:xfrm>
            <a:off x="757047" y="4700397"/>
            <a:ext cx="390906" cy="390906"/>
          </a:xfrm>
          <a:custGeom>
            <a:avLst/>
            <a:gdLst/>
            <a:ahLst/>
            <a:cxnLst/>
            <a:rect l="0" t="0" r="0" b="0"/>
            <a:pathLst>
              <a:path w="228600" h="228600">
                <a:moveTo>
                  <a:pt x="133350" y="133350"/>
                </a:moveTo>
                <a:lnTo>
                  <a:pt x="209550" y="209550"/>
                </a:lnTo>
              </a:path>
            </a:pathLst>
          </a:custGeom>
          <a:noFill/>
          <a:ln w="19050">
            <a:solidFill>
              <a:srgbClr val="FFFFFF"/>
            </a:solidFill>
            <a:prstDash val="solid"/>
          </a:ln>
        </p:spPr>
        <p:txBody>
          <a:bodyPr/>
          <a:lstStyle/>
          <a:p>
            <a:endParaRPr lang="en-US"/>
          </a:p>
        </p:txBody>
      </p:sp>
      <p:sp>
        <p:nvSpPr>
          <p:cNvPr id="19" name="!!next-2-label">
            <a:extLst>
              <a:ext uri="{FF2B5EF4-FFF2-40B4-BE49-F238E27FC236}">
                <a16:creationId xmlns:a16="http://schemas.microsoft.com/office/drawing/2014/main" id="{C21E1175-CBCA-43B8-83CC-5DFD21B19596}"/>
              </a:ext>
            </a:extLst>
          </p:cNvPr>
          <p:cNvSpPr>
            <a:spLocks noGrp="1"/>
          </p:cNvSpPr>
          <p:nvPr/>
        </p:nvSpPr>
        <p:spPr>
          <a:xfrm>
            <a:off x="1524000" y="4552950"/>
            <a:ext cx="4800600" cy="571500"/>
          </a:xfrm>
          <a:prstGeom prst="rect">
            <a:avLst/>
          </a:prstGeom>
          <a:noFill/>
          <a:ln w="0">
            <a:noFill/>
          </a:ln>
        </p:spPr>
        <p:txBody>
          <a:bodyPr wrap="square" lIns="0" tIns="0" rIns="0" bIns="0" anchor="t">
            <a:normAutofit/>
          </a:bodyPr>
          <a:lstStyle/>
          <a:p>
            <a:pPr>
              <a:defRPr sz="2400" b="1">
                <a:solidFill>
                  <a:srgbClr val="142F24"/>
                </a:solidFill>
                <a:latin typeface="Segoe UI"/>
                <a:ea typeface="Segoe UI"/>
                <a:cs typeface="Segoe UI"/>
              </a:defRPr>
            </a:pPr>
            <a:r>
              <a:rPr sz="2400" b="1">
                <a:solidFill>
                  <a:srgbClr val="142F24"/>
                </a:solidFill>
                <a:latin typeface="Segoe UI"/>
                <a:ea typeface="Segoe UI"/>
                <a:cs typeface="Segoe UI"/>
              </a:rPr>
              <a:t>3. Xác minh nguồn bằng chứng</a:t>
            </a:r>
          </a:p>
        </p:txBody>
      </p:sp>
      <p:sp>
        <p:nvSpPr>
          <p:cNvPr id="20" name="!!next-2-detail">
            <a:extLst>
              <a:ext uri="{FF2B5EF4-FFF2-40B4-BE49-F238E27FC236}">
                <a16:creationId xmlns:a16="http://schemas.microsoft.com/office/drawing/2014/main" id="{EAA96D47-0BB7-454B-8F14-F5FF13C01961}"/>
              </a:ext>
            </a:extLst>
          </p:cNvPr>
          <p:cNvSpPr>
            <a:spLocks noGrp="1"/>
          </p:cNvSpPr>
          <p:nvPr/>
        </p:nvSpPr>
        <p:spPr>
          <a:xfrm>
            <a:off x="1524000" y="5124450"/>
            <a:ext cx="4800600" cy="666750"/>
          </a:xfrm>
          <a:prstGeom prst="rect">
            <a:avLst/>
          </a:prstGeom>
          <a:noFill/>
          <a:ln w="0">
            <a:noFill/>
          </a:ln>
        </p:spPr>
        <p:txBody>
          <a:bodyPr wrap="square" lIns="0" tIns="0" rIns="0" bIns="0" anchor="t">
            <a:normAutofit/>
          </a:bodyPr>
          <a:lstStyle/>
          <a:p>
            <a:pPr>
              <a:defRPr sz="1800" b="0">
                <a:solidFill>
                  <a:srgbClr val="53685B"/>
                </a:solidFill>
                <a:latin typeface="Segoe UI"/>
                <a:ea typeface="Segoe UI"/>
                <a:cs typeface="Segoe UI"/>
              </a:defRPr>
            </a:pPr>
            <a:r>
              <a:rPr sz="1800" b="0">
                <a:solidFill>
                  <a:srgbClr val="53685B"/>
                </a:solidFill>
                <a:latin typeface="Segoe UI"/>
                <a:ea typeface="Segoe UI"/>
                <a:cs typeface="Segoe UI"/>
              </a:rPr>
              <a:t>Đối tác lab, attestation và dữ liệu AI</a:t>
            </a:r>
          </a:p>
        </p:txBody>
      </p:sp>
      <p:sp>
        <p:nvSpPr>
          <p:cNvPr id="21" name="!!page">
            <a:extLst>
              <a:ext uri="{FF2B5EF4-FFF2-40B4-BE49-F238E27FC236}">
                <a16:creationId xmlns:a16="http://schemas.microsoft.com/office/drawing/2014/main" id="{B9440454-B664-47AC-B531-40EC0CDDBFD4}"/>
              </a:ext>
            </a:extLst>
          </p:cNvPr>
          <p:cNvSpPr>
            <a:spLocks noGrp="1"/>
          </p:cNvSpPr>
          <p:nvPr/>
        </p:nvSpPr>
        <p:spPr>
          <a:xfrm>
            <a:off x="10706100" y="6381750"/>
            <a:ext cx="876300" cy="228600"/>
          </a:xfrm>
          <a:prstGeom prst="rect">
            <a:avLst/>
          </a:prstGeom>
          <a:noFill/>
          <a:ln w="0">
            <a:noFill/>
          </a:ln>
        </p:spPr>
        <p:txBody>
          <a:bodyPr wrap="square" lIns="0" tIns="0" rIns="0" bIns="0" anchor="t">
            <a:normAutofit/>
          </a:bodyPr>
          <a:lstStyle/>
          <a:p>
            <a:pPr>
              <a:defRPr sz="1275" b="0">
                <a:solidFill>
                  <a:srgbClr val="53685B"/>
                </a:solidFill>
                <a:latin typeface="Segoe UI"/>
                <a:ea typeface="Segoe UI"/>
                <a:cs typeface="Segoe UI"/>
              </a:defRPr>
            </a:pPr>
            <a:r>
              <a:rPr sz="1275" b="0">
                <a:solidFill>
                  <a:srgbClr val="53685B"/>
                </a:solidFill>
                <a:latin typeface="Segoe UI"/>
                <a:ea typeface="Segoe UI"/>
                <a:cs typeface="Segoe UI"/>
              </a:rPr>
              <a:t>18 / 19</a:t>
            </a:r>
          </a:p>
        </p:txBody>
      </p:sp>
      <p:sp>
        <p:nvSpPr>
          <p:cNvPr id="22" name="!!caption">
            <a:extLst>
              <a:ext uri="{FF2B5EF4-FFF2-40B4-BE49-F238E27FC236}">
                <a16:creationId xmlns:a16="http://schemas.microsoft.com/office/drawing/2014/main" id="{C0381A45-4D6C-4DE8-A086-C446E53B234C}"/>
              </a:ext>
            </a:extLst>
          </p:cNvPr>
          <p:cNvSpPr>
            <a:spLocks noGrp="1"/>
          </p:cNvSpPr>
          <p:nvPr/>
        </p:nvSpPr>
        <p:spPr>
          <a:xfrm>
            <a:off x="609600" y="6381750"/>
            <a:ext cx="9525000" cy="228600"/>
          </a:xfrm>
          <a:prstGeom prst="rect">
            <a:avLst/>
          </a:prstGeom>
          <a:noFill/>
          <a:ln w="0">
            <a:noFill/>
          </a:ln>
        </p:spPr>
        <p:txBody>
          <a:bodyPr wrap="square" lIns="0" tIns="0" rIns="0" bIns="0" anchor="t">
            <a:normAutofit/>
          </a:bodyPr>
          <a:lstStyle/>
          <a:p>
            <a:pPr>
              <a:defRPr sz="1275" b="0">
                <a:solidFill>
                  <a:srgbClr val="53685B"/>
                </a:solidFill>
                <a:latin typeface="Segoe UI"/>
                <a:ea typeface="Segoe UI"/>
                <a:cs typeface="Segoe UI"/>
              </a:defRPr>
            </a:pPr>
            <a:r>
              <a:rPr sz="1275" b="0">
                <a:solidFill>
                  <a:srgbClr val="53685B"/>
                </a:solidFill>
                <a:latin typeface="Segoe UI"/>
                <a:ea typeface="Segoe UI"/>
                <a:cs typeface="Segoe UI"/>
              </a:rPr>
              <a:t>Roadmap đề xuất, chưa phải tính năng đã triển khai</a:t>
            </a:r>
          </a:p>
        </p:txBody>
      </p:sp>
    </p:spTree>
    <p:extLst>
      <p:ext uri="{BB962C8B-B14F-4D97-AF65-F5344CB8AC3E}">
        <p14:creationId xmlns:p14="http://schemas.microsoft.com/office/powerpoint/2010/main" val="16009758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00">
        <p159:morph option="byObject"/>
      </p:transition>
    </mc:Choice>
    <mc:Fallback xmlns="" xmlns:p14="http://schemas.microsoft.com/office/powerpoint/2010/main">
      <p:transition advClick="1" spd="fast">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02C21"/>
        </a:solidFill>
        <a:effectLst/>
      </p:bgPr>
    </p:bg>
    <p:spTree>
      <p:nvGrpSpPr>
        <p:cNvPr id="1" name=""/>
        <p:cNvGrpSpPr/>
        <p:nvPr/>
      </p:nvGrpSpPr>
      <p:grpSpPr>
        <a:xfrm>
          <a:off x="0" y="0"/>
          <a:ext cx="0" cy="0"/>
          <a:chOff x="0" y="0"/>
          <a:chExt cx="0" cy="0"/>
        </a:xfrm>
      </p:grpSpPr>
      <p:pic>
        <p:nvPicPr>
          <p:cNvPr id="9" name="!!backdrop"/>
          <p:cNvPicPr>
            <a:picLocks noChangeAspect="1"/>
          </p:cNvPicPr>
          <p:nvPr/>
        </p:nvPicPr>
        <p:blipFill>
          <a:blip r:embed="rId3"/>
          <a:srcRect t="27" b="27"/>
          <a:stretch>
            <a:fillRect/>
          </a:stretch>
        </p:blipFill>
        <p:spPr>
          <a:xfrm>
            <a:off x="0" y="0"/>
            <a:ext cx="12192000" cy="6858000"/>
          </a:xfrm>
          <a:prstGeom prst="rect">
            <a:avLst/>
          </a:prstGeom>
        </p:spPr>
      </p:pic>
      <p:sp>
        <p:nvSpPr>
          <p:cNvPr id="2" name="!!closing-brand">
            <a:extLst>
              <a:ext uri="{FF2B5EF4-FFF2-40B4-BE49-F238E27FC236}">
                <a16:creationId xmlns:a16="http://schemas.microsoft.com/office/drawing/2014/main" id="{40C3DCCC-F84F-43F5-A1EA-55DDDB27BE6C}"/>
              </a:ext>
            </a:extLst>
          </p:cNvPr>
          <p:cNvSpPr>
            <a:spLocks noGrp="1"/>
          </p:cNvSpPr>
          <p:nvPr/>
        </p:nvSpPr>
        <p:spPr>
          <a:xfrm>
            <a:off x="609600" y="1838325"/>
            <a:ext cx="6858000" cy="1104900"/>
          </a:xfrm>
          <a:prstGeom prst="rect">
            <a:avLst/>
          </a:prstGeom>
          <a:noFill/>
          <a:ln w="0">
            <a:noFill/>
          </a:ln>
        </p:spPr>
        <p:txBody>
          <a:bodyPr wrap="square" lIns="0" tIns="0" rIns="0" bIns="0" anchor="t">
            <a:normAutofit/>
          </a:bodyPr>
          <a:lstStyle/>
          <a:p>
            <a:pPr>
              <a:defRPr sz="5250" b="1">
                <a:solidFill>
                  <a:srgbClr val="F4F1E8"/>
                </a:solidFill>
                <a:latin typeface="Segoe UI"/>
                <a:ea typeface="Segoe UI"/>
                <a:cs typeface="Segoe UI"/>
              </a:defRPr>
            </a:pPr>
            <a:r>
              <a:rPr sz="5250" b="1">
                <a:solidFill>
                  <a:srgbClr val="F4F1E8"/>
                </a:solidFill>
                <a:latin typeface="Segoe UI"/>
                <a:ea typeface="Segoe UI"/>
                <a:cs typeface="Segoe UI"/>
              </a:rPr>
              <a:t>DurianTrust</a:t>
            </a:r>
          </a:p>
        </p:txBody>
      </p:sp>
      <p:sp>
        <p:nvSpPr>
          <p:cNvPr id="3" name="!!closing-line">
            <a:extLst>
              <a:ext uri="{FF2B5EF4-FFF2-40B4-BE49-F238E27FC236}">
                <a16:creationId xmlns:a16="http://schemas.microsoft.com/office/drawing/2014/main" id="{39A50B97-0822-4558-9957-9F0B95328E4C}"/>
              </a:ext>
            </a:extLst>
          </p:cNvPr>
          <p:cNvSpPr>
            <a:spLocks noGrp="1"/>
          </p:cNvSpPr>
          <p:nvPr/>
        </p:nvSpPr>
        <p:spPr>
          <a:xfrm>
            <a:off x="609600" y="3105150"/>
            <a:ext cx="6096000" cy="1066800"/>
          </a:xfrm>
          <a:prstGeom prst="rect">
            <a:avLst/>
          </a:prstGeom>
          <a:noFill/>
          <a:ln w="0">
            <a:noFill/>
          </a:ln>
        </p:spPr>
        <p:txBody>
          <a:bodyPr wrap="square" lIns="0" tIns="0" rIns="0" bIns="0" anchor="t">
            <a:normAutofit/>
          </a:bodyPr>
          <a:lstStyle/>
          <a:p>
            <a:pPr>
              <a:defRPr sz="2625" b="0">
                <a:solidFill>
                  <a:srgbClr val="F4F1E8"/>
                </a:solidFill>
                <a:latin typeface="Segoe UI"/>
                <a:ea typeface="Segoe UI"/>
                <a:cs typeface="Segoe UI"/>
              </a:defRPr>
            </a:pPr>
            <a:r>
              <a:rPr sz="2625" b="0">
                <a:solidFill>
                  <a:srgbClr val="F4F1E8"/>
                </a:solidFill>
                <a:latin typeface="Segoe UI"/>
                <a:ea typeface="Segoe UI"/>
                <a:cs typeface="Segoe UI"/>
              </a:rPr>
              <a:t>Hồ sơ lô để các bên cùng đối chiếu</a:t>
            </a:r>
          </a:p>
        </p:txBody>
      </p:sp>
      <p:pic>
        <p:nvPicPr>
          <p:cNvPr id="12" name="!!close-qr"/>
          <p:cNvPicPr>
            <a:picLocks noChangeAspect="1"/>
          </p:cNvPicPr>
          <p:nvPr/>
        </p:nvPicPr>
        <p:blipFill>
          <a:blip r:embed="rId4"/>
          <a:stretch/>
        </p:blipFill>
        <p:spPr>
          <a:xfrm>
            <a:off x="9039225" y="2981325"/>
            <a:ext cx="2371725" cy="2371725"/>
          </a:xfrm>
          <a:prstGeom prst="rect">
            <a:avLst/>
          </a:prstGeom>
        </p:spPr>
      </p:pic>
      <p:sp>
        <p:nvSpPr>
          <p:cNvPr id="5" name="!!website">
            <a:extLst>
              <a:ext uri="{FF2B5EF4-FFF2-40B4-BE49-F238E27FC236}">
                <a16:creationId xmlns:a16="http://schemas.microsoft.com/office/drawing/2014/main" id="{1C56BB14-FC3F-4BF0-A25A-1A7658FE8117}"/>
              </a:ext>
            </a:extLst>
          </p:cNvPr>
          <p:cNvSpPr>
            <a:spLocks noGrp="1"/>
          </p:cNvSpPr>
          <p:nvPr/>
        </p:nvSpPr>
        <p:spPr>
          <a:xfrm>
            <a:off x="609600" y="4714875"/>
            <a:ext cx="6096000" cy="438150"/>
          </a:xfrm>
          <a:prstGeom prst="rect">
            <a:avLst/>
          </a:prstGeom>
          <a:noFill/>
          <a:ln w="0">
            <a:noFill/>
          </a:ln>
        </p:spPr>
        <p:txBody>
          <a:bodyPr wrap="square" lIns="0" tIns="0" rIns="0" bIns="0" anchor="t">
            <a:normAutofit/>
          </a:bodyPr>
          <a:lstStyle/>
          <a:p>
            <a:pPr>
              <a:defRPr sz="2175" b="1">
                <a:solidFill>
                  <a:srgbClr val="C8A45B"/>
                </a:solidFill>
                <a:latin typeface="Segoe UI"/>
                <a:ea typeface="Segoe UI"/>
                <a:cs typeface="Segoe UI"/>
              </a:defRPr>
            </a:pPr>
            <a:r>
              <a:rPr sz="2175" b="1">
                <a:solidFill>
                  <a:srgbClr val="C8A45B"/>
                </a:solidFill>
                <a:latin typeface="Segoe UI"/>
                <a:ea typeface="Segoe UI"/>
                <a:cs typeface="Segoe UI"/>
                <a:hlinkClick r:id="rId5"/>
              </a:rPr>
              <a:t>durian-web3.vercel.app</a:t>
            </a:r>
          </a:p>
        </p:txBody>
      </p:sp>
      <p:sp>
        <p:nvSpPr>
          <p:cNvPr id="6" name="!!repository">
            <a:extLst>
              <a:ext uri="{FF2B5EF4-FFF2-40B4-BE49-F238E27FC236}">
                <a16:creationId xmlns:a16="http://schemas.microsoft.com/office/drawing/2014/main" id="{94874AB4-129E-4533-85FC-D6B5A99FB967}"/>
              </a:ext>
            </a:extLst>
          </p:cNvPr>
          <p:cNvSpPr>
            <a:spLocks noGrp="1"/>
          </p:cNvSpPr>
          <p:nvPr/>
        </p:nvSpPr>
        <p:spPr>
          <a:xfrm>
            <a:off x="609600" y="5295900"/>
            <a:ext cx="7162800" cy="457200"/>
          </a:xfrm>
          <a:prstGeom prst="rect">
            <a:avLst/>
          </a:prstGeom>
          <a:noFill/>
          <a:ln w="0">
            <a:noFill/>
          </a:ln>
        </p:spPr>
        <p:txBody>
          <a:bodyPr wrap="square" lIns="0" tIns="0" rIns="0" bIns="0" anchor="t">
            <a:normAutofit/>
          </a:bodyPr>
          <a:lstStyle/>
          <a:p>
            <a:pPr>
              <a:defRPr sz="1950" b="0">
                <a:solidFill>
                  <a:srgbClr val="F4F1E8"/>
                </a:solidFill>
                <a:latin typeface="Segoe UI"/>
                <a:ea typeface="Segoe UI"/>
                <a:cs typeface="Segoe UI"/>
              </a:defRPr>
            </a:pPr>
            <a:endParaRPr sz="1950" b="0" dirty="0">
              <a:solidFill>
                <a:srgbClr val="F4F1E8"/>
              </a:solidFill>
              <a:latin typeface="Segoe UI"/>
              <a:ea typeface="Segoe UI"/>
              <a:cs typeface="Segoe UI"/>
              <a:hlinkClick r:id="rId6"/>
            </a:endParaRPr>
          </a:p>
        </p:txBody>
      </p:sp>
      <p:sp>
        <p:nvSpPr>
          <p:cNvPr id="7" name="!!page">
            <a:extLst>
              <a:ext uri="{FF2B5EF4-FFF2-40B4-BE49-F238E27FC236}">
                <a16:creationId xmlns:a16="http://schemas.microsoft.com/office/drawing/2014/main" id="{217EA964-7D4B-41EA-B22C-44949ADC8321}"/>
              </a:ext>
            </a:extLst>
          </p:cNvPr>
          <p:cNvSpPr>
            <a:spLocks noGrp="1"/>
          </p:cNvSpPr>
          <p:nvPr/>
        </p:nvSpPr>
        <p:spPr>
          <a:xfrm>
            <a:off x="10706100" y="6381750"/>
            <a:ext cx="876300" cy="228600"/>
          </a:xfrm>
          <a:prstGeom prst="rect">
            <a:avLst/>
          </a:prstGeom>
          <a:noFill/>
          <a:ln w="0">
            <a:noFill/>
          </a:ln>
        </p:spPr>
        <p:txBody>
          <a:bodyPr wrap="square" lIns="0" tIns="0" rIns="0" bIns="0" anchor="t">
            <a:normAutofit/>
          </a:bodyPr>
          <a:lstStyle/>
          <a:p>
            <a:pPr>
              <a:defRPr sz="1275" b="0">
                <a:solidFill>
                  <a:srgbClr val="A3BCAB"/>
                </a:solidFill>
                <a:latin typeface="Segoe UI"/>
                <a:ea typeface="Segoe UI"/>
                <a:cs typeface="Segoe UI"/>
              </a:defRPr>
            </a:pPr>
            <a:r>
              <a:rPr sz="1275" b="0">
                <a:solidFill>
                  <a:srgbClr val="A3BCAB"/>
                </a:solidFill>
                <a:latin typeface="Segoe UI"/>
                <a:ea typeface="Segoe UI"/>
                <a:cs typeface="Segoe UI"/>
              </a:rPr>
              <a:t>19 / 19</a:t>
            </a:r>
          </a:p>
        </p:txBody>
      </p:sp>
      <p:sp>
        <p:nvSpPr>
          <p:cNvPr id="8" name="!!caption">
            <a:extLst>
              <a:ext uri="{FF2B5EF4-FFF2-40B4-BE49-F238E27FC236}">
                <a16:creationId xmlns:a16="http://schemas.microsoft.com/office/drawing/2014/main" id="{CF35A46F-7764-4770-BEFD-C234E0719A2C}"/>
              </a:ext>
            </a:extLst>
          </p:cNvPr>
          <p:cNvSpPr>
            <a:spLocks noGrp="1"/>
          </p:cNvSpPr>
          <p:nvPr/>
        </p:nvSpPr>
        <p:spPr>
          <a:xfrm>
            <a:off x="609600" y="6381750"/>
            <a:ext cx="9525000" cy="228600"/>
          </a:xfrm>
          <a:prstGeom prst="rect">
            <a:avLst/>
          </a:prstGeom>
          <a:noFill/>
          <a:ln w="0">
            <a:noFill/>
          </a:ln>
        </p:spPr>
        <p:txBody>
          <a:bodyPr wrap="square" lIns="0" tIns="0" rIns="0" bIns="0" anchor="t">
            <a:normAutofit/>
          </a:bodyPr>
          <a:lstStyle/>
          <a:p>
            <a:pPr>
              <a:defRPr sz="1275" b="0">
                <a:solidFill>
                  <a:srgbClr val="A3BCAB"/>
                </a:solidFill>
                <a:latin typeface="Segoe UI"/>
                <a:ea typeface="Segoe UI"/>
                <a:cs typeface="Segoe UI"/>
              </a:defRPr>
            </a:pPr>
            <a:r>
              <a:rPr sz="1275" b="0">
                <a:solidFill>
                  <a:srgbClr val="A3BCAB"/>
                </a:solidFill>
                <a:latin typeface="Segoe UI"/>
                <a:ea typeface="Segoe UI"/>
                <a:cs typeface="Segoe UI"/>
              </a:rPr>
              <a:t>QR mở hồ sơ mẫu minh họa trên website</a:t>
            </a:r>
          </a:p>
        </p:txBody>
      </p:sp>
    </p:spTree>
    <p:extLst>
      <p:ext uri="{BB962C8B-B14F-4D97-AF65-F5344CB8AC3E}">
        <p14:creationId xmlns:p14="http://schemas.microsoft.com/office/powerpoint/2010/main" val="9615029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med" p14:dur="600">
        <p159:morph option="byObject"/>
      </p:transition>
    </mc:Choice>
    <mc:Fallback xmlns="" xmlns:p14="http://schemas.microsoft.com/office/powerpoint/2010/main">
      <p:transition advClick="1" spd="fast">
        <p:fade/>
      </p:transition>
    </mc:Fallback>
  </mc:AlternateContent>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4378</Words>
  <Application>Microsoft Office PowerPoint</Application>
  <DocSecurity>0</DocSecurity>
  <PresentationFormat>Widescreen</PresentationFormat>
  <Paragraphs>236</Paragraphs>
  <Slides>19</Slides>
  <Notes>19</Notes>
  <HiddenSlides>0</HiddenSlides>
  <MMClips>1</MMClips>
  <ScaleCrop>false</ScaleCrop>
  <HeadingPairs>
    <vt:vector size="8" baseType="variant">
      <vt:variant>
        <vt:lpstr>Fonts Used</vt:lpstr>
      </vt:variant>
      <vt:variant>
        <vt:i4>3</vt:i4>
      </vt:variant>
      <vt:variant>
        <vt:lpstr>Theme</vt:lpstr>
      </vt:variant>
      <vt:variant>
        <vt:i4>1</vt:i4>
      </vt:variant>
      <vt:variant>
        <vt:lpstr>Slide Titles</vt:lpstr>
      </vt:variant>
      <vt:variant>
        <vt:i4>19</vt:i4>
      </vt:variant>
      <vt:variant>
        <vt:lpstr>Custom Shows</vt:lpstr>
      </vt:variant>
      <vt:variant>
        <vt:i4>1</vt:i4>
      </vt:variant>
    </vt:vector>
  </HeadingPairs>
  <TitlesOfParts>
    <vt:vector size="24" baseType="lpstr">
      <vt:lpstr>Aptos</vt:lpstr>
      <vt:lpstr>Calibri</vt:lpstr>
      <vt:lpstr>Segoe UI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19 y chinh</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ero Z</cp:lastModifiedBy>
  <cp:revision>2</cp:revision>
  <dcterms:created xsi:type="dcterms:W3CDTF">2026-09-28T16:42:58Z</dcterms:created>
  <dcterms:modified xsi:type="dcterms:W3CDTF">2026-09-30T01:54:57Z</dcterms:modified>
</cp:coreProperties>
</file>