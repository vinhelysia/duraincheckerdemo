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Default Extension="mp4" ContentType="video/mp4"/>
</Types>
</file>

<file path=_rels/.rels><?xml version='1.0' encoding='UTF-8' standalone='yes'?>
<Relationships xmlns="http://schemas.openxmlformats.org/package/2006/relationships"><Relationship Type="http://schemas.openxmlformats.org/package/2006/relationships/metadata/core-properties" Target="/docProps/core.xml" Id="Rcc205ecc4042403d"/><Relationship Type="http://schemas.openxmlformats.org/officeDocument/2006/relationships/extended-properties" Target="/docProps/app.xml" Id="R2604044a3ba44083"/><Relationship Type="http://schemas.openxmlformats.org/officeDocument/2006/relationships/officeDocument" Target="/ppt/presentation.xml" Id="Re0894aa238f84608"/></Relationships>
</file>

<file path=ppt/presentation.xml><?xml version="1.0" encoding="utf-8"?>
<p:presentation xmlns:p="http://schemas.openxmlformats.org/presentationml/2006/main">
  <p:sldMasterIdLst>
    <p:sldMasterId xmlns:r="http://schemas.openxmlformats.org/officeDocument/2006/relationships" id="2147483648" r:id="R144631899d0944da"/>
  </p:sldMasterIdLst>
  <p:notesMasterIdLst>
    <p:notesMasterId xmlns:r="http://schemas.openxmlformats.org/officeDocument/2006/relationships" r:id="R5b1ac04cd4974847"/>
  </p:notesMasterIdLst>
  <p:sldIdLst>
    <p:sldId xmlns:r="http://schemas.openxmlformats.org/officeDocument/2006/relationships" id="256" r:id="R770100cc992748b8"/>
    <p:sldId xmlns:r="http://schemas.openxmlformats.org/officeDocument/2006/relationships" id="257" r:id="R642402e2395f4d98"/>
    <p:sldId xmlns:r="http://schemas.openxmlformats.org/officeDocument/2006/relationships" id="258" r:id="Rddb410531a7944f9"/>
    <p:sldId xmlns:r="http://schemas.openxmlformats.org/officeDocument/2006/relationships" id="259" r:id="R4fbf5cc59f0e45ed"/>
    <p:sldId xmlns:r="http://schemas.openxmlformats.org/officeDocument/2006/relationships" id="260" r:id="R4e7521395c994b6e"/>
    <p:sldId xmlns:r="http://schemas.openxmlformats.org/officeDocument/2006/relationships" id="261" r:id="R783480dd17be4edb"/>
    <p:sldId xmlns:r="http://schemas.openxmlformats.org/officeDocument/2006/relationships" id="262" r:id="Rae71e1351c3e4e87"/>
    <p:sldId xmlns:r="http://schemas.openxmlformats.org/officeDocument/2006/relationships" id="263" r:id="Rfbac9e868cb64bb4"/>
    <p:sldId xmlns:r="http://schemas.openxmlformats.org/officeDocument/2006/relationships" id="264" r:id="R06da9ec27c0b49a3"/>
    <p:sldId xmlns:r="http://schemas.openxmlformats.org/officeDocument/2006/relationships" id="265" r:id="R0298b6929e3b45fb"/>
    <p:sldId xmlns:r="http://schemas.openxmlformats.org/officeDocument/2006/relationships" id="266" r:id="R0937d30ccdf34c9c"/>
    <p:sldId xmlns:r="http://schemas.openxmlformats.org/officeDocument/2006/relationships" id="267" r:id="R1f830fe4c87d4422"/>
    <p:sldId xmlns:r="http://schemas.openxmlformats.org/officeDocument/2006/relationships" id="268" r:id="Ra21a269e648743a1"/>
    <p:sldId xmlns:r="http://schemas.openxmlformats.org/officeDocument/2006/relationships" id="287" r:id="R1ea1da05bd854bc7"/>
    <p:sldId xmlns:r="http://schemas.openxmlformats.org/officeDocument/2006/relationships" id="288" r:id="Rd6b041f6b7b245df"/>
    <p:sldId xmlns:r="http://schemas.openxmlformats.org/officeDocument/2006/relationships" id="289" r:id="Re8689b4ec07f447b"/>
    <p:sldId xmlns:r="http://schemas.openxmlformats.org/officeDocument/2006/relationships" id="290" r:id="R7ddb692f83024744"/>
    <p:sldId xmlns:r="http://schemas.openxmlformats.org/officeDocument/2006/relationships" id="291" r:id="Rdc7fbddc11fe4285"/>
    <p:sldId xmlns:r="http://schemas.openxmlformats.org/officeDocument/2006/relationships" id="292" r:id="Rbd4285cea00f444f"/>
    <p:sldId xmlns:r="http://schemas.openxmlformats.org/officeDocument/2006/relationships" id="293" r:id="Ra2e1a560a45046ea"/>
    <p:sldId xmlns:r="http://schemas.openxmlformats.org/officeDocument/2006/relationships" id="294" r:id="Refa80e069c9b4f68"/>
    <p:sldId xmlns:r="http://schemas.openxmlformats.org/officeDocument/2006/relationships" id="295" r:id="Ra0f41ddad6ab44ae"/>
    <p:sldId xmlns:r="http://schemas.openxmlformats.org/officeDocument/2006/relationships" id="299" r:id="R2871970801fa405a"/>
    <p:sldId xmlns:r="http://schemas.openxmlformats.org/officeDocument/2006/relationships" id="300" r:id="Rb34bedcaf5074a1e"/>
    <p:sldId xmlns:r="http://schemas.openxmlformats.org/officeDocument/2006/relationships" id="301" r:id="R7b6efff1e8fa4bf5"/>
    <p:sldId xmlns:r="http://schemas.openxmlformats.org/officeDocument/2006/relationships" id="307" r:id="R2ada7af1f4704797"/>
    <p:sldId xmlns:r="http://schemas.openxmlformats.org/officeDocument/2006/relationships" id="308" r:id="Rdfaa21b4c10f47c3"/>
    <p:sldId xmlns:r="http://schemas.openxmlformats.org/officeDocument/2006/relationships" id="309" r:id="Ra529d05cf65147e6"/>
    <p:sldId xmlns:r="http://schemas.openxmlformats.org/officeDocument/2006/relationships" id="313" r:id="R7374d30692c04a09"/>
    <p:sldId xmlns:r="http://schemas.openxmlformats.org/officeDocument/2006/relationships" id="314" r:id="Ra8b3dc3b92c24356"/>
  </p:sldIdLst>
  <p:sldSz cx="12192000" cy="6858000"/>
  <p:notesSz cx="6858000" cy="9144000"/>
  <p:custShowLst>
    <p:custShow name="19 y chinh" id="1">
      <p:sldLst>
        <p:sld xmlns:ns1="http://schemas.openxmlformats.org/officeDocument/2006/relationships" ns1:id="R642402e2395f4d98"/>
        <p:sld xmlns:ns2="http://schemas.openxmlformats.org/officeDocument/2006/relationships" ns2:id="R783480dd17be4edb"/>
        <p:sld xmlns:ns3="http://schemas.openxmlformats.org/officeDocument/2006/relationships" ns3:id="R06da9ec27c0b49a3"/>
        <p:sld xmlns:ns4="http://schemas.openxmlformats.org/officeDocument/2006/relationships" ns4:id="Ra21a269e648743a1"/>
        <p:sld xmlns:ns5="http://schemas.openxmlformats.org/officeDocument/2006/relationships" ns5:id="R679157a46156430a"/>
        <p:sld xmlns:ns6="http://schemas.openxmlformats.org/officeDocument/2006/relationships" ns6:id="R6b63f56558a34e27"/>
        <p:sld xmlns:ns7="http://schemas.openxmlformats.org/officeDocument/2006/relationships" ns7:id="R45606eac77a743e1"/>
        <p:sld xmlns:ns8="http://schemas.openxmlformats.org/officeDocument/2006/relationships" ns8:id="R47bcb40e10ea4b9e"/>
        <p:sld xmlns:ns9="http://schemas.openxmlformats.org/officeDocument/2006/relationships" ns9:id="Rd4810a0d00ce47c8"/>
        <p:sld xmlns:ns10="http://schemas.openxmlformats.org/officeDocument/2006/relationships" ns10:id="R1ea1da05bd854bc7"/>
        <p:sld xmlns:ns11="http://schemas.openxmlformats.org/officeDocument/2006/relationships" ns11:id="Rdc7fbddc11fe4285"/>
        <p:sld xmlns:ns12="http://schemas.openxmlformats.org/officeDocument/2006/relationships" ns12:id="Ra0f41ddad6ab44ae"/>
        <p:sld xmlns:ns13="http://schemas.openxmlformats.org/officeDocument/2006/relationships" ns13:id="R3565b486c49d4a16"/>
        <p:sld xmlns:ns14="http://schemas.openxmlformats.org/officeDocument/2006/relationships" ns14:id="R7b6efff1e8fa4bf5"/>
        <p:sld xmlns:ns15="http://schemas.openxmlformats.org/officeDocument/2006/relationships" ns15:id="Rfd055a67a29041b5"/>
        <p:sld xmlns:ns16="http://schemas.openxmlformats.org/officeDocument/2006/relationships" ns16:id="R0931591382d4479d"/>
        <p:sld xmlns:ns17="http://schemas.openxmlformats.org/officeDocument/2006/relationships" ns17:id="Ra529d05cf65147e6"/>
        <p:sld xmlns:ns18="http://schemas.openxmlformats.org/officeDocument/2006/relationships" ns18:id="R5eb8fe908bd74ee2"/>
        <p:sld xmlns:ns19="http://schemas.openxmlformats.org/officeDocument/2006/relationships" ns19:id="Ra8b3dc3b92c24356"/>
      </p:sldLst>
    </p:custShow>
  </p:custShow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Type="http://schemas.openxmlformats.org/officeDocument/2006/relationships/theme" Target="/ppt/theme/theme1.xml" Id="R86c43f25bd1f4dc4"/><Relationship Type="http://schemas.openxmlformats.org/officeDocument/2006/relationships/slideMaster" Target="/ppt/slideMasters/slideMaster1.xml" Id="R144631899d0944da"/><Relationship Type="http://schemas.openxmlformats.org/officeDocument/2006/relationships/notesMaster" Target="/ppt/notesMasters/notesMaster1.xml" Id="R5b1ac04cd4974847"/><Relationship Type="http://schemas.openxmlformats.org/officeDocument/2006/relationships/presProps" Target="/ppt/presProps.xml" Id="R149106f1ac41431c"/><Relationship Type="http://schemas.openxmlformats.org/officeDocument/2006/relationships/tableStyles" Target="/ppt/tableStyles.xml" Id="R60d3ebdb6d3249f3"/><Relationship Type="http://schemas.openxmlformats.org/officeDocument/2006/relationships/slide" Target="/ppt/slides/slide1.xml" Id="R770100cc992748b8"/><Relationship Type="http://schemas.openxmlformats.org/officeDocument/2006/relationships/slide" Target="/ppt/slides/slide2.xml" Id="R642402e2395f4d98"/><Relationship Type="http://schemas.openxmlformats.org/officeDocument/2006/relationships/slide" Target="/ppt/slides/slide3.xml" Id="Rddb410531a7944f9"/><Relationship Type="http://schemas.openxmlformats.org/officeDocument/2006/relationships/slide" Target="/ppt/slides/slide4.xml" Id="R4fbf5cc59f0e45ed"/><Relationship Type="http://schemas.openxmlformats.org/officeDocument/2006/relationships/slide" Target="/ppt/slides/slide5.xml" Id="R4e7521395c994b6e"/><Relationship Type="http://schemas.openxmlformats.org/officeDocument/2006/relationships/slide" Target="/ppt/slides/slide6.xml" Id="R783480dd17be4edb"/><Relationship Type="http://schemas.openxmlformats.org/officeDocument/2006/relationships/slide" Target="/ppt/slides/slide7.xml" Id="Rae71e1351c3e4e87"/><Relationship Type="http://schemas.openxmlformats.org/officeDocument/2006/relationships/slide" Target="/ppt/slides/slide8.xml" Id="Rfbac9e868cb64bb4"/><Relationship Type="http://schemas.openxmlformats.org/officeDocument/2006/relationships/slide" Target="/ppt/slides/slide9.xml" Id="R06da9ec27c0b49a3"/><Relationship Type="http://schemas.openxmlformats.org/officeDocument/2006/relationships/slide" Target="/ppt/slides/slide10.xml" Id="R0298b6929e3b45fb"/><Relationship Type="http://schemas.openxmlformats.org/officeDocument/2006/relationships/slide" Target="/ppt/slides/slide11.xml" Id="R0937d30ccdf34c9c"/><Relationship Type="http://schemas.openxmlformats.org/officeDocument/2006/relationships/slide" Target="/ppt/slides/slide12.xml" Id="R1f830fe4c87d4422"/><Relationship Type="http://schemas.openxmlformats.org/officeDocument/2006/relationships/slide" Target="/ppt/slides/slide13.xml" Id="Ra21a269e648743a1"/><Relationship Type="http://schemas.openxmlformats.org/officeDocument/2006/relationships/slide" Target="/ppt/slides/slide32.xml" Id="R1ea1da05bd854bc7"/><Relationship Type="http://schemas.openxmlformats.org/officeDocument/2006/relationships/slide" Target="/ppt/slides/slide33.xml" Id="Rd6b041f6b7b245df"/><Relationship Type="http://schemas.openxmlformats.org/officeDocument/2006/relationships/slide" Target="/ppt/slides/slide34.xml" Id="Re8689b4ec07f447b"/><Relationship Type="http://schemas.openxmlformats.org/officeDocument/2006/relationships/slide" Target="/ppt/slides/slide35.xml" Id="R7ddb692f83024744"/><Relationship Type="http://schemas.openxmlformats.org/officeDocument/2006/relationships/slide" Target="/ppt/slides/slide36.xml" Id="Rdc7fbddc11fe4285"/><Relationship Type="http://schemas.openxmlformats.org/officeDocument/2006/relationships/slide" Target="/ppt/slides/slide37.xml" Id="Rbd4285cea00f444f"/><Relationship Type="http://schemas.openxmlformats.org/officeDocument/2006/relationships/slide" Target="/ppt/slides/slide38.xml" Id="Ra2e1a560a45046ea"/><Relationship Type="http://schemas.openxmlformats.org/officeDocument/2006/relationships/slide" Target="/ppt/slides/slide39.xml" Id="Refa80e069c9b4f68"/><Relationship Type="http://schemas.openxmlformats.org/officeDocument/2006/relationships/slide" Target="/ppt/slides/slide40.xml" Id="Ra0f41ddad6ab44ae"/><Relationship Type="http://schemas.openxmlformats.org/officeDocument/2006/relationships/slide" Target="/ppt/slides/slide44.xml" Id="R2871970801fa405a"/><Relationship Type="http://schemas.openxmlformats.org/officeDocument/2006/relationships/slide" Target="/ppt/slides/slide45.xml" Id="Rb34bedcaf5074a1e"/><Relationship Type="http://schemas.openxmlformats.org/officeDocument/2006/relationships/slide" Target="/ppt/slides/slide46.xml" Id="R7b6efff1e8fa4bf5"/><Relationship Type="http://schemas.openxmlformats.org/officeDocument/2006/relationships/slide" Target="/ppt/slides/slide52.xml" Id="R2ada7af1f4704797"/><Relationship Type="http://schemas.openxmlformats.org/officeDocument/2006/relationships/slide" Target="/ppt/slides/slide53.xml" Id="Rdfaa21b4c10f47c3"/><Relationship Type="http://schemas.openxmlformats.org/officeDocument/2006/relationships/slide" Target="/ppt/slides/slide54.xml" Id="Ra529d05cf65147e6"/><Relationship Type="http://schemas.openxmlformats.org/officeDocument/2006/relationships/slide" Target="/ppt/slides/slide58.xml" Id="R7374d30692c04a09"/><Relationship Type="http://schemas.openxmlformats.org/officeDocument/2006/relationships/slide" Target="/ppt/slides/slide59.xml" Id="Ra8b3dc3b92c24356"/></Relationships>
</file>

<file path=ppt/notesMasters/_rels/notesMaster1.xml.rels><?xml version='1.0' encoding='UTF-8' standalone='yes'?>
<Relationships xmlns="http://schemas.openxmlformats.org/package/2006/relationships"><Relationship Type="http://schemas.openxmlformats.org/officeDocument/2006/relationships/theme" Target="/ppt/notesMasters/theme/theme3.xml" Id="R0ccf3f06b2ca4df4"/></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Type="http://schemas.openxmlformats.org/officeDocument/2006/relationships/slide" Target="/ppt/slides/slide1.xml" Id="R81a724fb1c0148e7"/><Relationship Type="http://schemas.openxmlformats.org/officeDocument/2006/relationships/notesMaster" Target="/ppt/notesMasters/notesMaster1.xml" Id="Re3f056edb1864519"/></Relationships>
</file>

<file path=ppt/notesSlides/_rels/notesSlide2.xml.rels><?xml version='1.0' encoding='UTF-8' standalone='yes'?>
<Relationships xmlns="http://schemas.openxmlformats.org/package/2006/relationships"><Relationship Type="http://schemas.openxmlformats.org/officeDocument/2006/relationships/slide" Target="/ppt/slides/slide2.xml" Id="R1399136de7444def"/><Relationship Type="http://schemas.openxmlformats.org/officeDocument/2006/relationships/notesMaster" Target="/ppt/notesMasters/notesMaster1.xml" Id="R734fd3dc49a6447a"/></Relationships>
</file>

<file path=ppt/notesSlides/_rels/notesSlide3.xml.rels><?xml version='1.0' encoding='UTF-8' standalone='yes'?>
<Relationships xmlns="http://schemas.openxmlformats.org/package/2006/relationships"><Relationship Type="http://schemas.openxmlformats.org/officeDocument/2006/relationships/slide" Target="/ppt/slides/slide3.xml" Id="Rc0a2c8525e894692"/><Relationship Type="http://schemas.openxmlformats.org/officeDocument/2006/relationships/notesMaster" Target="/ppt/notesMasters/notesMaster1.xml" Id="R3fd15c2bf7bf4f1c"/></Relationships>
</file>

<file path=ppt/notesSlides/_rels/notesSlide4.xml.rels><?xml version='1.0' encoding='UTF-8' standalone='yes'?>
<Relationships xmlns="http://schemas.openxmlformats.org/package/2006/relationships"><Relationship Type="http://schemas.openxmlformats.org/officeDocument/2006/relationships/slide" Target="/ppt/slides/slide4.xml" Id="Re1740cea5fcc4e57"/><Relationship Type="http://schemas.openxmlformats.org/officeDocument/2006/relationships/notesMaster" Target="/ppt/notesMasters/notesMaster1.xml" Id="Rf6c585470ce24ae0"/></Relationships>
</file>

<file path=ppt/notesSlides/_rels/notesSlide5.xml.rels><?xml version='1.0' encoding='UTF-8' standalone='yes'?>
<Relationships xmlns="http://schemas.openxmlformats.org/package/2006/relationships"><Relationship Type="http://schemas.openxmlformats.org/officeDocument/2006/relationships/slide" Target="/ppt/slides/slide5.xml" Id="R17fd1e85af1d429b"/><Relationship Type="http://schemas.openxmlformats.org/officeDocument/2006/relationships/notesMaster" Target="/ppt/notesMasters/notesMaster1.xml" Id="R9498c56766be4f01"/></Relationships>
</file>

<file path=ppt/notesSlides/_rels/notesSlide6.xml.rels><?xml version='1.0' encoding='UTF-8' standalone='yes'?>
<Relationships xmlns="http://schemas.openxmlformats.org/package/2006/relationships"><Relationship Type="http://schemas.openxmlformats.org/officeDocument/2006/relationships/slide" Target="/ppt/slides/slide6.xml" Id="R0992d0f6626646cc"/><Relationship Type="http://schemas.openxmlformats.org/officeDocument/2006/relationships/notesMaster" Target="/ppt/notesMasters/notesMaster1.xml" Id="R1f25ccfac37c4561"/></Relationships>
</file>

<file path=ppt/notesSlides/_rels/notesSlide7.xml.rels><?xml version='1.0' encoding='UTF-8' standalone='yes'?>
<Relationships xmlns="http://schemas.openxmlformats.org/package/2006/relationships"><Relationship Type="http://schemas.openxmlformats.org/officeDocument/2006/relationships/slide" Target="/ppt/slides/slide7.xml" Id="R19665897934f4d14"/><Relationship Type="http://schemas.openxmlformats.org/officeDocument/2006/relationships/notesMaster" Target="/ppt/notesMasters/notesMaster1.xml" Id="R7b29092c1a094e79"/></Relationships>
</file>

<file path=ppt/notesSlides/_rels/notesSlide8.xml.rels><?xml version='1.0' encoding='UTF-8' standalone='yes'?>
<Relationships xmlns="http://schemas.openxmlformats.org/package/2006/relationships"><Relationship Type="http://schemas.openxmlformats.org/officeDocument/2006/relationships/slide" Target="/ppt/slides/slide8.xml" Id="R5d815ad6677b48a4"/><Relationship Type="http://schemas.openxmlformats.org/officeDocument/2006/relationships/notesMaster" Target="/ppt/notesMasters/notesMaster1.xml" Id="R54cc51d9dc994c9b"/></Relationships>
</file>

<file path=ppt/notesSlides/_rels/notesSlide9.xml.rels><?xml version='1.0' encoding='UTF-8' standalone='yes'?>
<Relationships xmlns="http://schemas.openxmlformats.org/package/2006/relationships"><Relationship Type="http://schemas.openxmlformats.org/officeDocument/2006/relationships/slide" Target="/ppt/slides/slide9.xml" Id="Rfbf7fbd0c1984709"/><Relationship Type="http://schemas.openxmlformats.org/officeDocument/2006/relationships/notesMaster" Target="/ppt/notesMasters/notesMaster1.xml" Id="R1c83d1ea09b1423d"/></Relationships>
</file>

<file path=ppt/notesSlides/_rels/notesSlide10.xml.rels><?xml version='1.0' encoding='UTF-8' standalone='yes'?>
<Relationships xmlns="http://schemas.openxmlformats.org/package/2006/relationships"><Relationship Type="http://schemas.openxmlformats.org/officeDocument/2006/relationships/slide" Target="/ppt/slides/slide10.xml" Id="R046add6baa2e4f5b"/><Relationship Type="http://schemas.openxmlformats.org/officeDocument/2006/relationships/notesMaster" Target="/ppt/notesMasters/notesMaster1.xml" Id="R4f513b36695540b8"/></Relationships>
</file>

<file path=ppt/notesSlides/_rels/notesSlide11.xml.rels><?xml version='1.0' encoding='UTF-8' standalone='yes'?>
<Relationships xmlns="http://schemas.openxmlformats.org/package/2006/relationships"><Relationship Type="http://schemas.openxmlformats.org/officeDocument/2006/relationships/slide" Target="/ppt/slides/slide11.xml" Id="Ra8072b8a54f645a3"/><Relationship Type="http://schemas.openxmlformats.org/officeDocument/2006/relationships/notesMaster" Target="/ppt/notesMasters/notesMaster1.xml" Id="R7f6153dc81074b1e"/></Relationships>
</file>

<file path=ppt/notesSlides/_rels/notesSlide12.xml.rels><?xml version='1.0' encoding='UTF-8' standalone='yes'?>
<Relationships xmlns="http://schemas.openxmlformats.org/package/2006/relationships"><Relationship Type="http://schemas.openxmlformats.org/officeDocument/2006/relationships/slide" Target="/ppt/slides/slide12.xml" Id="R832a5249dc4d48f3"/><Relationship Type="http://schemas.openxmlformats.org/officeDocument/2006/relationships/notesMaster" Target="/ppt/notesMasters/notesMaster1.xml" Id="R7f301bd1867541dd"/></Relationships>
</file>

<file path=ppt/notesSlides/_rels/notesSlide13.xml.rels><?xml version='1.0' encoding='UTF-8' standalone='yes'?>
<Relationships xmlns="http://schemas.openxmlformats.org/package/2006/relationships"><Relationship Type="http://schemas.openxmlformats.org/officeDocument/2006/relationships/slide" Target="/ppt/slides/slide13.xml" Id="Rdb29ddeaa9ca4ccd"/><Relationship Type="http://schemas.openxmlformats.org/officeDocument/2006/relationships/notesMaster" Target="/ppt/notesMasters/notesMaster1.xml" Id="R725056e0ba7e4d4c"/></Relationships>
</file>

<file path=ppt/notesSlides/_rels/notesSlide32.xml.rels><?xml version='1.0' encoding='UTF-8' standalone='yes'?>
<Relationships xmlns="http://schemas.openxmlformats.org/package/2006/relationships"><Relationship Type="http://schemas.openxmlformats.org/officeDocument/2006/relationships/slide" Target="/ppt/slides/slide32.xml" Id="R8e12bc5b9a684896"/><Relationship Type="http://schemas.openxmlformats.org/officeDocument/2006/relationships/notesMaster" Target="/ppt/notesMasters/notesMaster1.xml" Id="R2ba7e7e78a264c45"/></Relationships>
</file>

<file path=ppt/notesSlides/_rels/notesSlide33.xml.rels><?xml version='1.0' encoding='UTF-8' standalone='yes'?>
<Relationships xmlns="http://schemas.openxmlformats.org/package/2006/relationships"><Relationship Type="http://schemas.openxmlformats.org/officeDocument/2006/relationships/slide" Target="/ppt/slides/slide33.xml" Id="R64967e9c84d148e3"/><Relationship Type="http://schemas.openxmlformats.org/officeDocument/2006/relationships/notesMaster" Target="/ppt/notesMasters/notesMaster1.xml" Id="R2f07fd2fb7d340b1"/></Relationships>
</file>

<file path=ppt/notesSlides/_rels/notesSlide34.xml.rels><?xml version='1.0' encoding='UTF-8' standalone='yes'?>
<Relationships xmlns="http://schemas.openxmlformats.org/package/2006/relationships"><Relationship Type="http://schemas.openxmlformats.org/officeDocument/2006/relationships/slide" Target="/ppt/slides/slide34.xml" Id="Ra9918c818e024edb"/><Relationship Type="http://schemas.openxmlformats.org/officeDocument/2006/relationships/notesMaster" Target="/ppt/notesMasters/notesMaster1.xml" Id="R3ff17afd29b94426"/></Relationships>
</file>

<file path=ppt/notesSlides/_rels/notesSlide35.xml.rels><?xml version='1.0' encoding='UTF-8' standalone='yes'?>
<Relationships xmlns="http://schemas.openxmlformats.org/package/2006/relationships"><Relationship Type="http://schemas.openxmlformats.org/officeDocument/2006/relationships/slide" Target="/ppt/slides/slide35.xml" Id="R4c69916ceeca45a1"/><Relationship Type="http://schemas.openxmlformats.org/officeDocument/2006/relationships/notesMaster" Target="/ppt/notesMasters/notesMaster1.xml" Id="Rad0ce4540e7a4e96"/></Relationships>
</file>

<file path=ppt/notesSlides/_rels/notesSlide36.xml.rels><?xml version='1.0' encoding='UTF-8' standalone='yes'?>
<Relationships xmlns="http://schemas.openxmlformats.org/package/2006/relationships"><Relationship Type="http://schemas.openxmlformats.org/officeDocument/2006/relationships/slide" Target="/ppt/slides/slide36.xml" Id="R0aa988af62184ea7"/><Relationship Type="http://schemas.openxmlformats.org/officeDocument/2006/relationships/notesMaster" Target="/ppt/notesMasters/notesMaster1.xml" Id="R7bab79ee8a5f4cff"/></Relationships>
</file>

<file path=ppt/notesSlides/_rels/notesSlide37.xml.rels><?xml version='1.0' encoding='UTF-8' standalone='yes'?>
<Relationships xmlns="http://schemas.openxmlformats.org/package/2006/relationships"><Relationship Type="http://schemas.openxmlformats.org/officeDocument/2006/relationships/slide" Target="/ppt/slides/slide37.xml" Id="Ref5914c90ae44796"/><Relationship Type="http://schemas.openxmlformats.org/officeDocument/2006/relationships/notesMaster" Target="/ppt/notesMasters/notesMaster1.xml" Id="R8485f312809d470b"/></Relationships>
</file>

<file path=ppt/notesSlides/_rels/notesSlide38.xml.rels><?xml version='1.0' encoding='UTF-8' standalone='yes'?>
<Relationships xmlns="http://schemas.openxmlformats.org/package/2006/relationships"><Relationship Type="http://schemas.openxmlformats.org/officeDocument/2006/relationships/slide" Target="/ppt/slides/slide38.xml" Id="Rf46e79213f1442f9"/><Relationship Type="http://schemas.openxmlformats.org/officeDocument/2006/relationships/notesMaster" Target="/ppt/notesMasters/notesMaster1.xml" Id="R7ade44477a664d07"/></Relationships>
</file>

<file path=ppt/notesSlides/_rels/notesSlide39.xml.rels><?xml version='1.0' encoding='UTF-8' standalone='yes'?>
<Relationships xmlns="http://schemas.openxmlformats.org/package/2006/relationships"><Relationship Type="http://schemas.openxmlformats.org/officeDocument/2006/relationships/slide" Target="/ppt/slides/slide39.xml" Id="R6b4a6942421d48a8"/><Relationship Type="http://schemas.openxmlformats.org/officeDocument/2006/relationships/notesMaster" Target="/ppt/notesMasters/notesMaster1.xml" Id="Ra6f6dbed76144279"/></Relationships>
</file>

<file path=ppt/notesSlides/_rels/notesSlide40.xml.rels><?xml version='1.0' encoding='UTF-8' standalone='yes'?>
<Relationships xmlns="http://schemas.openxmlformats.org/package/2006/relationships"><Relationship Type="http://schemas.openxmlformats.org/officeDocument/2006/relationships/slide" Target="/ppt/slides/slide40.xml" Id="Rf1bd8a20370b4774"/><Relationship Type="http://schemas.openxmlformats.org/officeDocument/2006/relationships/notesMaster" Target="/ppt/notesMasters/notesMaster1.xml" Id="Rb252e0df9d8d498d"/></Relationships>
</file>

<file path=ppt/notesSlides/_rels/notesSlide44.xml.rels><?xml version='1.0' encoding='UTF-8' standalone='yes'?>
<Relationships xmlns="http://schemas.openxmlformats.org/package/2006/relationships"><Relationship Type="http://schemas.openxmlformats.org/officeDocument/2006/relationships/slide" Target="/ppt/slides/slide44.xml" Id="R1ef60a5af07c45a9"/><Relationship Type="http://schemas.openxmlformats.org/officeDocument/2006/relationships/notesMaster" Target="/ppt/notesMasters/notesMaster1.xml" Id="R73125f2ffc25423d"/></Relationships>
</file>

<file path=ppt/notesSlides/_rels/notesSlide45.xml.rels><?xml version='1.0' encoding='UTF-8' standalone='yes'?>
<Relationships xmlns="http://schemas.openxmlformats.org/package/2006/relationships"><Relationship Type="http://schemas.openxmlformats.org/officeDocument/2006/relationships/slide" Target="/ppt/slides/slide45.xml" Id="R91ed391d99094615"/><Relationship Type="http://schemas.openxmlformats.org/officeDocument/2006/relationships/notesMaster" Target="/ppt/notesMasters/notesMaster1.xml" Id="Re373315d332d4888"/></Relationships>
</file>

<file path=ppt/notesSlides/_rels/notesSlide46.xml.rels><?xml version='1.0' encoding='UTF-8' standalone='yes'?>
<Relationships xmlns="http://schemas.openxmlformats.org/package/2006/relationships"><Relationship Type="http://schemas.openxmlformats.org/officeDocument/2006/relationships/slide" Target="/ppt/slides/slide46.xml" Id="R1d3a9dbd1d4544b3"/><Relationship Type="http://schemas.openxmlformats.org/officeDocument/2006/relationships/notesMaster" Target="/ppt/notesMasters/notesMaster1.xml" Id="R45f12b6cd96b45a8"/></Relationships>
</file>

<file path=ppt/notesSlides/_rels/notesSlide52.xml.rels><?xml version='1.0' encoding='UTF-8' standalone='yes'?>
<Relationships xmlns="http://schemas.openxmlformats.org/package/2006/relationships"><Relationship Type="http://schemas.openxmlformats.org/officeDocument/2006/relationships/slide" Target="/ppt/slides/slide52.xml" Id="Rbce01fe1498e442e"/><Relationship Type="http://schemas.openxmlformats.org/officeDocument/2006/relationships/notesMaster" Target="/ppt/notesMasters/notesMaster1.xml" Id="R10e73491990a4716"/></Relationships>
</file>

<file path=ppt/notesSlides/_rels/notesSlide53.xml.rels><?xml version='1.0' encoding='UTF-8' standalone='yes'?>
<Relationships xmlns="http://schemas.openxmlformats.org/package/2006/relationships"><Relationship Type="http://schemas.openxmlformats.org/officeDocument/2006/relationships/slide" Target="/ppt/slides/slide53.xml" Id="R4b54182e29234f44"/><Relationship Type="http://schemas.openxmlformats.org/officeDocument/2006/relationships/notesMaster" Target="/ppt/notesMasters/notesMaster1.xml" Id="R83e17ca40a9c4ed1"/></Relationships>
</file>

<file path=ppt/notesSlides/_rels/notesSlide54.xml.rels><?xml version='1.0' encoding='UTF-8' standalone='yes'?>
<Relationships xmlns="http://schemas.openxmlformats.org/package/2006/relationships"><Relationship Type="http://schemas.openxmlformats.org/officeDocument/2006/relationships/slide" Target="/ppt/slides/slide54.xml" Id="R1e6b186a3ac94448"/><Relationship Type="http://schemas.openxmlformats.org/officeDocument/2006/relationships/notesMaster" Target="/ppt/notesMasters/notesMaster1.xml" Id="Ra5f6c1c9656144c6"/></Relationships>
</file>

<file path=ppt/notesSlides/_rels/notesSlide58.xml.rels><?xml version='1.0' encoding='UTF-8' standalone='yes'?>
<Relationships xmlns="http://schemas.openxmlformats.org/package/2006/relationships"><Relationship Type="http://schemas.openxmlformats.org/officeDocument/2006/relationships/slide" Target="/ppt/slides/slide58.xml" Id="R4a9388c154054726"/><Relationship Type="http://schemas.openxmlformats.org/officeDocument/2006/relationships/notesMaster" Target="/ppt/notesMasters/notesMaster1.xml" Id="R1e45bdfbc49c4625"/></Relationships>
</file>

<file path=ppt/notesSlides/_rels/notesSlide59.xml.rels><?xml version='1.0' encoding='UTF-8' standalone='yes'?>
<Relationships xmlns="http://schemas.openxmlformats.org/package/2006/relationships"><Relationship Type="http://schemas.openxmlformats.org/officeDocument/2006/relationships/slide" Target="/ppt/slides/slide59.xml" Id="R5a3237df6b72427c"/><Relationship Type="http://schemas.openxmlformats.org/officeDocument/2006/relationships/notesMaster" Target="/ppt/notesMasters/notesMaster1.xml" Id="R12a90e4eb14a44e1"/></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PHẦN 1/10 | 00:00 - 00:15 | Hãy hình dung một hợp tác xã chuẩn bị giao 850 ký sầu riêng. Bên mua hỏi: vườn nào, thu hoạch khi nào, tài liệu đâu? DurianTrust gom thông tin thành hồ sơ theo lô, để chủ hồ sơ chia sẻ bằng QR. Đây là tình huống minh họa.</ns0:t>
            </ns0:r>
          </ns0:p>
          <a:p xmlns:a="http://schemas.openxmlformats.org/drawingml/2006/main">
            <a:r>
              <a:t>Nguồn: https://github.com/vinhelysia/DurainCheckerDemo (source hiện tại), README.md, backend/README.md và hồ sơ kiểm thử ngày 23–29/09/2026. Hình nền là minh họa tạo bằng AI, không phải ảnh thực địa.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PHẦN 1/10 | 00:00 - 00:15 | Tiếp tục phần nói của bước trước; chuyển Morph theo thành phần đang giải thích, không đọc lại toàn bộ đoạn.</ns0:t>
            </ns0:r>
          </ns0:p>
          <a:p xmlns:a="http://schemas.openxmlformats.org/drawingml/2006/main">
            <a:r>
              <a:t>Nguồn: https://github.com/vinhelysia/DurainCheckerDemo (source hiện tại), README.md, backend/README.md và hồ sơ kiểm thử ngày 23–29/09/2026. Hình nền là minh họa tạo bằng AI, không phải ảnh thực địa.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PHẦN 2/10 | 00:15 - 00:40 | Theo họp báo Chính phủ ngày 3 tháng 9, Trung Quốc chiếm khoảng 95% kim ngạch xuất khẩu sầu riêng Việt Nam trong tám tháng đầu năm 2026. Yêu cầu kiểm nghiệm và truy xuất khiến hồ sơ đúng lô rất quan trọng. DurianTrust hỗ trợ chuẩn bị và đối chiếu hồ sơ. Cadimi và Vàng O vẫn cần kiểm nghiệm; website chưa chứng minh giúp giảm lô bị trả.</ns0:t>
            </ns0:r>
          </ns0:p>
          <a:p xmlns:a="http://schemas.openxmlformats.org/drawingml/2006/main">
            <a:r>
              <a:t>Nguồn: https://github.com/vinhelysia/DurainCheckerDemo (source hiện tại), README.md, backend/README.md và hồ sơ kiểm thử ngày 23–29/09/2026. </a:t>
            </a:r>
          </a:p>
          <a:p xmlns:a="http://schemas.openxmlformats.org/drawingml/2006/main">
            <a:r>
              <a:t>https://baochinhphu.vn/hop-bao-chinh-phu-thuong-ky-thang-8-dai-dien-bo-cong-an-lam-ro-nhieu-van-de-duoc-quan-tam-102260903170016698.htm</a:t>
            </a:r>
          </a:p>
          <a:p xmlns:a="http://schemas.openxmlformats.org/drawingml/2006/main">
            <a:r>
              <a:t>https://vntr.moit.gov.vn/news/china-tightens-import-rules-on-vietnamese-durians</a:t>
            </a:r>
          </a:p>
          <a:p xmlns:a="http://schemas.openxmlformats.org/drawingml/2006/main">
            <a:r>
              <a:t>https://sansangxuatkhau.ppd.gov.vn/tin-tuc-su-kien/sau-rieng-duoc-xuat-khau-chinh-ngach-sang-trung-quoc.html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PHẦN 2/10 | 00:15 - 00:40 | Tiếp tục phần nói của bước trước; chuyển Morph theo thành phần đang giải thích, không đọc lại toàn bộ đoạn.</ns0:t>
            </ns0:r>
          </ns0:p>
          <a:p xmlns:a="http://schemas.openxmlformats.org/drawingml/2006/main">
            <a:r>
              <a:t>Nguồn: https://github.com/vinhelysia/DurainCheckerDemo (source hiện tại), README.md, backend/README.md và hồ sơ kiểm thử ngày 23–29/09/2026. </a:t>
            </a:r>
          </a:p>
          <a:p xmlns:a="http://schemas.openxmlformats.org/drawingml/2006/main">
            <a:r>
              <a:t>https://baochinhphu.vn/hop-bao-chinh-phu-thuong-ky-thang-8-dai-dien-bo-cong-an-lam-ro-nhieu-van-de-duoc-quan-tam-102260903170016698.htm</a:t>
            </a:r>
          </a:p>
          <a:p xmlns:a="http://schemas.openxmlformats.org/drawingml/2006/main">
            <a:r>
              <a:t>https://vntr.moit.gov.vn/news/china-tightens-import-rules-on-vietnamese-durians</a:t>
            </a:r>
          </a:p>
          <a:p xmlns:a="http://schemas.openxmlformats.org/drawingml/2006/main">
            <a:r>
              <a:t>https://sansangxuatkhau.ppd.gov.vn/tin-tuc-su-kien/sau-rieng-duoc-xuat-khau-chinh-ngach-sang-trung-quoc.html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PHẦN 2/10 | 00:15 - 00:40 | Tiếp tục phần nói của bước trước; chuyển Morph theo thành phần đang giải thích, không đọc lại toàn bộ đoạn.</ns0:t>
            </ns0:r>
          </ns0:p>
          <a:p xmlns:a="http://schemas.openxmlformats.org/drawingml/2006/main">
            <a:r>
              <a:t>Nguồn: https://github.com/vinhelysia/DurainCheckerDemo (source hiện tại), README.md, backend/README.md và hồ sơ kiểm thử ngày 23–29/09/2026. </a:t>
            </a:r>
          </a:p>
          <a:p xmlns:a="http://schemas.openxmlformats.org/drawingml/2006/main">
            <a:r>
              <a:t>https://baochinhphu.vn/hop-bao-chinh-phu-thuong-ky-thang-8-dai-dien-bo-cong-an-lam-ro-nhieu-van-de-duoc-quan-tam-102260903170016698.htm</a:t>
            </a:r>
          </a:p>
          <a:p xmlns:a="http://schemas.openxmlformats.org/drawingml/2006/main">
            <a:r>
              <a:t>https://vntr.moit.gov.vn/news/china-tightens-import-rules-on-vietnamese-durians</a:t>
            </a:r>
          </a:p>
          <a:p xmlns:a="http://schemas.openxmlformats.org/drawingml/2006/main">
            <a:r>
              <a:t>https://sansangxuatkhau.ppd.gov.vn/tin-tuc-su-kien/sau-rieng-duoc-xuat-khau-chinh-ngach-sang-trung-quoc.html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PHẦN 2/10 | 00:15 - 00:40 | Tiếp tục phần nói của bước trước; chuyển Morph theo thành phần đang giải thích, không đọc lại toàn bộ đoạn.</ns0:t>
            </ns0:r>
          </ns0:p>
          <a:p xmlns:a="http://schemas.openxmlformats.org/drawingml/2006/main">
            <a:r>
              <a:t>Nguồn: https://github.com/vinhelysia/DurainCheckerDemo (source hiện tại), README.md, backend/README.md và hồ sơ kiểm thử ngày 23–29/09/2026. </a:t>
            </a:r>
          </a:p>
          <a:p xmlns:a="http://schemas.openxmlformats.org/drawingml/2006/main">
            <a:r>
              <a:t>https://baochinhphu.vn/hop-bao-chinh-phu-thuong-ky-thang-8-dai-dien-bo-cong-an-lam-ro-nhieu-van-de-duoc-quan-tam-102260903170016698.htm</a:t>
            </a:r>
          </a:p>
          <a:p xmlns:a="http://schemas.openxmlformats.org/drawingml/2006/main">
            <a:r>
              <a:t>https://vntr.moit.gov.vn/news/china-tightens-import-rules-on-vietnamese-durians</a:t>
            </a:r>
          </a:p>
          <a:p xmlns:a="http://schemas.openxmlformats.org/drawingml/2006/main">
            <a:r>
              <a:t>https://sansangxuatkhau.ppd.gov.vn/tin-tuc-su-kien/sau-rieng-duoc-xuat-khau-chinh-ngach-sang-trung-quoc.html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PHẦN 3/10 | 00:40 - 00:55 | Người dùng dự kiến là nhà vườn, HTX và bên mua như đơn vị thu mua hoặc doanh nghiệp xuất khẩu. Zalo và Drive giúp trao đổi tệp. Nhóm muốn kiểm chứng giá trị của việc gắn tài liệu và lịch sử vào cùng một lô để đối chiếu thuận tiện hơn.</ns0:t>
            </ns0:r>
          </ns0:p>
          <a:p xmlns:a="http://schemas.openxmlformats.org/drawingml/2006/main">
            <a:r>
              <a:t>Nguồn: https://github.com/vinhelysia/DurainCheckerDemo (source hiện tại), README.md, backend/README.md và hồ sơ kiểm thử ngày 23–29/09/2026. Hình nền là minh họa tạo bằng AI, không phải ảnh thực địa.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PHẦN 3/10 | 00:40 - 00:55 | Tiếp tục phần nói của bước trước; chuyển Morph theo thành phần đang giải thích, không đọc lại toàn bộ đoạn.</ns0:t>
            </ns0:r>
          </ns0:p>
          <a:p xmlns:a="http://schemas.openxmlformats.org/drawingml/2006/main">
            <a:r>
              <a:t>Nguồn: https://github.com/vinhelysia/DurainCheckerDemo (source hiện tại), README.md, backend/README.md và hồ sơ kiểm thử ngày 23–29/09/2026. Hình nền là minh họa tạo bằng AI, không phải ảnh thực địa.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PHẦN 3/10 | 00:40 - 00:55 | Tiếp tục phần nói của bước trước; chuyển Morph theo thành phần đang giải thích, không đọc lại toàn bộ đoạn.</ns0:t>
            </ns0:r>
          </ns0:p>
          <a:p xmlns:a="http://schemas.openxmlformats.org/drawingml/2006/main">
            <a:r>
              <a:t>Nguồn: https://github.com/vinhelysia/DurainCheckerDemo (source hiện tại), README.md, backend/README.md và hồ sơ kiểm thử ngày 23–29/09/2026. Hình nền là minh họa tạo bằng AI, không phải ảnh thực địa.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PHẦN 4/10 | 00:55 - 01:15 | Chủ hồ sơ đăng nhập Google, tạo lô riêng tư, thêm tài liệu có nguồn và ngày, rồi ghi các mốc hành trình. Checklist chỉ rõ phần còn thiếu và mở đúng form để bổ sung. Khi sẵn sàng, họ công khai toàn bộ hồ sơ qua QR. Chuyển lại riêng tư chặn lượt đọc mới, nhưng không thu hồi bản đã tải.</ns0:t>
            </ns0:r>
          </ns0:p>
          <a:p xmlns:a="http://schemas.openxmlformats.org/drawingml/2006/main">
            <a:r>
              <a:t>Nguồn: https://github.com/vinhelysia/DurainCheckerDemo (source hiện tại), README.md, backend/README.md và hồ sơ kiểm thử ngày 23–29/09/2026. Hình nền là minh họa tạo bằng AI, không phải ảnh thực địa.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PHẦN 4/10 | 00:55 - 01:15 | Tiếp tục phần nói của bước trước; chuyển Morph theo thành phần đang giải thích, không đọc lại toàn bộ đoạn.</ns0:t>
            </ns0:r>
          </ns0:p>
          <a:p xmlns:a="http://schemas.openxmlformats.org/drawingml/2006/main">
            <a:r>
              <a:t>Nguồn: https://github.com/vinhelysia/DurainCheckerDemo (source hiện tại), README.md, backend/README.md và hồ sơ kiểm thử ngày 23–29/09/2026. Hình nền là minh họa tạo bằng AI, không phải ảnh thực địa.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PHẦN 4/10 | 00:55 - 01:15 | Tiếp tục phần nói của bước trước; chuyển Morph theo thành phần đang giải thích, không đọc lại toàn bộ đoạn.</ns0:t>
            </ns0:r>
          </ns0:p>
          <a:p xmlns:a="http://schemas.openxmlformats.org/drawingml/2006/main">
            <a:r>
              <a:t>Nguồn: https://github.com/vinhelysia/DurainCheckerDemo (source hiện tại), README.md, backend/README.md và hồ sơ kiểm thử ngày 23–29/09/2026. Hình nền là minh họa tạo bằng AI, không phải ảnh thực địa.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PHẦN 4/10 | 00:55 - 01:15 | Tiếp tục phần nói của bước trước; chuyển Morph theo thành phần đang giải thích, không đọc lại toàn bộ đoạn.</ns0:t>
            </ns0:r>
          </ns0:p>
          <a:p xmlns:a="http://schemas.openxmlformats.org/drawingml/2006/main">
            <a:r>
              <a:t>Nguồn: https://github.com/vinhelysia/DurainCheckerDemo (source hiện tại), README.md, backend/README.md và hồ sơ kiểm thử ngày 23–29/09/2026. Hình nền là minh họa tạo bằng AI, không phải ảnh thực địa.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PHẦN 5/10 | 01:15 - 01:55 | [THAO TÁC, KHÔNG ĐỌC] Bấm video 40 giây. Clip có giọng nữ tiếng Việt; không nói chồng lên clip. Video dùng giao diện local, dữ liệu TEST và Auth/API mô phỏng. Nếu không phát được, dành tối đa 15 giây tóm tắt: nhập thông tin lô, thêm tài liệu, công khai QR, bên mua đọc, rồi chuyển lại riêng tư. Sau đó sang slide 6.</ns0:t>
            </ns0:r>
          </ns0:p>
          <a:p xmlns:a="http://schemas.openxmlformats.org/drawingml/2006/main">
            <a:r>
              <a:t>Nguồn: https://github.com/vinhelysia/DurainCheckerDemo (source hiện tại), README.md, backend/README.md và hồ sơ kiểm thử ngày 23–29/09/2026. </a:t>
            </a:r>
          </a:p>
          <a:p xmlns:a="http://schemas.openxmlformats.org/drawingml/2006/main">
            <a:r>
              <a:t>https://durian-web3.vercel.app/submission/DurianTrust_HTX_Demo_90s.mp4</a:t>
            </a:r>
          </a:p>
          <a:p xmlns:a="http://schemas.openxmlformats.org/drawingml/2006/main">
            <a:r>
              <a:t>Ảnh giao diện do submission/review/capture-cloud-workflow.mjs ghi từ app local. Video dựng bởi submission/review/render-cloud-demo.py. Ảnh sầu riêng: Sodanie Chea, CC BY 2.0, https://commons.wikimedia.org/wiki/File:Durian_(8425934020).jpg. Native video theo tài liệu Microsoft: https://learn.microsoft.com/en-us/office/open-xml/presentation/how-to-add-a-video-to-a-slide-in-a-presentation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PHẦN 6/10 | 01:55 - 02:20 | Giao diện dùng React và Vite trên Vercel. API Python dùng FastAPI trên Render. Google OAuth qua Supabase cấp phiên đăng nhập; PostgreSQL áp dụng RLS để kiểm tra quyền theo tài khoản. Supabase Storage giữ ảnh và PDF trong bucket riêng tư. Lô mới mặc định riêng tư; khi công khai, bên mua đọc qua QR. Hồ sơ đủ thông tin chưa đồng nghĩa tài liệu đã xác thực hay lô đủ điều kiện xuất khẩu.</ns0:t>
            </ns0:r>
          </ns0:p>
          <a:p xmlns:a="http://schemas.openxmlformats.org/drawingml/2006/main">
            <a:r>
              <a:t>Nguồn: https://github.com/vinhelysia/DurainCheckerDemo (source hiện tại), README.md, backend/README.md và hồ sơ kiểm thử ngày 23–29/09/2026. </a:t>
            </a:r>
          </a:p>
          <ns0:p xmlns:ns0="http://schemas.openxmlformats.org/drawingml/2006/main">
            <ns0:r>
              <ns0:t>Logo React: https://react.dev/ (header SVG, màu dark theme #58C4DC); Vite: https://vite.dev/logo-without-border.svg ; FastAPI: https://fastapi.tiangolo.com/ ; Python: https://www.python.org/community/logos/ ; Supabase: https://supabase.com/brand-assets ; PostgreSQL: https://wiki.postgresql.org/wiki/Logo ; Render: https://render.com/newsroom (brand kit); Vercel: https://vercel.com/geist/brands . Các logo giữ artwork/tỷ lệ gốc; chỉ crop phần canvas trong suốt. Logo dùng để xác định công nghệ thực sự dùng trong dự án, không thể hiện tài trợ hay endorsement. Vercel, the Vercel design, Next.js and related marks, designs and logos are trademarks or registered trademarks of Vercel, Inc. or its affiliates in the US and other countries.</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PHẦN 6/10 | 01:55 - 02:20 | Tiếp tục phần nói của bước trước; chuyển Morph theo thành phần đang giải thích, không đọc lại toàn bộ đoạn.</ns0:t>
            </ns0:r>
          </ns0:p>
          <a:p xmlns:a="http://schemas.openxmlformats.org/drawingml/2006/main">
            <a:r>
              <a:t>Nguồn: https://github.com/vinhelysia/DurainCheckerDemo (source hiện tại), README.md, backend/README.md và hồ sơ kiểm thử ngày 23–29/09/2026. </a:t>
            </a:r>
          </a:p>
          <ns0:p xmlns:ns0="http://schemas.openxmlformats.org/drawingml/2006/main">
            <ns0:r>
              <ns0:t>Logo React: https://react.dev/ (header SVG, màu dark theme #58C4DC); Vite: https://vite.dev/logo-without-border.svg ; FastAPI: https://fastapi.tiangolo.com/ ; Python: https://www.python.org/community/logos/ ; Supabase: https://supabase.com/brand-assets ; PostgreSQL: https://wiki.postgresql.org/wiki/Logo ; Render: https://render.com/newsroom (brand kit); Vercel: https://vercel.com/geist/brands . Các logo giữ artwork/tỷ lệ gốc; chỉ crop phần canvas trong suốt. Logo dùng để xác định công nghệ thực sự dùng trong dự án, không thể hiện tài trợ hay endorsement. Vercel, the Vercel design, Next.js and related marks, designs and logos are trademarks or registered trademarks of Vercel, Inc. or its affiliates in the US and other countries.</ns0:t>
            </ns0:r>
          </ns0:p>
          <ns0:p xmlns:ns0="http://schemas.openxmlformats.org/drawingml/2006/main">
            <ns0:r>
              <ns0:t>Google logo: https://developers.google.com/identity/branding-guidelines . Logo G gốc dùng cùng nền trắng để nhận diện Google OAuth. Supabase vẫn quản lý session/JWT phía sau Google login; nhãn đăng nhập trên sơ đồ được rút gọn, cấu hình xác thực không thay đổi.</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PHẦN 6/10 | 01:55 - 02:20 | Tiếp tục phần nói của bước trước; chuyển Morph theo thành phần đang giải thích, không đọc lại toàn bộ đoạn.</ns0:t>
            </ns0:r>
          </ns0:p>
          <a:p xmlns:a="http://schemas.openxmlformats.org/drawingml/2006/main">
            <a:r>
              <a:t>Nguồn: https://github.com/vinhelysia/DurainCheckerDemo (source hiện tại), README.md, backend/README.md và hồ sơ kiểm thử ngày 23–29/09/2026. </a:t>
            </a:r>
          </a:p>
          <ns0:p xmlns:ns0="http://schemas.openxmlformats.org/drawingml/2006/main">
            <ns0:r>
              <ns0:t>Logo React: https://react.dev/ (header SVG, màu dark theme #58C4DC); Vite: https://vite.dev/logo-without-border.svg ; FastAPI: https://fastapi.tiangolo.com/ ; Python: https://www.python.org/community/logos/ ; Supabase: https://supabase.com/brand-assets ; PostgreSQL: https://wiki.postgresql.org/wiki/Logo ; Render: https://render.com/newsroom (brand kit); Vercel: https://vercel.com/geist/brands . Các logo giữ artwork/tỷ lệ gốc; chỉ crop phần canvas trong suốt. Logo dùng để xác định công nghệ thực sự dùng trong dự án, không thể hiện tài trợ hay endorsement. Vercel, the Vercel design, Next.js and related marks, designs and logos are trademarks or registered trademarks of Vercel, Inc. or its affiliates in the US and other countries.</ns0:t>
            </ns0:r>
          </ns0:p>
          <ns0:p xmlns:ns0="http://schemas.openxmlformats.org/drawingml/2006/main">
            <ns0:r>
              <ns0:t>Google logo: https://developers.google.com/identity/branding-guidelines . Logo G gốc dùng cùng nền trắng để nhận diện Google OAuth. Supabase vẫn quản lý session/JWT phía sau Google login; nhãn đăng nhập trên sơ đồ được rút gọn, cấu hình xác thực không thay đổi.</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PHẦN 6/10 | 01:55 - 02:20 | Tiếp tục phần nói của bước trước; chuyển Morph theo thành phần đang giải thích, không đọc lại toàn bộ đoạn.</ns0:t>
            </ns0:r>
          </ns0:p>
          <a:p xmlns:a="http://schemas.openxmlformats.org/drawingml/2006/main">
            <a:r>
              <a:t>Nguồn: https://github.com/vinhelysia/DurainCheckerDemo (source hiện tại), README.md, backend/README.md và hồ sơ kiểm thử ngày 23–29/09/2026. </a:t>
            </a:r>
          </a:p>
          <ns0:p xmlns:ns0="http://schemas.openxmlformats.org/drawingml/2006/main">
            <ns0:r>
              <ns0:t>Logo React: https://react.dev/ (header SVG, màu dark theme #58C4DC); Vite: https://vite.dev/logo-without-border.svg ; FastAPI: https://fastapi.tiangolo.com/ ; Python: https://www.python.org/community/logos/ ; Supabase: https://supabase.com/brand-assets ; PostgreSQL: https://wiki.postgresql.org/wiki/Logo ; Render: https://render.com/newsroom (brand kit); Vercel: https://vercel.com/geist/brands . Các logo giữ artwork/tỷ lệ gốc; chỉ crop phần canvas trong suốt. Logo dùng để xác định công nghệ thực sự dùng trong dự án, không thể hiện tài trợ hay endorsement. Vercel, the Vercel design, Next.js and related marks, designs and logos are trademarks or registered trademarks of Vercel, Inc. or its affiliates in the US and other countries.</ns0:t>
            </ns0:r>
          </ns0:p>
          <ns0:p xmlns:ns0="http://schemas.openxmlformats.org/drawingml/2006/main">
            <ns0:r>
              <ns0:t>Google logo: https://developers.google.com/identity/branding-guidelines . Logo G gốc dùng cùng nền trắng để nhận diện Google OAuth. Supabase vẫn quản lý session/JWT phía sau Google login; nhãn đăng nhập trên sơ đồ được rút gọn, cấu hình xác thực không thay đổi.</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PHẦN 7/10 | 02:20 - 02:40 | Thử nghiệm Solana dùng Rust và Anchor trên Devnet. Người đang giữ lô ký đề xuất ví nhận; bên nhận ký chấp nhận thì trạng thái custody mới đổi. Cơ chế này ghi nhận bàn giao giữa ví, chưa chứng minh giao hàng vật lý hoặc quyền sở hữu pháp lý. Luồng cloud hiện chưa tự đồng bộ với Solana.</ns0:t>
            </ns0:r>
          </ns0:p>
          <a:p xmlns:a="http://schemas.openxmlformats.org/drawingml/2006/main">
            <a:r>
              <a:t>Nguồn: https://github.com/vinhelysia/DurainCheckerDemo (source hiện tại), README.md, backend/README.md và hồ sơ kiểm thử ngày 23–29/09/2026. </a:t>
            </a:r>
          </a:p>
          <ns0:p xmlns:ns0="http://schemas.openxmlformats.org/drawingml/2006/main">
            <ns0:r>
              <ns0:t>Logo Rust: https://rustfoundation.org/policy/rust-trademark-policy/ ; artwork thuộc Rust Foundation, CC BY https://creativecommons.org/licenses/by/4.0/ , không sửa artwork. Anchor: https://www.anchor-lang.com/icons/anchor.png . Solana: https://solana.com/branding . Logo thể hiện stack thử nghiệm, không thể hiện tài trợ/endorsement.</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PHẦN 7/10 | 02:20 - 02:40 | Tiếp tục phần nói của bước trước; chuyển Morph theo thành phần đang giải thích, không đọc lại toàn bộ đoạn.</ns0:t>
            </ns0:r>
          </ns0:p>
          <a:p xmlns:a="http://schemas.openxmlformats.org/drawingml/2006/main">
            <a:r>
              <a:t>Nguồn: https://github.com/vinhelysia/DurainCheckerDemo (source hiện tại), README.md, backend/README.md và hồ sơ kiểm thử ngày 23–29/09/2026. </a:t>
            </a:r>
          </a:p>
          <ns0:p xmlns:ns0="http://schemas.openxmlformats.org/drawingml/2006/main">
            <ns0:r>
              <ns0:t>Logo Rust: https://rustfoundation.org/policy/rust-trademark-policy/ ; artwork thuộc Rust Foundation, CC BY https://creativecommons.org/licenses/by/4.0/ , không sửa artwork. Anchor: https://www.anchor-lang.com/icons/anchor.png . Solana: https://solana.com/branding . Logo thể hiện stack thử nghiệm, không thể hiện tài trợ/endorsement.</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PHẦN 7/10 | 02:20 - 02:40 | Tiếp tục phần nói của bước trước; chuyển Morph theo thành phần đang giải thích, không đọc lại toàn bộ đoạn.</ns0:t>
            </ns0:r>
          </ns0:p>
          <a:p xmlns:a="http://schemas.openxmlformats.org/drawingml/2006/main">
            <a:r>
              <a:t>Nguồn: https://github.com/vinhelysia/DurainCheckerDemo (source hiện tại), README.md, backend/README.md và hồ sơ kiểm thử ngày 23–29/09/2026. </a:t>
            </a:r>
          </a:p>
          <ns0:p xmlns:ns0="http://schemas.openxmlformats.org/drawingml/2006/main">
            <ns0:r>
              <ns0:t>Logo Rust: https://rustfoundation.org/policy/rust-trademark-policy/ ; artwork thuộc Rust Foundation, CC BY https://creativecommons.org/licenses/by/4.0/ , không sửa artwork. Anchor: https://www.anchor-lang.com/icons/anchor.png . Solana: https://solana.com/branding . Logo thể hiện stack thử nghiệm, không thể hiện tài trợ/endorsement.</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PHẦN 7/10 | 02:20 - 02:40 | Tiếp tục phần nói của bước trước; chuyển Morph theo thành phần đang giải thích, không đọc lại toàn bộ đoạn.</ns0:t>
            </ns0:r>
          </ns0:p>
          <a:p xmlns:a="http://schemas.openxmlformats.org/drawingml/2006/main">
            <a:r>
              <a:t>Nguồn: https://github.com/vinhelysia/DurainCheckerDemo (source hiện tại), README.md, backend/README.md và hồ sơ kiểm thử ngày 23–29/09/2026. </a:t>
            </a:r>
          </a:p>
          <ns0:p xmlns:ns0="http://schemas.openxmlformats.org/drawingml/2006/main">
            <ns0:r>
              <ns0:t>Logo Rust: https://rustfoundation.org/policy/rust-trademark-policy/ ; artwork thuộc Rust Foundation, CC BY https://creativecommons.org/licenses/by/4.0/ , không sửa artwork. Anchor: https://www.anchor-lang.com/icons/anchor.png . Solana: https://solana.com/branding . Logo thể hiện stack thử nghiệm, không thể hiện tài trợ/endorsement.</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PHẦN 8/10 | 02:40 - 03:00 | AI dùng ONNX Runtime để gợi ý một trong năm nhóm ảnh lá và yêu cầu chuyên gia đối chiếu. Điểm model trên một ảnh chưa phải accuracy. Nhóm giữ model cũ vì bản fine-tune chưa tốt hơn; chi tiết đánh giá nằm trong tài liệu phụ lục. Ảnh lá không đo Cadimi hoặc Vàng O và không chứng nhận an toàn thực phẩm.</ns0:t>
            </ns0:r>
          </ns0:p>
          <a:p xmlns:a="http://schemas.openxmlformats.org/drawingml/2006/main">
            <a:r>
              <a:t>Nguồn: https://data.mendeley.com/datasets/pxzvksbwnj/2 (CC BY 4.0); https://github.com/vinhelysia/DurainCheckerDemo/blob/main/submission/review/ai-training/MENDELEY_EXTERNAL_EVAL.md.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PHẦN 8/10 | 02:40 - 03:00 | Tiếp tục phần nói của bước trước; chuyển Morph theo thành phần đang giải thích, không đọc lại toàn bộ đoạn.</ns0:t>
            </ns0:r>
          </ns0:p>
          <a:p xmlns:a="http://schemas.openxmlformats.org/drawingml/2006/main">
            <a:r>
              <a:t>Nguồn: https://data.mendeley.com/datasets/pxzvksbwnj/2 (CC BY 4.0); https://github.com/vinhelysia/DurainCheckerDemo/blob/main/submission/review/ai-training/MENDELEY_EXTERNAL_EVAL.md.</a:t>
            </a:r>
          </a:p>
          <ns0:p xmlns:ns0="http://schemas.openxmlformats.org/drawingml/2006/main">
            <ns0:r>
              <ns0:t>Logo ONNX Runtime: https://github.com/microsoft/onnxruntime/blob/main/docs/images/ONNX_Runtime_logo.png ; FastAPI: https://fastapi.tiangolo.com/img/logo-margin/logo-teal.png . Giữ artwork/tỷ lệ gốc, chỉ crop phần canvas trong suốt.</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PHẦN 8/10 | 02:40 - 03:00 | Tiếp tục phần nói của bước trước; chuyển Morph theo thành phần đang giải thích, không đọc lại toàn bộ đoạn.</ns0:t>
            </ns0:r>
          </ns0:p>
          <a:p xmlns:a="http://schemas.openxmlformats.org/drawingml/2006/main">
            <a:r>
              <a:t>Nguồn: https://data.mendeley.com/datasets/pxzvksbwnj/2 (CC BY 4.0); https://github.com/vinhelysia/DurainCheckerDemo/blob/main/submission/review/ai-training/MENDELEY_EXTERNAL_EVAL.md.</a:t>
            </a:r>
          </a:p>
          <ns0:p xmlns:ns0="http://schemas.openxmlformats.org/drawingml/2006/main">
            <ns0:r>
              <ns0:t>Logo ONNX Runtime: https://github.com/microsoft/onnxruntime/blob/main/docs/images/ONNX_Runtime_logo.png ; FastAPI: https://fastapi.tiangolo.com/img/logo-margin/logo-teal.png . Giữ artwork/tỷ lệ gốc, chỉ crop phần canvas trong suốt.</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PHẦN 9/10 | 03:00 - 03:25 | Website và API đã deploy. Kiểm thử local và quyền database trên CI đã pass; quy trình production đầy đủ vẫn cần kiểm chứng. Nhóm chưa có pilot HTX hay phiếu lab thật. Bước tiếp theo là thử với một HTX và nhóm lô nhỏ, đo thời gian tìm hồ sơ, tài liệu thiếu và số lần bên mua hỏi lại. Việc trả phí chỉ là giả thuyết cần kiểm tra.</ns0:t>
            </ns0:r>
          </ns0:p>
          <a:p xmlns:a="http://schemas.openxmlformats.org/drawingml/2006/main">
            <a:r>
              <a:t>Nguồn: https://github.com/vinhelysia/DurainCheckerDemo (source hiện tại), README.md, backend/README.md và hồ sơ kiểm thử ngày 23–29/09/2026. Hình nền là minh họa tạo bằng AI, không phải ảnh thực địa.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PHẦN 9/10 | 03:00 - 03:25 | Tiếp tục phần nói của bước trước; chuyển Morph theo thành phần đang giải thích, không đọc lại toàn bộ đoạn.</ns0:t>
            </ns0:r>
          </ns0:p>
          <a:p xmlns:a="http://schemas.openxmlformats.org/drawingml/2006/main">
            <a:r>
              <a:t>Nguồn: https://github.com/vinhelysia/DurainCheckerDemo (source hiện tại), README.md, backend/README.md và hồ sơ kiểm thử ngày 23–29/09/2026. Hình nền là minh họa tạo bằng AI, không phải ảnh thực địa.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PHẦN 9/10 | 03:00 - 03:25 | Tiếp tục phần nói của bước trước; chuyển Morph theo thành phần đang giải thích, không đọc lại toàn bộ đoạn.</ns0:t>
            </ns0:r>
          </ns0:p>
          <a:p xmlns:a="http://schemas.openxmlformats.org/drawingml/2006/main">
            <a:r>
              <a:t>Nguồn: https://github.com/vinhelysia/DurainCheckerDemo (source hiện tại), README.md, backend/README.md và hồ sơ kiểm thử ngày 23–29/09/2026. Hình nền là minh họa tạo bằng AI, không phải ảnh thực địa.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PHẦN 10/10 | 03:25 - 03:45 | DurianTrust giúp chuẩn bị hồ sơ theo lô và chia sẻ QR chỉ đọc, do chủ hồ sơ quyết định công khai. Giá trị thực tế sẽ được đo bằng pilot. QR trên màn hình mở hồ sơ mẫu; mã nguồn đã công khai. Chúng tôi mong được kết nối với HTX sẵn sàng thử và đơn vị phát hành tài liệu kiểm nghiệm. Xin cảm ơn.</ns0:t>
            </ns0:r>
          </ns0:p>
          <a:p xmlns:a="http://schemas.openxmlformats.org/drawingml/2006/main">
            <a:r>
              <a:t>Nguồn: https://github.com/vinhelysia/DurainCheckerDemo (source hiện tại), README.md, backend/README.md và hồ sơ kiểm thử ngày 23–29/09/2026. Hình nền là minh họa tạo bằng AI, không phải ảnh thực địa.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PHẦN 10/10 | 03:25 - 03:45 | Tiếp tục phần nói của bước trước; chuyển Morph theo thành phần đang giải thích, không đọc lại toàn bộ đoạn.</ns0:t>
            </ns0:r>
          </ns0:p>
          <a:p xmlns:a="http://schemas.openxmlformats.org/drawingml/2006/main">
            <a:r>
              <a:t>Nguồn: https://github.com/vinhelysia/DurainCheckerDemo (source hiện tại), README.md, backend/README.md và hồ sơ kiểm thử ngày 23–29/09/2026. Hình nền là minh họa tạo bằng AI, không phải ảnh thực địa.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Type="http://schemas.openxmlformats.org/officeDocument/2006/relationships/slideMaster" Target="/ppt/slideMasters/slideMaster1.xml" Id="R880bf02d1f9f44ee"/></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Type="http://schemas.openxmlformats.org/officeDocument/2006/relationships/theme" Target="/ppt/slideMasters/theme/theme2.xml" Id="Rd1f86fa9f2504f7e"/><Relationship Type="http://schemas.openxmlformats.org/officeDocument/2006/relationships/slideLayout" Target="/ppt/slideLayouts/slideLayout1.xml" Id="R7bf8cb8795b04165"/></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bf8cb8795b0416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Type="http://schemas.openxmlformats.org/officeDocument/2006/relationships/slideLayout" Target="/ppt/slideLayouts/slideLayout1.xml" Id="R400266197b154bc9"/><Relationship Type="http://schemas.openxmlformats.org/officeDocument/2006/relationships/image" Target="/ppt/media/image.png" Id="R447967732bd94b96"/><Relationship Type="http://schemas.openxmlformats.org/officeDocument/2006/relationships/image" Target="/ppt/media/image2.png" Id="R60deeaefc62340c8"/><Relationship Type="http://schemas.openxmlformats.org/officeDocument/2006/relationships/notesSlide" Target="/ppt/notesSlides/notesSlide1.xml" Id="R44c3f24e1c7c47bf"/></Relationships>
</file>

<file path=ppt/slides/_rels/slide2.xml.rels><?xml version='1.0' encoding='UTF-8' standalone='yes'?>
<Relationships xmlns="http://schemas.openxmlformats.org/package/2006/relationships"><Relationship Type="http://schemas.openxmlformats.org/officeDocument/2006/relationships/slideLayout" Target="/ppt/slideLayouts/slideLayout1.xml" Id="Rd7d3245ed3ec44a0"/><Relationship Type="http://schemas.openxmlformats.org/officeDocument/2006/relationships/image" Target="../media/image.png" Id="R2de8f86d14bb4727"/><Relationship Type="http://schemas.openxmlformats.org/officeDocument/2006/relationships/image" Target="../media/image2.png" Id="Rf4b3c0e5276149b4"/><Relationship Type="http://schemas.openxmlformats.org/officeDocument/2006/relationships/notesSlide" Target="/ppt/notesSlides/notesSlide2.xml" Id="Rb4d90e9f60cd4506"/></Relationships>
</file>

<file path=ppt/slides/_rels/slide3.xml.rels><?xml version='1.0' encoding='UTF-8' standalone='yes'?>
<Relationships xmlns="http://schemas.openxmlformats.org/package/2006/relationships"><Relationship Type="http://schemas.openxmlformats.org/officeDocument/2006/relationships/slideLayout" Target="/ppt/slideLayouts/slideLayout1.xml" Id="R48e1a79427b94397"/><Relationship Type="http://schemas.openxmlformats.org/officeDocument/2006/relationships/image" Target="/ppt/media/image5.png" Id="R22c5a6b068144b6a"/><Relationship Type="http://schemas.openxmlformats.org/officeDocument/2006/relationships/notesSlide" Target="/ppt/notesSlides/notesSlide3.xml" Id="Rd24305fe0f2e4b28"/></Relationships>
</file>

<file path=ppt/slides/_rels/slide4.xml.rels><?xml version='1.0' encoding='UTF-8' standalone='yes'?>
<Relationships xmlns="http://schemas.openxmlformats.org/package/2006/relationships"><Relationship Type="http://schemas.openxmlformats.org/officeDocument/2006/relationships/slideLayout" Target="/ppt/slideLayouts/slideLayout1.xml" Id="Rab9092048e524ba1"/><Relationship Type="http://schemas.openxmlformats.org/officeDocument/2006/relationships/image" Target="../media/image5.png" Id="R8b1008f1151e4f94"/><Relationship Type="http://schemas.openxmlformats.org/officeDocument/2006/relationships/notesSlide" Target="/ppt/notesSlides/notesSlide4.xml" Id="R3131223ea72d4cdb"/></Relationships>
</file>

<file path=ppt/slides/_rels/slide5.xml.rels><?xml version='1.0' encoding='UTF-8' standalone='yes'?>
<Relationships xmlns="http://schemas.openxmlformats.org/package/2006/relationships"><Relationship Type="http://schemas.openxmlformats.org/officeDocument/2006/relationships/slideLayout" Target="/ppt/slideLayouts/slideLayout1.xml" Id="R15ca62128eae4913"/><Relationship Type="http://schemas.openxmlformats.org/officeDocument/2006/relationships/image" Target="../media/image5.png" Id="Rf36ec2efabe54427"/><Relationship Type="http://schemas.openxmlformats.org/officeDocument/2006/relationships/notesSlide" Target="/ppt/notesSlides/notesSlide5.xml" Id="R0e468af50a6842ff"/></Relationships>
</file>

<file path=ppt/slides/_rels/slide6.xml.rels><?xml version='1.0' encoding='UTF-8' standalone='yes'?>
<Relationships xmlns="http://schemas.openxmlformats.org/package/2006/relationships"><Relationship Type="http://schemas.openxmlformats.org/officeDocument/2006/relationships/slideLayout" Target="/ppt/slideLayouts/slideLayout1.xml" Id="R5233628f29c54174"/><Relationship Type="http://schemas.openxmlformats.org/officeDocument/2006/relationships/image" Target="../media/image5.png" Id="Rce2fb1e830564e46"/><Relationship Type="http://schemas.openxmlformats.org/officeDocument/2006/relationships/notesSlide" Target="/ppt/notesSlides/notesSlide6.xml" Id="R0f13b95e5fbc4b03"/></Relationships>
</file>

<file path=ppt/slides/_rels/slide7.xml.rels><?xml version='1.0' encoding='UTF-8' standalone='yes'?>
<Relationships xmlns="http://schemas.openxmlformats.org/package/2006/relationships"><Relationship Type="http://schemas.openxmlformats.org/officeDocument/2006/relationships/slideLayout" Target="/ppt/slideLayouts/slideLayout1.xml" Id="R1cb34afcf9d2401e"/><Relationship Type="http://schemas.openxmlformats.org/officeDocument/2006/relationships/image" Target="/ppt/media/image9.png" Id="Ra264f50fdbc9484b"/><Relationship Type="http://schemas.openxmlformats.org/officeDocument/2006/relationships/notesSlide" Target="/ppt/notesSlides/notesSlide7.xml" Id="R48e0b16c7aaf4323"/></Relationships>
</file>

<file path=ppt/slides/_rels/slide8.xml.rels><?xml version='1.0' encoding='UTF-8' standalone='yes'?>
<Relationships xmlns="http://schemas.openxmlformats.org/package/2006/relationships"><Relationship Type="http://schemas.openxmlformats.org/officeDocument/2006/relationships/slideLayout" Target="/ppt/slideLayouts/slideLayout1.xml" Id="R28eba4598fca4d60"/><Relationship Type="http://schemas.openxmlformats.org/officeDocument/2006/relationships/image" Target="../media/image9.png" Id="R08b35984b0124abf"/><Relationship Type="http://schemas.openxmlformats.org/officeDocument/2006/relationships/notesSlide" Target="/ppt/notesSlides/notesSlide8.xml" Id="Rca0b9af3966b4883"/></Relationships>
</file>

<file path=ppt/slides/_rels/slide9.xml.rels><?xml version='1.0' encoding='UTF-8' standalone='yes'?>
<Relationships xmlns="http://schemas.openxmlformats.org/package/2006/relationships"><Relationship Type="http://schemas.openxmlformats.org/officeDocument/2006/relationships/slideLayout" Target="/ppt/slideLayouts/slideLayout1.xml" Id="R7629c8ccc03643dc"/><Relationship Type="http://schemas.openxmlformats.org/officeDocument/2006/relationships/image" Target="../media/image9.png" Id="R0d9d5b586619434a"/><Relationship Type="http://schemas.openxmlformats.org/officeDocument/2006/relationships/notesSlide" Target="/ppt/notesSlides/notesSlide9.xml" Id="R55efbb38276f41d9"/></Relationships>
</file>

<file path=ppt/slides/_rels/slide10.xml.rels><?xml version='1.0' encoding='UTF-8' standalone='yes'?>
<Relationships xmlns="http://schemas.openxmlformats.org/package/2006/relationships"><Relationship Type="http://schemas.openxmlformats.org/officeDocument/2006/relationships/slideLayout" Target="/ppt/slideLayouts/slideLayout1.xml" Id="R0939af2a824e4b34"/><Relationship Type="http://schemas.openxmlformats.org/officeDocument/2006/relationships/image" Target="/ppt/media/image12.png" Id="R5716a7c1ddf047f3"/><Relationship Type="http://schemas.openxmlformats.org/officeDocument/2006/relationships/notesSlide" Target="/ppt/notesSlides/notesSlide10.xml" Id="Rd601ff799dff4efa"/></Relationships>
</file>

<file path=ppt/slides/_rels/slide11.xml.rels><?xml version='1.0' encoding='UTF-8' standalone='yes'?>
<Relationships xmlns="http://schemas.openxmlformats.org/package/2006/relationships"><Relationship Type="http://schemas.openxmlformats.org/officeDocument/2006/relationships/slideLayout" Target="/ppt/slideLayouts/slideLayout1.xml" Id="R79d9c75209794914"/><Relationship Type="http://schemas.openxmlformats.org/officeDocument/2006/relationships/image" Target="../media/image12.png" Id="R8072c4a2018f4970"/><Relationship Type="http://schemas.openxmlformats.org/officeDocument/2006/relationships/notesSlide" Target="/ppt/notesSlides/notesSlide11.xml" Id="R64ef91b10af4443d"/></Relationships>
</file>

<file path=ppt/slides/_rels/slide12.xml.rels><?xml version='1.0' encoding='UTF-8' standalone='yes'?>
<Relationships xmlns="http://schemas.openxmlformats.org/package/2006/relationships"><Relationship Type="http://schemas.openxmlformats.org/officeDocument/2006/relationships/slideLayout" Target="/ppt/slideLayouts/slideLayout1.xml" Id="R4768b52baf624060"/><Relationship Type="http://schemas.openxmlformats.org/officeDocument/2006/relationships/image" Target="../media/image12.png" Id="R668ea16c213a46ef"/><Relationship Type="http://schemas.openxmlformats.org/officeDocument/2006/relationships/notesSlide" Target="/ppt/notesSlides/notesSlide12.xml" Id="R0a1c355bddc44958"/></Relationships>
</file>

<file path=ppt/slides/_rels/slide13.xml.rels><?xml version='1.0' encoding='UTF-8' standalone='yes'?>
<Relationships xmlns="http://schemas.openxmlformats.org/package/2006/relationships"><Relationship Type="http://schemas.openxmlformats.org/officeDocument/2006/relationships/slideLayout" Target="/ppt/slideLayouts/slideLayout1.xml" Id="R887496228f134f17"/><Relationship Type="http://schemas.openxmlformats.org/officeDocument/2006/relationships/image" Target="../media/image12.png" Id="R44292af2a80646c0"/><Relationship Type="http://schemas.openxmlformats.org/officeDocument/2006/relationships/notesSlide" Target="/ppt/notesSlides/notesSlide13.xml" Id="Rb9df4bf1dc284cf0"/></Relationships>
</file>

<file path=ppt/slides/_rels/slide32.xml.rels><?xml version='1.0' encoding='UTF-8' standalone='yes'?>
<Relationships xmlns="http://schemas.openxmlformats.org/package/2006/relationships"><Relationship Type="http://schemas.openxmlformats.org/officeDocument/2006/relationships/slideLayout" Target="/ppt/slideLayouts/slideLayout1.xml" Id="R49f47021e03343ed"/><Relationship Type="http://schemas.openxmlformats.org/officeDocument/2006/relationships/image" Target="../media/image12.png" Id="Rab50b55a1fed4318"/><Relationship Type="http://schemas.openxmlformats.org/officeDocument/2006/relationships/image" Target="/ppt/media/image45.png" Id="R91a6dcd88c084e98"/><Relationship Type="http://schemas.openxmlformats.org/officeDocument/2006/relationships/hyperlink" Target="https://durian-web3.vercel.app/submission/DurianTrust_HTX_Demo_40s_VI.mp4" TargetMode="External" Id="Re26199ef2d5c4961"/><Relationship Type="http://schemas.openxmlformats.org/officeDocument/2006/relationships/notesSlide" Target="/ppt/notesSlides/notesSlide32.xml" Id="R996ff29650754d67"/><Relationship Id="rIdDemoVideo" Type="http://schemas.openxmlformats.org/officeDocument/2006/relationships/video" Target="../media/durian-demo.mp4"/><Relationship Id="rIdDemoMedia" Type="http://schemas.microsoft.com/office/2007/relationships/media" Target="../media/durian-demo.mp4"/></Relationships>
</file>

<file path=ppt/slides/_rels/slide33.xml.rels><?xml version='1.0' encoding='UTF-8' standalone='yes'?>
<Relationships xmlns="http://schemas.openxmlformats.org/package/2006/relationships"><Relationship Type="http://schemas.openxmlformats.org/officeDocument/2006/relationships/slideLayout" Target="/ppt/slideLayouts/slideLayout1.xml" Id="Rc367c543f7564439"/><Relationship Type="http://schemas.openxmlformats.org/officeDocument/2006/relationships/image" Target="../media/image12.png" Id="R68a9012c862b421a"/><Relationship Type="http://schemas.openxmlformats.org/officeDocument/2006/relationships/notesSlide" Target="/ppt/notesSlides/notesSlide33.xml" Id="Rfe1ce0094b29428f"/><Relationship Id="rIdTechLogo15" Type="http://schemas.openxmlformats.org/officeDocument/2006/relationships/image" Target="/ppt/media/tech-logo-react.png"/><Relationship Id="rIdTechLogo16" Type="http://schemas.openxmlformats.org/officeDocument/2006/relationships/image" Target="/ppt/media/tech-logo-vite.png"/><Relationship Id="rIdTechLogo17" Type="http://schemas.openxmlformats.org/officeDocument/2006/relationships/image" Target="/ppt/media/tech-logo-vercel.png"/></Relationships>
</file>

<file path=ppt/slides/_rels/slide34.xml.rels><?xml version='1.0' encoding='UTF-8' standalone='yes'?>
<Relationships xmlns="http://schemas.openxmlformats.org/package/2006/relationships"><Relationship Type="http://schemas.openxmlformats.org/officeDocument/2006/relationships/slideLayout" Target="/ppt/slideLayouts/slideLayout1.xml" Id="Re376ce1fe94b4bab"/><Relationship Type="http://schemas.openxmlformats.org/officeDocument/2006/relationships/image" Target="../media/image12.png" Id="R5878ff9e0b134270"/><Relationship Type="http://schemas.openxmlformats.org/officeDocument/2006/relationships/notesSlide" Target="/ppt/notesSlides/notesSlide34.xml" Id="Rd5b52db31cfe41dc"/><Relationship Id="rIdTechLogo34" Type="http://schemas.openxmlformats.org/officeDocument/2006/relationships/image" Target="/ppt/media/tech-logo-react.png"/><Relationship Id="rIdTechLogo35" Type="http://schemas.openxmlformats.org/officeDocument/2006/relationships/image" Target="/ppt/media/tech-logo-vite.png"/><Relationship Id="rIdTechLogo36" Type="http://schemas.openxmlformats.org/officeDocument/2006/relationships/image" Target="/ppt/media/tech-logo-vercel.png"/><Relationship Id="rIdTechLogo42" Type="http://schemas.openxmlformats.org/officeDocument/2006/relationships/image" Target="/ppt/media/tech-logo-supabase.png"/><Relationship Id="rIdGoogleAuthLogo" Type="http://schemas.openxmlformats.org/officeDocument/2006/relationships/image" Target="/ppt/media/google-auth-logo.png"/></Relationships>
</file>

<file path=ppt/slides/_rels/slide35.xml.rels><?xml version='1.0' encoding='UTF-8' standalone='yes'?>
<Relationships xmlns="http://schemas.openxmlformats.org/package/2006/relationships"><Relationship Type="http://schemas.openxmlformats.org/officeDocument/2006/relationships/slideLayout" Target="/ppt/slideLayouts/slideLayout1.xml" Id="Rfff273e468884ed0"/><Relationship Type="http://schemas.openxmlformats.org/officeDocument/2006/relationships/image" Target="../media/image12.png" Id="Rd6f1133ec8bf44ea"/><Relationship Type="http://schemas.openxmlformats.org/officeDocument/2006/relationships/notesSlide" Target="/ppt/notesSlides/notesSlide35.xml" Id="R089efcfad2e64875"/><Relationship Id="rIdTechLogo54" Type="http://schemas.openxmlformats.org/officeDocument/2006/relationships/image" Target="/ppt/media/tech-logo-react.png"/><Relationship Id="rIdTechLogo55" Type="http://schemas.openxmlformats.org/officeDocument/2006/relationships/image" Target="/ppt/media/tech-logo-vite.png"/><Relationship Id="rIdTechLogo56" Type="http://schemas.openxmlformats.org/officeDocument/2006/relationships/image" Target="/ppt/media/tech-logo-vercel.png"/><Relationship Id="rIdTechLogo57" Type="http://schemas.openxmlformats.org/officeDocument/2006/relationships/image" Target="/ppt/media/tech-logo-fastapi.png"/><Relationship Id="rIdTechLogo58" Type="http://schemas.openxmlformats.org/officeDocument/2006/relationships/image" Target="/ppt/media/tech-logo-python.png"/><Relationship Id="rIdTechLogo59" Type="http://schemas.openxmlformats.org/officeDocument/2006/relationships/image" Target="/ppt/media/tech-logo-render.png"/><Relationship Id="rIdTechLogo62" Type="http://schemas.openxmlformats.org/officeDocument/2006/relationships/image" Target="/ppt/media/tech-logo-supabase.png"/><Relationship Id="rIdGoogleAuthLogo" Type="http://schemas.openxmlformats.org/officeDocument/2006/relationships/image" Target="/ppt/media/google-auth-logo.png"/></Relationships>
</file>

<file path=ppt/slides/_rels/slide36.xml.rels><?xml version='1.0' encoding='UTF-8' standalone='yes'?>
<Relationships xmlns="http://schemas.openxmlformats.org/package/2006/relationships"><Relationship Type="http://schemas.openxmlformats.org/officeDocument/2006/relationships/slideLayout" Target="/ppt/slideLayouts/slideLayout1.xml" Id="R14eaeb03c7314df6"/><Relationship Type="http://schemas.openxmlformats.org/officeDocument/2006/relationships/image" Target="../media/image12.png" Id="R853020a19e2b4a99"/><Relationship Type="http://schemas.openxmlformats.org/officeDocument/2006/relationships/notesSlide" Target="/ppt/notesSlides/notesSlide36.xml" Id="Re7185e9fd6784fd5"/><Relationship Id="rIdTechLogo83" Type="http://schemas.openxmlformats.org/officeDocument/2006/relationships/image" Target="/ppt/media/tech-logo-react.png"/><Relationship Id="rIdTechLogo84" Type="http://schemas.openxmlformats.org/officeDocument/2006/relationships/image" Target="/ppt/media/tech-logo-vite.png"/><Relationship Id="rIdTechLogo85" Type="http://schemas.openxmlformats.org/officeDocument/2006/relationships/image" Target="/ppt/media/tech-logo-vercel.png"/><Relationship Id="rIdTechLogo86" Type="http://schemas.openxmlformats.org/officeDocument/2006/relationships/image" Target="/ppt/media/tech-logo-fastapi.png"/><Relationship Id="rIdTechLogo87" Type="http://schemas.openxmlformats.org/officeDocument/2006/relationships/image" Target="/ppt/media/tech-logo-python.png"/><Relationship Id="rIdTechLogo88" Type="http://schemas.openxmlformats.org/officeDocument/2006/relationships/image" Target="/ppt/media/tech-logo-render.png"/><Relationship Id="rIdTechLogo89" Type="http://schemas.openxmlformats.org/officeDocument/2006/relationships/image" Target="/ppt/media/tech-logo-supabase.png"/><Relationship Id="rIdTechLogo90" Type="http://schemas.openxmlformats.org/officeDocument/2006/relationships/image" Target="/ppt/media/tech-logo-postgresql.png"/><Relationship Id="rIdTechLogo91" Type="http://schemas.openxmlformats.org/officeDocument/2006/relationships/image" Target="/ppt/media/tech-logo-supabase.png"/><Relationship Id="rIdSupabaseWordmark92" Type="http://schemas.openxmlformats.org/officeDocument/2006/relationships/image" Target="/ppt/media/supabase-wordmark-dark.png"/><Relationship Id="rIdSupabaseWordmark93" Type="http://schemas.openxmlformats.org/officeDocument/2006/relationships/image" Target="/ppt/media/supabase-wordmark-dark.png"/><Relationship Id="rIdGoogleAuthLogo" Type="http://schemas.openxmlformats.org/officeDocument/2006/relationships/image" Target="/ppt/media/google-auth-logo.png"/></Relationships>
</file>

<file path=ppt/slides/_rels/slide37.xml.rels><?xml version='1.0' encoding='UTF-8' standalone='yes'?>
<Relationships xmlns="http://schemas.openxmlformats.org/package/2006/relationships"><Relationship Type="http://schemas.openxmlformats.org/officeDocument/2006/relationships/slideLayout" Target="/ppt/slideLayouts/slideLayout1.xml" Id="Rb86159d120534ca0"/><Relationship Type="http://schemas.openxmlformats.org/officeDocument/2006/relationships/image" Target="/ppt/media/image50.png" Id="R225747e159ae407d"/><Relationship Type="http://schemas.openxmlformats.org/officeDocument/2006/relationships/notesSlide" Target="/ppt/notesSlides/notesSlide37.xml" Id="Rc9d97eb4198f422d"/><Relationship Id="rIdTechLogo13" Type="http://schemas.openxmlformats.org/officeDocument/2006/relationships/image" Target="/ppt/media/tech-logo-rust.png"/><Relationship Id="rIdTechLogo15" Type="http://schemas.openxmlformats.org/officeDocument/2006/relationships/image" Target="/ppt/media/tech-logo-anchor.png"/><Relationship Id="rIdTechLogo17" Type="http://schemas.openxmlformats.org/officeDocument/2006/relationships/image" Target="/ppt/media/tech-logo-solana.png"/></Relationships>
</file>

<file path=ppt/slides/_rels/slide38.xml.rels><?xml version='1.0' encoding='UTF-8' standalone='yes'?>
<Relationships xmlns="http://schemas.openxmlformats.org/package/2006/relationships"><Relationship Type="http://schemas.openxmlformats.org/officeDocument/2006/relationships/slideLayout" Target="/ppt/slideLayouts/slideLayout1.xml" Id="Rec02c329c87640b9"/><Relationship Type="http://schemas.openxmlformats.org/officeDocument/2006/relationships/image" Target="../media/image50.png" Id="R8162b3e568d9434d"/><Relationship Type="http://schemas.openxmlformats.org/officeDocument/2006/relationships/notesSlide" Target="/ppt/notesSlides/notesSlide38.xml" Id="R642e0a876f2d495a"/><Relationship Id="rIdTechLogo33" Type="http://schemas.openxmlformats.org/officeDocument/2006/relationships/image" Target="/ppt/media/tech-logo-rust.png"/><Relationship Id="rIdTechLogo35" Type="http://schemas.openxmlformats.org/officeDocument/2006/relationships/image" Target="/ppt/media/tech-logo-anchor.png"/><Relationship Id="rIdTechLogo37" Type="http://schemas.openxmlformats.org/officeDocument/2006/relationships/image" Target="/ppt/media/tech-logo-solana.png"/></Relationships>
</file>

<file path=ppt/slides/_rels/slide39.xml.rels><?xml version='1.0' encoding='UTF-8' standalone='yes'?>
<Relationships xmlns="http://schemas.openxmlformats.org/package/2006/relationships"><Relationship Type="http://schemas.openxmlformats.org/officeDocument/2006/relationships/slideLayout" Target="/ppt/slideLayouts/slideLayout1.xml" Id="Rbe648e8ed46747b4"/><Relationship Type="http://schemas.openxmlformats.org/officeDocument/2006/relationships/image" Target="../media/image50.png" Id="R4056399d3bb94364"/><Relationship Type="http://schemas.openxmlformats.org/officeDocument/2006/relationships/notesSlide" Target="/ppt/notesSlides/notesSlide39.xml" Id="R6c2fae61ec2d4e76"/><Relationship Id="rIdTechLogo47" Type="http://schemas.openxmlformats.org/officeDocument/2006/relationships/image" Target="/ppt/media/tech-logo-rust.png"/><Relationship Id="rIdTechLogo49" Type="http://schemas.openxmlformats.org/officeDocument/2006/relationships/image" Target="/ppt/media/tech-logo-anchor.png"/><Relationship Id="rIdTechLogo51" Type="http://schemas.openxmlformats.org/officeDocument/2006/relationships/image" Target="/ppt/media/tech-logo-solana.png"/></Relationships>
</file>

<file path=ppt/slides/_rels/slide40.xml.rels><?xml version='1.0' encoding='UTF-8' standalone='yes'?>
<Relationships xmlns="http://schemas.openxmlformats.org/package/2006/relationships"><Relationship Type="http://schemas.openxmlformats.org/officeDocument/2006/relationships/slideLayout" Target="/ppt/slideLayouts/slideLayout1.xml" Id="R26546a7238fd4b8c"/><Relationship Type="http://schemas.openxmlformats.org/officeDocument/2006/relationships/image" Target="../media/image50.png" Id="R2c84fe5be9e64ff3"/><Relationship Type="http://schemas.openxmlformats.org/officeDocument/2006/relationships/notesSlide" Target="/ppt/notesSlides/notesSlide40.xml" Id="R3ab7451c952945db"/><Relationship Id="rIdTechLogo48" Type="http://schemas.openxmlformats.org/officeDocument/2006/relationships/image" Target="/ppt/media/tech-logo-rust.png"/><Relationship Id="rIdTechLogo50" Type="http://schemas.openxmlformats.org/officeDocument/2006/relationships/image" Target="/ppt/media/tech-logo-anchor.png"/><Relationship Id="rIdTechLogo52" Type="http://schemas.openxmlformats.org/officeDocument/2006/relationships/image" Target="/ppt/media/tech-logo-solana.png"/></Relationships>
</file>

<file path=ppt/slides/_rels/slide44.xml.rels><?xml version='1.0' encoding='UTF-8' standalone='yes'?>
<Relationships xmlns="http://schemas.openxmlformats.org/package/2006/relationships"><Relationship Type="http://schemas.openxmlformats.org/officeDocument/2006/relationships/slideLayout" Target="/ppt/slideLayouts/slideLayout1.xml" Id="R65a1153ce9e5441a"/><Relationship Type="http://schemas.openxmlformats.org/officeDocument/2006/relationships/image" Target="/ppt/media/image57.png" Id="R370104696a1a433e"/><Relationship Type="http://schemas.openxmlformats.org/officeDocument/2006/relationships/notesSlide" Target="/ppt/notesSlides/notesSlide44.xml" Id="R74a80416c6454521"/></Relationships>
</file>

<file path=ppt/slides/_rels/slide45.xml.rels><?xml version='1.0' encoding='UTF-8' standalone='yes'?>
<Relationships xmlns="http://schemas.openxmlformats.org/package/2006/relationships"><Relationship Type="http://schemas.openxmlformats.org/officeDocument/2006/relationships/slideLayout" Target="/ppt/slideLayouts/slideLayout1.xml" Id="R812ffa3c664d4301"/><Relationship Type="http://schemas.openxmlformats.org/officeDocument/2006/relationships/image" Target="../media/image57.png" Id="R6396ee0363824c79"/><Relationship Type="http://schemas.openxmlformats.org/officeDocument/2006/relationships/notesSlide" Target="/ppt/notesSlides/notesSlide45.xml" Id="R806023fc23c843f3"/><Relationship Id="rIdTechLogo24" Type="http://schemas.openxmlformats.org/officeDocument/2006/relationships/image" Target="/ppt/media/tech-logo-onnxruntime.png"/><Relationship Id="rIdTechLogo25" Type="http://schemas.openxmlformats.org/officeDocument/2006/relationships/image" Target="/ppt/media/tech-logo-fastapi-teal.png"/></Relationships>
</file>

<file path=ppt/slides/_rels/slide46.xml.rels><?xml version='1.0' encoding='UTF-8' standalone='yes'?>
<Relationships xmlns="http://schemas.openxmlformats.org/package/2006/relationships"><Relationship Type="http://schemas.openxmlformats.org/officeDocument/2006/relationships/slideLayout" Target="/ppt/slideLayouts/slideLayout1.xml" Id="R907a12897eae4446"/><Relationship Type="http://schemas.openxmlformats.org/officeDocument/2006/relationships/image" Target="../media/image57.png" Id="R179e90e8fecf46fd"/><Relationship Type="http://schemas.openxmlformats.org/officeDocument/2006/relationships/image" Target="/ppt/media/image60.png" Id="Rad468703b6ef4e34"/><Relationship Type="http://schemas.openxmlformats.org/officeDocument/2006/relationships/notesSlide" Target="/ppt/notesSlides/notesSlide46.xml" Id="Rd367a25dc9ac412e"/><Relationship Id="rIdTechLogo35" Type="http://schemas.openxmlformats.org/officeDocument/2006/relationships/image" Target="/ppt/media/tech-logo-onnxruntime.png"/><Relationship Id="rIdTechLogo36" Type="http://schemas.openxmlformats.org/officeDocument/2006/relationships/image" Target="/ppt/media/tech-logo-fastapi-teal.png"/></Relationships>
</file>

<file path=ppt/slides/_rels/slide52.xml.rels><?xml version='1.0' encoding='UTF-8' standalone='yes'?>
<Relationships xmlns="http://schemas.openxmlformats.org/package/2006/relationships"><Relationship Type="http://schemas.openxmlformats.org/officeDocument/2006/relationships/slideLayout" Target="/ppt/slideLayouts/slideLayout1.xml" Id="R5cfe23a48ec94d2e"/><Relationship Type="http://schemas.openxmlformats.org/officeDocument/2006/relationships/image" Target="../media/image9.png" Id="Ra7309318cacd4d71"/><Relationship Type="http://schemas.openxmlformats.org/officeDocument/2006/relationships/notesSlide" Target="/ppt/notesSlides/notesSlide52.xml" Id="R38650a35b6404ff6"/></Relationships>
</file>

<file path=ppt/slides/_rels/slide53.xml.rels><?xml version='1.0' encoding='UTF-8' standalone='yes'?>
<Relationships xmlns="http://schemas.openxmlformats.org/package/2006/relationships"><Relationship Type="http://schemas.openxmlformats.org/officeDocument/2006/relationships/slideLayout" Target="/ppt/slideLayouts/slideLayout1.xml" Id="R73ea5249ed3642ca"/><Relationship Type="http://schemas.openxmlformats.org/officeDocument/2006/relationships/image" Target="../media/image9.png" Id="R169244bd33a9400b"/><Relationship Type="http://schemas.openxmlformats.org/officeDocument/2006/relationships/notesSlide" Target="/ppt/notesSlides/notesSlide53.xml" Id="Rbd780277707d4f5e"/></Relationships>
</file>

<file path=ppt/slides/_rels/slide54.xml.rels><?xml version='1.0' encoding='UTF-8' standalone='yes'?>
<Relationships xmlns="http://schemas.openxmlformats.org/package/2006/relationships"><Relationship Type="http://schemas.openxmlformats.org/officeDocument/2006/relationships/slideLayout" Target="/ppt/slideLayouts/slideLayout1.xml" Id="Rb282073d6d49425f"/><Relationship Type="http://schemas.openxmlformats.org/officeDocument/2006/relationships/image" Target="../media/image9.png" Id="Rc7fc8e7f6c734188"/><Relationship Type="http://schemas.openxmlformats.org/officeDocument/2006/relationships/notesSlide" Target="/ppt/notesSlides/notesSlide54.xml" Id="R40919b4fbfbf41bd"/></Relationships>
</file>

<file path=ppt/slides/_rels/slide58.xml.rels><?xml version='1.0' encoding='UTF-8' standalone='yes'?>
<Relationships xmlns="http://schemas.openxmlformats.org/package/2006/relationships"><Relationship Type="http://schemas.openxmlformats.org/officeDocument/2006/relationships/slideLayout" Target="/ppt/slideLayouts/slideLayout1.xml" Id="R58537c1196844858"/><Relationship Type="http://schemas.openxmlformats.org/officeDocument/2006/relationships/image" Target="../media/image.png" Id="R6a99e7d67b1e4bdf"/><Relationship Type="http://schemas.openxmlformats.org/officeDocument/2006/relationships/notesSlide" Target="/ppt/notesSlides/notesSlide58.xml" Id="R25abc82ca51d450f"/></Relationships>
</file>

<file path=ppt/slides/_rels/slide59.xml.rels><?xml version='1.0' encoding='UTF-8' standalone='yes'?>
<Relationships xmlns="http://schemas.openxmlformats.org/package/2006/relationships"><Relationship Type="http://schemas.openxmlformats.org/officeDocument/2006/relationships/slideLayout" Target="/ppt/slideLayouts/slideLayout1.xml" Id="Rba328673bc014b0a"/><Relationship Type="http://schemas.openxmlformats.org/officeDocument/2006/relationships/image" Target="../media/image.png" Id="Rb0ed0058004a4176"/><Relationship Type="http://schemas.openxmlformats.org/officeDocument/2006/relationships/image" Target="../media/image32.png" Id="Rd3f240ed2e2849b9"/><Relationship Type="http://schemas.openxmlformats.org/officeDocument/2006/relationships/hyperlink" Target="https://durian-web3.vercel.app/#/records/example" TargetMode="External" Id="R9e1998df7a4e4696"/><Relationship Type="http://schemas.openxmlformats.org/officeDocument/2006/relationships/hyperlink" Target="https://github.com/vinhelysia/DurainCheckerDemo" TargetMode="External" Id="Reabc68734bc14c96"/><Relationship Type="http://schemas.openxmlformats.org/officeDocument/2006/relationships/notesSlide" Target="/ppt/notesSlides/notesSlide59.xml" Id="R6396c1f4f172466a"/></Relationships>
</file>

<file path=ppt/slides/slide1.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7" name="!!backdrop"/>
          <p:cNvPicPr>
            <a:picLocks xmlns:a="http://schemas.openxmlformats.org/drawingml/2006/main" noChangeAspect="1"/>
          </p:cNvPicPr>
          <p:nvPr/>
        </p:nvPicPr>
        <p:blipFill>
          <a:blip xmlns:r="http://schemas.openxmlformats.org/officeDocument/2006/relationships" xmlns:a="http://schemas.openxmlformats.org/drawingml/2006/main" r:embed="R447967732bd94b96"/>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rand">
            <a:extLst xmlns:a="http://schemas.openxmlformats.org/drawingml/2006/main">
              <a:ext uri="{FF2B5EF4-FFF2-40B4-BE49-F238E27FC236}">
                <a16:creationId xmlns:a16="http://schemas.microsoft.com/office/drawing/2014/main" id="{C9432B25-3EEE-46F6-BF94-4C1F018BD6F8}"/>
              </a:ext>
            </a:extLst>
          </p:cNvPr>
          <p:cNvSpPr>
            <a:spLocks xmlns:a="http://schemas.openxmlformats.org/drawingml/2006/main" noGrp="1"/>
          </p:cNvSpPr>
          <p:nvPr/>
        </p:nvSpPr>
        <p:spPr>
          <a:xfrm xmlns:a="http://schemas.openxmlformats.org/drawingml/2006/main">
            <a:off x="609600" y="2552700"/>
            <a:ext cx="714375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5700" b="1">
                <a:solidFill>
                  <a:srgbClr val="F4F1E8"/>
                </a:solidFill>
                <a:latin typeface="Segoe UI"/>
                <a:ea typeface="Segoe UI"/>
                <a:cs typeface="Segoe UI"/>
              </a:defRPr>
            </a:pPr>
            <a:r>
              <a:rPr sz="5700" b="1">
                <a:solidFill>
                  <a:srgbClr val="F4F1E8"/>
                </a:solidFill>
                <a:latin typeface="Segoe UI"/>
                <a:ea typeface="Segoe UI"/>
                <a:cs typeface="Segoe UI"/>
              </a:rPr>
              <a:t>DurianTrust</a:t>
            </a:r>
          </a:p>
        </p:txBody>
      </p:sp>
      <p:sp>
        <p:nvSpPr>
          <p:cNvPr id="3" name="!!competition">
            <a:extLst xmlns:a="http://schemas.openxmlformats.org/drawingml/2006/main">
              <a:ext uri="{FF2B5EF4-FFF2-40B4-BE49-F238E27FC236}">
                <a16:creationId xmlns:a16="http://schemas.microsoft.com/office/drawing/2014/main" id="{74E26A9C-2B0B-42FB-AC99-F47CC05A910B}"/>
              </a:ext>
            </a:extLst>
          </p:cNvPr>
          <p:cNvSpPr>
            <a:spLocks xmlns:a="http://schemas.openxmlformats.org/drawingml/2006/main" noGrp="1"/>
          </p:cNvSpPr>
          <p:nvPr/>
        </p:nvSpPr>
        <p:spPr>
          <a:xfrm xmlns:a="http://schemas.openxmlformats.org/drawingml/2006/main">
            <a:off x="647700" y="895350"/>
            <a:ext cx="4095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1">
                <a:solidFill>
                  <a:srgbClr val="C8A45B"/>
                </a:solidFill>
                <a:latin typeface="Segoe UI"/>
                <a:ea typeface="Segoe UI"/>
                <a:cs typeface="Segoe UI"/>
              </a:defRPr>
            </a:pPr>
            <a:r>
              <a:rPr sz="1650" b="1">
                <a:solidFill>
                  <a:srgbClr val="C8A45B"/>
                </a:solidFill>
                <a:latin typeface="Segoe UI"/>
                <a:ea typeface="Segoe UI"/>
                <a:cs typeface="Segoe UI"/>
              </a:rPr>
              <a:t>UniHackFest 2026</a:t>
            </a:r>
          </a:p>
        </p:txBody>
      </p:sp>
      <p:pic>
        <p:nvPicPr>
          <p:cNvPr id="10" name="!!logo"/>
          <p:cNvPicPr>
            <a:picLocks xmlns:a="http://schemas.openxmlformats.org/drawingml/2006/main" noChangeAspect="1"/>
          </p:cNvPicPr>
          <p:nvPr/>
        </p:nvPicPr>
        <p:blipFill>
          <a:blip xmlns:r="http://schemas.openxmlformats.org/officeDocument/2006/relationships" xmlns:a="http://schemas.openxmlformats.org/drawingml/2006/main" r:embed="R60deeaefc62340c8"/>
          <a:stretch xmlns:a="http://schemas.openxmlformats.org/drawingml/2006/main"/>
        </p:blipFill>
        <p:spPr>
          <a:xfrm xmlns:a="http://schemas.openxmlformats.org/drawingml/2006/main">
            <a:off x="628650" y="1466850"/>
            <a:ext cx="533400" cy="533400"/>
          </a:xfrm>
          <a:prstGeom xmlns:a="http://schemas.openxmlformats.org/drawingml/2006/main" prst="rect">
            <a:avLst/>
          </a:prstGeom>
        </p:spPr>
      </p:pic>
      <p:sp>
        <p:nvSpPr>
          <p:cNvPr id="5" name="!!page">
            <a:extLst xmlns:a="http://schemas.openxmlformats.org/drawingml/2006/main">
              <a:ext uri="{FF2B5EF4-FFF2-40B4-BE49-F238E27FC236}">
                <a16:creationId xmlns:a16="http://schemas.microsoft.com/office/drawing/2014/main" id="{23722A17-929A-4BD2-91C6-B5120ED607F1}"/>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01 / 30</a:t>
            </a:r>
          </a:p>
        </p:txBody>
      </p:sp>
      <p:sp>
        <p:nvSpPr>
          <p:cNvPr id="6" name="!!caption">
            <a:extLst xmlns:a="http://schemas.openxmlformats.org/drawingml/2006/main">
              <a:ext uri="{FF2B5EF4-FFF2-40B4-BE49-F238E27FC236}">
                <a16:creationId xmlns:a16="http://schemas.microsoft.com/office/drawing/2014/main" id="{F611FA9C-5332-425A-A77A-98ACD69AB102}"/>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Hình minh họa tạo bằng AI</a:t>
            </a:r>
          </a:p>
        </p:txBody>
      </p:sp>
    </p:spTree>
    <p:extLst>
      <p:ext uri="{BB962C8B-B14F-4D97-AF65-F5344CB8AC3E}">
        <p14:creationId xmlns:p14="http://schemas.microsoft.com/office/powerpoint/2010/main" val="427871743"/>
      </p:ext>
    </p:extLst>
  </p:cSld>
</p:sld>
</file>

<file path=ppt/slides/slide2.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8" name="!!backdrop"/>
          <p:cNvPicPr>
            <a:picLocks xmlns:a="http://schemas.openxmlformats.org/drawingml/2006/main" noChangeAspect="1"/>
          </p:cNvPicPr>
          <p:nvPr/>
        </p:nvPicPr>
        <p:blipFill>
          <a:blip xmlns:r="http://schemas.openxmlformats.org/officeDocument/2006/relationships" xmlns:a="http://schemas.openxmlformats.org/drawingml/2006/main" r:embed="R2de8f86d14bb4727"/>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rand">
            <a:extLst xmlns:a="http://schemas.openxmlformats.org/drawingml/2006/main">
              <a:ext uri="{FF2B5EF4-FFF2-40B4-BE49-F238E27FC236}">
                <a16:creationId xmlns:a16="http://schemas.microsoft.com/office/drawing/2014/main" id="{CE1C7A97-AEA7-4CBC-9746-E47D9F29B348}"/>
              </a:ext>
            </a:extLst>
          </p:cNvPr>
          <p:cNvSpPr>
            <a:spLocks xmlns:a="http://schemas.openxmlformats.org/drawingml/2006/main" noGrp="1"/>
          </p:cNvSpPr>
          <p:nvPr/>
        </p:nvSpPr>
        <p:spPr>
          <a:xfrm xmlns:a="http://schemas.openxmlformats.org/drawingml/2006/main">
            <a:off x="609600" y="2228850"/>
            <a:ext cx="714375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6300" b="1">
                <a:solidFill>
                  <a:srgbClr val="F4F1E8"/>
                </a:solidFill>
                <a:latin typeface="Segoe UI"/>
                <a:ea typeface="Segoe UI"/>
                <a:cs typeface="Segoe UI"/>
              </a:defRPr>
            </a:pPr>
            <a:r>
              <a:rPr sz="6300" b="1">
                <a:solidFill>
                  <a:srgbClr val="F4F1E8"/>
                </a:solidFill>
                <a:latin typeface="Segoe UI"/>
                <a:ea typeface="Segoe UI"/>
                <a:cs typeface="Segoe UI"/>
              </a:rPr>
              <a:t>DurianTrust</a:t>
            </a:r>
          </a:p>
        </p:txBody>
      </p:sp>
      <p:sp>
        <p:nvSpPr>
          <p:cNvPr id="3" name="!!promise">
            <a:extLst xmlns:a="http://schemas.openxmlformats.org/drawingml/2006/main">
              <a:ext uri="{FF2B5EF4-FFF2-40B4-BE49-F238E27FC236}">
                <a16:creationId xmlns:a16="http://schemas.microsoft.com/office/drawing/2014/main" id="{FFB36356-1537-4C61-AAB1-F980E62C17A0}"/>
              </a:ext>
            </a:extLst>
          </p:cNvPr>
          <p:cNvSpPr>
            <a:spLocks xmlns:a="http://schemas.openxmlformats.org/drawingml/2006/main" noGrp="1"/>
          </p:cNvSpPr>
          <p:nvPr/>
        </p:nvSpPr>
        <p:spPr>
          <a:xfrm xmlns:a="http://schemas.openxmlformats.org/drawingml/2006/main">
            <a:off x="647700" y="3524250"/>
            <a:ext cx="60007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700" b="0">
                <a:solidFill>
                  <a:srgbClr val="F4F1E8"/>
                </a:solidFill>
                <a:latin typeface="Segoe UI"/>
                <a:ea typeface="Segoe UI"/>
                <a:cs typeface="Segoe UI"/>
              </a:defRPr>
            </a:pPr>
            <a:r>
              <a:rPr sz="2700" b="0">
                <a:solidFill>
                  <a:srgbClr val="F4F1E8"/>
                </a:solidFill>
                <a:latin typeface="Segoe UI"/>
                <a:ea typeface="Segoe UI"/>
                <a:cs typeface="Segoe UI"/>
              </a:rPr>
              <a:t>Hồ sơ lô sầu riêng</a:t>
            </a:r>
          </a:p>
          <a:p xmlns:a="http://schemas.openxmlformats.org/drawingml/2006/main">
            <a:pPr>
              <a:defRPr sz="2700" b="0">
                <a:solidFill>
                  <a:srgbClr val="F4F1E8"/>
                </a:solidFill>
                <a:latin typeface="Segoe UI"/>
                <a:ea typeface="Segoe UI"/>
                <a:cs typeface="Segoe UI"/>
              </a:defRPr>
            </a:pPr>
            <a:r>
              <a:rPr sz="2700" b="0">
                <a:solidFill>
                  <a:srgbClr val="F4F1E8"/>
                </a:solidFill>
                <a:latin typeface="Segoe UI"/>
                <a:ea typeface="Segoe UI"/>
                <a:cs typeface="Segoe UI"/>
              </a:rPr>
              <a:t>cho hợp tác xã và bên mua</a:t>
            </a:r>
          </a:p>
        </p:txBody>
      </p:sp>
      <p:sp>
        <p:nvSpPr>
          <p:cNvPr id="4" name="!!competition">
            <a:extLst xmlns:a="http://schemas.openxmlformats.org/drawingml/2006/main">
              <a:ext uri="{FF2B5EF4-FFF2-40B4-BE49-F238E27FC236}">
                <a16:creationId xmlns:a16="http://schemas.microsoft.com/office/drawing/2014/main" id="{1FB0E0DE-7DCB-47D5-AA45-76AC11576ECA}"/>
              </a:ext>
            </a:extLst>
          </p:cNvPr>
          <p:cNvSpPr>
            <a:spLocks xmlns:a="http://schemas.openxmlformats.org/drawingml/2006/main" noGrp="1"/>
          </p:cNvSpPr>
          <p:nvPr/>
        </p:nvSpPr>
        <p:spPr>
          <a:xfrm xmlns:a="http://schemas.openxmlformats.org/drawingml/2006/main">
            <a:off x="647700" y="895350"/>
            <a:ext cx="4095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1">
                <a:solidFill>
                  <a:srgbClr val="C8A45B"/>
                </a:solidFill>
                <a:latin typeface="Segoe UI"/>
                <a:ea typeface="Segoe UI"/>
                <a:cs typeface="Segoe UI"/>
              </a:defRPr>
            </a:pPr>
            <a:r>
              <a:rPr sz="1650" b="1">
                <a:solidFill>
                  <a:srgbClr val="C8A45B"/>
                </a:solidFill>
                <a:latin typeface="Segoe UI"/>
                <a:ea typeface="Segoe UI"/>
                <a:cs typeface="Segoe UI"/>
              </a:rPr>
              <a:t>UniHackFest 2026</a:t>
            </a:r>
          </a:p>
        </p:txBody>
      </p:sp>
      <p:pic>
        <p:nvPicPr>
          <p:cNvPr id="12" name="!!logo"/>
          <p:cNvPicPr>
            <a:picLocks xmlns:a="http://schemas.openxmlformats.org/drawingml/2006/main" noChangeAspect="1"/>
          </p:cNvPicPr>
          <p:nvPr/>
        </p:nvPicPr>
        <p:blipFill>
          <a:blip xmlns:r="http://schemas.openxmlformats.org/officeDocument/2006/relationships" xmlns:a="http://schemas.openxmlformats.org/drawingml/2006/main" r:embed="Rf4b3c0e5276149b4"/>
          <a:stretch xmlns:a="http://schemas.openxmlformats.org/drawingml/2006/main"/>
        </p:blipFill>
        <p:spPr>
          <a:xfrm xmlns:a="http://schemas.openxmlformats.org/drawingml/2006/main">
            <a:off x="628650" y="1466850"/>
            <a:ext cx="533400" cy="533400"/>
          </a:xfrm>
          <a:prstGeom xmlns:a="http://schemas.openxmlformats.org/drawingml/2006/main" prst="rect">
            <a:avLst/>
          </a:prstGeom>
        </p:spPr>
      </p:pic>
      <p:sp>
        <p:nvSpPr>
          <p:cNvPr id="6" name="!!page">
            <a:extLst xmlns:a="http://schemas.openxmlformats.org/drawingml/2006/main">
              <a:ext uri="{FF2B5EF4-FFF2-40B4-BE49-F238E27FC236}">
                <a16:creationId xmlns:a16="http://schemas.microsoft.com/office/drawing/2014/main" id="{BB99D8A4-6B5D-45A2-9688-C14FA69773D1}"/>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02 / 30</a:t>
            </a:r>
          </a:p>
        </p:txBody>
      </p:sp>
      <p:sp>
        <p:nvSpPr>
          <p:cNvPr id="7" name="!!caption">
            <a:extLst xmlns:a="http://schemas.openxmlformats.org/drawingml/2006/main">
              <a:ext uri="{FF2B5EF4-FFF2-40B4-BE49-F238E27FC236}">
                <a16:creationId xmlns:a16="http://schemas.microsoft.com/office/drawing/2014/main" id="{2B166CEE-AA0E-4E91-B722-77AE535AB74B}"/>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Hình minh họa tạo bằng AI</a:t>
            </a:r>
          </a:p>
        </p:txBody>
      </p:sp>
    </p:spTree>
    <p:extLst>
      <p:ext uri="{BB962C8B-B14F-4D97-AF65-F5344CB8AC3E}">
        <p14:creationId xmlns:p14="http://schemas.microsoft.com/office/powerpoint/2010/main" val="1374851041"/>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3.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pic>
        <p:nvPicPr>
          <p:cNvPr id="11" name="!!backdrop"/>
          <p:cNvPicPr>
            <a:picLocks xmlns:a="http://schemas.openxmlformats.org/drawingml/2006/main" noChangeAspect="1"/>
          </p:cNvPicPr>
          <p:nvPr/>
        </p:nvPicPr>
        <p:blipFill>
          <a:blip xmlns:r="http://schemas.openxmlformats.org/officeDocument/2006/relationships" xmlns:a="http://schemas.openxmlformats.org/drawingml/2006/main" r:embed="R22c5a6b068144b6a"/>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headline">
            <a:extLst xmlns:a="http://schemas.openxmlformats.org/drawingml/2006/main">
              <a:ext uri="{FF2B5EF4-FFF2-40B4-BE49-F238E27FC236}">
                <a16:creationId xmlns:a16="http://schemas.microsoft.com/office/drawing/2014/main" id="{66EF79DE-9F1A-4F2A-B44F-A56DE9FE4F4B}"/>
              </a:ext>
            </a:extLst>
          </p:cNvPr>
          <p:cNvSpPr>
            <a:spLocks xmlns:a="http://schemas.openxmlformats.org/drawingml/2006/main" noGrp="1"/>
          </p:cNvSpPr>
          <p:nvPr/>
        </p:nvSpPr>
        <p:spPr>
          <a:xfrm xmlns:a="http://schemas.openxmlformats.org/drawingml/2006/main">
            <a:off x="609600" y="533400"/>
            <a:ext cx="623887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142F24"/>
                </a:solidFill>
                <a:latin typeface="Segoe UI"/>
                <a:ea typeface="Segoe UI"/>
                <a:cs typeface="Segoe UI"/>
              </a:defRPr>
            </a:pPr>
            <a:r>
              <a:rPr sz="3450" b="1">
                <a:solidFill>
                  <a:srgbClr val="142F24"/>
                </a:solidFill>
                <a:latin typeface="Segoe UI"/>
                <a:ea typeface="Segoe UI"/>
                <a:cs typeface="Segoe UI"/>
              </a:rPr>
              <a:t>Vì sao DurianTrust ra đời?</a:t>
            </a:r>
          </a:p>
        </p:txBody>
      </p:sp>
      <p:sp>
        <p:nvSpPr>
          <p:cNvPr id="3" name="!!fragment-0-selection">
            <a:extLst xmlns:a="http://schemas.openxmlformats.org/drawingml/2006/main">
              <a:ext uri="{FF2B5EF4-FFF2-40B4-BE49-F238E27FC236}">
                <a16:creationId xmlns:a16="http://schemas.microsoft.com/office/drawing/2014/main" id="{6AB61F0A-F2E7-4B7C-BFBD-3A0BCF1A9A40}"/>
              </a:ext>
            </a:extLst>
          </p:cNvPr>
          <p:cNvSpPr>
            <a:spLocks xmlns:a="http://schemas.openxmlformats.org/drawingml/2006/main" noGrp="1"/>
          </p:cNvSpPr>
          <p:nvPr/>
        </p:nvSpPr>
        <p:spPr>
          <a:xfrm xmlns:a="http://schemas.openxmlformats.org/drawingml/2006/main">
            <a:off x="571500" y="1866900"/>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4" name="!!fragment-0-icon-0">
            <a:extLst xmlns:a="http://schemas.openxmlformats.org/drawingml/2006/main">
              <a:ext uri="{FF2B5EF4-FFF2-40B4-BE49-F238E27FC236}">
                <a16:creationId xmlns:a16="http://schemas.microsoft.com/office/drawing/2014/main" id="{51BD089C-2384-498C-8170-19D6F29F5F76}"/>
              </a:ext>
            </a:extLst>
          </p:cNvPr>
          <p:cNvSpPr>
            <a:spLocks xmlns:a="http://schemas.openxmlformats.org/drawingml/2006/main" noGrp="1"/>
          </p:cNvSpPr>
          <p:nvPr/>
        </p:nvSpPr>
        <p:spPr>
          <a:xfrm xmlns:a="http://schemas.openxmlformats.org/drawingml/2006/main">
            <a:off x="770572" y="2065972"/>
            <a:ext cx="325755" cy="325755"/>
          </a:xfrm>
          <a:prstGeom xmlns:a="http://schemas.openxmlformats.org/drawingml/2006/main" prst="ellipse">
            <a:avLst/>
          </a:prstGeom>
          <a:noFill xmlns:a="http://schemas.openxmlformats.org/drawingml/2006/main"/>
          <a:ln xmlns:a="http://schemas.openxmlformats.org/drawingml/2006/main" w="19050">
            <a:solidFill>
              <a:srgbClr val="FFFFFF"/>
            </a:solidFill>
            <a:prstDash val="solid"/>
          </a:ln>
        </p:spPr>
      </p:sp>
      <p:sp>
        <p:nvSpPr>
          <p:cNvPr id="5" name="!!fragment-0-icon-1">
            <a:extLst xmlns:a="http://schemas.openxmlformats.org/drawingml/2006/main">
              <a:ext uri="{FF2B5EF4-FFF2-40B4-BE49-F238E27FC236}">
                <a16:creationId xmlns:a16="http://schemas.microsoft.com/office/drawing/2014/main" id="{C8B9E9F6-296D-4DD9-8CDA-46DC8A5C5F70}"/>
              </a:ext>
            </a:extLst>
          </p:cNvPr>
          <p:cNvSpPr>
            <a:spLocks xmlns:a="http://schemas.openxmlformats.org/drawingml/2006/main" noGrp="1"/>
          </p:cNvSpPr>
          <p:nvPr/>
        </p:nvSpPr>
        <p:spPr>
          <a:xfrm xmlns:a="http://schemas.openxmlformats.org/drawingml/2006/main">
            <a:off x="868299" y="2065972"/>
            <a:ext cx="130302" cy="325755"/>
          </a:xfrm>
          <a:prstGeom xmlns:a="http://schemas.openxmlformats.org/drawingml/2006/main" prst="ellipse">
            <a:avLst/>
          </a:prstGeom>
          <a:noFill xmlns:a="http://schemas.openxmlformats.org/drawingml/2006/main"/>
          <a:ln xmlns:a="http://schemas.openxmlformats.org/drawingml/2006/main" w="19050">
            <a:solidFill>
              <a:srgbClr val="FFFFFF"/>
            </a:solidFill>
            <a:prstDash val="solid"/>
          </a:ln>
        </p:spPr>
      </p:sp>
      <p:sp>
        <p:nvSpPr>
          <p:cNvPr id="6" name="!!fragment-0-icon-2">
            <a:extLst xmlns:a="http://schemas.openxmlformats.org/drawingml/2006/main">
              <a:ext uri="{FF2B5EF4-FFF2-40B4-BE49-F238E27FC236}">
                <a16:creationId xmlns:a16="http://schemas.microsoft.com/office/drawing/2014/main" id="{E98B0F2A-BD6D-48E9-96E5-32760324CFEB}"/>
              </a:ext>
            </a:extLst>
          </p:cNvPr>
          <p:cNvSpPr>
            <a:spLocks xmlns:a="http://schemas.openxmlformats.org/drawingml/2006/main" noGrp="1"/>
          </p:cNvSpPr>
          <p:nvPr/>
        </p:nvSpPr>
        <p:spPr>
          <a:xfrm xmlns:a="http://schemas.openxmlformats.org/drawingml/2006/main">
            <a:off x="737997" y="2033397"/>
            <a:ext cx="390906" cy="390906"/>
          </a:xfrm>
          <a:custGeom xmlns:a="http://schemas.openxmlformats.org/drawingml/2006/main">
            <a:pathLst>
              <a:path w="228600" h="228600">
                <a:moveTo>
                  <a:pt x="19050" y="114300"/>
                </a:moveTo>
                <a:lnTo>
                  <a:pt x="209550" y="114300"/>
                </a:lnTo>
              </a:path>
            </a:pathLst>
          </a:custGeom>
          <a:noFill xmlns:a="http://schemas.openxmlformats.org/drawingml/2006/main"/>
          <a:ln xmlns:a="http://schemas.openxmlformats.org/drawingml/2006/main" w="19050">
            <a:solidFill>
              <a:srgbClr val="FFFFFF"/>
            </a:solidFill>
            <a:prstDash val="solid"/>
          </a:ln>
        </p:spPr>
      </p:sp>
      <p:sp>
        <p:nvSpPr>
          <p:cNvPr id="7" name="!!fragment-0">
            <a:extLst xmlns:a="http://schemas.openxmlformats.org/drawingml/2006/main">
              <a:ext uri="{FF2B5EF4-FFF2-40B4-BE49-F238E27FC236}">
                <a16:creationId xmlns:a16="http://schemas.microsoft.com/office/drawing/2014/main" id="{675AA8ED-DD4B-4740-BC74-5F1A880E26A6}"/>
              </a:ext>
            </a:extLst>
          </p:cNvPr>
          <p:cNvSpPr>
            <a:spLocks xmlns:a="http://schemas.openxmlformats.org/drawingml/2006/main" noGrp="1"/>
          </p:cNvSpPr>
          <p:nvPr/>
        </p:nvSpPr>
        <p:spPr>
          <a:xfrm xmlns:a="http://schemas.openxmlformats.org/drawingml/2006/main">
            <a:off x="1447800" y="1847850"/>
            <a:ext cx="43338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4500" b="1">
                <a:solidFill>
                  <a:srgbClr val="142F24"/>
                </a:solidFill>
                <a:latin typeface="Segoe UI"/>
                <a:ea typeface="Segoe UI"/>
                <a:cs typeface="Segoe UI"/>
              </a:defRPr>
            </a:pPr>
            <a:r>
              <a:rPr sz="4500" b="1">
                <a:solidFill>
                  <a:srgbClr val="142F24"/>
                </a:solidFill>
                <a:latin typeface="Segoe UI"/>
                <a:ea typeface="Segoe UI"/>
                <a:cs typeface="Segoe UI"/>
              </a:rPr>
              <a:t>≈95%</a:t>
            </a:r>
          </a:p>
        </p:txBody>
      </p:sp>
      <p:sp>
        <p:nvSpPr>
          <p:cNvPr id="8" name="!!fragment-detail-0">
            <a:extLst xmlns:a="http://schemas.openxmlformats.org/drawingml/2006/main">
              <a:ext uri="{FF2B5EF4-FFF2-40B4-BE49-F238E27FC236}">
                <a16:creationId xmlns:a16="http://schemas.microsoft.com/office/drawing/2014/main" id="{8309E756-FFB7-4947-AEB2-119D6A04AD96}"/>
              </a:ext>
            </a:extLst>
          </p:cNvPr>
          <p:cNvSpPr>
            <a:spLocks xmlns:a="http://schemas.openxmlformats.org/drawingml/2006/main" noGrp="1"/>
          </p:cNvSpPr>
          <p:nvPr/>
        </p:nvSpPr>
        <p:spPr>
          <a:xfrm xmlns:a="http://schemas.openxmlformats.org/drawingml/2006/main">
            <a:off x="1447800" y="2705100"/>
            <a:ext cx="43338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0">
                <a:solidFill>
                  <a:srgbClr val="53685B"/>
                </a:solidFill>
                <a:latin typeface="Segoe UI"/>
                <a:ea typeface="Segoe UI"/>
                <a:cs typeface="Segoe UI"/>
              </a:defRPr>
            </a:pPr>
            <a:r>
              <a:rPr sz="1650" b="0">
                <a:solidFill>
                  <a:srgbClr val="53685B"/>
                </a:solidFill>
                <a:latin typeface="Segoe UI"/>
                <a:ea typeface="Segoe UI"/>
                <a:cs typeface="Segoe UI"/>
              </a:rPr>
              <a:t>Kim ngạch xuất khẩu sầu riêng Việt Nam</a:t>
            </a:r>
          </a:p>
          <a:p xmlns:a="http://schemas.openxmlformats.org/drawingml/2006/main">
            <a:pPr>
              <a:defRPr sz="1650" b="0">
                <a:solidFill>
                  <a:srgbClr val="53685B"/>
                </a:solidFill>
                <a:latin typeface="Segoe UI"/>
                <a:ea typeface="Segoe UI"/>
                <a:cs typeface="Segoe UI"/>
              </a:defRPr>
            </a:pPr>
            <a:r>
              <a:rPr sz="1650" b="0">
                <a:solidFill>
                  <a:srgbClr val="53685B"/>
                </a:solidFill>
                <a:latin typeface="Segoe UI"/>
                <a:ea typeface="Segoe UI"/>
                <a:cs typeface="Segoe UI"/>
              </a:rPr>
              <a:t>sang Trung Quốc, 8 tháng 2026</a:t>
            </a:r>
          </a:p>
        </p:txBody>
      </p:sp>
      <p:sp>
        <p:nvSpPr>
          <p:cNvPr id="9" name="!!page">
            <a:extLst xmlns:a="http://schemas.openxmlformats.org/drawingml/2006/main">
              <a:ext uri="{FF2B5EF4-FFF2-40B4-BE49-F238E27FC236}">
                <a16:creationId xmlns:a16="http://schemas.microsoft.com/office/drawing/2014/main" id="{0CE3515C-389A-4B31-9747-907234702262}"/>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03 / 30</a:t>
            </a:r>
          </a:p>
        </p:txBody>
      </p:sp>
      <p:sp>
        <p:nvSpPr>
          <p:cNvPr id="10" name="!!caption">
            <a:extLst xmlns:a="http://schemas.openxmlformats.org/drawingml/2006/main">
              <a:ext uri="{FF2B5EF4-FFF2-40B4-BE49-F238E27FC236}">
                <a16:creationId xmlns:a16="http://schemas.microsoft.com/office/drawing/2014/main" id="{44547D5B-773D-4894-8E96-935AF5F1836C}"/>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Nguồn: Báo Điện tử Chính phủ, 03/09/2026. Số liệu ước tính. Nền AI</a:t>
            </a:r>
          </a:p>
        </p:txBody>
      </p:sp>
    </p:spTree>
    <p:extLst>
      <p:ext uri="{BB962C8B-B14F-4D97-AF65-F5344CB8AC3E}">
        <p14:creationId xmlns:p14="http://schemas.microsoft.com/office/powerpoint/2010/main" val="414196897"/>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4.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pic>
        <p:nvPicPr>
          <p:cNvPr id="16" name="!!backdrop"/>
          <p:cNvPicPr>
            <a:picLocks xmlns:a="http://schemas.openxmlformats.org/drawingml/2006/main" noChangeAspect="1"/>
          </p:cNvPicPr>
          <p:nvPr/>
        </p:nvPicPr>
        <p:blipFill>
          <a:blip xmlns:r="http://schemas.openxmlformats.org/officeDocument/2006/relationships" xmlns:a="http://schemas.openxmlformats.org/drawingml/2006/main" r:embed="R8b1008f1151e4f94"/>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headline">
            <a:extLst xmlns:a="http://schemas.openxmlformats.org/drawingml/2006/main">
              <a:ext uri="{FF2B5EF4-FFF2-40B4-BE49-F238E27FC236}">
                <a16:creationId xmlns:a16="http://schemas.microsoft.com/office/drawing/2014/main" id="{9C7237ED-B265-49AF-93A9-ADE0C373ABF8}"/>
              </a:ext>
            </a:extLst>
          </p:cNvPr>
          <p:cNvSpPr>
            <a:spLocks xmlns:a="http://schemas.openxmlformats.org/drawingml/2006/main" noGrp="1"/>
          </p:cNvSpPr>
          <p:nvPr/>
        </p:nvSpPr>
        <p:spPr>
          <a:xfrm xmlns:a="http://schemas.openxmlformats.org/drawingml/2006/main">
            <a:off x="609600" y="533400"/>
            <a:ext cx="623887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142F24"/>
                </a:solidFill>
                <a:latin typeface="Segoe UI"/>
                <a:ea typeface="Segoe UI"/>
                <a:cs typeface="Segoe UI"/>
              </a:defRPr>
            </a:pPr>
            <a:r>
              <a:rPr sz="3450" b="1">
                <a:solidFill>
                  <a:srgbClr val="142F24"/>
                </a:solidFill>
                <a:latin typeface="Segoe UI"/>
                <a:ea typeface="Segoe UI"/>
                <a:cs typeface="Segoe UI"/>
              </a:rPr>
              <a:t>Vì sao DurianTrust ra đời?</a:t>
            </a:r>
          </a:p>
        </p:txBody>
      </p:sp>
      <p:sp>
        <p:nvSpPr>
          <p:cNvPr id="3" name="!!fragment-0-selection">
            <a:extLst xmlns:a="http://schemas.openxmlformats.org/drawingml/2006/main">
              <a:ext uri="{FF2B5EF4-FFF2-40B4-BE49-F238E27FC236}">
                <a16:creationId xmlns:a16="http://schemas.microsoft.com/office/drawing/2014/main" id="{C74948A4-52AD-4D58-98F9-971299FF1C88}"/>
              </a:ext>
            </a:extLst>
          </p:cNvPr>
          <p:cNvSpPr>
            <a:spLocks xmlns:a="http://schemas.openxmlformats.org/drawingml/2006/main" noGrp="1"/>
          </p:cNvSpPr>
          <p:nvPr/>
        </p:nvSpPr>
        <p:spPr>
          <a:xfrm xmlns:a="http://schemas.openxmlformats.org/drawingml/2006/main">
            <a:off x="647700" y="1943100"/>
            <a:ext cx="571500" cy="5715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4" name="!!fragment-0-icon-0">
            <a:extLst xmlns:a="http://schemas.openxmlformats.org/drawingml/2006/main">
              <a:ext uri="{FF2B5EF4-FFF2-40B4-BE49-F238E27FC236}">
                <a16:creationId xmlns:a16="http://schemas.microsoft.com/office/drawing/2014/main" id="{B99E92AA-7216-41F8-ABFC-A19BA0FA24E0}"/>
              </a:ext>
            </a:extLst>
          </p:cNvPr>
          <p:cNvSpPr>
            <a:spLocks xmlns:a="http://schemas.openxmlformats.org/drawingml/2006/main" noGrp="1"/>
          </p:cNvSpPr>
          <p:nvPr/>
        </p:nvSpPr>
        <p:spPr>
          <a:xfrm xmlns:a="http://schemas.openxmlformats.org/drawingml/2006/main">
            <a:off x="804863" y="2100263"/>
            <a:ext cx="257175" cy="257175"/>
          </a:xfrm>
          <a:prstGeom xmlns:a="http://schemas.openxmlformats.org/drawingml/2006/main" prst="ellipse">
            <a:avLst/>
          </a:prstGeom>
          <a:noFill xmlns:a="http://schemas.openxmlformats.org/drawingml/2006/main"/>
          <a:ln xmlns:a="http://schemas.openxmlformats.org/drawingml/2006/main" w="19050">
            <a:solidFill>
              <a:srgbClr val="166447"/>
            </a:solidFill>
            <a:prstDash val="solid"/>
          </a:ln>
        </p:spPr>
      </p:sp>
      <p:sp>
        <p:nvSpPr>
          <p:cNvPr id="5" name="!!fragment-0-icon-1">
            <a:extLst xmlns:a="http://schemas.openxmlformats.org/drawingml/2006/main">
              <a:ext uri="{FF2B5EF4-FFF2-40B4-BE49-F238E27FC236}">
                <a16:creationId xmlns:a16="http://schemas.microsoft.com/office/drawing/2014/main" id="{F9E656D1-05B0-405F-A107-2AE8F396B12A}"/>
              </a:ext>
            </a:extLst>
          </p:cNvPr>
          <p:cNvSpPr>
            <a:spLocks xmlns:a="http://schemas.openxmlformats.org/drawingml/2006/main" noGrp="1"/>
          </p:cNvSpPr>
          <p:nvPr/>
        </p:nvSpPr>
        <p:spPr>
          <a:xfrm xmlns:a="http://schemas.openxmlformats.org/drawingml/2006/main">
            <a:off x="882015" y="2100263"/>
            <a:ext cx="102870" cy="257175"/>
          </a:xfrm>
          <a:prstGeom xmlns:a="http://schemas.openxmlformats.org/drawingml/2006/main" prst="ellipse">
            <a:avLst/>
          </a:prstGeom>
          <a:noFill xmlns:a="http://schemas.openxmlformats.org/drawingml/2006/main"/>
          <a:ln xmlns:a="http://schemas.openxmlformats.org/drawingml/2006/main" w="19050">
            <a:solidFill>
              <a:srgbClr val="166447"/>
            </a:solidFill>
            <a:prstDash val="solid"/>
          </a:ln>
        </p:spPr>
      </p:sp>
      <p:sp>
        <p:nvSpPr>
          <p:cNvPr id="6" name="!!fragment-0-icon-2">
            <a:extLst xmlns:a="http://schemas.openxmlformats.org/drawingml/2006/main">
              <a:ext uri="{FF2B5EF4-FFF2-40B4-BE49-F238E27FC236}">
                <a16:creationId xmlns:a16="http://schemas.microsoft.com/office/drawing/2014/main" id="{B7AB0EA6-9EA8-4501-9EE6-D751038A0B79}"/>
              </a:ext>
            </a:extLst>
          </p:cNvPr>
          <p:cNvSpPr>
            <a:spLocks xmlns:a="http://schemas.openxmlformats.org/drawingml/2006/main" noGrp="1"/>
          </p:cNvSpPr>
          <p:nvPr/>
        </p:nvSpPr>
        <p:spPr>
          <a:xfrm xmlns:a="http://schemas.openxmlformats.org/drawingml/2006/main">
            <a:off x="779145" y="2074545"/>
            <a:ext cx="308610" cy="308610"/>
          </a:xfrm>
          <a:custGeom xmlns:a="http://schemas.openxmlformats.org/drawingml/2006/main">
            <a:pathLst>
              <a:path w="228600" h="228600">
                <a:moveTo>
                  <a:pt x="19050" y="114300"/>
                </a:moveTo>
                <a:lnTo>
                  <a:pt x="209550" y="114300"/>
                </a:lnTo>
              </a:path>
            </a:pathLst>
          </a:custGeom>
          <a:noFill xmlns:a="http://schemas.openxmlformats.org/drawingml/2006/main"/>
          <a:ln xmlns:a="http://schemas.openxmlformats.org/drawingml/2006/main" w="19050">
            <a:solidFill>
              <a:srgbClr val="166447"/>
            </a:solidFill>
            <a:prstDash val="solid"/>
          </a:ln>
        </p:spPr>
      </p:sp>
      <p:sp>
        <p:nvSpPr>
          <p:cNvPr id="7" name="!!fragment-0">
            <a:extLst xmlns:a="http://schemas.openxmlformats.org/drawingml/2006/main">
              <a:ext uri="{FF2B5EF4-FFF2-40B4-BE49-F238E27FC236}">
                <a16:creationId xmlns:a16="http://schemas.microsoft.com/office/drawing/2014/main" id="{8F5A5FA7-8CD6-480D-93F9-5482A2A43B19}"/>
              </a:ext>
            </a:extLst>
          </p:cNvPr>
          <p:cNvSpPr>
            <a:spLocks xmlns:a="http://schemas.openxmlformats.org/drawingml/2006/main" noGrp="1"/>
          </p:cNvSpPr>
          <p:nvPr/>
        </p:nvSpPr>
        <p:spPr>
          <a:xfrm xmlns:a="http://schemas.openxmlformats.org/drawingml/2006/main">
            <a:off x="1447800" y="1847850"/>
            <a:ext cx="43338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900" b="1">
                <a:solidFill>
                  <a:srgbClr val="142F24"/>
                </a:solidFill>
                <a:latin typeface="Segoe UI"/>
                <a:ea typeface="Segoe UI"/>
                <a:cs typeface="Segoe UI"/>
              </a:defRPr>
            </a:pPr>
            <a:r>
              <a:rPr sz="3900" b="1">
                <a:solidFill>
                  <a:srgbClr val="142F24"/>
                </a:solidFill>
                <a:latin typeface="Segoe UI"/>
                <a:ea typeface="Segoe UI"/>
                <a:cs typeface="Segoe UI"/>
              </a:rPr>
              <a:t>≈95%</a:t>
            </a:r>
          </a:p>
        </p:txBody>
      </p:sp>
      <p:sp>
        <p:nvSpPr>
          <p:cNvPr id="8" name="!!fragment-detail-0">
            <a:extLst xmlns:a="http://schemas.openxmlformats.org/drawingml/2006/main">
              <a:ext uri="{FF2B5EF4-FFF2-40B4-BE49-F238E27FC236}">
                <a16:creationId xmlns:a16="http://schemas.microsoft.com/office/drawing/2014/main" id="{67E6B445-15FD-4B34-8614-DCA9FC8A2073}"/>
              </a:ext>
            </a:extLst>
          </p:cNvPr>
          <p:cNvSpPr>
            <a:spLocks xmlns:a="http://schemas.openxmlformats.org/drawingml/2006/main" noGrp="1"/>
          </p:cNvSpPr>
          <p:nvPr/>
        </p:nvSpPr>
        <p:spPr>
          <a:xfrm xmlns:a="http://schemas.openxmlformats.org/drawingml/2006/main">
            <a:off x="1447800" y="2705100"/>
            <a:ext cx="43338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0">
                <a:solidFill>
                  <a:srgbClr val="53685B"/>
                </a:solidFill>
                <a:latin typeface="Segoe UI"/>
                <a:ea typeface="Segoe UI"/>
                <a:cs typeface="Segoe UI"/>
              </a:defRPr>
            </a:pPr>
            <a:r>
              <a:rPr sz="1650" b="0">
                <a:solidFill>
                  <a:srgbClr val="53685B"/>
                </a:solidFill>
                <a:latin typeface="Segoe UI"/>
                <a:ea typeface="Segoe UI"/>
                <a:cs typeface="Segoe UI"/>
              </a:rPr>
              <a:t>Kim ngạch xuất khẩu sầu riêng Việt Nam</a:t>
            </a:r>
          </a:p>
          <a:p xmlns:a="http://schemas.openxmlformats.org/drawingml/2006/main">
            <a:pPr>
              <a:defRPr sz="1650" b="0">
                <a:solidFill>
                  <a:srgbClr val="53685B"/>
                </a:solidFill>
                <a:latin typeface="Segoe UI"/>
                <a:ea typeface="Segoe UI"/>
                <a:cs typeface="Segoe UI"/>
              </a:defRPr>
            </a:pPr>
            <a:r>
              <a:rPr sz="1650" b="0">
                <a:solidFill>
                  <a:srgbClr val="53685B"/>
                </a:solidFill>
                <a:latin typeface="Segoe UI"/>
                <a:ea typeface="Segoe UI"/>
                <a:cs typeface="Segoe UI"/>
              </a:rPr>
              <a:t>sang Trung Quốc, 8 tháng 2026</a:t>
            </a:r>
          </a:p>
        </p:txBody>
      </p:sp>
      <p:sp>
        <p:nvSpPr>
          <p:cNvPr id="9" name="!!fragment-1-selection">
            <a:extLst xmlns:a="http://schemas.openxmlformats.org/drawingml/2006/main">
              <a:ext uri="{FF2B5EF4-FFF2-40B4-BE49-F238E27FC236}">
                <a16:creationId xmlns:a16="http://schemas.microsoft.com/office/drawing/2014/main" id="{DF134D34-9151-4E98-83CA-C0D7B0365B89}"/>
              </a:ext>
            </a:extLst>
          </p:cNvPr>
          <p:cNvSpPr>
            <a:spLocks xmlns:a="http://schemas.openxmlformats.org/drawingml/2006/main" noGrp="1"/>
          </p:cNvSpPr>
          <p:nvPr/>
        </p:nvSpPr>
        <p:spPr>
          <a:xfrm xmlns:a="http://schemas.openxmlformats.org/drawingml/2006/main">
            <a:off x="571500" y="3352800"/>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10" name="!!fragment-1-icon-0">
            <a:extLst xmlns:a="http://schemas.openxmlformats.org/drawingml/2006/main">
              <a:ext uri="{FF2B5EF4-FFF2-40B4-BE49-F238E27FC236}">
                <a16:creationId xmlns:a16="http://schemas.microsoft.com/office/drawing/2014/main" id="{396220AF-9713-4C23-BAB9-AAF7DBE28AF6}"/>
              </a:ext>
            </a:extLst>
          </p:cNvPr>
          <p:cNvSpPr>
            <a:spLocks xmlns:a="http://schemas.openxmlformats.org/drawingml/2006/main" noGrp="1"/>
          </p:cNvSpPr>
          <p:nvPr/>
        </p:nvSpPr>
        <p:spPr>
          <a:xfrm xmlns:a="http://schemas.openxmlformats.org/drawingml/2006/main">
            <a:off x="770572" y="3551873"/>
            <a:ext cx="228029" cy="228029"/>
          </a:xfrm>
          <a:prstGeom xmlns:a="http://schemas.openxmlformats.org/drawingml/2006/main" prst="ellipse">
            <a:avLst/>
          </a:prstGeom>
          <a:noFill xmlns:a="http://schemas.openxmlformats.org/drawingml/2006/main"/>
          <a:ln xmlns:a="http://schemas.openxmlformats.org/drawingml/2006/main" w="19050">
            <a:solidFill>
              <a:srgbClr val="FFFFFF"/>
            </a:solidFill>
            <a:prstDash val="solid"/>
          </a:ln>
        </p:spPr>
      </p:sp>
      <p:sp>
        <p:nvSpPr>
          <p:cNvPr id="11" name="!!fragment-1-icon-1">
            <a:extLst xmlns:a="http://schemas.openxmlformats.org/drawingml/2006/main">
              <a:ext uri="{FF2B5EF4-FFF2-40B4-BE49-F238E27FC236}">
                <a16:creationId xmlns:a16="http://schemas.microsoft.com/office/drawing/2014/main" id="{705E6419-89F6-4F76-A9B0-4575E89239BC}"/>
              </a:ext>
            </a:extLst>
          </p:cNvPr>
          <p:cNvSpPr>
            <a:spLocks xmlns:a="http://schemas.openxmlformats.org/drawingml/2006/main" noGrp="1"/>
          </p:cNvSpPr>
          <p:nvPr/>
        </p:nvSpPr>
        <p:spPr>
          <a:xfrm xmlns:a="http://schemas.openxmlformats.org/drawingml/2006/main">
            <a:off x="737997" y="3519297"/>
            <a:ext cx="390906" cy="390906"/>
          </a:xfrm>
          <a:custGeom xmlns:a="http://schemas.openxmlformats.org/drawingml/2006/main">
            <a:pathLst>
              <a:path w="228600" h="228600">
                <a:moveTo>
                  <a:pt x="133350" y="133350"/>
                </a:moveTo>
                <a:lnTo>
                  <a:pt x="209550" y="209550"/>
                </a:lnTo>
              </a:path>
            </a:pathLst>
          </a:custGeom>
          <a:noFill xmlns:a="http://schemas.openxmlformats.org/drawingml/2006/main"/>
          <a:ln xmlns:a="http://schemas.openxmlformats.org/drawingml/2006/main" w="19050">
            <a:solidFill>
              <a:srgbClr val="FFFFFF"/>
            </a:solidFill>
            <a:prstDash val="solid"/>
          </a:ln>
        </p:spPr>
      </p:sp>
      <p:sp>
        <p:nvSpPr>
          <p:cNvPr id="12" name="!!fragment-1">
            <a:extLst xmlns:a="http://schemas.openxmlformats.org/drawingml/2006/main">
              <a:ext uri="{FF2B5EF4-FFF2-40B4-BE49-F238E27FC236}">
                <a16:creationId xmlns:a16="http://schemas.microsoft.com/office/drawing/2014/main" id="{CEF81D09-89E6-4589-9B74-D4571CE6C4D6}"/>
              </a:ext>
            </a:extLst>
          </p:cNvPr>
          <p:cNvSpPr>
            <a:spLocks xmlns:a="http://schemas.openxmlformats.org/drawingml/2006/main" noGrp="1"/>
          </p:cNvSpPr>
          <p:nvPr/>
        </p:nvSpPr>
        <p:spPr>
          <a:xfrm xmlns:a="http://schemas.openxmlformats.org/drawingml/2006/main">
            <a:off x="1447800" y="3495675"/>
            <a:ext cx="4333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475" b="1">
                <a:solidFill>
                  <a:srgbClr val="142F24"/>
                </a:solidFill>
                <a:latin typeface="Segoe UI"/>
                <a:ea typeface="Segoe UI"/>
                <a:cs typeface="Segoe UI"/>
              </a:defRPr>
            </a:pPr>
            <a:r>
              <a:rPr sz="2475" b="1">
                <a:solidFill>
                  <a:srgbClr val="142F24"/>
                </a:solidFill>
                <a:latin typeface="Segoe UI"/>
                <a:ea typeface="Segoe UI"/>
                <a:cs typeface="Segoe UI"/>
              </a:rPr>
              <a:t>Kiểm soát theo lô</a:t>
            </a:r>
          </a:p>
        </p:txBody>
      </p:sp>
      <p:sp>
        <p:nvSpPr>
          <p:cNvPr id="13" name="!!fragment-detail-1">
            <a:extLst xmlns:a="http://schemas.openxmlformats.org/drawingml/2006/main">
              <a:ext uri="{FF2B5EF4-FFF2-40B4-BE49-F238E27FC236}">
                <a16:creationId xmlns:a16="http://schemas.microsoft.com/office/drawing/2014/main" id="{F34EEE96-05B4-4D6C-9245-40E0EC17D375}"/>
              </a:ext>
            </a:extLst>
          </p:cNvPr>
          <p:cNvSpPr>
            <a:spLocks xmlns:a="http://schemas.openxmlformats.org/drawingml/2006/main" noGrp="1"/>
          </p:cNvSpPr>
          <p:nvPr/>
        </p:nvSpPr>
        <p:spPr>
          <a:xfrm xmlns:a="http://schemas.openxmlformats.org/drawingml/2006/main">
            <a:off x="1447800" y="3990975"/>
            <a:ext cx="4333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0">
                <a:solidFill>
                  <a:srgbClr val="53685B"/>
                </a:solidFill>
                <a:latin typeface="Segoe UI"/>
                <a:ea typeface="Segoe UI"/>
                <a:cs typeface="Segoe UI"/>
              </a:defRPr>
            </a:pPr>
            <a:r>
              <a:rPr sz="1650" b="0">
                <a:solidFill>
                  <a:srgbClr val="53685B"/>
                </a:solidFill>
                <a:latin typeface="Segoe UI"/>
                <a:ea typeface="Segoe UI"/>
                <a:cs typeface="Segoe UI"/>
              </a:rPr>
              <a:t>Cadimi, Vàng O và nguồn gốc</a:t>
            </a:r>
          </a:p>
        </p:txBody>
      </p:sp>
      <p:sp>
        <p:nvSpPr>
          <p:cNvPr id="14" name="!!page">
            <a:extLst xmlns:a="http://schemas.openxmlformats.org/drawingml/2006/main">
              <a:ext uri="{FF2B5EF4-FFF2-40B4-BE49-F238E27FC236}">
                <a16:creationId xmlns:a16="http://schemas.microsoft.com/office/drawing/2014/main" id="{43CE9C47-FA94-4865-BE2C-0EECBF15FBCA}"/>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04 / 30</a:t>
            </a:r>
          </a:p>
        </p:txBody>
      </p:sp>
      <p:sp>
        <p:nvSpPr>
          <p:cNvPr id="15" name="!!caption">
            <a:extLst xmlns:a="http://schemas.openxmlformats.org/drawingml/2006/main">
              <a:ext uri="{FF2B5EF4-FFF2-40B4-BE49-F238E27FC236}">
                <a16:creationId xmlns:a16="http://schemas.microsoft.com/office/drawing/2014/main" id="{3F5AA709-9E08-450E-9DD7-6327A596B89D}"/>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Nguồn: Báo Điện tử Chính phủ, 03/09/2026. Số liệu ước tính. Nền AI</a:t>
            </a:r>
          </a:p>
        </p:txBody>
      </p:sp>
    </p:spTree>
    <p:extLst>
      <p:ext uri="{BB962C8B-B14F-4D97-AF65-F5344CB8AC3E}">
        <p14:creationId xmlns:p14="http://schemas.microsoft.com/office/powerpoint/2010/main" val="2093907050"/>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5.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pic>
        <p:nvPicPr>
          <p:cNvPr id="21" name="!!backdrop"/>
          <p:cNvPicPr>
            <a:picLocks xmlns:a="http://schemas.openxmlformats.org/drawingml/2006/main" noChangeAspect="1"/>
          </p:cNvPicPr>
          <p:nvPr/>
        </p:nvPicPr>
        <p:blipFill>
          <a:blip xmlns:r="http://schemas.openxmlformats.org/officeDocument/2006/relationships" xmlns:a="http://schemas.openxmlformats.org/drawingml/2006/main" r:embed="Rf36ec2efabe54427"/>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headline">
            <a:extLst xmlns:a="http://schemas.openxmlformats.org/drawingml/2006/main">
              <a:ext uri="{FF2B5EF4-FFF2-40B4-BE49-F238E27FC236}">
                <a16:creationId xmlns:a16="http://schemas.microsoft.com/office/drawing/2014/main" id="{AB06F16F-923A-4AA1-87A8-0291B3B590A7}"/>
              </a:ext>
            </a:extLst>
          </p:cNvPr>
          <p:cNvSpPr>
            <a:spLocks xmlns:a="http://schemas.openxmlformats.org/drawingml/2006/main" noGrp="1"/>
          </p:cNvSpPr>
          <p:nvPr/>
        </p:nvSpPr>
        <p:spPr>
          <a:xfrm xmlns:a="http://schemas.openxmlformats.org/drawingml/2006/main">
            <a:off x="609600" y="533400"/>
            <a:ext cx="623887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142F24"/>
                </a:solidFill>
                <a:latin typeface="Segoe UI"/>
                <a:ea typeface="Segoe UI"/>
                <a:cs typeface="Segoe UI"/>
              </a:defRPr>
            </a:pPr>
            <a:r>
              <a:rPr sz="3450" b="1">
                <a:solidFill>
                  <a:srgbClr val="142F24"/>
                </a:solidFill>
                <a:latin typeface="Segoe UI"/>
                <a:ea typeface="Segoe UI"/>
                <a:cs typeface="Segoe UI"/>
              </a:rPr>
              <a:t>Vì sao DurianTrust ra đời?</a:t>
            </a:r>
          </a:p>
        </p:txBody>
      </p:sp>
      <p:sp>
        <p:nvSpPr>
          <p:cNvPr id="3" name="!!fragment-0-selection">
            <a:extLst xmlns:a="http://schemas.openxmlformats.org/drawingml/2006/main">
              <a:ext uri="{FF2B5EF4-FFF2-40B4-BE49-F238E27FC236}">
                <a16:creationId xmlns:a16="http://schemas.microsoft.com/office/drawing/2014/main" id="{CF5188BE-97E6-4A54-9F9C-32B51E0EB846}"/>
              </a:ext>
            </a:extLst>
          </p:cNvPr>
          <p:cNvSpPr>
            <a:spLocks xmlns:a="http://schemas.openxmlformats.org/drawingml/2006/main" noGrp="1"/>
          </p:cNvSpPr>
          <p:nvPr/>
        </p:nvSpPr>
        <p:spPr>
          <a:xfrm xmlns:a="http://schemas.openxmlformats.org/drawingml/2006/main">
            <a:off x="647700" y="1943100"/>
            <a:ext cx="571500" cy="5715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4" name="!!fragment-0-icon-0">
            <a:extLst xmlns:a="http://schemas.openxmlformats.org/drawingml/2006/main">
              <a:ext uri="{FF2B5EF4-FFF2-40B4-BE49-F238E27FC236}">
                <a16:creationId xmlns:a16="http://schemas.microsoft.com/office/drawing/2014/main" id="{74548738-FD63-4339-8D6A-786FD578FCC0}"/>
              </a:ext>
            </a:extLst>
          </p:cNvPr>
          <p:cNvSpPr>
            <a:spLocks xmlns:a="http://schemas.openxmlformats.org/drawingml/2006/main" noGrp="1"/>
          </p:cNvSpPr>
          <p:nvPr/>
        </p:nvSpPr>
        <p:spPr>
          <a:xfrm xmlns:a="http://schemas.openxmlformats.org/drawingml/2006/main">
            <a:off x="804863" y="2100263"/>
            <a:ext cx="257175" cy="257175"/>
          </a:xfrm>
          <a:prstGeom xmlns:a="http://schemas.openxmlformats.org/drawingml/2006/main" prst="ellipse">
            <a:avLst/>
          </a:prstGeom>
          <a:noFill xmlns:a="http://schemas.openxmlformats.org/drawingml/2006/main"/>
          <a:ln xmlns:a="http://schemas.openxmlformats.org/drawingml/2006/main" w="19050">
            <a:solidFill>
              <a:srgbClr val="166447"/>
            </a:solidFill>
            <a:prstDash val="solid"/>
          </a:ln>
        </p:spPr>
      </p:sp>
      <p:sp>
        <p:nvSpPr>
          <p:cNvPr id="5" name="!!fragment-0-icon-1">
            <a:extLst xmlns:a="http://schemas.openxmlformats.org/drawingml/2006/main">
              <a:ext uri="{FF2B5EF4-FFF2-40B4-BE49-F238E27FC236}">
                <a16:creationId xmlns:a16="http://schemas.microsoft.com/office/drawing/2014/main" id="{383797E0-7D36-4309-9B72-5D61E15952E6}"/>
              </a:ext>
            </a:extLst>
          </p:cNvPr>
          <p:cNvSpPr>
            <a:spLocks xmlns:a="http://schemas.openxmlformats.org/drawingml/2006/main" noGrp="1"/>
          </p:cNvSpPr>
          <p:nvPr/>
        </p:nvSpPr>
        <p:spPr>
          <a:xfrm xmlns:a="http://schemas.openxmlformats.org/drawingml/2006/main">
            <a:off x="882015" y="2100263"/>
            <a:ext cx="102870" cy="257175"/>
          </a:xfrm>
          <a:prstGeom xmlns:a="http://schemas.openxmlformats.org/drawingml/2006/main" prst="ellipse">
            <a:avLst/>
          </a:prstGeom>
          <a:noFill xmlns:a="http://schemas.openxmlformats.org/drawingml/2006/main"/>
          <a:ln xmlns:a="http://schemas.openxmlformats.org/drawingml/2006/main" w="19050">
            <a:solidFill>
              <a:srgbClr val="166447"/>
            </a:solidFill>
            <a:prstDash val="solid"/>
          </a:ln>
        </p:spPr>
      </p:sp>
      <p:sp>
        <p:nvSpPr>
          <p:cNvPr id="6" name="!!fragment-0-icon-2">
            <a:extLst xmlns:a="http://schemas.openxmlformats.org/drawingml/2006/main">
              <a:ext uri="{FF2B5EF4-FFF2-40B4-BE49-F238E27FC236}">
                <a16:creationId xmlns:a16="http://schemas.microsoft.com/office/drawing/2014/main" id="{DBB35A17-5203-4467-8279-4CB1824C207A}"/>
              </a:ext>
            </a:extLst>
          </p:cNvPr>
          <p:cNvSpPr>
            <a:spLocks xmlns:a="http://schemas.openxmlformats.org/drawingml/2006/main" noGrp="1"/>
          </p:cNvSpPr>
          <p:nvPr/>
        </p:nvSpPr>
        <p:spPr>
          <a:xfrm xmlns:a="http://schemas.openxmlformats.org/drawingml/2006/main">
            <a:off x="779145" y="2074545"/>
            <a:ext cx="308610" cy="308610"/>
          </a:xfrm>
          <a:custGeom xmlns:a="http://schemas.openxmlformats.org/drawingml/2006/main">
            <a:pathLst>
              <a:path w="228600" h="228600">
                <a:moveTo>
                  <a:pt x="19050" y="114300"/>
                </a:moveTo>
                <a:lnTo>
                  <a:pt x="209550" y="114300"/>
                </a:lnTo>
              </a:path>
            </a:pathLst>
          </a:custGeom>
          <a:noFill xmlns:a="http://schemas.openxmlformats.org/drawingml/2006/main"/>
          <a:ln xmlns:a="http://schemas.openxmlformats.org/drawingml/2006/main" w="19050">
            <a:solidFill>
              <a:srgbClr val="166447"/>
            </a:solidFill>
            <a:prstDash val="solid"/>
          </a:ln>
        </p:spPr>
      </p:sp>
      <p:sp>
        <p:nvSpPr>
          <p:cNvPr id="7" name="!!fragment-0">
            <a:extLst xmlns:a="http://schemas.openxmlformats.org/drawingml/2006/main">
              <a:ext uri="{FF2B5EF4-FFF2-40B4-BE49-F238E27FC236}">
                <a16:creationId xmlns:a16="http://schemas.microsoft.com/office/drawing/2014/main" id="{399B1C1C-825D-46ED-969B-0D9682FC0B3E}"/>
              </a:ext>
            </a:extLst>
          </p:cNvPr>
          <p:cNvSpPr>
            <a:spLocks xmlns:a="http://schemas.openxmlformats.org/drawingml/2006/main" noGrp="1"/>
          </p:cNvSpPr>
          <p:nvPr/>
        </p:nvSpPr>
        <p:spPr>
          <a:xfrm xmlns:a="http://schemas.openxmlformats.org/drawingml/2006/main">
            <a:off x="1447800" y="1847850"/>
            <a:ext cx="43338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900" b="1">
                <a:solidFill>
                  <a:srgbClr val="142F24"/>
                </a:solidFill>
                <a:latin typeface="Segoe UI"/>
                <a:ea typeface="Segoe UI"/>
                <a:cs typeface="Segoe UI"/>
              </a:defRPr>
            </a:pPr>
            <a:r>
              <a:rPr sz="3900" b="1">
                <a:solidFill>
                  <a:srgbClr val="142F24"/>
                </a:solidFill>
                <a:latin typeface="Segoe UI"/>
                <a:ea typeface="Segoe UI"/>
                <a:cs typeface="Segoe UI"/>
              </a:rPr>
              <a:t>≈95%</a:t>
            </a:r>
          </a:p>
        </p:txBody>
      </p:sp>
      <p:sp>
        <p:nvSpPr>
          <p:cNvPr id="8" name="!!fragment-detail-0">
            <a:extLst xmlns:a="http://schemas.openxmlformats.org/drawingml/2006/main">
              <a:ext uri="{FF2B5EF4-FFF2-40B4-BE49-F238E27FC236}">
                <a16:creationId xmlns:a16="http://schemas.microsoft.com/office/drawing/2014/main" id="{23EC9A94-318C-49BF-A839-6972656A6E04}"/>
              </a:ext>
            </a:extLst>
          </p:cNvPr>
          <p:cNvSpPr>
            <a:spLocks xmlns:a="http://schemas.openxmlformats.org/drawingml/2006/main" noGrp="1"/>
          </p:cNvSpPr>
          <p:nvPr/>
        </p:nvSpPr>
        <p:spPr>
          <a:xfrm xmlns:a="http://schemas.openxmlformats.org/drawingml/2006/main">
            <a:off x="1447800" y="2705100"/>
            <a:ext cx="43338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0">
                <a:solidFill>
                  <a:srgbClr val="53685B"/>
                </a:solidFill>
                <a:latin typeface="Segoe UI"/>
                <a:ea typeface="Segoe UI"/>
                <a:cs typeface="Segoe UI"/>
              </a:defRPr>
            </a:pPr>
            <a:r>
              <a:rPr sz="1650" b="0">
                <a:solidFill>
                  <a:srgbClr val="53685B"/>
                </a:solidFill>
                <a:latin typeface="Segoe UI"/>
                <a:ea typeface="Segoe UI"/>
                <a:cs typeface="Segoe UI"/>
              </a:rPr>
              <a:t>Kim ngạch xuất khẩu sầu riêng Việt Nam</a:t>
            </a:r>
          </a:p>
          <a:p xmlns:a="http://schemas.openxmlformats.org/drawingml/2006/main">
            <a:pPr>
              <a:defRPr sz="1650" b="0">
                <a:solidFill>
                  <a:srgbClr val="53685B"/>
                </a:solidFill>
                <a:latin typeface="Segoe UI"/>
                <a:ea typeface="Segoe UI"/>
                <a:cs typeface="Segoe UI"/>
              </a:defRPr>
            </a:pPr>
            <a:r>
              <a:rPr sz="1650" b="0">
                <a:solidFill>
                  <a:srgbClr val="53685B"/>
                </a:solidFill>
                <a:latin typeface="Segoe UI"/>
                <a:ea typeface="Segoe UI"/>
                <a:cs typeface="Segoe UI"/>
              </a:rPr>
              <a:t>sang Trung Quốc, 8 tháng 2026</a:t>
            </a:r>
          </a:p>
        </p:txBody>
      </p:sp>
      <p:sp>
        <p:nvSpPr>
          <p:cNvPr id="9" name="!!fragment-1-selection">
            <a:extLst xmlns:a="http://schemas.openxmlformats.org/drawingml/2006/main">
              <a:ext uri="{FF2B5EF4-FFF2-40B4-BE49-F238E27FC236}">
                <a16:creationId xmlns:a16="http://schemas.microsoft.com/office/drawing/2014/main" id="{DCF7B3B2-A110-4088-A7DD-E38E93C7F196}"/>
              </a:ext>
            </a:extLst>
          </p:cNvPr>
          <p:cNvSpPr>
            <a:spLocks xmlns:a="http://schemas.openxmlformats.org/drawingml/2006/main" noGrp="1"/>
          </p:cNvSpPr>
          <p:nvPr/>
        </p:nvSpPr>
        <p:spPr>
          <a:xfrm xmlns:a="http://schemas.openxmlformats.org/drawingml/2006/main">
            <a:off x="647700" y="3429000"/>
            <a:ext cx="571500" cy="5715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10" name="!!fragment-1-icon-0">
            <a:extLst xmlns:a="http://schemas.openxmlformats.org/drawingml/2006/main">
              <a:ext uri="{FF2B5EF4-FFF2-40B4-BE49-F238E27FC236}">
                <a16:creationId xmlns:a16="http://schemas.microsoft.com/office/drawing/2014/main" id="{CD501C37-F53A-4B1F-BA40-68AE8C9A0B95}"/>
              </a:ext>
            </a:extLst>
          </p:cNvPr>
          <p:cNvSpPr>
            <a:spLocks xmlns:a="http://schemas.openxmlformats.org/drawingml/2006/main" noGrp="1"/>
          </p:cNvSpPr>
          <p:nvPr/>
        </p:nvSpPr>
        <p:spPr>
          <a:xfrm xmlns:a="http://schemas.openxmlformats.org/drawingml/2006/main">
            <a:off x="804863" y="3586163"/>
            <a:ext cx="180023" cy="180023"/>
          </a:xfrm>
          <a:prstGeom xmlns:a="http://schemas.openxmlformats.org/drawingml/2006/main" prst="ellipse">
            <a:avLst/>
          </a:prstGeom>
          <a:noFill xmlns:a="http://schemas.openxmlformats.org/drawingml/2006/main"/>
          <a:ln xmlns:a="http://schemas.openxmlformats.org/drawingml/2006/main" w="19050">
            <a:solidFill>
              <a:srgbClr val="166447"/>
            </a:solidFill>
            <a:prstDash val="solid"/>
          </a:ln>
        </p:spPr>
      </p:sp>
      <p:sp>
        <p:nvSpPr>
          <p:cNvPr id="11" name="!!fragment-1-icon-1">
            <a:extLst xmlns:a="http://schemas.openxmlformats.org/drawingml/2006/main">
              <a:ext uri="{FF2B5EF4-FFF2-40B4-BE49-F238E27FC236}">
                <a16:creationId xmlns:a16="http://schemas.microsoft.com/office/drawing/2014/main" id="{07A5BD37-2FF7-4550-97EF-7D6D5B055D4F}"/>
              </a:ext>
            </a:extLst>
          </p:cNvPr>
          <p:cNvSpPr>
            <a:spLocks xmlns:a="http://schemas.openxmlformats.org/drawingml/2006/main" noGrp="1"/>
          </p:cNvSpPr>
          <p:nvPr/>
        </p:nvSpPr>
        <p:spPr>
          <a:xfrm xmlns:a="http://schemas.openxmlformats.org/drawingml/2006/main">
            <a:off x="779145" y="3560445"/>
            <a:ext cx="308610" cy="308610"/>
          </a:xfrm>
          <a:custGeom xmlns:a="http://schemas.openxmlformats.org/drawingml/2006/main">
            <a:pathLst>
              <a:path w="228600" h="228600">
                <a:moveTo>
                  <a:pt x="133350" y="133350"/>
                </a:moveTo>
                <a:lnTo>
                  <a:pt x="209550" y="209550"/>
                </a:lnTo>
              </a:path>
            </a:pathLst>
          </a:custGeom>
          <a:noFill xmlns:a="http://schemas.openxmlformats.org/drawingml/2006/main"/>
          <a:ln xmlns:a="http://schemas.openxmlformats.org/drawingml/2006/main" w="19050">
            <a:solidFill>
              <a:srgbClr val="166447"/>
            </a:solidFill>
            <a:prstDash val="solid"/>
          </a:ln>
        </p:spPr>
      </p:sp>
      <p:sp>
        <p:nvSpPr>
          <p:cNvPr id="12" name="!!fragment-1">
            <a:extLst xmlns:a="http://schemas.openxmlformats.org/drawingml/2006/main">
              <a:ext uri="{FF2B5EF4-FFF2-40B4-BE49-F238E27FC236}">
                <a16:creationId xmlns:a16="http://schemas.microsoft.com/office/drawing/2014/main" id="{A5F3A263-EC86-4A06-A4B2-61EB7040F364}"/>
              </a:ext>
            </a:extLst>
          </p:cNvPr>
          <p:cNvSpPr>
            <a:spLocks xmlns:a="http://schemas.openxmlformats.org/drawingml/2006/main" noGrp="1"/>
          </p:cNvSpPr>
          <p:nvPr/>
        </p:nvSpPr>
        <p:spPr>
          <a:xfrm xmlns:a="http://schemas.openxmlformats.org/drawingml/2006/main">
            <a:off x="1447800" y="3495675"/>
            <a:ext cx="4333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75" b="1">
                <a:solidFill>
                  <a:srgbClr val="142F24"/>
                </a:solidFill>
                <a:latin typeface="Segoe UI"/>
                <a:ea typeface="Segoe UI"/>
                <a:cs typeface="Segoe UI"/>
              </a:defRPr>
            </a:pPr>
            <a:r>
              <a:rPr sz="2175" b="1">
                <a:solidFill>
                  <a:srgbClr val="142F24"/>
                </a:solidFill>
                <a:latin typeface="Segoe UI"/>
                <a:ea typeface="Segoe UI"/>
                <a:cs typeface="Segoe UI"/>
              </a:rPr>
              <a:t>Kiểm soát theo lô</a:t>
            </a:r>
          </a:p>
        </p:txBody>
      </p:sp>
      <p:sp>
        <p:nvSpPr>
          <p:cNvPr id="13" name="!!fragment-detail-1">
            <a:extLst xmlns:a="http://schemas.openxmlformats.org/drawingml/2006/main">
              <a:ext uri="{FF2B5EF4-FFF2-40B4-BE49-F238E27FC236}">
                <a16:creationId xmlns:a16="http://schemas.microsoft.com/office/drawing/2014/main" id="{42B17814-8BD5-4EFD-B9BE-96F4F24E343C}"/>
              </a:ext>
            </a:extLst>
          </p:cNvPr>
          <p:cNvSpPr>
            <a:spLocks xmlns:a="http://schemas.openxmlformats.org/drawingml/2006/main" noGrp="1"/>
          </p:cNvSpPr>
          <p:nvPr/>
        </p:nvSpPr>
        <p:spPr>
          <a:xfrm xmlns:a="http://schemas.openxmlformats.org/drawingml/2006/main">
            <a:off x="1447800" y="3990975"/>
            <a:ext cx="4333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0">
                <a:solidFill>
                  <a:srgbClr val="53685B"/>
                </a:solidFill>
                <a:latin typeface="Segoe UI"/>
                <a:ea typeface="Segoe UI"/>
                <a:cs typeface="Segoe UI"/>
              </a:defRPr>
            </a:pPr>
            <a:r>
              <a:rPr sz="1650" b="0">
                <a:solidFill>
                  <a:srgbClr val="53685B"/>
                </a:solidFill>
                <a:latin typeface="Segoe UI"/>
                <a:ea typeface="Segoe UI"/>
                <a:cs typeface="Segoe UI"/>
              </a:rPr>
              <a:t>Cadimi, Vàng O và nguồn gốc</a:t>
            </a:r>
          </a:p>
        </p:txBody>
      </p:sp>
      <p:sp>
        <p:nvSpPr>
          <p:cNvPr id="14" name="!!fragment-2-selection">
            <a:extLst xmlns:a="http://schemas.openxmlformats.org/drawingml/2006/main">
              <a:ext uri="{FF2B5EF4-FFF2-40B4-BE49-F238E27FC236}">
                <a16:creationId xmlns:a16="http://schemas.microsoft.com/office/drawing/2014/main" id="{B69AB6DC-884F-48A8-B2D7-81521B6AE143}"/>
              </a:ext>
            </a:extLst>
          </p:cNvPr>
          <p:cNvSpPr>
            <a:spLocks xmlns:a="http://schemas.openxmlformats.org/drawingml/2006/main" noGrp="1"/>
          </p:cNvSpPr>
          <p:nvPr/>
        </p:nvSpPr>
        <p:spPr>
          <a:xfrm xmlns:a="http://schemas.openxmlformats.org/drawingml/2006/main">
            <a:off x="571500" y="4438650"/>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15" name="!!fragment-2-icon-0">
            <a:extLst xmlns:a="http://schemas.openxmlformats.org/drawingml/2006/main">
              <a:ext uri="{FF2B5EF4-FFF2-40B4-BE49-F238E27FC236}">
                <a16:creationId xmlns:a16="http://schemas.microsoft.com/office/drawing/2014/main" id="{99DACD07-E37E-4FDF-95C8-ED64B95984EC}"/>
              </a:ext>
            </a:extLst>
          </p:cNvPr>
          <p:cNvSpPr>
            <a:spLocks xmlns:a="http://schemas.openxmlformats.org/drawingml/2006/main" noGrp="1"/>
          </p:cNvSpPr>
          <p:nvPr/>
        </p:nvSpPr>
        <p:spPr>
          <a:xfrm xmlns:a="http://schemas.openxmlformats.org/drawingml/2006/main">
            <a:off x="868299" y="4637723"/>
            <a:ext cx="130302" cy="130302"/>
          </a:xfrm>
          <a:prstGeom xmlns:a="http://schemas.openxmlformats.org/drawingml/2006/main" prst="ellipse">
            <a:avLst/>
          </a:prstGeom>
          <a:noFill xmlns:a="http://schemas.openxmlformats.org/drawingml/2006/main"/>
          <a:ln xmlns:a="http://schemas.openxmlformats.org/drawingml/2006/main" w="19050">
            <a:solidFill>
              <a:srgbClr val="FFFFFF"/>
            </a:solidFill>
            <a:prstDash val="solid"/>
          </a:ln>
        </p:spPr>
      </p:sp>
      <p:sp>
        <p:nvSpPr>
          <p:cNvPr id="16" name="!!fragment-2-icon-1">
            <a:extLst xmlns:a="http://schemas.openxmlformats.org/drawingml/2006/main">
              <a:ext uri="{FF2B5EF4-FFF2-40B4-BE49-F238E27FC236}">
                <a16:creationId xmlns:a16="http://schemas.microsoft.com/office/drawing/2014/main" id="{731171CE-B4EE-451E-A683-0A6713D4F84C}"/>
              </a:ext>
            </a:extLst>
          </p:cNvPr>
          <p:cNvSpPr>
            <a:spLocks xmlns:a="http://schemas.openxmlformats.org/drawingml/2006/main" noGrp="1"/>
          </p:cNvSpPr>
          <p:nvPr/>
        </p:nvSpPr>
        <p:spPr>
          <a:xfrm xmlns:a="http://schemas.openxmlformats.org/drawingml/2006/main">
            <a:off x="803148" y="4816888"/>
            <a:ext cx="260604" cy="146590"/>
          </a:xfrm>
          <a:prstGeom xmlns:a="http://schemas.openxmlformats.org/drawingml/2006/main" prst="roundRect">
            <a:avLst>
              <a:gd name="adj" fmla="val 50000"/>
            </a:avLst>
          </a:prstGeom>
          <a:noFill xmlns:a="http://schemas.openxmlformats.org/drawingml/2006/main"/>
          <a:ln xmlns:a="http://schemas.openxmlformats.org/drawingml/2006/main" w="19050">
            <a:solidFill>
              <a:srgbClr val="FFFFFF"/>
            </a:solidFill>
            <a:prstDash val="solid"/>
          </a:ln>
        </p:spPr>
      </p:sp>
      <p:sp>
        <p:nvSpPr>
          <p:cNvPr id="17" name="!!fragment-2">
            <a:extLst xmlns:a="http://schemas.openxmlformats.org/drawingml/2006/main">
              <a:ext uri="{FF2B5EF4-FFF2-40B4-BE49-F238E27FC236}">
                <a16:creationId xmlns:a16="http://schemas.microsoft.com/office/drawing/2014/main" id="{311EE9F0-47B0-4822-A902-3B4DDB8BD102}"/>
              </a:ext>
            </a:extLst>
          </p:cNvPr>
          <p:cNvSpPr>
            <a:spLocks xmlns:a="http://schemas.openxmlformats.org/drawingml/2006/main" noGrp="1"/>
          </p:cNvSpPr>
          <p:nvPr/>
        </p:nvSpPr>
        <p:spPr>
          <a:xfrm xmlns:a="http://schemas.openxmlformats.org/drawingml/2006/main">
            <a:off x="1447800" y="4581525"/>
            <a:ext cx="4333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475" b="1">
                <a:solidFill>
                  <a:srgbClr val="142F24"/>
                </a:solidFill>
                <a:latin typeface="Segoe UI"/>
                <a:ea typeface="Segoe UI"/>
                <a:cs typeface="Segoe UI"/>
              </a:defRPr>
            </a:pPr>
            <a:r>
              <a:rPr sz="2475" b="1">
                <a:solidFill>
                  <a:srgbClr val="142F24"/>
                </a:solidFill>
                <a:latin typeface="Segoe UI"/>
                <a:ea typeface="Segoe UI"/>
                <a:cs typeface="Segoe UI"/>
              </a:rPr>
              <a:t>Đối chiếu hồ sơ</a:t>
            </a:r>
          </a:p>
        </p:txBody>
      </p:sp>
      <p:sp>
        <p:nvSpPr>
          <p:cNvPr id="18" name="!!fragment-detail-2">
            <a:extLst xmlns:a="http://schemas.openxmlformats.org/drawingml/2006/main">
              <a:ext uri="{FF2B5EF4-FFF2-40B4-BE49-F238E27FC236}">
                <a16:creationId xmlns:a16="http://schemas.microsoft.com/office/drawing/2014/main" id="{41E804D7-947E-4FE8-926F-A85E4024299A}"/>
              </a:ext>
            </a:extLst>
          </p:cNvPr>
          <p:cNvSpPr>
            <a:spLocks xmlns:a="http://schemas.openxmlformats.org/drawingml/2006/main" noGrp="1"/>
          </p:cNvSpPr>
          <p:nvPr/>
        </p:nvSpPr>
        <p:spPr>
          <a:xfrm xmlns:a="http://schemas.openxmlformats.org/drawingml/2006/main">
            <a:off x="1447800" y="5076825"/>
            <a:ext cx="4333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0">
                <a:solidFill>
                  <a:srgbClr val="53685B"/>
                </a:solidFill>
                <a:latin typeface="Segoe UI"/>
                <a:ea typeface="Segoe UI"/>
                <a:cs typeface="Segoe UI"/>
              </a:defRPr>
            </a:pPr>
            <a:r>
              <a:rPr sz="1650" b="0">
                <a:solidFill>
                  <a:srgbClr val="53685B"/>
                </a:solidFill>
                <a:latin typeface="Segoe UI"/>
                <a:ea typeface="Segoe UI"/>
                <a:cs typeface="Segoe UI"/>
              </a:rPr>
              <a:t>HTX chuẩn bị, bên mua xem qua QR</a:t>
            </a:r>
          </a:p>
        </p:txBody>
      </p:sp>
      <p:sp>
        <p:nvSpPr>
          <p:cNvPr id="19" name="!!page">
            <a:extLst xmlns:a="http://schemas.openxmlformats.org/drawingml/2006/main">
              <a:ext uri="{FF2B5EF4-FFF2-40B4-BE49-F238E27FC236}">
                <a16:creationId xmlns:a16="http://schemas.microsoft.com/office/drawing/2014/main" id="{5EABA989-C11E-4E34-ABCE-68BF8DDD3F8B}"/>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05 / 30</a:t>
            </a:r>
          </a:p>
        </p:txBody>
      </p:sp>
      <p:sp>
        <p:nvSpPr>
          <p:cNvPr id="20" name="!!caption">
            <a:extLst xmlns:a="http://schemas.openxmlformats.org/drawingml/2006/main">
              <a:ext uri="{FF2B5EF4-FFF2-40B4-BE49-F238E27FC236}">
                <a16:creationId xmlns:a16="http://schemas.microsoft.com/office/drawing/2014/main" id="{ED3F29E0-1BC0-4DCF-9120-50B8AA718564}"/>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Nguồn: Báo Điện tử Chính phủ, 03/09/2026. Số liệu ước tính. Nền AI</a:t>
            </a:r>
          </a:p>
        </p:txBody>
      </p:sp>
    </p:spTree>
    <p:extLst>
      <p:ext uri="{BB962C8B-B14F-4D97-AF65-F5344CB8AC3E}">
        <p14:creationId xmlns:p14="http://schemas.microsoft.com/office/powerpoint/2010/main" val="198094559"/>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6.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pic>
        <p:nvPicPr>
          <p:cNvPr id="25" name="!!backdrop"/>
          <p:cNvPicPr>
            <a:picLocks xmlns:a="http://schemas.openxmlformats.org/drawingml/2006/main" noChangeAspect="1"/>
          </p:cNvPicPr>
          <p:nvPr/>
        </p:nvPicPr>
        <p:blipFill>
          <a:blip xmlns:r="http://schemas.openxmlformats.org/officeDocument/2006/relationships" xmlns:a="http://schemas.openxmlformats.org/drawingml/2006/main" r:embed="Rce2fb1e830564e46"/>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headline">
            <a:extLst xmlns:a="http://schemas.openxmlformats.org/drawingml/2006/main">
              <a:ext uri="{FF2B5EF4-FFF2-40B4-BE49-F238E27FC236}">
                <a16:creationId xmlns:a16="http://schemas.microsoft.com/office/drawing/2014/main" id="{BAA5716A-C48B-4BF5-B5A4-99ADE43B7A3C}"/>
              </a:ext>
            </a:extLst>
          </p:cNvPr>
          <p:cNvSpPr>
            <a:spLocks xmlns:a="http://schemas.openxmlformats.org/drawingml/2006/main" noGrp="1"/>
          </p:cNvSpPr>
          <p:nvPr/>
        </p:nvSpPr>
        <p:spPr>
          <a:xfrm xmlns:a="http://schemas.openxmlformats.org/drawingml/2006/main">
            <a:off x="609600" y="533400"/>
            <a:ext cx="623887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142F24"/>
                </a:solidFill>
                <a:latin typeface="Segoe UI"/>
                <a:ea typeface="Segoe UI"/>
                <a:cs typeface="Segoe UI"/>
              </a:defRPr>
            </a:pPr>
            <a:r>
              <a:rPr sz="3450" b="1">
                <a:solidFill>
                  <a:srgbClr val="142F24"/>
                </a:solidFill>
                <a:latin typeface="Segoe UI"/>
                <a:ea typeface="Segoe UI"/>
                <a:cs typeface="Segoe UI"/>
              </a:rPr>
              <a:t>Vì sao DurianTrust ra đời?</a:t>
            </a:r>
          </a:p>
        </p:txBody>
      </p:sp>
      <p:sp>
        <p:nvSpPr>
          <p:cNvPr id="3" name="!!fragment-0-selection">
            <a:extLst xmlns:a="http://schemas.openxmlformats.org/drawingml/2006/main">
              <a:ext uri="{FF2B5EF4-FFF2-40B4-BE49-F238E27FC236}">
                <a16:creationId xmlns:a16="http://schemas.microsoft.com/office/drawing/2014/main" id="{2F6493EF-45E1-497B-BBA5-819DCF8A0740}"/>
              </a:ext>
            </a:extLst>
          </p:cNvPr>
          <p:cNvSpPr>
            <a:spLocks xmlns:a="http://schemas.openxmlformats.org/drawingml/2006/main" noGrp="1"/>
          </p:cNvSpPr>
          <p:nvPr/>
        </p:nvSpPr>
        <p:spPr>
          <a:xfrm xmlns:a="http://schemas.openxmlformats.org/drawingml/2006/main">
            <a:off x="647700" y="1943100"/>
            <a:ext cx="571500" cy="5715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4" name="!!fragment-0-icon-0">
            <a:extLst xmlns:a="http://schemas.openxmlformats.org/drawingml/2006/main">
              <a:ext uri="{FF2B5EF4-FFF2-40B4-BE49-F238E27FC236}">
                <a16:creationId xmlns:a16="http://schemas.microsoft.com/office/drawing/2014/main" id="{DAC73AC8-360D-444E-94F7-A32BBC13A65D}"/>
              </a:ext>
            </a:extLst>
          </p:cNvPr>
          <p:cNvSpPr>
            <a:spLocks xmlns:a="http://schemas.openxmlformats.org/drawingml/2006/main" noGrp="1"/>
          </p:cNvSpPr>
          <p:nvPr/>
        </p:nvSpPr>
        <p:spPr>
          <a:xfrm xmlns:a="http://schemas.openxmlformats.org/drawingml/2006/main">
            <a:off x="804863" y="2100263"/>
            <a:ext cx="257175" cy="257175"/>
          </a:xfrm>
          <a:prstGeom xmlns:a="http://schemas.openxmlformats.org/drawingml/2006/main" prst="ellipse">
            <a:avLst/>
          </a:prstGeom>
          <a:noFill xmlns:a="http://schemas.openxmlformats.org/drawingml/2006/main"/>
          <a:ln xmlns:a="http://schemas.openxmlformats.org/drawingml/2006/main" w="19050">
            <a:solidFill>
              <a:srgbClr val="166447"/>
            </a:solidFill>
            <a:prstDash val="solid"/>
          </a:ln>
        </p:spPr>
      </p:sp>
      <p:sp>
        <p:nvSpPr>
          <p:cNvPr id="5" name="!!fragment-0-icon-1">
            <a:extLst xmlns:a="http://schemas.openxmlformats.org/drawingml/2006/main">
              <a:ext uri="{FF2B5EF4-FFF2-40B4-BE49-F238E27FC236}">
                <a16:creationId xmlns:a16="http://schemas.microsoft.com/office/drawing/2014/main" id="{B41CD993-3B7B-45C0-A794-F59161E977BB}"/>
              </a:ext>
            </a:extLst>
          </p:cNvPr>
          <p:cNvSpPr>
            <a:spLocks xmlns:a="http://schemas.openxmlformats.org/drawingml/2006/main" noGrp="1"/>
          </p:cNvSpPr>
          <p:nvPr/>
        </p:nvSpPr>
        <p:spPr>
          <a:xfrm xmlns:a="http://schemas.openxmlformats.org/drawingml/2006/main">
            <a:off x="882015" y="2100263"/>
            <a:ext cx="102870" cy="257175"/>
          </a:xfrm>
          <a:prstGeom xmlns:a="http://schemas.openxmlformats.org/drawingml/2006/main" prst="ellipse">
            <a:avLst/>
          </a:prstGeom>
          <a:noFill xmlns:a="http://schemas.openxmlformats.org/drawingml/2006/main"/>
          <a:ln xmlns:a="http://schemas.openxmlformats.org/drawingml/2006/main" w="19050">
            <a:solidFill>
              <a:srgbClr val="166447"/>
            </a:solidFill>
            <a:prstDash val="solid"/>
          </a:ln>
        </p:spPr>
      </p:sp>
      <p:sp>
        <p:nvSpPr>
          <p:cNvPr id="6" name="!!fragment-0-icon-2">
            <a:extLst xmlns:a="http://schemas.openxmlformats.org/drawingml/2006/main">
              <a:ext uri="{FF2B5EF4-FFF2-40B4-BE49-F238E27FC236}">
                <a16:creationId xmlns:a16="http://schemas.microsoft.com/office/drawing/2014/main" id="{BF969589-BBD9-45B2-A1BD-A4DE32C563DB}"/>
              </a:ext>
            </a:extLst>
          </p:cNvPr>
          <p:cNvSpPr>
            <a:spLocks xmlns:a="http://schemas.openxmlformats.org/drawingml/2006/main" noGrp="1"/>
          </p:cNvSpPr>
          <p:nvPr/>
        </p:nvSpPr>
        <p:spPr>
          <a:xfrm xmlns:a="http://schemas.openxmlformats.org/drawingml/2006/main">
            <a:off x="779145" y="2074545"/>
            <a:ext cx="308610" cy="308610"/>
          </a:xfrm>
          <a:custGeom xmlns:a="http://schemas.openxmlformats.org/drawingml/2006/main">
            <a:pathLst>
              <a:path w="228600" h="228600">
                <a:moveTo>
                  <a:pt x="19050" y="114300"/>
                </a:moveTo>
                <a:lnTo>
                  <a:pt x="209550" y="114300"/>
                </a:lnTo>
              </a:path>
            </a:pathLst>
          </a:custGeom>
          <a:noFill xmlns:a="http://schemas.openxmlformats.org/drawingml/2006/main"/>
          <a:ln xmlns:a="http://schemas.openxmlformats.org/drawingml/2006/main" w="19050">
            <a:solidFill>
              <a:srgbClr val="166447"/>
            </a:solidFill>
            <a:prstDash val="solid"/>
          </a:ln>
        </p:spPr>
      </p:sp>
      <p:sp>
        <p:nvSpPr>
          <p:cNvPr id="7" name="!!fragment-0">
            <a:extLst xmlns:a="http://schemas.openxmlformats.org/drawingml/2006/main">
              <a:ext uri="{FF2B5EF4-FFF2-40B4-BE49-F238E27FC236}">
                <a16:creationId xmlns:a16="http://schemas.microsoft.com/office/drawing/2014/main" id="{CFFB2CCD-26C6-43AB-93B1-40918EFBA6BF}"/>
              </a:ext>
            </a:extLst>
          </p:cNvPr>
          <p:cNvSpPr>
            <a:spLocks xmlns:a="http://schemas.openxmlformats.org/drawingml/2006/main" noGrp="1"/>
          </p:cNvSpPr>
          <p:nvPr/>
        </p:nvSpPr>
        <p:spPr>
          <a:xfrm xmlns:a="http://schemas.openxmlformats.org/drawingml/2006/main">
            <a:off x="1447800" y="1847850"/>
            <a:ext cx="43338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900" b="1">
                <a:solidFill>
                  <a:srgbClr val="142F24"/>
                </a:solidFill>
                <a:latin typeface="Segoe UI"/>
                <a:ea typeface="Segoe UI"/>
                <a:cs typeface="Segoe UI"/>
              </a:defRPr>
            </a:pPr>
            <a:r>
              <a:rPr sz="3900" b="1">
                <a:solidFill>
                  <a:srgbClr val="142F24"/>
                </a:solidFill>
                <a:latin typeface="Segoe UI"/>
                <a:ea typeface="Segoe UI"/>
                <a:cs typeface="Segoe UI"/>
              </a:rPr>
              <a:t>≈95%</a:t>
            </a:r>
          </a:p>
        </p:txBody>
      </p:sp>
      <p:sp>
        <p:nvSpPr>
          <p:cNvPr id="8" name="!!fragment-detail-0">
            <a:extLst xmlns:a="http://schemas.openxmlformats.org/drawingml/2006/main">
              <a:ext uri="{FF2B5EF4-FFF2-40B4-BE49-F238E27FC236}">
                <a16:creationId xmlns:a16="http://schemas.microsoft.com/office/drawing/2014/main" id="{07751B14-5963-4421-8897-D21CD937F38A}"/>
              </a:ext>
            </a:extLst>
          </p:cNvPr>
          <p:cNvSpPr>
            <a:spLocks xmlns:a="http://schemas.openxmlformats.org/drawingml/2006/main" noGrp="1"/>
          </p:cNvSpPr>
          <p:nvPr/>
        </p:nvSpPr>
        <p:spPr>
          <a:xfrm xmlns:a="http://schemas.openxmlformats.org/drawingml/2006/main">
            <a:off x="1447800" y="2705100"/>
            <a:ext cx="43338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0">
                <a:solidFill>
                  <a:srgbClr val="53685B"/>
                </a:solidFill>
                <a:latin typeface="Segoe UI"/>
                <a:ea typeface="Segoe UI"/>
                <a:cs typeface="Segoe UI"/>
              </a:defRPr>
            </a:pPr>
            <a:r>
              <a:rPr sz="1650" b="0">
                <a:solidFill>
                  <a:srgbClr val="53685B"/>
                </a:solidFill>
                <a:latin typeface="Segoe UI"/>
                <a:ea typeface="Segoe UI"/>
                <a:cs typeface="Segoe UI"/>
              </a:rPr>
              <a:t>Kim ngạch xuất khẩu sầu riêng Việt Nam</a:t>
            </a:r>
          </a:p>
          <a:p xmlns:a="http://schemas.openxmlformats.org/drawingml/2006/main">
            <a:pPr>
              <a:defRPr sz="1650" b="0">
                <a:solidFill>
                  <a:srgbClr val="53685B"/>
                </a:solidFill>
                <a:latin typeface="Segoe UI"/>
                <a:ea typeface="Segoe UI"/>
                <a:cs typeface="Segoe UI"/>
              </a:defRPr>
            </a:pPr>
            <a:r>
              <a:rPr sz="1650" b="0">
                <a:solidFill>
                  <a:srgbClr val="53685B"/>
                </a:solidFill>
                <a:latin typeface="Segoe UI"/>
                <a:ea typeface="Segoe UI"/>
                <a:cs typeface="Segoe UI"/>
              </a:rPr>
              <a:t>sang Trung Quốc, 8 tháng 2026</a:t>
            </a:r>
          </a:p>
        </p:txBody>
      </p:sp>
      <p:sp>
        <p:nvSpPr>
          <p:cNvPr id="9" name="!!fragment-1-selection">
            <a:extLst xmlns:a="http://schemas.openxmlformats.org/drawingml/2006/main">
              <a:ext uri="{FF2B5EF4-FFF2-40B4-BE49-F238E27FC236}">
                <a16:creationId xmlns:a16="http://schemas.microsoft.com/office/drawing/2014/main" id="{06E77EC2-E16F-4E48-B6D7-F71FE6C083F0}"/>
              </a:ext>
            </a:extLst>
          </p:cNvPr>
          <p:cNvSpPr>
            <a:spLocks xmlns:a="http://schemas.openxmlformats.org/drawingml/2006/main" noGrp="1"/>
          </p:cNvSpPr>
          <p:nvPr/>
        </p:nvSpPr>
        <p:spPr>
          <a:xfrm xmlns:a="http://schemas.openxmlformats.org/drawingml/2006/main">
            <a:off x="647700" y="3429000"/>
            <a:ext cx="571500" cy="5715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10" name="!!fragment-1-icon-0">
            <a:extLst xmlns:a="http://schemas.openxmlformats.org/drawingml/2006/main">
              <a:ext uri="{FF2B5EF4-FFF2-40B4-BE49-F238E27FC236}">
                <a16:creationId xmlns:a16="http://schemas.microsoft.com/office/drawing/2014/main" id="{E9857802-4525-4E7A-965E-4BBB783856F5}"/>
              </a:ext>
            </a:extLst>
          </p:cNvPr>
          <p:cNvSpPr>
            <a:spLocks xmlns:a="http://schemas.openxmlformats.org/drawingml/2006/main" noGrp="1"/>
          </p:cNvSpPr>
          <p:nvPr/>
        </p:nvSpPr>
        <p:spPr>
          <a:xfrm xmlns:a="http://schemas.openxmlformats.org/drawingml/2006/main">
            <a:off x="804863" y="3586163"/>
            <a:ext cx="180023" cy="180023"/>
          </a:xfrm>
          <a:prstGeom xmlns:a="http://schemas.openxmlformats.org/drawingml/2006/main" prst="ellipse">
            <a:avLst/>
          </a:prstGeom>
          <a:noFill xmlns:a="http://schemas.openxmlformats.org/drawingml/2006/main"/>
          <a:ln xmlns:a="http://schemas.openxmlformats.org/drawingml/2006/main" w="19050">
            <a:solidFill>
              <a:srgbClr val="166447"/>
            </a:solidFill>
            <a:prstDash val="solid"/>
          </a:ln>
        </p:spPr>
      </p:sp>
      <p:sp>
        <p:nvSpPr>
          <p:cNvPr id="11" name="!!fragment-1-icon-1">
            <a:extLst xmlns:a="http://schemas.openxmlformats.org/drawingml/2006/main">
              <a:ext uri="{FF2B5EF4-FFF2-40B4-BE49-F238E27FC236}">
                <a16:creationId xmlns:a16="http://schemas.microsoft.com/office/drawing/2014/main" id="{46FC4DDA-71B9-4E32-BE70-1598D1EA9B5E}"/>
              </a:ext>
            </a:extLst>
          </p:cNvPr>
          <p:cNvSpPr>
            <a:spLocks xmlns:a="http://schemas.openxmlformats.org/drawingml/2006/main" noGrp="1"/>
          </p:cNvSpPr>
          <p:nvPr/>
        </p:nvSpPr>
        <p:spPr>
          <a:xfrm xmlns:a="http://schemas.openxmlformats.org/drawingml/2006/main">
            <a:off x="779145" y="3560445"/>
            <a:ext cx="308610" cy="308610"/>
          </a:xfrm>
          <a:custGeom xmlns:a="http://schemas.openxmlformats.org/drawingml/2006/main">
            <a:pathLst>
              <a:path w="228600" h="228600">
                <a:moveTo>
                  <a:pt x="133350" y="133350"/>
                </a:moveTo>
                <a:lnTo>
                  <a:pt x="209550" y="209550"/>
                </a:lnTo>
              </a:path>
            </a:pathLst>
          </a:custGeom>
          <a:noFill xmlns:a="http://schemas.openxmlformats.org/drawingml/2006/main"/>
          <a:ln xmlns:a="http://schemas.openxmlformats.org/drawingml/2006/main" w="19050">
            <a:solidFill>
              <a:srgbClr val="166447"/>
            </a:solidFill>
            <a:prstDash val="solid"/>
          </a:ln>
        </p:spPr>
      </p:sp>
      <p:sp>
        <p:nvSpPr>
          <p:cNvPr id="12" name="!!fragment-1">
            <a:extLst xmlns:a="http://schemas.openxmlformats.org/drawingml/2006/main">
              <a:ext uri="{FF2B5EF4-FFF2-40B4-BE49-F238E27FC236}">
                <a16:creationId xmlns:a16="http://schemas.microsoft.com/office/drawing/2014/main" id="{FADC7214-A16E-4190-A3B0-496D659019BD}"/>
              </a:ext>
            </a:extLst>
          </p:cNvPr>
          <p:cNvSpPr>
            <a:spLocks xmlns:a="http://schemas.openxmlformats.org/drawingml/2006/main" noGrp="1"/>
          </p:cNvSpPr>
          <p:nvPr/>
        </p:nvSpPr>
        <p:spPr>
          <a:xfrm xmlns:a="http://schemas.openxmlformats.org/drawingml/2006/main">
            <a:off x="1447800" y="3495675"/>
            <a:ext cx="4333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75" b="1">
                <a:solidFill>
                  <a:srgbClr val="142F24"/>
                </a:solidFill>
                <a:latin typeface="Segoe UI"/>
                <a:ea typeface="Segoe UI"/>
                <a:cs typeface="Segoe UI"/>
              </a:defRPr>
            </a:pPr>
            <a:r>
              <a:rPr sz="2175" b="1">
                <a:solidFill>
                  <a:srgbClr val="142F24"/>
                </a:solidFill>
                <a:latin typeface="Segoe UI"/>
                <a:ea typeface="Segoe UI"/>
                <a:cs typeface="Segoe UI"/>
              </a:rPr>
              <a:t>Kiểm soát theo lô</a:t>
            </a:r>
          </a:p>
        </p:txBody>
      </p:sp>
      <p:sp>
        <p:nvSpPr>
          <p:cNvPr id="13" name="!!fragment-detail-1">
            <a:extLst xmlns:a="http://schemas.openxmlformats.org/drawingml/2006/main">
              <a:ext uri="{FF2B5EF4-FFF2-40B4-BE49-F238E27FC236}">
                <a16:creationId xmlns:a16="http://schemas.microsoft.com/office/drawing/2014/main" id="{0F54FA5C-CF90-4559-A655-7ADCEDC5C041}"/>
              </a:ext>
            </a:extLst>
          </p:cNvPr>
          <p:cNvSpPr>
            <a:spLocks xmlns:a="http://schemas.openxmlformats.org/drawingml/2006/main" noGrp="1"/>
          </p:cNvSpPr>
          <p:nvPr/>
        </p:nvSpPr>
        <p:spPr>
          <a:xfrm xmlns:a="http://schemas.openxmlformats.org/drawingml/2006/main">
            <a:off x="1447800" y="3990975"/>
            <a:ext cx="4333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0">
                <a:solidFill>
                  <a:srgbClr val="53685B"/>
                </a:solidFill>
                <a:latin typeface="Segoe UI"/>
                <a:ea typeface="Segoe UI"/>
                <a:cs typeface="Segoe UI"/>
              </a:defRPr>
            </a:pPr>
            <a:r>
              <a:rPr sz="1650" b="0">
                <a:solidFill>
                  <a:srgbClr val="53685B"/>
                </a:solidFill>
                <a:latin typeface="Segoe UI"/>
                <a:ea typeface="Segoe UI"/>
                <a:cs typeface="Segoe UI"/>
              </a:rPr>
              <a:t>Cadimi, Vàng O và nguồn gốc</a:t>
            </a:r>
          </a:p>
        </p:txBody>
      </p:sp>
      <p:sp>
        <p:nvSpPr>
          <p:cNvPr id="14" name="!!fragment-2-selection">
            <a:extLst xmlns:a="http://schemas.openxmlformats.org/drawingml/2006/main">
              <a:ext uri="{FF2B5EF4-FFF2-40B4-BE49-F238E27FC236}">
                <a16:creationId xmlns:a16="http://schemas.microsoft.com/office/drawing/2014/main" id="{28BE90F3-9E10-498C-8F66-39082DE8AAB3}"/>
              </a:ext>
            </a:extLst>
          </p:cNvPr>
          <p:cNvSpPr>
            <a:spLocks xmlns:a="http://schemas.openxmlformats.org/drawingml/2006/main" noGrp="1"/>
          </p:cNvSpPr>
          <p:nvPr/>
        </p:nvSpPr>
        <p:spPr>
          <a:xfrm xmlns:a="http://schemas.openxmlformats.org/drawingml/2006/main">
            <a:off x="647700" y="4514850"/>
            <a:ext cx="571500" cy="5715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15" name="!!fragment-2-icon-0">
            <a:extLst xmlns:a="http://schemas.openxmlformats.org/drawingml/2006/main">
              <a:ext uri="{FF2B5EF4-FFF2-40B4-BE49-F238E27FC236}">
                <a16:creationId xmlns:a16="http://schemas.microsoft.com/office/drawing/2014/main" id="{50A1A033-46D9-43A4-AE24-A97F31AF5E01}"/>
              </a:ext>
            </a:extLst>
          </p:cNvPr>
          <p:cNvSpPr>
            <a:spLocks xmlns:a="http://schemas.openxmlformats.org/drawingml/2006/main" noGrp="1"/>
          </p:cNvSpPr>
          <p:nvPr/>
        </p:nvSpPr>
        <p:spPr>
          <a:xfrm xmlns:a="http://schemas.openxmlformats.org/drawingml/2006/main">
            <a:off x="882015" y="4672013"/>
            <a:ext cx="102870" cy="102870"/>
          </a:xfrm>
          <a:prstGeom xmlns:a="http://schemas.openxmlformats.org/drawingml/2006/main" prst="ellipse">
            <a:avLst/>
          </a:prstGeom>
          <a:noFill xmlns:a="http://schemas.openxmlformats.org/drawingml/2006/main"/>
          <a:ln xmlns:a="http://schemas.openxmlformats.org/drawingml/2006/main" w="19050">
            <a:solidFill>
              <a:srgbClr val="166447"/>
            </a:solidFill>
            <a:prstDash val="solid"/>
          </a:ln>
        </p:spPr>
      </p:sp>
      <p:sp>
        <p:nvSpPr>
          <p:cNvPr id="16" name="!!fragment-2-icon-1">
            <a:extLst xmlns:a="http://schemas.openxmlformats.org/drawingml/2006/main">
              <a:ext uri="{FF2B5EF4-FFF2-40B4-BE49-F238E27FC236}">
                <a16:creationId xmlns:a16="http://schemas.microsoft.com/office/drawing/2014/main" id="{0FC2C9C2-C25C-47BE-A725-26B8F6A4E434}"/>
              </a:ext>
            </a:extLst>
          </p:cNvPr>
          <p:cNvSpPr>
            <a:spLocks xmlns:a="http://schemas.openxmlformats.org/drawingml/2006/main" noGrp="1"/>
          </p:cNvSpPr>
          <p:nvPr/>
        </p:nvSpPr>
        <p:spPr>
          <a:xfrm xmlns:a="http://schemas.openxmlformats.org/drawingml/2006/main">
            <a:off x="830580" y="4813459"/>
            <a:ext cx="205740" cy="115729"/>
          </a:xfrm>
          <a:prstGeom xmlns:a="http://schemas.openxmlformats.org/drawingml/2006/main" prst="roundRect">
            <a:avLst>
              <a:gd name="adj" fmla="val 50000"/>
            </a:avLst>
          </a:prstGeom>
          <a:noFill xmlns:a="http://schemas.openxmlformats.org/drawingml/2006/main"/>
          <a:ln xmlns:a="http://schemas.openxmlformats.org/drawingml/2006/main" w="19050">
            <a:solidFill>
              <a:srgbClr val="166447"/>
            </a:solidFill>
            <a:prstDash val="solid"/>
          </a:ln>
        </p:spPr>
      </p:sp>
      <p:sp>
        <p:nvSpPr>
          <p:cNvPr id="17" name="!!fragment-2">
            <a:extLst xmlns:a="http://schemas.openxmlformats.org/drawingml/2006/main">
              <a:ext uri="{FF2B5EF4-FFF2-40B4-BE49-F238E27FC236}">
                <a16:creationId xmlns:a16="http://schemas.microsoft.com/office/drawing/2014/main" id="{35B2BCFB-97A4-45AF-85DE-5A8EFB4171FC}"/>
              </a:ext>
            </a:extLst>
          </p:cNvPr>
          <p:cNvSpPr>
            <a:spLocks xmlns:a="http://schemas.openxmlformats.org/drawingml/2006/main" noGrp="1"/>
          </p:cNvSpPr>
          <p:nvPr/>
        </p:nvSpPr>
        <p:spPr>
          <a:xfrm xmlns:a="http://schemas.openxmlformats.org/drawingml/2006/main">
            <a:off x="1447800" y="4581525"/>
            <a:ext cx="4333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75" b="1">
                <a:solidFill>
                  <a:srgbClr val="142F24"/>
                </a:solidFill>
                <a:latin typeface="Segoe UI"/>
                <a:ea typeface="Segoe UI"/>
                <a:cs typeface="Segoe UI"/>
              </a:defRPr>
            </a:pPr>
            <a:r>
              <a:rPr sz="2175" b="1">
                <a:solidFill>
                  <a:srgbClr val="142F24"/>
                </a:solidFill>
                <a:latin typeface="Segoe UI"/>
                <a:ea typeface="Segoe UI"/>
                <a:cs typeface="Segoe UI"/>
              </a:rPr>
              <a:t>Đối chiếu hồ sơ</a:t>
            </a:r>
          </a:p>
        </p:txBody>
      </p:sp>
      <p:sp>
        <p:nvSpPr>
          <p:cNvPr id="18" name="!!fragment-detail-2">
            <a:extLst xmlns:a="http://schemas.openxmlformats.org/drawingml/2006/main">
              <a:ext uri="{FF2B5EF4-FFF2-40B4-BE49-F238E27FC236}">
                <a16:creationId xmlns:a16="http://schemas.microsoft.com/office/drawing/2014/main" id="{E332EA72-5410-46D2-B5F6-6AD5152C4242}"/>
              </a:ext>
            </a:extLst>
          </p:cNvPr>
          <p:cNvSpPr>
            <a:spLocks xmlns:a="http://schemas.openxmlformats.org/drawingml/2006/main" noGrp="1"/>
          </p:cNvSpPr>
          <p:nvPr/>
        </p:nvSpPr>
        <p:spPr>
          <a:xfrm xmlns:a="http://schemas.openxmlformats.org/drawingml/2006/main">
            <a:off x="1447800" y="5076825"/>
            <a:ext cx="4333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0">
                <a:solidFill>
                  <a:srgbClr val="53685B"/>
                </a:solidFill>
                <a:latin typeface="Segoe UI"/>
                <a:ea typeface="Segoe UI"/>
                <a:cs typeface="Segoe UI"/>
              </a:defRPr>
            </a:pPr>
            <a:r>
              <a:rPr sz="1650" b="0">
                <a:solidFill>
                  <a:srgbClr val="53685B"/>
                </a:solidFill>
                <a:latin typeface="Segoe UI"/>
                <a:ea typeface="Segoe UI"/>
                <a:cs typeface="Segoe UI"/>
              </a:rPr>
              <a:t>HTX chuẩn bị, bên mua xem qua QR</a:t>
            </a:r>
          </a:p>
        </p:txBody>
      </p:sp>
      <p:sp>
        <p:nvSpPr>
          <p:cNvPr id="19" name="!!join-rule">
            <a:extLst xmlns:a="http://schemas.openxmlformats.org/drawingml/2006/main">
              <a:ext uri="{FF2B5EF4-FFF2-40B4-BE49-F238E27FC236}">
                <a16:creationId xmlns:a16="http://schemas.microsoft.com/office/drawing/2014/main" id="{FF53C106-75DE-4454-A4A9-9422EED507E9}"/>
              </a:ext>
            </a:extLst>
          </p:cNvPr>
          <p:cNvSpPr>
            <a:spLocks xmlns:a="http://schemas.openxmlformats.org/drawingml/2006/main" noGrp="1"/>
          </p:cNvSpPr>
          <p:nvPr/>
        </p:nvSpPr>
        <p:spPr>
          <a:xfrm xmlns:a="http://schemas.openxmlformats.org/drawingml/2006/main">
            <a:off x="609600" y="5600700"/>
            <a:ext cx="5143500" cy="19050"/>
          </a:xfrm>
          <a:prstGeom xmlns:a="http://schemas.openxmlformats.org/drawingml/2006/main" prst="rect">
            <a:avLst/>
          </a:prstGeom>
          <a:solidFill xmlns:a="http://schemas.openxmlformats.org/drawingml/2006/main">
            <a:srgbClr val="166447"/>
          </a:solidFill>
          <a:ln xmlns:a="http://schemas.openxmlformats.org/drawingml/2006/main" w="0">
            <a:noFill/>
          </a:ln>
        </p:spPr>
      </p:sp>
      <p:sp>
        <p:nvSpPr>
          <p:cNvPr id="20" name="!!joined-file-selection">
            <a:extLst xmlns:a="http://schemas.openxmlformats.org/drawingml/2006/main">
              <a:ext uri="{FF2B5EF4-FFF2-40B4-BE49-F238E27FC236}">
                <a16:creationId xmlns:a16="http://schemas.microsoft.com/office/drawing/2014/main" id="{76CC1963-153C-4520-864C-AB73C1A1E5D2}"/>
              </a:ext>
            </a:extLst>
          </p:cNvPr>
          <p:cNvSpPr>
            <a:spLocks xmlns:a="http://schemas.openxmlformats.org/drawingml/2006/main" noGrp="1"/>
          </p:cNvSpPr>
          <p:nvPr/>
        </p:nvSpPr>
        <p:spPr>
          <a:xfrm xmlns:a="http://schemas.openxmlformats.org/drawingml/2006/main">
            <a:off x="647700" y="5657850"/>
            <a:ext cx="590550" cy="59055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21" name="!!joined-file-icon-0">
            <a:extLst xmlns:a="http://schemas.openxmlformats.org/drawingml/2006/main">
              <a:ext uri="{FF2B5EF4-FFF2-40B4-BE49-F238E27FC236}">
                <a16:creationId xmlns:a16="http://schemas.microsoft.com/office/drawing/2014/main" id="{2EFC97A7-DBC4-4B4A-B2AA-FB79B40A49ED}"/>
              </a:ext>
            </a:extLst>
          </p:cNvPr>
          <p:cNvSpPr>
            <a:spLocks xmlns:a="http://schemas.openxmlformats.org/drawingml/2006/main" noGrp="1"/>
          </p:cNvSpPr>
          <p:nvPr/>
        </p:nvSpPr>
        <p:spPr>
          <a:xfrm xmlns:a="http://schemas.openxmlformats.org/drawingml/2006/main">
            <a:off x="783526" y="5793677"/>
            <a:ext cx="318897" cy="318897"/>
          </a:xfrm>
          <a:custGeom xmlns:a="http://schemas.openxmlformats.org/drawingml/2006/main">
            <a:pathLst>
              <a:path w="228600" h="228600">
                <a:moveTo>
                  <a:pt x="19050" y="57150"/>
                </a:moveTo>
                <a:lnTo>
                  <a:pt x="85725" y="57150"/>
                </a:lnTo>
                <a:lnTo>
                  <a:pt x="114300" y="85725"/>
                </a:lnTo>
                <a:lnTo>
                  <a:pt x="209550" y="85725"/>
                </a:lnTo>
                <a:lnTo>
                  <a:pt x="209550" y="200025"/>
                </a:lnTo>
                <a:lnTo>
                  <a:pt x="19050" y="200025"/>
                </a:lnTo>
                <a:close/>
              </a:path>
            </a:pathLst>
          </a:custGeom>
          <a:noFill xmlns:a="http://schemas.openxmlformats.org/drawingml/2006/main"/>
          <a:ln xmlns:a="http://schemas.openxmlformats.org/drawingml/2006/main" w="19050">
            <a:solidFill>
              <a:srgbClr val="FFFFFF"/>
            </a:solidFill>
            <a:prstDash val="solid"/>
          </a:ln>
        </p:spPr>
      </p:sp>
      <p:sp>
        <p:nvSpPr>
          <p:cNvPr id="22" name="!!join">
            <a:extLst xmlns:a="http://schemas.openxmlformats.org/drawingml/2006/main">
              <a:ext uri="{FF2B5EF4-FFF2-40B4-BE49-F238E27FC236}">
                <a16:creationId xmlns:a16="http://schemas.microsoft.com/office/drawing/2014/main" id="{DE58C069-BD96-401E-A119-98D0C31AD3F9}"/>
              </a:ext>
            </a:extLst>
          </p:cNvPr>
          <p:cNvSpPr>
            <a:spLocks xmlns:a="http://schemas.openxmlformats.org/drawingml/2006/main" noGrp="1"/>
          </p:cNvSpPr>
          <p:nvPr/>
        </p:nvSpPr>
        <p:spPr>
          <a:xfrm xmlns:a="http://schemas.openxmlformats.org/drawingml/2006/main">
            <a:off x="1447800" y="5819775"/>
            <a:ext cx="43338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250" b="1">
                <a:solidFill>
                  <a:srgbClr val="166447"/>
                </a:solidFill>
                <a:latin typeface="Segoe UI"/>
                <a:ea typeface="Segoe UI"/>
                <a:cs typeface="Segoe UI"/>
              </a:defRPr>
            </a:pPr>
            <a:r>
              <a:rPr sz="2250" b="1">
                <a:solidFill>
                  <a:srgbClr val="166447"/>
                </a:solidFill>
                <a:latin typeface="Segoe UI"/>
                <a:ea typeface="Segoe UI"/>
                <a:cs typeface="Segoe UI"/>
              </a:rPr>
              <a:t>Website liên kết hồ sơ lô</a:t>
            </a:r>
          </a:p>
        </p:txBody>
      </p:sp>
      <p:sp>
        <p:nvSpPr>
          <p:cNvPr id="23" name="!!page">
            <a:extLst xmlns:a="http://schemas.openxmlformats.org/drawingml/2006/main">
              <a:ext uri="{FF2B5EF4-FFF2-40B4-BE49-F238E27FC236}">
                <a16:creationId xmlns:a16="http://schemas.microsoft.com/office/drawing/2014/main" id="{7C157FA4-B82A-4ACC-B19F-9F705BEFFBAB}"/>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06 / 30</a:t>
            </a:r>
          </a:p>
        </p:txBody>
      </p:sp>
      <p:sp>
        <p:nvSpPr>
          <p:cNvPr id="24" name="!!caption">
            <a:extLst xmlns:a="http://schemas.openxmlformats.org/drawingml/2006/main">
              <a:ext uri="{FF2B5EF4-FFF2-40B4-BE49-F238E27FC236}">
                <a16:creationId xmlns:a16="http://schemas.microsoft.com/office/drawing/2014/main" id="{D629DFC8-EC0A-4733-8670-5E0A2A4D842A}"/>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Nguồn: Báo Điện tử Chính phủ, 03/09/2026. Số liệu ước tính. Nền AI</a:t>
            </a:r>
          </a:p>
        </p:txBody>
      </p:sp>
    </p:spTree>
    <p:extLst>
      <p:ext uri="{BB962C8B-B14F-4D97-AF65-F5344CB8AC3E}">
        <p14:creationId xmlns:p14="http://schemas.microsoft.com/office/powerpoint/2010/main" val="56223464"/>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7.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11" name="!!backdrop"/>
          <p:cNvPicPr>
            <a:picLocks xmlns:a="http://schemas.openxmlformats.org/drawingml/2006/main" noChangeAspect="1"/>
          </p:cNvPicPr>
          <p:nvPr/>
        </p:nvPicPr>
        <p:blipFill>
          <a:blip xmlns:r="http://schemas.openxmlformats.org/officeDocument/2006/relationships" xmlns:a="http://schemas.openxmlformats.org/drawingml/2006/main" r:embed="Ra264f50fdbc9484b"/>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D28CBEE7-740D-4783-8025-9791B84D6B7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7F0420A1-B5BD-42C9-A893-60B20273BE7A}"/>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Người dùng đầu tiên</a:t>
            </a:r>
          </a:p>
        </p:txBody>
      </p:sp>
      <p:sp>
        <p:nvSpPr>
          <p:cNvPr id="4" name="!!grower-selection">
            <a:extLst xmlns:a="http://schemas.openxmlformats.org/drawingml/2006/main">
              <a:ext uri="{FF2B5EF4-FFF2-40B4-BE49-F238E27FC236}">
                <a16:creationId xmlns:a16="http://schemas.microsoft.com/office/drawing/2014/main" id="{EEF97E1A-D593-4231-86AD-ED0F7D26977A}"/>
              </a:ext>
            </a:extLst>
          </p:cNvPr>
          <p:cNvSpPr>
            <a:spLocks xmlns:a="http://schemas.openxmlformats.org/drawingml/2006/main" noGrp="1"/>
          </p:cNvSpPr>
          <p:nvPr/>
        </p:nvSpPr>
        <p:spPr>
          <a:xfrm xmlns:a="http://schemas.openxmlformats.org/drawingml/2006/main">
            <a:off x="590550" y="2114550"/>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5" name="!!grower-icon-0">
            <a:extLst xmlns:a="http://schemas.openxmlformats.org/drawingml/2006/main">
              <a:ext uri="{FF2B5EF4-FFF2-40B4-BE49-F238E27FC236}">
                <a16:creationId xmlns:a16="http://schemas.microsoft.com/office/drawing/2014/main" id="{4037C0D4-1354-4519-81C1-773C6B672C54}"/>
              </a:ext>
            </a:extLst>
          </p:cNvPr>
          <p:cNvSpPr>
            <a:spLocks xmlns:a="http://schemas.openxmlformats.org/drawingml/2006/main" noGrp="1"/>
          </p:cNvSpPr>
          <p:nvPr/>
        </p:nvSpPr>
        <p:spPr>
          <a:xfrm xmlns:a="http://schemas.openxmlformats.org/drawingml/2006/main">
            <a:off x="757047" y="2281047"/>
            <a:ext cx="390906" cy="390906"/>
          </a:xfrm>
          <a:custGeom xmlns:a="http://schemas.openxmlformats.org/drawingml/2006/main">
            <a:pathLst>
              <a:path w="228600" h="228600">
                <a:moveTo>
                  <a:pt x="28575" y="180975"/>
                </a:moveTo>
                <a:lnTo>
                  <a:pt x="28575" y="114300"/>
                </a:lnTo>
                <a:lnTo>
                  <a:pt x="47625" y="66675"/>
                </a:lnTo>
                <a:lnTo>
                  <a:pt x="95250" y="47625"/>
                </a:lnTo>
                <a:lnTo>
                  <a:pt x="152400" y="38100"/>
                </a:lnTo>
                <a:lnTo>
                  <a:pt x="200025" y="19050"/>
                </a:lnTo>
                <a:lnTo>
                  <a:pt x="200025" y="85725"/>
                </a:lnTo>
                <a:lnTo>
                  <a:pt x="180975" y="142875"/>
                </a:lnTo>
                <a:lnTo>
                  <a:pt x="142875" y="180975"/>
                </a:lnTo>
                <a:lnTo>
                  <a:pt x="85725" y="200025"/>
                </a:lnTo>
                <a:close/>
              </a:path>
            </a:pathLst>
          </a:custGeom>
          <a:noFill xmlns:a="http://schemas.openxmlformats.org/drawingml/2006/main"/>
          <a:ln xmlns:a="http://schemas.openxmlformats.org/drawingml/2006/main" w="19050">
            <a:solidFill>
              <a:srgbClr val="FFFFFF"/>
            </a:solidFill>
            <a:prstDash val="solid"/>
          </a:ln>
        </p:spPr>
      </p:sp>
      <p:sp>
        <p:nvSpPr>
          <p:cNvPr id="6" name="!!grower-icon-1">
            <a:extLst xmlns:a="http://schemas.openxmlformats.org/drawingml/2006/main">
              <a:ext uri="{FF2B5EF4-FFF2-40B4-BE49-F238E27FC236}">
                <a16:creationId xmlns:a16="http://schemas.microsoft.com/office/drawing/2014/main" id="{61D3C63E-7147-46CC-846D-9953B5B8205A}"/>
              </a:ext>
            </a:extLst>
          </p:cNvPr>
          <p:cNvSpPr>
            <a:spLocks xmlns:a="http://schemas.openxmlformats.org/drawingml/2006/main" noGrp="1"/>
          </p:cNvSpPr>
          <p:nvPr/>
        </p:nvSpPr>
        <p:spPr>
          <a:xfrm xmlns:a="http://schemas.openxmlformats.org/drawingml/2006/main">
            <a:off x="757047" y="2281047"/>
            <a:ext cx="390906" cy="390906"/>
          </a:xfrm>
          <a:custGeom xmlns:a="http://schemas.openxmlformats.org/drawingml/2006/main">
            <a:pathLst>
              <a:path w="228600" h="228600">
                <a:moveTo>
                  <a:pt x="19050" y="209550"/>
                </a:moveTo>
                <a:lnTo>
                  <a:pt x="95250" y="133350"/>
                </a:lnTo>
                <a:lnTo>
                  <a:pt x="142875" y="95250"/>
                </a:lnTo>
              </a:path>
            </a:pathLst>
          </a:custGeom>
          <a:noFill xmlns:a="http://schemas.openxmlformats.org/drawingml/2006/main"/>
          <a:ln xmlns:a="http://schemas.openxmlformats.org/drawingml/2006/main" w="19050">
            <a:solidFill>
              <a:srgbClr val="FFFFFF"/>
            </a:solidFill>
            <a:prstDash val="solid"/>
          </a:ln>
        </p:spPr>
      </p:sp>
      <p:sp>
        <p:nvSpPr>
          <p:cNvPr id="7" name="!!grower-label">
            <a:extLst xmlns:a="http://schemas.openxmlformats.org/drawingml/2006/main">
              <a:ext uri="{FF2B5EF4-FFF2-40B4-BE49-F238E27FC236}">
                <a16:creationId xmlns:a16="http://schemas.microsoft.com/office/drawing/2014/main" id="{3F37E062-348D-4D5F-ADA8-0576FFC24DAA}"/>
              </a:ext>
            </a:extLst>
          </p:cNvPr>
          <p:cNvSpPr>
            <a:spLocks xmlns:a="http://schemas.openxmlformats.org/drawingml/2006/main" noGrp="1"/>
          </p:cNvSpPr>
          <p:nvPr/>
        </p:nvSpPr>
        <p:spPr>
          <a:xfrm xmlns:a="http://schemas.openxmlformats.org/drawingml/2006/main">
            <a:off x="1524000" y="2133600"/>
            <a:ext cx="43243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400" b="1">
                <a:solidFill>
                  <a:srgbClr val="F4F1E8"/>
                </a:solidFill>
                <a:latin typeface="Segoe UI"/>
                <a:ea typeface="Segoe UI"/>
                <a:cs typeface="Segoe UI"/>
              </a:defRPr>
            </a:pPr>
            <a:r>
              <a:rPr sz="2400" b="1">
                <a:solidFill>
                  <a:srgbClr val="F4F1E8"/>
                </a:solidFill>
                <a:latin typeface="Segoe UI"/>
                <a:ea typeface="Segoe UI"/>
                <a:cs typeface="Segoe UI"/>
              </a:rPr>
              <a:t>Nông hộ / hợp tác xã</a:t>
            </a:r>
          </a:p>
        </p:txBody>
      </p:sp>
      <p:sp>
        <p:nvSpPr>
          <p:cNvPr id="8" name="!!grower-detail">
            <a:extLst xmlns:a="http://schemas.openxmlformats.org/drawingml/2006/main">
              <a:ext uri="{FF2B5EF4-FFF2-40B4-BE49-F238E27FC236}">
                <a16:creationId xmlns:a16="http://schemas.microsoft.com/office/drawing/2014/main" id="{E3547313-7EFD-4B10-B3E5-D10EE5F8C5BB}"/>
              </a:ext>
            </a:extLst>
          </p:cNvPr>
          <p:cNvSpPr>
            <a:spLocks xmlns:a="http://schemas.openxmlformats.org/drawingml/2006/main" noGrp="1"/>
          </p:cNvSpPr>
          <p:nvPr/>
        </p:nvSpPr>
        <p:spPr>
          <a:xfrm xmlns:a="http://schemas.openxmlformats.org/drawingml/2006/main">
            <a:off x="1524000" y="2705100"/>
            <a:ext cx="43243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Chuẩn bị và quản lý hồ sơ lô</a:t>
            </a:r>
          </a:p>
        </p:txBody>
      </p:sp>
      <p:sp>
        <p:nvSpPr>
          <p:cNvPr id="9" name="!!page">
            <a:extLst xmlns:a="http://schemas.openxmlformats.org/drawingml/2006/main">
              <a:ext uri="{FF2B5EF4-FFF2-40B4-BE49-F238E27FC236}">
                <a16:creationId xmlns:a16="http://schemas.microsoft.com/office/drawing/2014/main" id="{50C939DB-51B2-4442-9C5E-B450CD192615}"/>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07 / 30</a:t>
            </a:r>
          </a:p>
        </p:txBody>
      </p:sp>
      <p:sp>
        <p:nvSpPr>
          <p:cNvPr id="10" name="!!caption">
            <a:extLst xmlns:a="http://schemas.openxmlformats.org/drawingml/2006/main">
              <a:ext uri="{FF2B5EF4-FFF2-40B4-BE49-F238E27FC236}">
                <a16:creationId xmlns:a16="http://schemas.microsoft.com/office/drawing/2014/main" id="{1128EE0C-C2B1-41A8-AC11-C581348C2385}"/>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Hình minh họa tạo bằng AI</a:t>
            </a:r>
          </a:p>
        </p:txBody>
      </p:sp>
    </p:spTree>
    <p:extLst>
      <p:ext uri="{BB962C8B-B14F-4D97-AF65-F5344CB8AC3E}">
        <p14:creationId xmlns:p14="http://schemas.microsoft.com/office/powerpoint/2010/main" val="971777122"/>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8.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16" name="!!backdrop"/>
          <p:cNvPicPr>
            <a:picLocks xmlns:a="http://schemas.openxmlformats.org/drawingml/2006/main" noChangeAspect="1"/>
          </p:cNvPicPr>
          <p:nvPr/>
        </p:nvPicPr>
        <p:blipFill>
          <a:blip xmlns:r="http://schemas.openxmlformats.org/officeDocument/2006/relationships" xmlns:a="http://schemas.openxmlformats.org/drawingml/2006/main" r:embed="R08b35984b0124abf"/>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90332B3E-EB88-48E8-8FAF-5C143A6376F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233B5306-D8A9-4677-B997-95BE5672EEB7}"/>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Người dùng đầu tiên</a:t>
            </a:r>
          </a:p>
        </p:txBody>
      </p:sp>
      <p:sp>
        <p:nvSpPr>
          <p:cNvPr id="4" name="!!grower-selection">
            <a:extLst xmlns:a="http://schemas.openxmlformats.org/drawingml/2006/main">
              <a:ext uri="{FF2B5EF4-FFF2-40B4-BE49-F238E27FC236}">
                <a16:creationId xmlns:a16="http://schemas.microsoft.com/office/drawing/2014/main" id="{5797203E-93CF-47A9-80F8-1BF42C433D8C}"/>
              </a:ext>
            </a:extLst>
          </p:cNvPr>
          <p:cNvSpPr>
            <a:spLocks xmlns:a="http://schemas.openxmlformats.org/drawingml/2006/main" noGrp="1"/>
          </p:cNvSpPr>
          <p:nvPr/>
        </p:nvSpPr>
        <p:spPr>
          <a:xfrm xmlns:a="http://schemas.openxmlformats.org/drawingml/2006/main">
            <a:off x="666750" y="2190750"/>
            <a:ext cx="571500" cy="5715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5" name="!!grower-icon-0">
            <a:extLst xmlns:a="http://schemas.openxmlformats.org/drawingml/2006/main">
              <a:ext uri="{FF2B5EF4-FFF2-40B4-BE49-F238E27FC236}">
                <a16:creationId xmlns:a16="http://schemas.microsoft.com/office/drawing/2014/main" id="{001FD485-4B17-4D5E-83DA-07BBA79643DB}"/>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28575" y="180975"/>
                </a:moveTo>
                <a:lnTo>
                  <a:pt x="28575" y="114300"/>
                </a:lnTo>
                <a:lnTo>
                  <a:pt x="47625" y="66675"/>
                </a:lnTo>
                <a:lnTo>
                  <a:pt x="95250" y="47625"/>
                </a:lnTo>
                <a:lnTo>
                  <a:pt x="152400" y="38100"/>
                </a:lnTo>
                <a:lnTo>
                  <a:pt x="200025" y="19050"/>
                </a:lnTo>
                <a:lnTo>
                  <a:pt x="200025" y="85725"/>
                </a:lnTo>
                <a:lnTo>
                  <a:pt x="180975" y="142875"/>
                </a:lnTo>
                <a:lnTo>
                  <a:pt x="142875" y="180975"/>
                </a:lnTo>
                <a:lnTo>
                  <a:pt x="85725" y="200025"/>
                </a:lnTo>
                <a:close/>
              </a:path>
            </a:pathLst>
          </a:custGeom>
          <a:noFill xmlns:a="http://schemas.openxmlformats.org/drawingml/2006/main"/>
          <a:ln xmlns:a="http://schemas.openxmlformats.org/drawingml/2006/main" w="19050">
            <a:solidFill>
              <a:srgbClr val="A3BCAB"/>
            </a:solidFill>
            <a:prstDash val="solid"/>
          </a:ln>
        </p:spPr>
      </p:sp>
      <p:sp>
        <p:nvSpPr>
          <p:cNvPr id="6" name="!!grower-icon-1">
            <a:extLst xmlns:a="http://schemas.openxmlformats.org/drawingml/2006/main">
              <a:ext uri="{FF2B5EF4-FFF2-40B4-BE49-F238E27FC236}">
                <a16:creationId xmlns:a16="http://schemas.microsoft.com/office/drawing/2014/main" id="{64DE1408-8FE3-4B4F-916F-11D1975EFA90}"/>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19050" y="209550"/>
                </a:moveTo>
                <a:lnTo>
                  <a:pt x="95250" y="133350"/>
                </a:lnTo>
                <a:lnTo>
                  <a:pt x="142875" y="95250"/>
                </a:lnTo>
              </a:path>
            </a:pathLst>
          </a:custGeom>
          <a:noFill xmlns:a="http://schemas.openxmlformats.org/drawingml/2006/main"/>
          <a:ln xmlns:a="http://schemas.openxmlformats.org/drawingml/2006/main" w="19050">
            <a:solidFill>
              <a:srgbClr val="A3BCAB"/>
            </a:solidFill>
            <a:prstDash val="solid"/>
          </a:ln>
        </p:spPr>
      </p:sp>
      <p:sp>
        <p:nvSpPr>
          <p:cNvPr id="7" name="!!grower-label">
            <a:extLst xmlns:a="http://schemas.openxmlformats.org/drawingml/2006/main">
              <a:ext uri="{FF2B5EF4-FFF2-40B4-BE49-F238E27FC236}">
                <a16:creationId xmlns:a16="http://schemas.microsoft.com/office/drawing/2014/main" id="{0A8FA80E-DF45-46F5-A63F-00D258282326}"/>
              </a:ext>
            </a:extLst>
          </p:cNvPr>
          <p:cNvSpPr>
            <a:spLocks xmlns:a="http://schemas.openxmlformats.org/drawingml/2006/main" noGrp="1"/>
          </p:cNvSpPr>
          <p:nvPr/>
        </p:nvSpPr>
        <p:spPr>
          <a:xfrm xmlns:a="http://schemas.openxmlformats.org/drawingml/2006/main">
            <a:off x="1524000" y="2133600"/>
            <a:ext cx="43243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F4F1E8"/>
                </a:solidFill>
                <a:latin typeface="Segoe UI"/>
                <a:ea typeface="Segoe UI"/>
                <a:cs typeface="Segoe UI"/>
              </a:defRPr>
            </a:pPr>
            <a:r>
              <a:rPr sz="2100" b="1">
                <a:solidFill>
                  <a:srgbClr val="F4F1E8"/>
                </a:solidFill>
                <a:latin typeface="Segoe UI"/>
                <a:ea typeface="Segoe UI"/>
                <a:cs typeface="Segoe UI"/>
              </a:rPr>
              <a:t>Nông hộ / hợp tác xã</a:t>
            </a:r>
          </a:p>
        </p:txBody>
      </p:sp>
      <p:sp>
        <p:nvSpPr>
          <p:cNvPr id="8" name="!!grower-detail">
            <a:extLst xmlns:a="http://schemas.openxmlformats.org/drawingml/2006/main">
              <a:ext uri="{FF2B5EF4-FFF2-40B4-BE49-F238E27FC236}">
                <a16:creationId xmlns:a16="http://schemas.microsoft.com/office/drawing/2014/main" id="{8EA31443-C483-4A5B-A2A2-74653E9F5915}"/>
              </a:ext>
            </a:extLst>
          </p:cNvPr>
          <p:cNvSpPr>
            <a:spLocks xmlns:a="http://schemas.openxmlformats.org/drawingml/2006/main" noGrp="1"/>
          </p:cNvSpPr>
          <p:nvPr/>
        </p:nvSpPr>
        <p:spPr>
          <a:xfrm xmlns:a="http://schemas.openxmlformats.org/drawingml/2006/main">
            <a:off x="1524000" y="2705100"/>
            <a:ext cx="43243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Chuẩn bị và quản lý hồ sơ lô</a:t>
            </a:r>
          </a:p>
        </p:txBody>
      </p:sp>
      <p:sp>
        <p:nvSpPr>
          <p:cNvPr id="9" name="!!buyer-selection">
            <a:extLst xmlns:a="http://schemas.openxmlformats.org/drawingml/2006/main">
              <a:ext uri="{FF2B5EF4-FFF2-40B4-BE49-F238E27FC236}">
                <a16:creationId xmlns:a16="http://schemas.microsoft.com/office/drawing/2014/main" id="{8371A7F4-D93E-454A-AC8A-8B34C5E036CD}"/>
              </a:ext>
            </a:extLst>
          </p:cNvPr>
          <p:cNvSpPr>
            <a:spLocks xmlns:a="http://schemas.openxmlformats.org/drawingml/2006/main" noGrp="1"/>
          </p:cNvSpPr>
          <p:nvPr/>
        </p:nvSpPr>
        <p:spPr>
          <a:xfrm xmlns:a="http://schemas.openxmlformats.org/drawingml/2006/main">
            <a:off x="590550" y="3352800"/>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10" name="!!buyer-icon-0">
            <a:extLst xmlns:a="http://schemas.openxmlformats.org/drawingml/2006/main">
              <a:ext uri="{FF2B5EF4-FFF2-40B4-BE49-F238E27FC236}">
                <a16:creationId xmlns:a16="http://schemas.microsoft.com/office/drawing/2014/main" id="{298C6864-1851-42C3-AA48-D401DCBD3FD2}"/>
              </a:ext>
            </a:extLst>
          </p:cNvPr>
          <p:cNvSpPr>
            <a:spLocks xmlns:a="http://schemas.openxmlformats.org/drawingml/2006/main" noGrp="1"/>
          </p:cNvSpPr>
          <p:nvPr/>
        </p:nvSpPr>
        <p:spPr>
          <a:xfrm xmlns:a="http://schemas.openxmlformats.org/drawingml/2006/main">
            <a:off x="887349" y="3551873"/>
            <a:ext cx="130302" cy="130302"/>
          </a:xfrm>
          <a:prstGeom xmlns:a="http://schemas.openxmlformats.org/drawingml/2006/main" prst="ellipse">
            <a:avLst/>
          </a:prstGeom>
          <a:noFill xmlns:a="http://schemas.openxmlformats.org/drawingml/2006/main"/>
          <a:ln xmlns:a="http://schemas.openxmlformats.org/drawingml/2006/main" w="19050">
            <a:solidFill>
              <a:srgbClr val="FFFFFF"/>
            </a:solidFill>
            <a:prstDash val="solid"/>
          </a:ln>
        </p:spPr>
      </p:sp>
      <p:sp>
        <p:nvSpPr>
          <p:cNvPr id="11" name="!!buyer-icon-1">
            <a:extLst xmlns:a="http://schemas.openxmlformats.org/drawingml/2006/main">
              <a:ext uri="{FF2B5EF4-FFF2-40B4-BE49-F238E27FC236}">
                <a16:creationId xmlns:a16="http://schemas.microsoft.com/office/drawing/2014/main" id="{6E1AD8FE-70BC-4F1A-966E-9D5DF46632A3}"/>
              </a:ext>
            </a:extLst>
          </p:cNvPr>
          <p:cNvSpPr>
            <a:spLocks xmlns:a="http://schemas.openxmlformats.org/drawingml/2006/main" noGrp="1"/>
          </p:cNvSpPr>
          <p:nvPr/>
        </p:nvSpPr>
        <p:spPr>
          <a:xfrm xmlns:a="http://schemas.openxmlformats.org/drawingml/2006/main">
            <a:off x="822198" y="3731038"/>
            <a:ext cx="260604" cy="146590"/>
          </a:xfrm>
          <a:prstGeom xmlns:a="http://schemas.openxmlformats.org/drawingml/2006/main" prst="roundRect">
            <a:avLst>
              <a:gd name="adj" fmla="val 50000"/>
            </a:avLst>
          </a:prstGeom>
          <a:noFill xmlns:a="http://schemas.openxmlformats.org/drawingml/2006/main"/>
          <a:ln xmlns:a="http://schemas.openxmlformats.org/drawingml/2006/main" w="19050">
            <a:solidFill>
              <a:srgbClr val="FFFFFF"/>
            </a:solidFill>
            <a:prstDash val="solid"/>
          </a:ln>
        </p:spPr>
      </p:sp>
      <p:sp>
        <p:nvSpPr>
          <p:cNvPr id="12" name="!!buyer-label">
            <a:extLst xmlns:a="http://schemas.openxmlformats.org/drawingml/2006/main">
              <a:ext uri="{FF2B5EF4-FFF2-40B4-BE49-F238E27FC236}">
                <a16:creationId xmlns:a16="http://schemas.microsoft.com/office/drawing/2014/main" id="{C0B7E535-4780-476C-9D29-7D578C0284E4}"/>
              </a:ext>
            </a:extLst>
          </p:cNvPr>
          <p:cNvSpPr>
            <a:spLocks xmlns:a="http://schemas.openxmlformats.org/drawingml/2006/main" noGrp="1"/>
          </p:cNvSpPr>
          <p:nvPr/>
        </p:nvSpPr>
        <p:spPr>
          <a:xfrm xmlns:a="http://schemas.openxmlformats.org/drawingml/2006/main">
            <a:off x="1524000" y="3371850"/>
            <a:ext cx="43243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400" b="1">
                <a:solidFill>
                  <a:srgbClr val="F4F1E8"/>
                </a:solidFill>
                <a:latin typeface="Segoe UI"/>
                <a:ea typeface="Segoe UI"/>
                <a:cs typeface="Segoe UI"/>
              </a:defRPr>
            </a:pPr>
            <a:r>
              <a:rPr sz="2400" b="1">
                <a:solidFill>
                  <a:srgbClr val="F4F1E8"/>
                </a:solidFill>
                <a:latin typeface="Segoe UI"/>
                <a:ea typeface="Segoe UI"/>
                <a:cs typeface="Segoe UI"/>
              </a:rPr>
              <a:t>Bên mua</a:t>
            </a:r>
          </a:p>
        </p:txBody>
      </p:sp>
      <p:sp>
        <p:nvSpPr>
          <p:cNvPr id="13" name="!!buyer-detail">
            <a:extLst xmlns:a="http://schemas.openxmlformats.org/drawingml/2006/main">
              <a:ext uri="{FF2B5EF4-FFF2-40B4-BE49-F238E27FC236}">
                <a16:creationId xmlns:a16="http://schemas.microsoft.com/office/drawing/2014/main" id="{262E529A-D1D8-4755-A633-6C1CA046E71A}"/>
              </a:ext>
            </a:extLst>
          </p:cNvPr>
          <p:cNvSpPr>
            <a:spLocks xmlns:a="http://schemas.openxmlformats.org/drawingml/2006/main" noGrp="1"/>
          </p:cNvSpPr>
          <p:nvPr/>
        </p:nvSpPr>
        <p:spPr>
          <a:xfrm xmlns:a="http://schemas.openxmlformats.org/drawingml/2006/main">
            <a:off x="1524000" y="3943350"/>
            <a:ext cx="43243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Mở hồ sơ qua QR, đối chiếu tài liệu</a:t>
            </a:r>
          </a:p>
        </p:txBody>
      </p:sp>
      <p:sp>
        <p:nvSpPr>
          <p:cNvPr id="14" name="!!page">
            <a:extLst xmlns:a="http://schemas.openxmlformats.org/drawingml/2006/main">
              <a:ext uri="{FF2B5EF4-FFF2-40B4-BE49-F238E27FC236}">
                <a16:creationId xmlns:a16="http://schemas.microsoft.com/office/drawing/2014/main" id="{EC6CEE08-E557-47A9-B5EB-CEDD33DEB231}"/>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08 / 30</a:t>
            </a:r>
          </a:p>
        </p:txBody>
      </p:sp>
      <p:sp>
        <p:nvSpPr>
          <p:cNvPr id="15" name="!!caption">
            <a:extLst xmlns:a="http://schemas.openxmlformats.org/drawingml/2006/main">
              <a:ext uri="{FF2B5EF4-FFF2-40B4-BE49-F238E27FC236}">
                <a16:creationId xmlns:a16="http://schemas.microsoft.com/office/drawing/2014/main" id="{ACC925BF-017F-44B4-B0FB-0673DDC104DA}"/>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Hình minh họa tạo bằng AI</a:t>
            </a:r>
          </a:p>
        </p:txBody>
      </p:sp>
    </p:spTree>
    <p:extLst>
      <p:ext uri="{BB962C8B-B14F-4D97-AF65-F5344CB8AC3E}">
        <p14:creationId xmlns:p14="http://schemas.microsoft.com/office/powerpoint/2010/main" val="704359206"/>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9.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22" name="!!backdrop"/>
          <p:cNvPicPr>
            <a:picLocks xmlns:a="http://schemas.openxmlformats.org/drawingml/2006/main" noChangeAspect="1"/>
          </p:cNvPicPr>
          <p:nvPr/>
        </p:nvPicPr>
        <p:blipFill>
          <a:blip xmlns:r="http://schemas.openxmlformats.org/officeDocument/2006/relationships" xmlns:a="http://schemas.openxmlformats.org/drawingml/2006/main" r:embed="R0d9d5b586619434a"/>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A814F1D3-89E5-4672-958E-B2DA9593AE5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C65D3847-50DD-47B4-9E43-7D68B75829A4}"/>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Người dùng đầu tiên</a:t>
            </a:r>
          </a:p>
        </p:txBody>
      </p:sp>
      <p:sp>
        <p:nvSpPr>
          <p:cNvPr id="4" name="!!grower-selection">
            <a:extLst xmlns:a="http://schemas.openxmlformats.org/drawingml/2006/main">
              <a:ext uri="{FF2B5EF4-FFF2-40B4-BE49-F238E27FC236}">
                <a16:creationId xmlns:a16="http://schemas.microsoft.com/office/drawing/2014/main" id="{039A50C4-3E7F-4CF4-887E-8CD1892551E3}"/>
              </a:ext>
            </a:extLst>
          </p:cNvPr>
          <p:cNvSpPr>
            <a:spLocks xmlns:a="http://schemas.openxmlformats.org/drawingml/2006/main" noGrp="1"/>
          </p:cNvSpPr>
          <p:nvPr/>
        </p:nvSpPr>
        <p:spPr>
          <a:xfrm xmlns:a="http://schemas.openxmlformats.org/drawingml/2006/main">
            <a:off x="666750" y="2190750"/>
            <a:ext cx="571500" cy="5715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5" name="!!grower-icon-0">
            <a:extLst xmlns:a="http://schemas.openxmlformats.org/drawingml/2006/main">
              <a:ext uri="{FF2B5EF4-FFF2-40B4-BE49-F238E27FC236}">
                <a16:creationId xmlns:a16="http://schemas.microsoft.com/office/drawing/2014/main" id="{7DEDC3E3-EC9F-4868-9DA4-0A83BD3956C6}"/>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28575" y="180975"/>
                </a:moveTo>
                <a:lnTo>
                  <a:pt x="28575" y="114300"/>
                </a:lnTo>
                <a:lnTo>
                  <a:pt x="47625" y="66675"/>
                </a:lnTo>
                <a:lnTo>
                  <a:pt x="95250" y="47625"/>
                </a:lnTo>
                <a:lnTo>
                  <a:pt x="152400" y="38100"/>
                </a:lnTo>
                <a:lnTo>
                  <a:pt x="200025" y="19050"/>
                </a:lnTo>
                <a:lnTo>
                  <a:pt x="200025" y="85725"/>
                </a:lnTo>
                <a:lnTo>
                  <a:pt x="180975" y="142875"/>
                </a:lnTo>
                <a:lnTo>
                  <a:pt x="142875" y="180975"/>
                </a:lnTo>
                <a:lnTo>
                  <a:pt x="85725" y="200025"/>
                </a:lnTo>
                <a:close/>
              </a:path>
            </a:pathLst>
          </a:custGeom>
          <a:noFill xmlns:a="http://schemas.openxmlformats.org/drawingml/2006/main"/>
          <a:ln xmlns:a="http://schemas.openxmlformats.org/drawingml/2006/main" w="19050">
            <a:solidFill>
              <a:srgbClr val="A3BCAB"/>
            </a:solidFill>
            <a:prstDash val="solid"/>
          </a:ln>
        </p:spPr>
      </p:sp>
      <p:sp>
        <p:nvSpPr>
          <p:cNvPr id="6" name="!!grower-icon-1">
            <a:extLst xmlns:a="http://schemas.openxmlformats.org/drawingml/2006/main">
              <a:ext uri="{FF2B5EF4-FFF2-40B4-BE49-F238E27FC236}">
                <a16:creationId xmlns:a16="http://schemas.microsoft.com/office/drawing/2014/main" id="{1E8910DE-0E4C-4F4B-B33A-114876E90B8D}"/>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19050" y="209550"/>
                </a:moveTo>
                <a:lnTo>
                  <a:pt x="95250" y="133350"/>
                </a:lnTo>
                <a:lnTo>
                  <a:pt x="142875" y="95250"/>
                </a:lnTo>
              </a:path>
            </a:pathLst>
          </a:custGeom>
          <a:noFill xmlns:a="http://schemas.openxmlformats.org/drawingml/2006/main"/>
          <a:ln xmlns:a="http://schemas.openxmlformats.org/drawingml/2006/main" w="19050">
            <a:solidFill>
              <a:srgbClr val="A3BCAB"/>
            </a:solidFill>
            <a:prstDash val="solid"/>
          </a:ln>
        </p:spPr>
      </p:sp>
      <p:sp>
        <p:nvSpPr>
          <p:cNvPr id="7" name="!!grower-label">
            <a:extLst xmlns:a="http://schemas.openxmlformats.org/drawingml/2006/main">
              <a:ext uri="{FF2B5EF4-FFF2-40B4-BE49-F238E27FC236}">
                <a16:creationId xmlns:a16="http://schemas.microsoft.com/office/drawing/2014/main" id="{A5DB5651-D7A1-45BD-9D72-6E4492AF9199}"/>
              </a:ext>
            </a:extLst>
          </p:cNvPr>
          <p:cNvSpPr>
            <a:spLocks xmlns:a="http://schemas.openxmlformats.org/drawingml/2006/main" noGrp="1"/>
          </p:cNvSpPr>
          <p:nvPr/>
        </p:nvSpPr>
        <p:spPr>
          <a:xfrm xmlns:a="http://schemas.openxmlformats.org/drawingml/2006/main">
            <a:off x="1524000" y="2133600"/>
            <a:ext cx="43243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F4F1E8"/>
                </a:solidFill>
                <a:latin typeface="Segoe UI"/>
                <a:ea typeface="Segoe UI"/>
                <a:cs typeface="Segoe UI"/>
              </a:defRPr>
            </a:pPr>
            <a:r>
              <a:rPr sz="2100" b="1">
                <a:solidFill>
                  <a:srgbClr val="F4F1E8"/>
                </a:solidFill>
                <a:latin typeface="Segoe UI"/>
                <a:ea typeface="Segoe UI"/>
                <a:cs typeface="Segoe UI"/>
              </a:rPr>
              <a:t>Nông hộ / hợp tác xã</a:t>
            </a:r>
          </a:p>
        </p:txBody>
      </p:sp>
      <p:sp>
        <p:nvSpPr>
          <p:cNvPr id="8" name="!!grower-detail">
            <a:extLst xmlns:a="http://schemas.openxmlformats.org/drawingml/2006/main">
              <a:ext uri="{FF2B5EF4-FFF2-40B4-BE49-F238E27FC236}">
                <a16:creationId xmlns:a16="http://schemas.microsoft.com/office/drawing/2014/main" id="{79148C5A-AAB1-48F5-B92D-59014E13743A}"/>
              </a:ext>
            </a:extLst>
          </p:cNvPr>
          <p:cNvSpPr>
            <a:spLocks xmlns:a="http://schemas.openxmlformats.org/drawingml/2006/main" noGrp="1"/>
          </p:cNvSpPr>
          <p:nvPr/>
        </p:nvSpPr>
        <p:spPr>
          <a:xfrm xmlns:a="http://schemas.openxmlformats.org/drawingml/2006/main">
            <a:off x="1524000" y="2705100"/>
            <a:ext cx="43243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Chuẩn bị và quản lý hồ sơ lô</a:t>
            </a:r>
          </a:p>
        </p:txBody>
      </p:sp>
      <p:sp>
        <p:nvSpPr>
          <p:cNvPr id="9" name="!!buyer-selection">
            <a:extLst xmlns:a="http://schemas.openxmlformats.org/drawingml/2006/main">
              <a:ext uri="{FF2B5EF4-FFF2-40B4-BE49-F238E27FC236}">
                <a16:creationId xmlns:a16="http://schemas.microsoft.com/office/drawing/2014/main" id="{C1D16EFC-4BDC-4ECB-9DD1-B0879C98CB36}"/>
              </a:ext>
            </a:extLst>
          </p:cNvPr>
          <p:cNvSpPr>
            <a:spLocks xmlns:a="http://schemas.openxmlformats.org/drawingml/2006/main" noGrp="1"/>
          </p:cNvSpPr>
          <p:nvPr/>
        </p:nvSpPr>
        <p:spPr>
          <a:xfrm xmlns:a="http://schemas.openxmlformats.org/drawingml/2006/main">
            <a:off x="666750" y="3429000"/>
            <a:ext cx="571500" cy="5715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10" name="!!buyer-icon-0">
            <a:extLst xmlns:a="http://schemas.openxmlformats.org/drawingml/2006/main">
              <a:ext uri="{FF2B5EF4-FFF2-40B4-BE49-F238E27FC236}">
                <a16:creationId xmlns:a16="http://schemas.microsoft.com/office/drawing/2014/main" id="{24D79BCD-EB98-44CB-B026-5B2D2235652D}"/>
              </a:ext>
            </a:extLst>
          </p:cNvPr>
          <p:cNvSpPr>
            <a:spLocks xmlns:a="http://schemas.openxmlformats.org/drawingml/2006/main" noGrp="1"/>
          </p:cNvSpPr>
          <p:nvPr/>
        </p:nvSpPr>
        <p:spPr>
          <a:xfrm xmlns:a="http://schemas.openxmlformats.org/drawingml/2006/main">
            <a:off x="901065" y="3586163"/>
            <a:ext cx="102870" cy="102870"/>
          </a:xfrm>
          <a:prstGeom xmlns:a="http://schemas.openxmlformats.org/drawingml/2006/main" prst="ellipse">
            <a:avLst/>
          </a:prstGeom>
          <a:noFill xmlns:a="http://schemas.openxmlformats.org/drawingml/2006/main"/>
          <a:ln xmlns:a="http://schemas.openxmlformats.org/drawingml/2006/main" w="19050">
            <a:solidFill>
              <a:srgbClr val="A3BCAB"/>
            </a:solidFill>
            <a:prstDash val="solid"/>
          </a:ln>
        </p:spPr>
      </p:sp>
      <p:sp>
        <p:nvSpPr>
          <p:cNvPr id="11" name="!!buyer-icon-1">
            <a:extLst xmlns:a="http://schemas.openxmlformats.org/drawingml/2006/main">
              <a:ext uri="{FF2B5EF4-FFF2-40B4-BE49-F238E27FC236}">
                <a16:creationId xmlns:a16="http://schemas.microsoft.com/office/drawing/2014/main" id="{1FDEF59D-2FB0-4749-BACB-D5BA7E242E5B}"/>
              </a:ext>
            </a:extLst>
          </p:cNvPr>
          <p:cNvSpPr>
            <a:spLocks xmlns:a="http://schemas.openxmlformats.org/drawingml/2006/main" noGrp="1"/>
          </p:cNvSpPr>
          <p:nvPr/>
        </p:nvSpPr>
        <p:spPr>
          <a:xfrm xmlns:a="http://schemas.openxmlformats.org/drawingml/2006/main">
            <a:off x="849630" y="3727609"/>
            <a:ext cx="205740" cy="115729"/>
          </a:xfrm>
          <a:prstGeom xmlns:a="http://schemas.openxmlformats.org/drawingml/2006/main" prst="roundRect">
            <a:avLst>
              <a:gd name="adj" fmla="val 50000"/>
            </a:avLst>
          </a:prstGeom>
          <a:noFill xmlns:a="http://schemas.openxmlformats.org/drawingml/2006/main"/>
          <a:ln xmlns:a="http://schemas.openxmlformats.org/drawingml/2006/main" w="19050">
            <a:solidFill>
              <a:srgbClr val="A3BCAB"/>
            </a:solidFill>
            <a:prstDash val="solid"/>
          </a:ln>
        </p:spPr>
      </p:sp>
      <p:sp>
        <p:nvSpPr>
          <p:cNvPr id="12" name="!!buyer-label">
            <a:extLst xmlns:a="http://schemas.openxmlformats.org/drawingml/2006/main">
              <a:ext uri="{FF2B5EF4-FFF2-40B4-BE49-F238E27FC236}">
                <a16:creationId xmlns:a16="http://schemas.microsoft.com/office/drawing/2014/main" id="{3FD437F5-23D0-44F5-81C1-8E5C2EF86E31}"/>
              </a:ext>
            </a:extLst>
          </p:cNvPr>
          <p:cNvSpPr>
            <a:spLocks xmlns:a="http://schemas.openxmlformats.org/drawingml/2006/main" noGrp="1"/>
          </p:cNvSpPr>
          <p:nvPr/>
        </p:nvSpPr>
        <p:spPr>
          <a:xfrm xmlns:a="http://schemas.openxmlformats.org/drawingml/2006/main">
            <a:off x="1524000" y="3371850"/>
            <a:ext cx="43243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F4F1E8"/>
                </a:solidFill>
                <a:latin typeface="Segoe UI"/>
                <a:ea typeface="Segoe UI"/>
                <a:cs typeface="Segoe UI"/>
              </a:defRPr>
            </a:pPr>
            <a:r>
              <a:rPr sz="2100" b="1">
                <a:solidFill>
                  <a:srgbClr val="F4F1E8"/>
                </a:solidFill>
                <a:latin typeface="Segoe UI"/>
                <a:ea typeface="Segoe UI"/>
                <a:cs typeface="Segoe UI"/>
              </a:rPr>
              <a:t>Bên mua</a:t>
            </a:r>
          </a:p>
        </p:txBody>
      </p:sp>
      <p:sp>
        <p:nvSpPr>
          <p:cNvPr id="13" name="!!buyer-detail">
            <a:extLst xmlns:a="http://schemas.openxmlformats.org/drawingml/2006/main">
              <a:ext uri="{FF2B5EF4-FFF2-40B4-BE49-F238E27FC236}">
                <a16:creationId xmlns:a16="http://schemas.microsoft.com/office/drawing/2014/main" id="{3DAB4FB6-69AB-425C-B4E3-0F11359F19EC}"/>
              </a:ext>
            </a:extLst>
          </p:cNvPr>
          <p:cNvSpPr>
            <a:spLocks xmlns:a="http://schemas.openxmlformats.org/drawingml/2006/main" noGrp="1"/>
          </p:cNvSpPr>
          <p:nvPr/>
        </p:nvSpPr>
        <p:spPr>
          <a:xfrm xmlns:a="http://schemas.openxmlformats.org/drawingml/2006/main">
            <a:off x="1524000" y="3943350"/>
            <a:ext cx="43243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Mở hồ sơ qua QR, đối chiếu tài liệu</a:t>
            </a:r>
          </a:p>
        </p:txBody>
      </p:sp>
      <p:sp>
        <p:nvSpPr>
          <p:cNvPr id="14" name="!!shared-record-selection">
            <a:extLst xmlns:a="http://schemas.openxmlformats.org/drawingml/2006/main">
              <a:ext uri="{FF2B5EF4-FFF2-40B4-BE49-F238E27FC236}">
                <a16:creationId xmlns:a16="http://schemas.microsoft.com/office/drawing/2014/main" id="{D0A0BAC3-97F5-418E-B737-FF633E3227D8}"/>
              </a:ext>
            </a:extLst>
          </p:cNvPr>
          <p:cNvSpPr>
            <a:spLocks xmlns:a="http://schemas.openxmlformats.org/drawingml/2006/main" noGrp="1"/>
          </p:cNvSpPr>
          <p:nvPr/>
        </p:nvSpPr>
        <p:spPr>
          <a:xfrm xmlns:a="http://schemas.openxmlformats.org/drawingml/2006/main">
            <a:off x="600075" y="5095875"/>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15" name="!!shared-record-icon-0">
            <a:extLst xmlns:a="http://schemas.openxmlformats.org/drawingml/2006/main">
              <a:ext uri="{FF2B5EF4-FFF2-40B4-BE49-F238E27FC236}">
                <a16:creationId xmlns:a16="http://schemas.microsoft.com/office/drawing/2014/main" id="{BAD320BC-99F7-4641-AA44-ABEE402D94C9}"/>
              </a:ext>
            </a:extLst>
          </p:cNvPr>
          <p:cNvSpPr>
            <a:spLocks xmlns:a="http://schemas.openxmlformats.org/drawingml/2006/main" noGrp="1"/>
          </p:cNvSpPr>
          <p:nvPr/>
        </p:nvSpPr>
        <p:spPr>
          <a:xfrm xmlns:a="http://schemas.openxmlformats.org/drawingml/2006/main">
            <a:off x="766572" y="5262372"/>
            <a:ext cx="390906" cy="390906"/>
          </a:xfrm>
          <a:custGeom xmlns:a="http://schemas.openxmlformats.org/drawingml/2006/main">
            <a:pathLst>
              <a:path w="228600" h="228600">
                <a:moveTo>
                  <a:pt x="47625" y="19050"/>
                </a:moveTo>
                <a:lnTo>
                  <a:pt x="133350" y="19050"/>
                </a:lnTo>
                <a:lnTo>
                  <a:pt x="190500" y="76200"/>
                </a:lnTo>
                <a:lnTo>
                  <a:pt x="190500" y="209550"/>
                </a:lnTo>
                <a:lnTo>
                  <a:pt x="47625" y="209550"/>
                </a:lnTo>
                <a:close/>
              </a:path>
            </a:pathLst>
          </a:custGeom>
          <a:noFill xmlns:a="http://schemas.openxmlformats.org/drawingml/2006/main"/>
          <a:ln xmlns:a="http://schemas.openxmlformats.org/drawingml/2006/main" w="19050">
            <a:solidFill>
              <a:srgbClr val="FFFFFF"/>
            </a:solidFill>
            <a:prstDash val="solid"/>
          </a:ln>
        </p:spPr>
      </p:sp>
      <p:sp>
        <p:nvSpPr>
          <p:cNvPr id="16" name="!!shared-record-icon-1">
            <a:extLst xmlns:a="http://schemas.openxmlformats.org/drawingml/2006/main">
              <a:ext uri="{FF2B5EF4-FFF2-40B4-BE49-F238E27FC236}">
                <a16:creationId xmlns:a16="http://schemas.microsoft.com/office/drawing/2014/main" id="{209EBB36-3163-4EDB-A5E1-27C939A1CD05}"/>
              </a:ext>
            </a:extLst>
          </p:cNvPr>
          <p:cNvSpPr>
            <a:spLocks xmlns:a="http://schemas.openxmlformats.org/drawingml/2006/main" noGrp="1"/>
          </p:cNvSpPr>
          <p:nvPr/>
        </p:nvSpPr>
        <p:spPr>
          <a:xfrm xmlns:a="http://schemas.openxmlformats.org/drawingml/2006/main">
            <a:off x="766572" y="5262372"/>
            <a:ext cx="390906" cy="390906"/>
          </a:xfrm>
          <a:custGeom xmlns:a="http://schemas.openxmlformats.org/drawingml/2006/main">
            <a:pathLst>
              <a:path w="228600" h="228600">
                <a:moveTo>
                  <a:pt x="133350" y="19050"/>
                </a:moveTo>
                <a:lnTo>
                  <a:pt x="133350" y="76200"/>
                </a:lnTo>
                <a:lnTo>
                  <a:pt x="190500" y="76200"/>
                </a:lnTo>
              </a:path>
            </a:pathLst>
          </a:custGeom>
          <a:noFill xmlns:a="http://schemas.openxmlformats.org/drawingml/2006/main"/>
          <a:ln xmlns:a="http://schemas.openxmlformats.org/drawingml/2006/main" w="19050">
            <a:solidFill>
              <a:srgbClr val="FFFFFF"/>
            </a:solidFill>
            <a:prstDash val="solid"/>
          </a:ln>
        </p:spPr>
      </p:sp>
      <p:sp>
        <p:nvSpPr>
          <p:cNvPr id="17" name="!!shared-record-icon-2">
            <a:extLst xmlns:a="http://schemas.openxmlformats.org/drawingml/2006/main">
              <a:ext uri="{FF2B5EF4-FFF2-40B4-BE49-F238E27FC236}">
                <a16:creationId xmlns:a16="http://schemas.microsoft.com/office/drawing/2014/main" id="{5C012BBF-9BAD-4761-B654-5F29C08FFB9E}"/>
              </a:ext>
            </a:extLst>
          </p:cNvPr>
          <p:cNvSpPr>
            <a:spLocks xmlns:a="http://schemas.openxmlformats.org/drawingml/2006/main" noGrp="1"/>
          </p:cNvSpPr>
          <p:nvPr/>
        </p:nvSpPr>
        <p:spPr>
          <a:xfrm xmlns:a="http://schemas.openxmlformats.org/drawingml/2006/main">
            <a:off x="766572" y="5262372"/>
            <a:ext cx="390906" cy="390906"/>
          </a:xfrm>
          <a:custGeom xmlns:a="http://schemas.openxmlformats.org/drawingml/2006/main">
            <a:pathLst>
              <a:path w="228600" h="228600">
                <a:moveTo>
                  <a:pt x="76200" y="123825"/>
                </a:moveTo>
                <a:lnTo>
                  <a:pt x="161925" y="123825"/>
                </a:lnTo>
              </a:path>
            </a:pathLst>
          </a:custGeom>
          <a:noFill xmlns:a="http://schemas.openxmlformats.org/drawingml/2006/main"/>
          <a:ln xmlns:a="http://schemas.openxmlformats.org/drawingml/2006/main" w="19050">
            <a:solidFill>
              <a:srgbClr val="FFFFFF"/>
            </a:solidFill>
            <a:prstDash val="solid"/>
          </a:ln>
        </p:spPr>
      </p:sp>
      <p:sp>
        <p:nvSpPr>
          <p:cNvPr id="18" name="!!shared-record-icon-3">
            <a:extLst xmlns:a="http://schemas.openxmlformats.org/drawingml/2006/main">
              <a:ext uri="{FF2B5EF4-FFF2-40B4-BE49-F238E27FC236}">
                <a16:creationId xmlns:a16="http://schemas.microsoft.com/office/drawing/2014/main" id="{087100B2-79AF-44C3-B165-A07348DA43A6}"/>
              </a:ext>
            </a:extLst>
          </p:cNvPr>
          <p:cNvSpPr>
            <a:spLocks xmlns:a="http://schemas.openxmlformats.org/drawingml/2006/main" noGrp="1"/>
          </p:cNvSpPr>
          <p:nvPr/>
        </p:nvSpPr>
        <p:spPr>
          <a:xfrm xmlns:a="http://schemas.openxmlformats.org/drawingml/2006/main">
            <a:off x="766572" y="5262372"/>
            <a:ext cx="390906" cy="390906"/>
          </a:xfrm>
          <a:custGeom xmlns:a="http://schemas.openxmlformats.org/drawingml/2006/main">
            <a:pathLst>
              <a:path w="228600" h="228600">
                <a:moveTo>
                  <a:pt x="76200" y="161925"/>
                </a:moveTo>
                <a:lnTo>
                  <a:pt x="142875" y="161925"/>
                </a:lnTo>
              </a:path>
            </a:pathLst>
          </a:custGeom>
          <a:noFill xmlns:a="http://schemas.openxmlformats.org/drawingml/2006/main"/>
          <a:ln xmlns:a="http://schemas.openxmlformats.org/drawingml/2006/main" w="19050">
            <a:solidFill>
              <a:srgbClr val="FFFFFF"/>
            </a:solidFill>
            <a:prstDash val="solid"/>
          </a:ln>
        </p:spPr>
      </p:sp>
      <p:sp>
        <p:nvSpPr>
          <p:cNvPr id="19" name="!!user-goal">
            <a:extLst xmlns:a="http://schemas.openxmlformats.org/drawingml/2006/main">
              <a:ext uri="{FF2B5EF4-FFF2-40B4-BE49-F238E27FC236}">
                <a16:creationId xmlns:a16="http://schemas.microsoft.com/office/drawing/2014/main" id="{94F09B72-5A4D-4F1A-88D4-60B389AB777C}"/>
              </a:ext>
            </a:extLst>
          </p:cNvPr>
          <p:cNvSpPr>
            <a:spLocks xmlns:a="http://schemas.openxmlformats.org/drawingml/2006/main" noGrp="1"/>
          </p:cNvSpPr>
          <p:nvPr/>
        </p:nvSpPr>
        <p:spPr>
          <a:xfrm xmlns:a="http://schemas.openxmlformats.org/drawingml/2006/main">
            <a:off x="1524000" y="5086350"/>
            <a:ext cx="4381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325" b="1">
                <a:solidFill>
                  <a:srgbClr val="C8A45B"/>
                </a:solidFill>
                <a:latin typeface="Segoe UI"/>
                <a:ea typeface="Segoe UI"/>
                <a:cs typeface="Segoe UI"/>
              </a:defRPr>
            </a:pPr>
            <a:r>
              <a:rPr sz="2325" b="1">
                <a:solidFill>
                  <a:srgbClr val="C8A45B"/>
                </a:solidFill>
                <a:latin typeface="Segoe UI"/>
                <a:ea typeface="Segoe UI"/>
                <a:cs typeface="Segoe UI"/>
              </a:rPr>
              <a:t>Zalo/Drive lưu tệp</a:t>
            </a:r>
          </a:p>
          <a:p xmlns:a="http://schemas.openxmlformats.org/drawingml/2006/main">
            <a:pPr>
              <a:defRPr sz="2325" b="1">
                <a:solidFill>
                  <a:srgbClr val="C8A45B"/>
                </a:solidFill>
                <a:latin typeface="Segoe UI"/>
                <a:ea typeface="Segoe UI"/>
                <a:cs typeface="Segoe UI"/>
              </a:defRPr>
            </a:pPr>
            <a:r>
              <a:rPr sz="2325" b="1">
                <a:solidFill>
                  <a:srgbClr val="C8A45B"/>
                </a:solidFill>
                <a:latin typeface="Segoe UI"/>
                <a:ea typeface="Segoe UI"/>
                <a:cs typeface="Segoe UI"/>
              </a:rPr>
              <a:t>DurianTrust gắn hồ sơ theo lô</a:t>
            </a:r>
          </a:p>
        </p:txBody>
      </p:sp>
      <p:sp>
        <p:nvSpPr>
          <p:cNvPr id="20" name="!!page">
            <a:extLst xmlns:a="http://schemas.openxmlformats.org/drawingml/2006/main">
              <a:ext uri="{FF2B5EF4-FFF2-40B4-BE49-F238E27FC236}">
                <a16:creationId xmlns:a16="http://schemas.microsoft.com/office/drawing/2014/main" id="{6F4BBA26-B36B-4E81-8381-2512FF2BF3FC}"/>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09 / 30</a:t>
            </a:r>
          </a:p>
        </p:txBody>
      </p:sp>
      <p:sp>
        <p:nvSpPr>
          <p:cNvPr id="21" name="!!caption">
            <a:extLst xmlns:a="http://schemas.openxmlformats.org/drawingml/2006/main">
              <a:ext uri="{FF2B5EF4-FFF2-40B4-BE49-F238E27FC236}">
                <a16:creationId xmlns:a16="http://schemas.microsoft.com/office/drawing/2014/main" id="{09EA345A-0D71-4C49-B6A4-C3400BBF63C9}"/>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Hình minh họa tạo bằng AI</a:t>
            </a:r>
          </a:p>
        </p:txBody>
      </p:sp>
    </p:spTree>
    <p:extLst>
      <p:ext uri="{BB962C8B-B14F-4D97-AF65-F5344CB8AC3E}">
        <p14:creationId xmlns:p14="http://schemas.microsoft.com/office/powerpoint/2010/main" val="1232551858"/>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10.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10" name="!!backdrop"/>
          <p:cNvPicPr>
            <a:picLocks xmlns:a="http://schemas.openxmlformats.org/drawingml/2006/main" noChangeAspect="1"/>
          </p:cNvPicPr>
          <p:nvPr/>
        </p:nvPicPr>
        <p:blipFill>
          <a:blip xmlns:r="http://schemas.openxmlformats.org/officeDocument/2006/relationships" xmlns:a="http://schemas.openxmlformats.org/drawingml/2006/main" r:embed="R5716a7c1ddf047f3"/>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A677CD7E-F901-42F6-BCD3-4AD9ADD3FFB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0E3AA814-06BA-479B-A52A-6F0B68504EA6}"/>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Luồng hồ sơ lô</a:t>
            </a:r>
          </a:p>
        </p:txBody>
      </p:sp>
      <p:sp>
        <p:nvSpPr>
          <p:cNvPr id="4" name="!!flow-0-selection">
            <a:extLst xmlns:a="http://schemas.openxmlformats.org/drawingml/2006/main">
              <a:ext uri="{FF2B5EF4-FFF2-40B4-BE49-F238E27FC236}">
                <a16:creationId xmlns:a16="http://schemas.microsoft.com/office/drawing/2014/main" id="{53216B59-21E1-48CF-A206-F21F648D3B67}"/>
              </a:ext>
            </a:extLst>
          </p:cNvPr>
          <p:cNvSpPr>
            <a:spLocks xmlns:a="http://schemas.openxmlformats.org/drawingml/2006/main" noGrp="1"/>
          </p:cNvSpPr>
          <p:nvPr/>
        </p:nvSpPr>
        <p:spPr>
          <a:xfrm xmlns:a="http://schemas.openxmlformats.org/drawingml/2006/main">
            <a:off x="914400" y="2419350"/>
            <a:ext cx="1390650" cy="139065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5" name="!!flow-0-icon-0">
            <a:extLst xmlns:a="http://schemas.openxmlformats.org/drawingml/2006/main">
              <a:ext uri="{FF2B5EF4-FFF2-40B4-BE49-F238E27FC236}">
                <a16:creationId xmlns:a16="http://schemas.microsoft.com/office/drawing/2014/main" id="{6CDFDE59-0168-41DE-B4DA-4CF06C4B214E}"/>
              </a:ext>
            </a:extLst>
          </p:cNvPr>
          <p:cNvSpPr>
            <a:spLocks xmlns:a="http://schemas.openxmlformats.org/drawingml/2006/main" noGrp="1"/>
          </p:cNvSpPr>
          <p:nvPr/>
        </p:nvSpPr>
        <p:spPr>
          <a:xfrm xmlns:a="http://schemas.openxmlformats.org/drawingml/2006/main">
            <a:off x="1234249" y="2739200"/>
            <a:ext cx="750951" cy="750951"/>
          </a:xfrm>
          <a:custGeom xmlns:a="http://schemas.openxmlformats.org/drawingml/2006/main">
            <a:pathLst>
              <a:path w="228600" h="228600">
                <a:moveTo>
                  <a:pt x="19050" y="57150"/>
                </a:moveTo>
                <a:lnTo>
                  <a:pt x="85725" y="57150"/>
                </a:lnTo>
                <a:lnTo>
                  <a:pt x="114300" y="85725"/>
                </a:lnTo>
                <a:lnTo>
                  <a:pt x="209550" y="85725"/>
                </a:lnTo>
                <a:lnTo>
                  <a:pt x="209550" y="200025"/>
                </a:lnTo>
                <a:lnTo>
                  <a:pt x="19050" y="200025"/>
                </a:lnTo>
                <a:close/>
              </a:path>
            </a:pathLst>
          </a:custGeom>
          <a:noFill xmlns:a="http://schemas.openxmlformats.org/drawingml/2006/main"/>
          <a:ln xmlns:a="http://schemas.openxmlformats.org/drawingml/2006/main" w="26820">
            <a:solidFill>
              <a:srgbClr val="FFFFFF"/>
            </a:solidFill>
            <a:prstDash val="solid"/>
          </a:ln>
        </p:spPr>
      </p:sp>
      <p:sp>
        <p:nvSpPr>
          <p:cNvPr id="6" name="!!flow-label-0">
            <a:extLst xmlns:a="http://schemas.openxmlformats.org/drawingml/2006/main">
              <a:ext uri="{FF2B5EF4-FFF2-40B4-BE49-F238E27FC236}">
                <a16:creationId xmlns:a16="http://schemas.microsoft.com/office/drawing/2014/main" id="{CCE97FC3-FC1D-4EF2-A561-8E4C6953FE1B}"/>
              </a:ext>
            </a:extLst>
          </p:cNvPr>
          <p:cNvSpPr>
            <a:spLocks xmlns:a="http://schemas.openxmlformats.org/drawingml/2006/main" noGrp="1"/>
          </p:cNvSpPr>
          <p:nvPr/>
        </p:nvSpPr>
        <p:spPr>
          <a:xfrm xmlns:a="http://schemas.openxmlformats.org/drawingml/2006/main">
            <a:off x="485775" y="4057650"/>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325" b="1">
                <a:solidFill>
                  <a:srgbClr val="F4F1E8"/>
                </a:solidFill>
                <a:latin typeface="Segoe UI"/>
                <a:ea typeface="Segoe UI"/>
                <a:cs typeface="Segoe UI"/>
              </a:defRPr>
            </a:pPr>
            <a:r>
              <a:rPr sz="2325" b="1">
                <a:solidFill>
                  <a:srgbClr val="F4F1E8"/>
                </a:solidFill>
                <a:latin typeface="Segoe UI"/>
                <a:ea typeface="Segoe UI"/>
                <a:cs typeface="Segoe UI"/>
              </a:rPr>
              <a:t>Tạo lô</a:t>
            </a:r>
          </a:p>
          <a:p xmlns:a="http://schemas.openxmlformats.org/drawingml/2006/main">
            <a:pPr>
              <a:defRPr sz="2325" b="1">
                <a:solidFill>
                  <a:srgbClr val="F4F1E8"/>
                </a:solidFill>
                <a:latin typeface="Segoe UI"/>
                <a:ea typeface="Segoe UI"/>
                <a:cs typeface="Segoe UI"/>
              </a:defRPr>
            </a:pPr>
            <a:r>
              <a:rPr sz="2325" b="1">
                <a:solidFill>
                  <a:srgbClr val="F4F1E8"/>
                </a:solidFill>
                <a:latin typeface="Segoe UI"/>
                <a:ea typeface="Segoe UI"/>
                <a:cs typeface="Segoe UI"/>
              </a:rPr>
              <a:t>riêng tư</a:t>
            </a:r>
          </a:p>
        </p:txBody>
      </p:sp>
      <p:sp>
        <p:nvSpPr>
          <p:cNvPr id="7" name="!!flow-note">
            <a:extLst xmlns:a="http://schemas.openxmlformats.org/drawingml/2006/main">
              <a:ext uri="{FF2B5EF4-FFF2-40B4-BE49-F238E27FC236}">
                <a16:creationId xmlns:a16="http://schemas.microsoft.com/office/drawing/2014/main" id="{0D10A62E-4EDA-416A-9BB9-07E18F6D5C0B}"/>
              </a:ext>
            </a:extLst>
          </p:cNvPr>
          <p:cNvSpPr>
            <a:spLocks xmlns:a="http://schemas.openxmlformats.org/drawingml/2006/main" noGrp="1"/>
          </p:cNvSpPr>
          <p:nvPr/>
        </p:nvSpPr>
        <p:spPr>
          <a:xfrm xmlns:a="http://schemas.openxmlformats.org/drawingml/2006/main">
            <a:off x="609600" y="532447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325" b="0">
                <a:solidFill>
                  <a:srgbClr val="F4F1E8"/>
                </a:solidFill>
                <a:latin typeface="Segoe UI"/>
                <a:ea typeface="Segoe UI"/>
                <a:cs typeface="Segoe UI"/>
              </a:defRPr>
            </a:pPr>
            <a:r>
              <a:rPr sz="2325" b="0">
                <a:solidFill>
                  <a:srgbClr val="F4F1E8"/>
                </a:solidFill>
                <a:latin typeface="Segoe UI"/>
                <a:ea typeface="Segoe UI"/>
                <a:cs typeface="Segoe UI"/>
              </a:rPr>
              <a:t>Chủ hồ sơ bắt đầu bằng Google login</a:t>
            </a:r>
          </a:p>
        </p:txBody>
      </p:sp>
      <p:sp>
        <p:nvSpPr>
          <p:cNvPr id="8" name="!!page">
            <a:extLst xmlns:a="http://schemas.openxmlformats.org/drawingml/2006/main">
              <a:ext uri="{FF2B5EF4-FFF2-40B4-BE49-F238E27FC236}">
                <a16:creationId xmlns:a16="http://schemas.microsoft.com/office/drawing/2014/main" id="{412343E4-8AD9-4A9B-88CE-727A9459712E}"/>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10 / 30</a:t>
            </a:r>
          </a:p>
        </p:txBody>
      </p:sp>
      <p:sp>
        <p:nvSpPr>
          <p:cNvPr id="9" name="!!caption">
            <a:extLst xmlns:a="http://schemas.openxmlformats.org/drawingml/2006/main">
              <a:ext uri="{FF2B5EF4-FFF2-40B4-BE49-F238E27FC236}">
                <a16:creationId xmlns:a16="http://schemas.microsoft.com/office/drawing/2014/main" id="{F28B30D3-027C-41FB-B30C-7C8BCB293EBF}"/>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Luồng cloud hiện có trong mã nguồn</a:t>
            </a:r>
          </a:p>
        </p:txBody>
      </p:sp>
    </p:spTree>
    <p:extLst>
      <p:ext uri="{BB962C8B-B14F-4D97-AF65-F5344CB8AC3E}">
        <p14:creationId xmlns:p14="http://schemas.microsoft.com/office/powerpoint/2010/main" val="1986150188"/>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11.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17" name="!!backdrop"/>
          <p:cNvPicPr>
            <a:picLocks xmlns:a="http://schemas.openxmlformats.org/drawingml/2006/main" noChangeAspect="1"/>
          </p:cNvPicPr>
          <p:nvPr/>
        </p:nvPicPr>
        <p:blipFill>
          <a:blip xmlns:r="http://schemas.openxmlformats.org/officeDocument/2006/relationships" xmlns:a="http://schemas.openxmlformats.org/drawingml/2006/main" r:embed="R8072c4a2018f4970"/>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EFB5121E-AF4A-4C11-B65F-3139B05B590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1A2E7E9A-B02D-4D14-847E-6A6161DCBA90}"/>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Luồng hồ sơ lô</a:t>
            </a:r>
          </a:p>
        </p:txBody>
      </p:sp>
      <p:sp>
        <p:nvSpPr>
          <p:cNvPr id="4" name="!!flow-0-selection">
            <a:extLst xmlns:a="http://schemas.openxmlformats.org/drawingml/2006/main">
              <a:ext uri="{FF2B5EF4-FFF2-40B4-BE49-F238E27FC236}">
                <a16:creationId xmlns:a16="http://schemas.microsoft.com/office/drawing/2014/main" id="{4C17E23D-4307-4323-B224-6D8083B5E837}"/>
              </a:ext>
            </a:extLst>
          </p:cNvPr>
          <p:cNvSpPr>
            <a:spLocks xmlns:a="http://schemas.openxmlformats.org/drawingml/2006/main" noGrp="1"/>
          </p:cNvSpPr>
          <p:nvPr/>
        </p:nvSpPr>
        <p:spPr>
          <a:xfrm xmlns:a="http://schemas.openxmlformats.org/drawingml/2006/main">
            <a:off x="1057275" y="2562225"/>
            <a:ext cx="1104900" cy="11049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5" name="!!flow-0-icon-0">
            <a:extLst xmlns:a="http://schemas.openxmlformats.org/drawingml/2006/main">
              <a:ext uri="{FF2B5EF4-FFF2-40B4-BE49-F238E27FC236}">
                <a16:creationId xmlns:a16="http://schemas.microsoft.com/office/drawing/2014/main" id="{CC350557-3913-452E-81E2-E5812291A5E3}"/>
              </a:ext>
            </a:extLst>
          </p:cNvPr>
          <p:cNvSpPr>
            <a:spLocks xmlns:a="http://schemas.openxmlformats.org/drawingml/2006/main" noGrp="1"/>
          </p:cNvSpPr>
          <p:nvPr/>
        </p:nvSpPr>
        <p:spPr>
          <a:xfrm xmlns:a="http://schemas.openxmlformats.org/drawingml/2006/main">
            <a:off x="1311402" y="2816352"/>
            <a:ext cx="596646" cy="596646"/>
          </a:xfrm>
          <a:custGeom xmlns:a="http://schemas.openxmlformats.org/drawingml/2006/main">
            <a:pathLst>
              <a:path w="228600" h="228600">
                <a:moveTo>
                  <a:pt x="19050" y="57150"/>
                </a:moveTo>
                <a:lnTo>
                  <a:pt x="85725" y="57150"/>
                </a:lnTo>
                <a:lnTo>
                  <a:pt x="114300" y="85725"/>
                </a:lnTo>
                <a:lnTo>
                  <a:pt x="209550" y="85725"/>
                </a:lnTo>
                <a:lnTo>
                  <a:pt x="209550" y="200025"/>
                </a:lnTo>
                <a:lnTo>
                  <a:pt x="19050" y="200025"/>
                </a:lnTo>
                <a:close/>
              </a:path>
            </a:pathLst>
          </a:custGeom>
          <a:noFill xmlns:a="http://schemas.openxmlformats.org/drawingml/2006/main"/>
          <a:ln xmlns:a="http://schemas.openxmlformats.org/drawingml/2006/main" w="21309">
            <a:solidFill>
              <a:srgbClr val="A3BCAB"/>
            </a:solidFill>
            <a:prstDash val="solid"/>
          </a:ln>
        </p:spPr>
      </p:sp>
      <p:sp>
        <p:nvSpPr>
          <p:cNvPr id="6" name="!!flow-label-0">
            <a:extLst xmlns:a="http://schemas.openxmlformats.org/drawingml/2006/main">
              <a:ext uri="{FF2B5EF4-FFF2-40B4-BE49-F238E27FC236}">
                <a16:creationId xmlns:a16="http://schemas.microsoft.com/office/drawing/2014/main" id="{F9BE1F72-A2B6-4D8A-8DBC-8ADC80D716EE}"/>
              </a:ext>
            </a:extLst>
          </p:cNvPr>
          <p:cNvSpPr>
            <a:spLocks xmlns:a="http://schemas.openxmlformats.org/drawingml/2006/main" noGrp="1"/>
          </p:cNvSpPr>
          <p:nvPr/>
        </p:nvSpPr>
        <p:spPr>
          <a:xfrm xmlns:a="http://schemas.openxmlformats.org/drawingml/2006/main">
            <a:off x="485775" y="4057650"/>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025" b="1">
                <a:solidFill>
                  <a:srgbClr val="F4F1E8"/>
                </a:solidFill>
                <a:latin typeface="Segoe UI"/>
                <a:ea typeface="Segoe UI"/>
                <a:cs typeface="Segoe UI"/>
              </a:defRPr>
            </a:pPr>
            <a:r>
              <a:rPr sz="2025" b="1">
                <a:solidFill>
                  <a:srgbClr val="F4F1E8"/>
                </a:solidFill>
                <a:latin typeface="Segoe UI"/>
                <a:ea typeface="Segoe UI"/>
                <a:cs typeface="Segoe UI"/>
              </a:rPr>
              <a:t>Tạo lô</a:t>
            </a:r>
          </a:p>
          <a:p xmlns:a="http://schemas.openxmlformats.org/drawingml/2006/main">
            <a:pPr>
              <a:defRPr sz="2025" b="1">
                <a:solidFill>
                  <a:srgbClr val="F4F1E8"/>
                </a:solidFill>
                <a:latin typeface="Segoe UI"/>
                <a:ea typeface="Segoe UI"/>
                <a:cs typeface="Segoe UI"/>
              </a:defRPr>
            </a:pPr>
            <a:r>
              <a:rPr sz="2025" b="1">
                <a:solidFill>
                  <a:srgbClr val="F4F1E8"/>
                </a:solidFill>
                <a:latin typeface="Segoe UI"/>
                <a:ea typeface="Segoe UI"/>
                <a:cs typeface="Segoe UI"/>
              </a:rPr>
              <a:t>riêng tư</a:t>
            </a:r>
          </a:p>
        </p:txBody>
      </p:sp>
      <p:sp>
        <p:nvSpPr>
          <p:cNvPr id="7" name="!!flow-1-selection">
            <a:extLst xmlns:a="http://schemas.openxmlformats.org/drawingml/2006/main">
              <a:ext uri="{FF2B5EF4-FFF2-40B4-BE49-F238E27FC236}">
                <a16:creationId xmlns:a16="http://schemas.microsoft.com/office/drawing/2014/main" id="{F77BF25F-4380-4526-9FC8-2B5D2B53B6B2}"/>
              </a:ext>
            </a:extLst>
          </p:cNvPr>
          <p:cNvSpPr>
            <a:spLocks xmlns:a="http://schemas.openxmlformats.org/drawingml/2006/main" noGrp="1"/>
          </p:cNvSpPr>
          <p:nvPr/>
        </p:nvSpPr>
        <p:spPr>
          <a:xfrm xmlns:a="http://schemas.openxmlformats.org/drawingml/2006/main">
            <a:off x="3705225" y="2419350"/>
            <a:ext cx="1390650" cy="139065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8" name="!!flow-1-icon-0">
            <a:extLst xmlns:a="http://schemas.openxmlformats.org/drawingml/2006/main">
              <a:ext uri="{FF2B5EF4-FFF2-40B4-BE49-F238E27FC236}">
                <a16:creationId xmlns:a16="http://schemas.microsoft.com/office/drawing/2014/main" id="{09E37E2B-829D-40CB-A39C-3BE85B9F8877}"/>
              </a:ext>
            </a:extLst>
          </p:cNvPr>
          <p:cNvSpPr>
            <a:spLocks xmlns:a="http://schemas.openxmlformats.org/drawingml/2006/main" noGrp="1"/>
          </p:cNvSpPr>
          <p:nvPr/>
        </p:nvSpPr>
        <p:spPr>
          <a:xfrm xmlns:a="http://schemas.openxmlformats.org/drawingml/2006/main">
            <a:off x="4025075" y="2739200"/>
            <a:ext cx="750951" cy="750951"/>
          </a:xfrm>
          <a:custGeom xmlns:a="http://schemas.openxmlformats.org/drawingml/2006/main">
            <a:pathLst>
              <a:path w="228600" h="228600">
                <a:moveTo>
                  <a:pt x="47625" y="19050"/>
                </a:moveTo>
                <a:lnTo>
                  <a:pt x="133350" y="19050"/>
                </a:lnTo>
                <a:lnTo>
                  <a:pt x="190500" y="76200"/>
                </a:lnTo>
                <a:lnTo>
                  <a:pt x="190500" y="209550"/>
                </a:lnTo>
                <a:lnTo>
                  <a:pt x="47625" y="209550"/>
                </a:lnTo>
                <a:close/>
              </a:path>
            </a:pathLst>
          </a:custGeom>
          <a:noFill xmlns:a="http://schemas.openxmlformats.org/drawingml/2006/main"/>
          <a:ln xmlns:a="http://schemas.openxmlformats.org/drawingml/2006/main" w="26820">
            <a:solidFill>
              <a:srgbClr val="FFFFFF"/>
            </a:solidFill>
            <a:prstDash val="solid"/>
          </a:ln>
        </p:spPr>
      </p:sp>
      <p:sp>
        <p:nvSpPr>
          <p:cNvPr id="9" name="!!flow-1-icon-1">
            <a:extLst xmlns:a="http://schemas.openxmlformats.org/drawingml/2006/main">
              <a:ext uri="{FF2B5EF4-FFF2-40B4-BE49-F238E27FC236}">
                <a16:creationId xmlns:a16="http://schemas.microsoft.com/office/drawing/2014/main" id="{F89337A5-986D-49ED-A712-C075E8234632}"/>
              </a:ext>
            </a:extLst>
          </p:cNvPr>
          <p:cNvSpPr>
            <a:spLocks xmlns:a="http://schemas.openxmlformats.org/drawingml/2006/main" noGrp="1"/>
          </p:cNvSpPr>
          <p:nvPr/>
        </p:nvSpPr>
        <p:spPr>
          <a:xfrm xmlns:a="http://schemas.openxmlformats.org/drawingml/2006/main">
            <a:off x="4025075" y="2739200"/>
            <a:ext cx="750951" cy="750951"/>
          </a:xfrm>
          <a:custGeom xmlns:a="http://schemas.openxmlformats.org/drawingml/2006/main">
            <a:pathLst>
              <a:path w="228600" h="228600">
                <a:moveTo>
                  <a:pt x="133350" y="19050"/>
                </a:moveTo>
                <a:lnTo>
                  <a:pt x="133350" y="76200"/>
                </a:lnTo>
                <a:lnTo>
                  <a:pt x="190500" y="76200"/>
                </a:lnTo>
              </a:path>
            </a:pathLst>
          </a:custGeom>
          <a:noFill xmlns:a="http://schemas.openxmlformats.org/drawingml/2006/main"/>
          <a:ln xmlns:a="http://schemas.openxmlformats.org/drawingml/2006/main" w="26820">
            <a:solidFill>
              <a:srgbClr val="FFFFFF"/>
            </a:solidFill>
            <a:prstDash val="solid"/>
          </a:ln>
        </p:spPr>
      </p:sp>
      <p:sp>
        <p:nvSpPr>
          <p:cNvPr id="10" name="!!flow-1-icon-2">
            <a:extLst xmlns:a="http://schemas.openxmlformats.org/drawingml/2006/main">
              <a:ext uri="{FF2B5EF4-FFF2-40B4-BE49-F238E27FC236}">
                <a16:creationId xmlns:a16="http://schemas.microsoft.com/office/drawing/2014/main" id="{DFFFB2FF-48E7-4A9A-BF34-89C2D804BF84}"/>
              </a:ext>
            </a:extLst>
          </p:cNvPr>
          <p:cNvSpPr>
            <a:spLocks xmlns:a="http://schemas.openxmlformats.org/drawingml/2006/main" noGrp="1"/>
          </p:cNvSpPr>
          <p:nvPr/>
        </p:nvSpPr>
        <p:spPr>
          <a:xfrm xmlns:a="http://schemas.openxmlformats.org/drawingml/2006/main">
            <a:off x="4025075" y="2739200"/>
            <a:ext cx="750951" cy="750951"/>
          </a:xfrm>
          <a:custGeom xmlns:a="http://schemas.openxmlformats.org/drawingml/2006/main">
            <a:pathLst>
              <a:path w="228600" h="228600">
                <a:moveTo>
                  <a:pt x="76200" y="123825"/>
                </a:moveTo>
                <a:lnTo>
                  <a:pt x="161925" y="123825"/>
                </a:lnTo>
              </a:path>
            </a:pathLst>
          </a:custGeom>
          <a:noFill xmlns:a="http://schemas.openxmlformats.org/drawingml/2006/main"/>
          <a:ln xmlns:a="http://schemas.openxmlformats.org/drawingml/2006/main" w="26820">
            <a:solidFill>
              <a:srgbClr val="FFFFFF"/>
            </a:solidFill>
            <a:prstDash val="solid"/>
          </a:ln>
        </p:spPr>
      </p:sp>
      <p:sp>
        <p:nvSpPr>
          <p:cNvPr id="11" name="!!flow-1-icon-3">
            <a:extLst xmlns:a="http://schemas.openxmlformats.org/drawingml/2006/main">
              <a:ext uri="{FF2B5EF4-FFF2-40B4-BE49-F238E27FC236}">
                <a16:creationId xmlns:a16="http://schemas.microsoft.com/office/drawing/2014/main" id="{6AF612FB-1DCE-43DC-BED1-002E001B17E4}"/>
              </a:ext>
            </a:extLst>
          </p:cNvPr>
          <p:cNvSpPr>
            <a:spLocks xmlns:a="http://schemas.openxmlformats.org/drawingml/2006/main" noGrp="1"/>
          </p:cNvSpPr>
          <p:nvPr/>
        </p:nvSpPr>
        <p:spPr>
          <a:xfrm xmlns:a="http://schemas.openxmlformats.org/drawingml/2006/main">
            <a:off x="4025075" y="2739200"/>
            <a:ext cx="750951" cy="750951"/>
          </a:xfrm>
          <a:custGeom xmlns:a="http://schemas.openxmlformats.org/drawingml/2006/main">
            <a:pathLst>
              <a:path w="228600" h="228600">
                <a:moveTo>
                  <a:pt x="76200" y="161925"/>
                </a:moveTo>
                <a:lnTo>
                  <a:pt x="142875" y="161925"/>
                </a:lnTo>
              </a:path>
            </a:pathLst>
          </a:custGeom>
          <a:noFill xmlns:a="http://schemas.openxmlformats.org/drawingml/2006/main"/>
          <a:ln xmlns:a="http://schemas.openxmlformats.org/drawingml/2006/main" w="26820">
            <a:solidFill>
              <a:srgbClr val="FFFFFF"/>
            </a:solidFill>
            <a:prstDash val="solid"/>
          </a:ln>
        </p:spPr>
      </p:sp>
      <p:sp>
        <p:nvSpPr>
          <p:cNvPr id="12" name="!!flow-label-1">
            <a:extLst xmlns:a="http://schemas.openxmlformats.org/drawingml/2006/main">
              <a:ext uri="{FF2B5EF4-FFF2-40B4-BE49-F238E27FC236}">
                <a16:creationId xmlns:a16="http://schemas.microsoft.com/office/drawing/2014/main" id="{87E49A49-75EB-44D7-9411-9CF7DC7E6BED}"/>
              </a:ext>
            </a:extLst>
          </p:cNvPr>
          <p:cNvSpPr>
            <a:spLocks xmlns:a="http://schemas.openxmlformats.org/drawingml/2006/main" noGrp="1"/>
          </p:cNvSpPr>
          <p:nvPr/>
        </p:nvSpPr>
        <p:spPr>
          <a:xfrm xmlns:a="http://schemas.openxmlformats.org/drawingml/2006/main">
            <a:off x="3276600" y="4057650"/>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325" b="1">
                <a:solidFill>
                  <a:srgbClr val="F4F1E8"/>
                </a:solidFill>
                <a:latin typeface="Segoe UI"/>
                <a:ea typeface="Segoe UI"/>
                <a:cs typeface="Segoe UI"/>
              </a:defRPr>
            </a:pPr>
            <a:r>
              <a:rPr sz="2325" b="1">
                <a:solidFill>
                  <a:srgbClr val="F4F1E8"/>
                </a:solidFill>
                <a:latin typeface="Segoe UI"/>
                <a:ea typeface="Segoe UI"/>
                <a:cs typeface="Segoe UI"/>
              </a:rPr>
              <a:t>Ảnh và</a:t>
            </a:r>
          </a:p>
          <a:p xmlns:a="http://schemas.openxmlformats.org/drawingml/2006/main">
            <a:pPr>
              <a:defRPr sz="2325" b="1">
                <a:solidFill>
                  <a:srgbClr val="F4F1E8"/>
                </a:solidFill>
                <a:latin typeface="Segoe UI"/>
                <a:ea typeface="Segoe UI"/>
                <a:cs typeface="Segoe UI"/>
              </a:defRPr>
            </a:pPr>
            <a:r>
              <a:rPr sz="2325" b="1">
                <a:solidFill>
                  <a:srgbClr val="F4F1E8"/>
                </a:solidFill>
                <a:latin typeface="Segoe UI"/>
                <a:ea typeface="Segoe UI"/>
                <a:cs typeface="Segoe UI"/>
              </a:rPr>
              <a:t>tài liệu</a:t>
            </a:r>
          </a:p>
        </p:txBody>
      </p:sp>
      <p:cxnSp>
        <p:nvCxnSpPr>
          <p:cNvPr id="29" name="!!connector-4-0"/>
          <p:cNvCxnSpPr>
            <a:stCxn xmlns:a="http://schemas.openxmlformats.org/drawingml/2006/main" id="4" idx="6"/>
            <a:endCxn xmlns:a="http://schemas.openxmlformats.org/drawingml/2006/main" id="7" idx="2"/>
          </p:cNvCxnSpPr>
          <p:nvPr/>
        </p:nvCxnSpPr>
        <p:spPr>
          <a:xfrm xmlns:a="http://schemas.openxmlformats.org/drawingml/2006/main">
            <a:off x="2162175" y="3114675"/>
            <a:ext cx="1543050" cy="0"/>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sp>
        <p:nvSpPr>
          <p:cNvPr id="14" name="!!flow-note">
            <a:extLst xmlns:a="http://schemas.openxmlformats.org/drawingml/2006/main">
              <a:ext uri="{FF2B5EF4-FFF2-40B4-BE49-F238E27FC236}">
                <a16:creationId xmlns:a16="http://schemas.microsoft.com/office/drawing/2014/main" id="{6C76051F-90CA-4B16-B5DE-FED728A4CCCC}"/>
              </a:ext>
            </a:extLst>
          </p:cNvPr>
          <p:cNvSpPr>
            <a:spLocks xmlns:a="http://schemas.openxmlformats.org/drawingml/2006/main" noGrp="1"/>
          </p:cNvSpPr>
          <p:nvPr/>
        </p:nvSpPr>
        <p:spPr>
          <a:xfrm xmlns:a="http://schemas.openxmlformats.org/drawingml/2006/main">
            <a:off x="609600" y="532447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325" b="0">
                <a:solidFill>
                  <a:srgbClr val="F4F1E8"/>
                </a:solidFill>
                <a:latin typeface="Segoe UI"/>
                <a:ea typeface="Segoe UI"/>
                <a:cs typeface="Segoe UI"/>
              </a:defRPr>
            </a:pPr>
            <a:r>
              <a:rPr sz="2325" b="0">
                <a:solidFill>
                  <a:srgbClr val="F4F1E8"/>
                </a:solidFill>
                <a:latin typeface="Segoe UI"/>
                <a:ea typeface="Segoe UI"/>
                <a:cs typeface="Segoe UI"/>
              </a:rPr>
              <a:t>Tệp có nguồn khai báo và ngày tài liệu</a:t>
            </a:r>
          </a:p>
        </p:txBody>
      </p:sp>
      <p:sp>
        <p:nvSpPr>
          <p:cNvPr id="15" name="!!page">
            <a:extLst xmlns:a="http://schemas.openxmlformats.org/drawingml/2006/main">
              <a:ext uri="{FF2B5EF4-FFF2-40B4-BE49-F238E27FC236}">
                <a16:creationId xmlns:a16="http://schemas.microsoft.com/office/drawing/2014/main" id="{245AC9C6-3D3B-4F89-9081-B388091200EC}"/>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11 / 30</a:t>
            </a:r>
          </a:p>
        </p:txBody>
      </p:sp>
      <p:sp>
        <p:nvSpPr>
          <p:cNvPr id="16" name="!!caption">
            <a:extLst xmlns:a="http://schemas.openxmlformats.org/drawingml/2006/main">
              <a:ext uri="{FF2B5EF4-FFF2-40B4-BE49-F238E27FC236}">
                <a16:creationId xmlns:a16="http://schemas.microsoft.com/office/drawing/2014/main" id="{F703F0EF-AB4C-4831-A7A9-707D7AB4150F}"/>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Luồng cloud hiện có trong mã nguồn</a:t>
            </a:r>
          </a:p>
        </p:txBody>
      </p:sp>
    </p:spTree>
    <p:extLst>
      <p:ext uri="{BB962C8B-B14F-4D97-AF65-F5344CB8AC3E}">
        <p14:creationId xmlns:p14="http://schemas.microsoft.com/office/powerpoint/2010/main" val="1172855285"/>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12.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22" name="!!backdrop"/>
          <p:cNvPicPr>
            <a:picLocks xmlns:a="http://schemas.openxmlformats.org/drawingml/2006/main" noChangeAspect="1"/>
          </p:cNvPicPr>
          <p:nvPr/>
        </p:nvPicPr>
        <p:blipFill>
          <a:blip xmlns:r="http://schemas.openxmlformats.org/officeDocument/2006/relationships" xmlns:a="http://schemas.openxmlformats.org/drawingml/2006/main" r:embed="R668ea16c213a46ef"/>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19E248DF-E4DB-4D7D-82C2-081F460A33E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D988D9F8-6246-4843-892F-AAE5A858E26D}"/>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Luồng hồ sơ lô</a:t>
            </a:r>
          </a:p>
        </p:txBody>
      </p:sp>
      <p:sp>
        <p:nvSpPr>
          <p:cNvPr id="4" name="!!flow-0-selection">
            <a:extLst xmlns:a="http://schemas.openxmlformats.org/drawingml/2006/main">
              <a:ext uri="{FF2B5EF4-FFF2-40B4-BE49-F238E27FC236}">
                <a16:creationId xmlns:a16="http://schemas.microsoft.com/office/drawing/2014/main" id="{B57BB9DA-C9ED-457D-9524-D8EAB545C29C}"/>
              </a:ext>
            </a:extLst>
          </p:cNvPr>
          <p:cNvSpPr>
            <a:spLocks xmlns:a="http://schemas.openxmlformats.org/drawingml/2006/main" noGrp="1"/>
          </p:cNvSpPr>
          <p:nvPr/>
        </p:nvSpPr>
        <p:spPr>
          <a:xfrm xmlns:a="http://schemas.openxmlformats.org/drawingml/2006/main">
            <a:off x="1057275" y="2562225"/>
            <a:ext cx="1104900" cy="11049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5" name="!!flow-0-icon-0">
            <a:extLst xmlns:a="http://schemas.openxmlformats.org/drawingml/2006/main">
              <a:ext uri="{FF2B5EF4-FFF2-40B4-BE49-F238E27FC236}">
                <a16:creationId xmlns:a16="http://schemas.microsoft.com/office/drawing/2014/main" id="{86E1B8C7-D91D-4F23-96AB-1BD7376BC891}"/>
              </a:ext>
            </a:extLst>
          </p:cNvPr>
          <p:cNvSpPr>
            <a:spLocks xmlns:a="http://schemas.openxmlformats.org/drawingml/2006/main" noGrp="1"/>
          </p:cNvSpPr>
          <p:nvPr/>
        </p:nvSpPr>
        <p:spPr>
          <a:xfrm xmlns:a="http://schemas.openxmlformats.org/drawingml/2006/main">
            <a:off x="1311402" y="2816352"/>
            <a:ext cx="596646" cy="596646"/>
          </a:xfrm>
          <a:custGeom xmlns:a="http://schemas.openxmlformats.org/drawingml/2006/main">
            <a:pathLst>
              <a:path w="228600" h="228600">
                <a:moveTo>
                  <a:pt x="19050" y="57150"/>
                </a:moveTo>
                <a:lnTo>
                  <a:pt x="85725" y="57150"/>
                </a:lnTo>
                <a:lnTo>
                  <a:pt x="114300" y="85725"/>
                </a:lnTo>
                <a:lnTo>
                  <a:pt x="209550" y="85725"/>
                </a:lnTo>
                <a:lnTo>
                  <a:pt x="209550" y="200025"/>
                </a:lnTo>
                <a:lnTo>
                  <a:pt x="19050" y="200025"/>
                </a:lnTo>
                <a:close/>
              </a:path>
            </a:pathLst>
          </a:custGeom>
          <a:noFill xmlns:a="http://schemas.openxmlformats.org/drawingml/2006/main"/>
          <a:ln xmlns:a="http://schemas.openxmlformats.org/drawingml/2006/main" w="21309">
            <a:solidFill>
              <a:srgbClr val="A3BCAB"/>
            </a:solidFill>
            <a:prstDash val="solid"/>
          </a:ln>
        </p:spPr>
      </p:sp>
      <p:sp>
        <p:nvSpPr>
          <p:cNvPr id="6" name="!!flow-label-0">
            <a:extLst xmlns:a="http://schemas.openxmlformats.org/drawingml/2006/main">
              <a:ext uri="{FF2B5EF4-FFF2-40B4-BE49-F238E27FC236}">
                <a16:creationId xmlns:a16="http://schemas.microsoft.com/office/drawing/2014/main" id="{8F572B67-CDE3-4B12-879D-7EC6B820C859}"/>
              </a:ext>
            </a:extLst>
          </p:cNvPr>
          <p:cNvSpPr>
            <a:spLocks xmlns:a="http://schemas.openxmlformats.org/drawingml/2006/main" noGrp="1"/>
          </p:cNvSpPr>
          <p:nvPr/>
        </p:nvSpPr>
        <p:spPr>
          <a:xfrm xmlns:a="http://schemas.openxmlformats.org/drawingml/2006/main">
            <a:off x="485775" y="4057650"/>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025" b="1">
                <a:solidFill>
                  <a:srgbClr val="F4F1E8"/>
                </a:solidFill>
                <a:latin typeface="Segoe UI"/>
                <a:ea typeface="Segoe UI"/>
                <a:cs typeface="Segoe UI"/>
              </a:defRPr>
            </a:pPr>
            <a:r>
              <a:rPr sz="2025" b="1">
                <a:solidFill>
                  <a:srgbClr val="F4F1E8"/>
                </a:solidFill>
                <a:latin typeface="Segoe UI"/>
                <a:ea typeface="Segoe UI"/>
                <a:cs typeface="Segoe UI"/>
              </a:rPr>
              <a:t>Tạo lô</a:t>
            </a:r>
          </a:p>
          <a:p xmlns:a="http://schemas.openxmlformats.org/drawingml/2006/main">
            <a:pPr>
              <a:defRPr sz="2025" b="1">
                <a:solidFill>
                  <a:srgbClr val="F4F1E8"/>
                </a:solidFill>
                <a:latin typeface="Segoe UI"/>
                <a:ea typeface="Segoe UI"/>
                <a:cs typeface="Segoe UI"/>
              </a:defRPr>
            </a:pPr>
            <a:r>
              <a:rPr sz="2025" b="1">
                <a:solidFill>
                  <a:srgbClr val="F4F1E8"/>
                </a:solidFill>
                <a:latin typeface="Segoe UI"/>
                <a:ea typeface="Segoe UI"/>
                <a:cs typeface="Segoe UI"/>
              </a:rPr>
              <a:t>riêng tư</a:t>
            </a:r>
          </a:p>
        </p:txBody>
      </p:sp>
      <p:sp>
        <p:nvSpPr>
          <p:cNvPr id="7" name="!!flow-1-selection">
            <a:extLst xmlns:a="http://schemas.openxmlformats.org/drawingml/2006/main">
              <a:ext uri="{FF2B5EF4-FFF2-40B4-BE49-F238E27FC236}">
                <a16:creationId xmlns:a16="http://schemas.microsoft.com/office/drawing/2014/main" id="{D24B12CB-B5C6-4FF2-9010-B38AD9C27E56}"/>
              </a:ext>
            </a:extLst>
          </p:cNvPr>
          <p:cNvSpPr>
            <a:spLocks xmlns:a="http://schemas.openxmlformats.org/drawingml/2006/main" noGrp="1"/>
          </p:cNvSpPr>
          <p:nvPr/>
        </p:nvSpPr>
        <p:spPr>
          <a:xfrm xmlns:a="http://schemas.openxmlformats.org/drawingml/2006/main">
            <a:off x="3848100" y="2562225"/>
            <a:ext cx="1104900" cy="11049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8" name="!!flow-1-icon-0">
            <a:extLst xmlns:a="http://schemas.openxmlformats.org/drawingml/2006/main">
              <a:ext uri="{FF2B5EF4-FFF2-40B4-BE49-F238E27FC236}">
                <a16:creationId xmlns:a16="http://schemas.microsoft.com/office/drawing/2014/main" id="{3B30BCB3-F400-4D99-A517-FFE6019BDB91}"/>
              </a:ext>
            </a:extLst>
          </p:cNvPr>
          <p:cNvSpPr>
            <a:spLocks xmlns:a="http://schemas.openxmlformats.org/drawingml/2006/main" noGrp="1"/>
          </p:cNvSpPr>
          <p:nvPr/>
        </p:nvSpPr>
        <p:spPr>
          <a:xfrm xmlns:a="http://schemas.openxmlformats.org/drawingml/2006/main">
            <a:off x="4102227" y="2816352"/>
            <a:ext cx="596646" cy="596646"/>
          </a:xfrm>
          <a:custGeom xmlns:a="http://schemas.openxmlformats.org/drawingml/2006/main">
            <a:pathLst>
              <a:path w="228600" h="228600">
                <a:moveTo>
                  <a:pt x="47625" y="19050"/>
                </a:moveTo>
                <a:lnTo>
                  <a:pt x="133350" y="19050"/>
                </a:lnTo>
                <a:lnTo>
                  <a:pt x="190500" y="76200"/>
                </a:lnTo>
                <a:lnTo>
                  <a:pt x="190500" y="209550"/>
                </a:lnTo>
                <a:lnTo>
                  <a:pt x="47625" y="209550"/>
                </a:lnTo>
                <a:close/>
              </a:path>
            </a:pathLst>
          </a:custGeom>
          <a:noFill xmlns:a="http://schemas.openxmlformats.org/drawingml/2006/main"/>
          <a:ln xmlns:a="http://schemas.openxmlformats.org/drawingml/2006/main" w="21309">
            <a:solidFill>
              <a:srgbClr val="A3BCAB"/>
            </a:solidFill>
            <a:prstDash val="solid"/>
          </a:ln>
        </p:spPr>
      </p:sp>
      <p:sp>
        <p:nvSpPr>
          <p:cNvPr id="9" name="!!flow-1-icon-1">
            <a:extLst xmlns:a="http://schemas.openxmlformats.org/drawingml/2006/main">
              <a:ext uri="{FF2B5EF4-FFF2-40B4-BE49-F238E27FC236}">
                <a16:creationId xmlns:a16="http://schemas.microsoft.com/office/drawing/2014/main" id="{988193AD-6E01-42A6-962F-AE773AA1359A}"/>
              </a:ext>
            </a:extLst>
          </p:cNvPr>
          <p:cNvSpPr>
            <a:spLocks xmlns:a="http://schemas.openxmlformats.org/drawingml/2006/main" noGrp="1"/>
          </p:cNvSpPr>
          <p:nvPr/>
        </p:nvSpPr>
        <p:spPr>
          <a:xfrm xmlns:a="http://schemas.openxmlformats.org/drawingml/2006/main">
            <a:off x="4102227" y="2816352"/>
            <a:ext cx="596646" cy="596646"/>
          </a:xfrm>
          <a:custGeom xmlns:a="http://schemas.openxmlformats.org/drawingml/2006/main">
            <a:pathLst>
              <a:path w="228600" h="228600">
                <a:moveTo>
                  <a:pt x="133350" y="19050"/>
                </a:moveTo>
                <a:lnTo>
                  <a:pt x="133350" y="76200"/>
                </a:lnTo>
                <a:lnTo>
                  <a:pt x="190500" y="76200"/>
                </a:lnTo>
              </a:path>
            </a:pathLst>
          </a:custGeom>
          <a:noFill xmlns:a="http://schemas.openxmlformats.org/drawingml/2006/main"/>
          <a:ln xmlns:a="http://schemas.openxmlformats.org/drawingml/2006/main" w="21309">
            <a:solidFill>
              <a:srgbClr val="A3BCAB"/>
            </a:solidFill>
            <a:prstDash val="solid"/>
          </a:ln>
        </p:spPr>
      </p:sp>
      <p:sp>
        <p:nvSpPr>
          <p:cNvPr id="10" name="!!flow-1-icon-2">
            <a:extLst xmlns:a="http://schemas.openxmlformats.org/drawingml/2006/main">
              <a:ext uri="{FF2B5EF4-FFF2-40B4-BE49-F238E27FC236}">
                <a16:creationId xmlns:a16="http://schemas.microsoft.com/office/drawing/2014/main" id="{687500D2-9503-4453-8C22-18D78D8BA738}"/>
              </a:ext>
            </a:extLst>
          </p:cNvPr>
          <p:cNvSpPr>
            <a:spLocks xmlns:a="http://schemas.openxmlformats.org/drawingml/2006/main" noGrp="1"/>
          </p:cNvSpPr>
          <p:nvPr/>
        </p:nvSpPr>
        <p:spPr>
          <a:xfrm xmlns:a="http://schemas.openxmlformats.org/drawingml/2006/main">
            <a:off x="4102227" y="2816352"/>
            <a:ext cx="596646" cy="596646"/>
          </a:xfrm>
          <a:custGeom xmlns:a="http://schemas.openxmlformats.org/drawingml/2006/main">
            <a:pathLst>
              <a:path w="228600" h="228600">
                <a:moveTo>
                  <a:pt x="76200" y="123825"/>
                </a:moveTo>
                <a:lnTo>
                  <a:pt x="161925" y="123825"/>
                </a:lnTo>
              </a:path>
            </a:pathLst>
          </a:custGeom>
          <a:noFill xmlns:a="http://schemas.openxmlformats.org/drawingml/2006/main"/>
          <a:ln xmlns:a="http://schemas.openxmlformats.org/drawingml/2006/main" w="21309">
            <a:solidFill>
              <a:srgbClr val="A3BCAB"/>
            </a:solidFill>
            <a:prstDash val="solid"/>
          </a:ln>
        </p:spPr>
      </p:sp>
      <p:sp>
        <p:nvSpPr>
          <p:cNvPr id="11" name="!!flow-1-icon-3">
            <a:extLst xmlns:a="http://schemas.openxmlformats.org/drawingml/2006/main">
              <a:ext uri="{FF2B5EF4-FFF2-40B4-BE49-F238E27FC236}">
                <a16:creationId xmlns:a16="http://schemas.microsoft.com/office/drawing/2014/main" id="{457C7FAA-47BC-4291-AE2F-8DF9FB04AD76}"/>
              </a:ext>
            </a:extLst>
          </p:cNvPr>
          <p:cNvSpPr>
            <a:spLocks xmlns:a="http://schemas.openxmlformats.org/drawingml/2006/main" noGrp="1"/>
          </p:cNvSpPr>
          <p:nvPr/>
        </p:nvSpPr>
        <p:spPr>
          <a:xfrm xmlns:a="http://schemas.openxmlformats.org/drawingml/2006/main">
            <a:off x="4102227" y="2816352"/>
            <a:ext cx="596646" cy="596646"/>
          </a:xfrm>
          <a:custGeom xmlns:a="http://schemas.openxmlformats.org/drawingml/2006/main">
            <a:pathLst>
              <a:path w="228600" h="228600">
                <a:moveTo>
                  <a:pt x="76200" y="161925"/>
                </a:moveTo>
                <a:lnTo>
                  <a:pt x="142875" y="161925"/>
                </a:lnTo>
              </a:path>
            </a:pathLst>
          </a:custGeom>
          <a:noFill xmlns:a="http://schemas.openxmlformats.org/drawingml/2006/main"/>
          <a:ln xmlns:a="http://schemas.openxmlformats.org/drawingml/2006/main" w="21309">
            <a:solidFill>
              <a:srgbClr val="A3BCAB"/>
            </a:solidFill>
            <a:prstDash val="solid"/>
          </a:ln>
        </p:spPr>
      </p:sp>
      <p:sp>
        <p:nvSpPr>
          <p:cNvPr id="12" name="!!flow-label-1">
            <a:extLst xmlns:a="http://schemas.openxmlformats.org/drawingml/2006/main">
              <a:ext uri="{FF2B5EF4-FFF2-40B4-BE49-F238E27FC236}">
                <a16:creationId xmlns:a16="http://schemas.microsoft.com/office/drawing/2014/main" id="{08E92A04-CE36-463A-B7E5-6E661C7E2785}"/>
              </a:ext>
            </a:extLst>
          </p:cNvPr>
          <p:cNvSpPr>
            <a:spLocks xmlns:a="http://schemas.openxmlformats.org/drawingml/2006/main" noGrp="1"/>
          </p:cNvSpPr>
          <p:nvPr/>
        </p:nvSpPr>
        <p:spPr>
          <a:xfrm xmlns:a="http://schemas.openxmlformats.org/drawingml/2006/main">
            <a:off x="3276600" y="4057650"/>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025" b="1">
                <a:solidFill>
                  <a:srgbClr val="F4F1E8"/>
                </a:solidFill>
                <a:latin typeface="Segoe UI"/>
                <a:ea typeface="Segoe UI"/>
                <a:cs typeface="Segoe UI"/>
              </a:defRPr>
            </a:pPr>
            <a:r>
              <a:rPr sz="2025" b="1">
                <a:solidFill>
                  <a:srgbClr val="F4F1E8"/>
                </a:solidFill>
                <a:latin typeface="Segoe UI"/>
                <a:ea typeface="Segoe UI"/>
                <a:cs typeface="Segoe UI"/>
              </a:rPr>
              <a:t>Ảnh và</a:t>
            </a:r>
          </a:p>
          <a:p xmlns:a="http://schemas.openxmlformats.org/drawingml/2006/main">
            <a:pPr>
              <a:defRPr sz="2025" b="1">
                <a:solidFill>
                  <a:srgbClr val="F4F1E8"/>
                </a:solidFill>
                <a:latin typeface="Segoe UI"/>
                <a:ea typeface="Segoe UI"/>
                <a:cs typeface="Segoe UI"/>
              </a:defRPr>
            </a:pPr>
            <a:r>
              <a:rPr sz="2025" b="1">
                <a:solidFill>
                  <a:srgbClr val="F4F1E8"/>
                </a:solidFill>
                <a:latin typeface="Segoe UI"/>
                <a:ea typeface="Segoe UI"/>
                <a:cs typeface="Segoe UI"/>
              </a:rPr>
              <a:t>tài liệu</a:t>
            </a:r>
          </a:p>
        </p:txBody>
      </p:sp>
      <p:cxnSp>
        <p:nvCxnSpPr>
          <p:cNvPr id="34" name="!!connector-4-0"/>
          <p:cNvCxnSpPr>
            <a:stCxn xmlns:a="http://schemas.openxmlformats.org/drawingml/2006/main" id="4" idx="6"/>
            <a:endCxn xmlns:a="http://schemas.openxmlformats.org/drawingml/2006/main" id="7" idx="2"/>
          </p:cNvCxnSpPr>
          <p:nvPr/>
        </p:nvCxnSpPr>
        <p:spPr>
          <a:xfrm xmlns:a="http://schemas.openxmlformats.org/drawingml/2006/main">
            <a:off x="2162175" y="3114675"/>
            <a:ext cx="1685925" cy="0"/>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sp>
        <p:nvSpPr>
          <p:cNvPr id="14" name="!!flow-2-selection">
            <a:extLst xmlns:a="http://schemas.openxmlformats.org/drawingml/2006/main">
              <a:ext uri="{FF2B5EF4-FFF2-40B4-BE49-F238E27FC236}">
                <a16:creationId xmlns:a16="http://schemas.microsoft.com/office/drawing/2014/main" id="{76C38FAF-A8D5-45EA-B894-FF9579A5CB6E}"/>
              </a:ext>
            </a:extLst>
          </p:cNvPr>
          <p:cNvSpPr>
            <a:spLocks xmlns:a="http://schemas.openxmlformats.org/drawingml/2006/main" noGrp="1"/>
          </p:cNvSpPr>
          <p:nvPr/>
        </p:nvSpPr>
        <p:spPr>
          <a:xfrm xmlns:a="http://schemas.openxmlformats.org/drawingml/2006/main">
            <a:off x="6496050" y="2419350"/>
            <a:ext cx="1390650" cy="139065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15" name="!!flow-2-icon-0">
            <a:extLst xmlns:a="http://schemas.openxmlformats.org/drawingml/2006/main">
              <a:ext uri="{FF2B5EF4-FFF2-40B4-BE49-F238E27FC236}">
                <a16:creationId xmlns:a16="http://schemas.microsoft.com/office/drawing/2014/main" id="{588E7BA8-D0FD-4FFF-BDB9-14D9EA2A8CCC}"/>
              </a:ext>
            </a:extLst>
          </p:cNvPr>
          <p:cNvSpPr>
            <a:spLocks xmlns:a="http://schemas.openxmlformats.org/drawingml/2006/main" noGrp="1"/>
          </p:cNvSpPr>
          <p:nvPr/>
        </p:nvSpPr>
        <p:spPr>
          <a:xfrm xmlns:a="http://schemas.openxmlformats.org/drawingml/2006/main">
            <a:off x="6878479" y="2801779"/>
            <a:ext cx="625793" cy="625793"/>
          </a:xfrm>
          <a:prstGeom xmlns:a="http://schemas.openxmlformats.org/drawingml/2006/main" prst="ellipse">
            <a:avLst/>
          </a:prstGeom>
          <a:noFill xmlns:a="http://schemas.openxmlformats.org/drawingml/2006/main"/>
          <a:ln xmlns:a="http://schemas.openxmlformats.org/drawingml/2006/main" w="26820">
            <a:solidFill>
              <a:srgbClr val="FFFFFF"/>
            </a:solidFill>
            <a:prstDash val="solid"/>
          </a:ln>
        </p:spPr>
      </p:sp>
      <p:sp>
        <p:nvSpPr>
          <p:cNvPr id="16" name="!!flow-2-icon-1">
            <a:extLst xmlns:a="http://schemas.openxmlformats.org/drawingml/2006/main">
              <a:ext uri="{FF2B5EF4-FFF2-40B4-BE49-F238E27FC236}">
                <a16:creationId xmlns:a16="http://schemas.microsoft.com/office/drawing/2014/main" id="{AA69A3A4-849C-4964-8D49-F569A967D54F}"/>
              </a:ext>
            </a:extLst>
          </p:cNvPr>
          <p:cNvSpPr>
            <a:spLocks xmlns:a="http://schemas.openxmlformats.org/drawingml/2006/main" noGrp="1"/>
          </p:cNvSpPr>
          <p:nvPr/>
        </p:nvSpPr>
        <p:spPr>
          <a:xfrm xmlns:a="http://schemas.openxmlformats.org/drawingml/2006/main">
            <a:off x="6815900" y="2739200"/>
            <a:ext cx="750951" cy="750951"/>
          </a:xfrm>
          <a:custGeom xmlns:a="http://schemas.openxmlformats.org/drawingml/2006/main">
            <a:pathLst>
              <a:path w="228600" h="228600">
                <a:moveTo>
                  <a:pt x="114300" y="47625"/>
                </a:moveTo>
                <a:lnTo>
                  <a:pt x="114300" y="114300"/>
                </a:lnTo>
                <a:lnTo>
                  <a:pt x="161925" y="142875"/>
                </a:lnTo>
              </a:path>
            </a:pathLst>
          </a:custGeom>
          <a:noFill xmlns:a="http://schemas.openxmlformats.org/drawingml/2006/main"/>
          <a:ln xmlns:a="http://schemas.openxmlformats.org/drawingml/2006/main" w="26820">
            <a:solidFill>
              <a:srgbClr val="FFFFFF"/>
            </a:solidFill>
            <a:prstDash val="solid"/>
          </a:ln>
        </p:spPr>
      </p:sp>
      <p:sp>
        <p:nvSpPr>
          <p:cNvPr id="17" name="!!flow-label-2">
            <a:extLst xmlns:a="http://schemas.openxmlformats.org/drawingml/2006/main">
              <a:ext uri="{FF2B5EF4-FFF2-40B4-BE49-F238E27FC236}">
                <a16:creationId xmlns:a16="http://schemas.microsoft.com/office/drawing/2014/main" id="{FF0DCC9F-398F-49EC-AD3D-9DFDD7FA85E9}"/>
              </a:ext>
            </a:extLst>
          </p:cNvPr>
          <p:cNvSpPr>
            <a:spLocks xmlns:a="http://schemas.openxmlformats.org/drawingml/2006/main" noGrp="1"/>
          </p:cNvSpPr>
          <p:nvPr/>
        </p:nvSpPr>
        <p:spPr>
          <a:xfrm xmlns:a="http://schemas.openxmlformats.org/drawingml/2006/main">
            <a:off x="6067425" y="4057650"/>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325" b="1">
                <a:solidFill>
                  <a:srgbClr val="F4F1E8"/>
                </a:solidFill>
                <a:latin typeface="Segoe UI"/>
                <a:ea typeface="Segoe UI"/>
                <a:cs typeface="Segoe UI"/>
              </a:defRPr>
            </a:pPr>
            <a:r>
              <a:rPr sz="2325" b="1">
                <a:solidFill>
                  <a:srgbClr val="F4F1E8"/>
                </a:solidFill>
                <a:latin typeface="Segoe UI"/>
                <a:ea typeface="Segoe UI"/>
                <a:cs typeface="Segoe UI"/>
              </a:rPr>
              <a:t>Lịch sử</a:t>
            </a:r>
          </a:p>
          <a:p xmlns:a="http://schemas.openxmlformats.org/drawingml/2006/main">
            <a:pPr>
              <a:defRPr sz="2325" b="1">
                <a:solidFill>
                  <a:srgbClr val="F4F1E8"/>
                </a:solidFill>
                <a:latin typeface="Segoe UI"/>
                <a:ea typeface="Segoe UI"/>
                <a:cs typeface="Segoe UI"/>
              </a:defRPr>
            </a:pPr>
            <a:r>
              <a:rPr sz="2325" b="1">
                <a:solidFill>
                  <a:srgbClr val="F4F1E8"/>
                </a:solidFill>
                <a:latin typeface="Segoe UI"/>
                <a:ea typeface="Segoe UI"/>
                <a:cs typeface="Segoe UI"/>
              </a:rPr>
              <a:t>hành trình</a:t>
            </a:r>
          </a:p>
        </p:txBody>
      </p:sp>
      <p:cxnSp>
        <p:nvCxnSpPr>
          <p:cNvPr id="39" name="!!connector-4-1"/>
          <p:cNvCxnSpPr>
            <a:stCxn xmlns:a="http://schemas.openxmlformats.org/drawingml/2006/main" id="7" idx="6"/>
            <a:endCxn xmlns:a="http://schemas.openxmlformats.org/drawingml/2006/main" id="14" idx="2"/>
          </p:cNvCxnSpPr>
          <p:nvPr/>
        </p:nvCxnSpPr>
        <p:spPr>
          <a:xfrm xmlns:a="http://schemas.openxmlformats.org/drawingml/2006/main">
            <a:off x="4953000" y="3114675"/>
            <a:ext cx="1543050" cy="0"/>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sp>
        <p:nvSpPr>
          <p:cNvPr id="19" name="!!flow-note">
            <a:extLst xmlns:a="http://schemas.openxmlformats.org/drawingml/2006/main">
              <a:ext uri="{FF2B5EF4-FFF2-40B4-BE49-F238E27FC236}">
                <a16:creationId xmlns:a16="http://schemas.microsoft.com/office/drawing/2014/main" id="{9B0802FA-417B-4645-AE7F-AC0E89972014}"/>
              </a:ext>
            </a:extLst>
          </p:cNvPr>
          <p:cNvSpPr>
            <a:spLocks xmlns:a="http://schemas.openxmlformats.org/drawingml/2006/main" noGrp="1"/>
          </p:cNvSpPr>
          <p:nvPr/>
        </p:nvSpPr>
        <p:spPr>
          <a:xfrm xmlns:a="http://schemas.openxmlformats.org/drawingml/2006/main">
            <a:off x="609600" y="532447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325" b="0">
                <a:solidFill>
                  <a:srgbClr val="F4F1E8"/>
                </a:solidFill>
                <a:latin typeface="Segoe UI"/>
                <a:ea typeface="Segoe UI"/>
                <a:cs typeface="Segoe UI"/>
              </a:defRPr>
            </a:pPr>
            <a:r>
              <a:rPr sz="2325" b="0">
                <a:solidFill>
                  <a:srgbClr val="F4F1E8"/>
                </a:solidFill>
                <a:latin typeface="Segoe UI"/>
                <a:ea typeface="Segoe UI"/>
                <a:cs typeface="Segoe UI"/>
              </a:rPr>
              <a:t>Thêm mốc mới để đính chính lịch sử</a:t>
            </a:r>
          </a:p>
        </p:txBody>
      </p:sp>
      <p:sp>
        <p:nvSpPr>
          <p:cNvPr id="20" name="!!page">
            <a:extLst xmlns:a="http://schemas.openxmlformats.org/drawingml/2006/main">
              <a:ext uri="{FF2B5EF4-FFF2-40B4-BE49-F238E27FC236}">
                <a16:creationId xmlns:a16="http://schemas.microsoft.com/office/drawing/2014/main" id="{4E357505-DDEC-406C-A729-0D2B65D3D559}"/>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12 / 30</a:t>
            </a:r>
          </a:p>
        </p:txBody>
      </p:sp>
      <p:sp>
        <p:nvSpPr>
          <p:cNvPr id="21" name="!!caption">
            <a:extLst xmlns:a="http://schemas.openxmlformats.org/drawingml/2006/main">
              <a:ext uri="{FF2B5EF4-FFF2-40B4-BE49-F238E27FC236}">
                <a16:creationId xmlns:a16="http://schemas.microsoft.com/office/drawing/2014/main" id="{313FF846-1246-46A2-BEEE-80614E1077ED}"/>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Luồng cloud hiện có trong mã nguồn</a:t>
            </a:r>
          </a:p>
        </p:txBody>
      </p:sp>
    </p:spTree>
    <p:extLst>
      <p:ext uri="{BB962C8B-B14F-4D97-AF65-F5344CB8AC3E}">
        <p14:creationId xmlns:p14="http://schemas.microsoft.com/office/powerpoint/2010/main" val="782166585"/>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13.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30" name="!!backdrop"/>
          <p:cNvPicPr>
            <a:picLocks xmlns:a="http://schemas.openxmlformats.org/drawingml/2006/main" noChangeAspect="1"/>
          </p:cNvPicPr>
          <p:nvPr/>
        </p:nvPicPr>
        <p:blipFill>
          <a:blip xmlns:r="http://schemas.openxmlformats.org/officeDocument/2006/relationships" xmlns:a="http://schemas.openxmlformats.org/drawingml/2006/main" r:embed="R44292af2a80646c0"/>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81B6C701-040F-4C75-B705-E7AA9D949DF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C88FDE34-9454-4C12-9A0D-6F19B4A2A560}"/>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Luồng hồ sơ lô</a:t>
            </a:r>
          </a:p>
        </p:txBody>
      </p:sp>
      <p:sp>
        <p:nvSpPr>
          <p:cNvPr id="4" name="!!flow-0-selection">
            <a:extLst xmlns:a="http://schemas.openxmlformats.org/drawingml/2006/main">
              <a:ext uri="{FF2B5EF4-FFF2-40B4-BE49-F238E27FC236}">
                <a16:creationId xmlns:a16="http://schemas.microsoft.com/office/drawing/2014/main" id="{B81630B7-00DB-472D-84F1-8F97F516247C}"/>
              </a:ext>
            </a:extLst>
          </p:cNvPr>
          <p:cNvSpPr>
            <a:spLocks xmlns:a="http://schemas.openxmlformats.org/drawingml/2006/main" noGrp="1"/>
          </p:cNvSpPr>
          <p:nvPr/>
        </p:nvSpPr>
        <p:spPr>
          <a:xfrm xmlns:a="http://schemas.openxmlformats.org/drawingml/2006/main">
            <a:off x="1057275" y="2562225"/>
            <a:ext cx="1104900" cy="11049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5" name="!!flow-0-icon-0">
            <a:extLst xmlns:a="http://schemas.openxmlformats.org/drawingml/2006/main">
              <a:ext uri="{FF2B5EF4-FFF2-40B4-BE49-F238E27FC236}">
                <a16:creationId xmlns:a16="http://schemas.microsoft.com/office/drawing/2014/main" id="{0078BEEC-D0E9-42E1-BD4A-0EF0E4A04B22}"/>
              </a:ext>
            </a:extLst>
          </p:cNvPr>
          <p:cNvSpPr>
            <a:spLocks xmlns:a="http://schemas.openxmlformats.org/drawingml/2006/main" noGrp="1"/>
          </p:cNvSpPr>
          <p:nvPr/>
        </p:nvSpPr>
        <p:spPr>
          <a:xfrm xmlns:a="http://schemas.openxmlformats.org/drawingml/2006/main">
            <a:off x="1311402" y="2816352"/>
            <a:ext cx="596646" cy="596646"/>
          </a:xfrm>
          <a:custGeom xmlns:a="http://schemas.openxmlformats.org/drawingml/2006/main">
            <a:pathLst>
              <a:path w="228600" h="228600">
                <a:moveTo>
                  <a:pt x="19050" y="57150"/>
                </a:moveTo>
                <a:lnTo>
                  <a:pt x="85725" y="57150"/>
                </a:lnTo>
                <a:lnTo>
                  <a:pt x="114300" y="85725"/>
                </a:lnTo>
                <a:lnTo>
                  <a:pt x="209550" y="85725"/>
                </a:lnTo>
                <a:lnTo>
                  <a:pt x="209550" y="200025"/>
                </a:lnTo>
                <a:lnTo>
                  <a:pt x="19050" y="200025"/>
                </a:lnTo>
                <a:close/>
              </a:path>
            </a:pathLst>
          </a:custGeom>
          <a:noFill xmlns:a="http://schemas.openxmlformats.org/drawingml/2006/main"/>
          <a:ln xmlns:a="http://schemas.openxmlformats.org/drawingml/2006/main" w="21309">
            <a:solidFill>
              <a:srgbClr val="A3BCAB"/>
            </a:solidFill>
            <a:prstDash val="solid"/>
          </a:ln>
        </p:spPr>
      </p:sp>
      <p:sp>
        <p:nvSpPr>
          <p:cNvPr id="6" name="!!flow-label-0">
            <a:extLst xmlns:a="http://schemas.openxmlformats.org/drawingml/2006/main">
              <a:ext uri="{FF2B5EF4-FFF2-40B4-BE49-F238E27FC236}">
                <a16:creationId xmlns:a16="http://schemas.microsoft.com/office/drawing/2014/main" id="{D65422E2-EA2F-40A0-AE2F-4A41493DEF65}"/>
              </a:ext>
            </a:extLst>
          </p:cNvPr>
          <p:cNvSpPr>
            <a:spLocks xmlns:a="http://schemas.openxmlformats.org/drawingml/2006/main" noGrp="1"/>
          </p:cNvSpPr>
          <p:nvPr/>
        </p:nvSpPr>
        <p:spPr>
          <a:xfrm xmlns:a="http://schemas.openxmlformats.org/drawingml/2006/main">
            <a:off x="485775" y="4057650"/>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025" b="1">
                <a:solidFill>
                  <a:srgbClr val="F4F1E8"/>
                </a:solidFill>
                <a:latin typeface="Segoe UI"/>
                <a:ea typeface="Segoe UI"/>
                <a:cs typeface="Segoe UI"/>
              </a:defRPr>
            </a:pPr>
            <a:r>
              <a:rPr sz="2025" b="1">
                <a:solidFill>
                  <a:srgbClr val="F4F1E8"/>
                </a:solidFill>
                <a:latin typeface="Segoe UI"/>
                <a:ea typeface="Segoe UI"/>
                <a:cs typeface="Segoe UI"/>
              </a:rPr>
              <a:t>Tạo lô</a:t>
            </a:r>
          </a:p>
          <a:p xmlns:a="http://schemas.openxmlformats.org/drawingml/2006/main">
            <a:pPr>
              <a:defRPr sz="2025" b="1">
                <a:solidFill>
                  <a:srgbClr val="F4F1E8"/>
                </a:solidFill>
                <a:latin typeface="Segoe UI"/>
                <a:ea typeface="Segoe UI"/>
                <a:cs typeface="Segoe UI"/>
              </a:defRPr>
            </a:pPr>
            <a:r>
              <a:rPr sz="2025" b="1">
                <a:solidFill>
                  <a:srgbClr val="F4F1E8"/>
                </a:solidFill>
                <a:latin typeface="Segoe UI"/>
                <a:ea typeface="Segoe UI"/>
                <a:cs typeface="Segoe UI"/>
              </a:rPr>
              <a:t>riêng tư</a:t>
            </a:r>
          </a:p>
        </p:txBody>
      </p:sp>
      <p:sp>
        <p:nvSpPr>
          <p:cNvPr id="7" name="!!flow-1-selection">
            <a:extLst xmlns:a="http://schemas.openxmlformats.org/drawingml/2006/main">
              <a:ext uri="{FF2B5EF4-FFF2-40B4-BE49-F238E27FC236}">
                <a16:creationId xmlns:a16="http://schemas.microsoft.com/office/drawing/2014/main" id="{635E3DEE-DE49-4CB7-BFE9-2A818E6EB573}"/>
              </a:ext>
            </a:extLst>
          </p:cNvPr>
          <p:cNvSpPr>
            <a:spLocks xmlns:a="http://schemas.openxmlformats.org/drawingml/2006/main" noGrp="1"/>
          </p:cNvSpPr>
          <p:nvPr/>
        </p:nvSpPr>
        <p:spPr>
          <a:xfrm xmlns:a="http://schemas.openxmlformats.org/drawingml/2006/main">
            <a:off x="3848100" y="2562225"/>
            <a:ext cx="1104900" cy="11049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8" name="!!flow-1-icon-0">
            <a:extLst xmlns:a="http://schemas.openxmlformats.org/drawingml/2006/main">
              <a:ext uri="{FF2B5EF4-FFF2-40B4-BE49-F238E27FC236}">
                <a16:creationId xmlns:a16="http://schemas.microsoft.com/office/drawing/2014/main" id="{67BE1923-77BC-468D-AB6E-1FE276D2F4DD}"/>
              </a:ext>
            </a:extLst>
          </p:cNvPr>
          <p:cNvSpPr>
            <a:spLocks xmlns:a="http://schemas.openxmlformats.org/drawingml/2006/main" noGrp="1"/>
          </p:cNvSpPr>
          <p:nvPr/>
        </p:nvSpPr>
        <p:spPr>
          <a:xfrm xmlns:a="http://schemas.openxmlformats.org/drawingml/2006/main">
            <a:off x="4102227" y="2816352"/>
            <a:ext cx="596646" cy="596646"/>
          </a:xfrm>
          <a:custGeom xmlns:a="http://schemas.openxmlformats.org/drawingml/2006/main">
            <a:pathLst>
              <a:path w="228600" h="228600">
                <a:moveTo>
                  <a:pt x="47625" y="19050"/>
                </a:moveTo>
                <a:lnTo>
                  <a:pt x="133350" y="19050"/>
                </a:lnTo>
                <a:lnTo>
                  <a:pt x="190500" y="76200"/>
                </a:lnTo>
                <a:lnTo>
                  <a:pt x="190500" y="209550"/>
                </a:lnTo>
                <a:lnTo>
                  <a:pt x="47625" y="209550"/>
                </a:lnTo>
                <a:close/>
              </a:path>
            </a:pathLst>
          </a:custGeom>
          <a:noFill xmlns:a="http://schemas.openxmlformats.org/drawingml/2006/main"/>
          <a:ln xmlns:a="http://schemas.openxmlformats.org/drawingml/2006/main" w="21309">
            <a:solidFill>
              <a:srgbClr val="A3BCAB"/>
            </a:solidFill>
            <a:prstDash val="solid"/>
          </a:ln>
        </p:spPr>
      </p:sp>
      <p:sp>
        <p:nvSpPr>
          <p:cNvPr id="9" name="!!flow-1-icon-1">
            <a:extLst xmlns:a="http://schemas.openxmlformats.org/drawingml/2006/main">
              <a:ext uri="{FF2B5EF4-FFF2-40B4-BE49-F238E27FC236}">
                <a16:creationId xmlns:a16="http://schemas.microsoft.com/office/drawing/2014/main" id="{3299E0F0-083E-4A48-A57A-8BA211E4CD8C}"/>
              </a:ext>
            </a:extLst>
          </p:cNvPr>
          <p:cNvSpPr>
            <a:spLocks xmlns:a="http://schemas.openxmlformats.org/drawingml/2006/main" noGrp="1"/>
          </p:cNvSpPr>
          <p:nvPr/>
        </p:nvSpPr>
        <p:spPr>
          <a:xfrm xmlns:a="http://schemas.openxmlformats.org/drawingml/2006/main">
            <a:off x="4102227" y="2816352"/>
            <a:ext cx="596646" cy="596646"/>
          </a:xfrm>
          <a:custGeom xmlns:a="http://schemas.openxmlformats.org/drawingml/2006/main">
            <a:pathLst>
              <a:path w="228600" h="228600">
                <a:moveTo>
                  <a:pt x="133350" y="19050"/>
                </a:moveTo>
                <a:lnTo>
                  <a:pt x="133350" y="76200"/>
                </a:lnTo>
                <a:lnTo>
                  <a:pt x="190500" y="76200"/>
                </a:lnTo>
              </a:path>
            </a:pathLst>
          </a:custGeom>
          <a:noFill xmlns:a="http://schemas.openxmlformats.org/drawingml/2006/main"/>
          <a:ln xmlns:a="http://schemas.openxmlformats.org/drawingml/2006/main" w="21309">
            <a:solidFill>
              <a:srgbClr val="A3BCAB"/>
            </a:solidFill>
            <a:prstDash val="solid"/>
          </a:ln>
        </p:spPr>
      </p:sp>
      <p:sp>
        <p:nvSpPr>
          <p:cNvPr id="10" name="!!flow-1-icon-2">
            <a:extLst xmlns:a="http://schemas.openxmlformats.org/drawingml/2006/main">
              <a:ext uri="{FF2B5EF4-FFF2-40B4-BE49-F238E27FC236}">
                <a16:creationId xmlns:a16="http://schemas.microsoft.com/office/drawing/2014/main" id="{3117F1D5-91AA-40C2-B079-33F5C1C033CD}"/>
              </a:ext>
            </a:extLst>
          </p:cNvPr>
          <p:cNvSpPr>
            <a:spLocks xmlns:a="http://schemas.openxmlformats.org/drawingml/2006/main" noGrp="1"/>
          </p:cNvSpPr>
          <p:nvPr/>
        </p:nvSpPr>
        <p:spPr>
          <a:xfrm xmlns:a="http://schemas.openxmlformats.org/drawingml/2006/main">
            <a:off x="4102227" y="2816352"/>
            <a:ext cx="596646" cy="596646"/>
          </a:xfrm>
          <a:custGeom xmlns:a="http://schemas.openxmlformats.org/drawingml/2006/main">
            <a:pathLst>
              <a:path w="228600" h="228600">
                <a:moveTo>
                  <a:pt x="76200" y="123825"/>
                </a:moveTo>
                <a:lnTo>
                  <a:pt x="161925" y="123825"/>
                </a:lnTo>
              </a:path>
            </a:pathLst>
          </a:custGeom>
          <a:noFill xmlns:a="http://schemas.openxmlformats.org/drawingml/2006/main"/>
          <a:ln xmlns:a="http://schemas.openxmlformats.org/drawingml/2006/main" w="21309">
            <a:solidFill>
              <a:srgbClr val="A3BCAB"/>
            </a:solidFill>
            <a:prstDash val="solid"/>
          </a:ln>
        </p:spPr>
      </p:sp>
      <p:sp>
        <p:nvSpPr>
          <p:cNvPr id="11" name="!!flow-1-icon-3">
            <a:extLst xmlns:a="http://schemas.openxmlformats.org/drawingml/2006/main">
              <a:ext uri="{FF2B5EF4-FFF2-40B4-BE49-F238E27FC236}">
                <a16:creationId xmlns:a16="http://schemas.microsoft.com/office/drawing/2014/main" id="{008C68AB-FE79-4CD9-8631-DD0790D1EF96}"/>
              </a:ext>
            </a:extLst>
          </p:cNvPr>
          <p:cNvSpPr>
            <a:spLocks xmlns:a="http://schemas.openxmlformats.org/drawingml/2006/main" noGrp="1"/>
          </p:cNvSpPr>
          <p:nvPr/>
        </p:nvSpPr>
        <p:spPr>
          <a:xfrm xmlns:a="http://schemas.openxmlformats.org/drawingml/2006/main">
            <a:off x="4102227" y="2816352"/>
            <a:ext cx="596646" cy="596646"/>
          </a:xfrm>
          <a:custGeom xmlns:a="http://schemas.openxmlformats.org/drawingml/2006/main">
            <a:pathLst>
              <a:path w="228600" h="228600">
                <a:moveTo>
                  <a:pt x="76200" y="161925"/>
                </a:moveTo>
                <a:lnTo>
                  <a:pt x="142875" y="161925"/>
                </a:lnTo>
              </a:path>
            </a:pathLst>
          </a:custGeom>
          <a:noFill xmlns:a="http://schemas.openxmlformats.org/drawingml/2006/main"/>
          <a:ln xmlns:a="http://schemas.openxmlformats.org/drawingml/2006/main" w="21309">
            <a:solidFill>
              <a:srgbClr val="A3BCAB"/>
            </a:solidFill>
            <a:prstDash val="solid"/>
          </a:ln>
        </p:spPr>
      </p:sp>
      <p:sp>
        <p:nvSpPr>
          <p:cNvPr id="12" name="!!flow-label-1">
            <a:extLst xmlns:a="http://schemas.openxmlformats.org/drawingml/2006/main">
              <a:ext uri="{FF2B5EF4-FFF2-40B4-BE49-F238E27FC236}">
                <a16:creationId xmlns:a16="http://schemas.microsoft.com/office/drawing/2014/main" id="{73AAE066-BA7C-42A3-B413-1D80D654C156}"/>
              </a:ext>
            </a:extLst>
          </p:cNvPr>
          <p:cNvSpPr>
            <a:spLocks xmlns:a="http://schemas.openxmlformats.org/drawingml/2006/main" noGrp="1"/>
          </p:cNvSpPr>
          <p:nvPr/>
        </p:nvSpPr>
        <p:spPr>
          <a:xfrm xmlns:a="http://schemas.openxmlformats.org/drawingml/2006/main">
            <a:off x="3276600" y="4057650"/>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025" b="1">
                <a:solidFill>
                  <a:srgbClr val="F4F1E8"/>
                </a:solidFill>
                <a:latin typeface="Segoe UI"/>
                <a:ea typeface="Segoe UI"/>
                <a:cs typeface="Segoe UI"/>
              </a:defRPr>
            </a:pPr>
            <a:r>
              <a:rPr sz="2025" b="1">
                <a:solidFill>
                  <a:srgbClr val="F4F1E8"/>
                </a:solidFill>
                <a:latin typeface="Segoe UI"/>
                <a:ea typeface="Segoe UI"/>
                <a:cs typeface="Segoe UI"/>
              </a:rPr>
              <a:t>Ảnh và</a:t>
            </a:r>
          </a:p>
          <a:p xmlns:a="http://schemas.openxmlformats.org/drawingml/2006/main">
            <a:pPr>
              <a:defRPr sz="2025" b="1">
                <a:solidFill>
                  <a:srgbClr val="F4F1E8"/>
                </a:solidFill>
                <a:latin typeface="Segoe UI"/>
                <a:ea typeface="Segoe UI"/>
                <a:cs typeface="Segoe UI"/>
              </a:defRPr>
            </a:pPr>
            <a:r>
              <a:rPr sz="2025" b="1">
                <a:solidFill>
                  <a:srgbClr val="F4F1E8"/>
                </a:solidFill>
                <a:latin typeface="Segoe UI"/>
                <a:ea typeface="Segoe UI"/>
                <a:cs typeface="Segoe UI"/>
              </a:rPr>
              <a:t>tài liệu</a:t>
            </a:r>
          </a:p>
        </p:txBody>
      </p:sp>
      <p:cxnSp>
        <p:nvCxnSpPr>
          <p:cNvPr id="42" name="!!connector-4-0"/>
          <p:cNvCxnSpPr>
            <a:stCxn xmlns:a="http://schemas.openxmlformats.org/drawingml/2006/main" id="4" idx="6"/>
            <a:endCxn xmlns:a="http://schemas.openxmlformats.org/drawingml/2006/main" id="7" idx="2"/>
          </p:cNvCxnSpPr>
          <p:nvPr/>
        </p:nvCxnSpPr>
        <p:spPr>
          <a:xfrm xmlns:a="http://schemas.openxmlformats.org/drawingml/2006/main">
            <a:off x="2162175" y="3114675"/>
            <a:ext cx="1685925" cy="0"/>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sp>
        <p:nvSpPr>
          <p:cNvPr id="14" name="!!flow-2-selection">
            <a:extLst xmlns:a="http://schemas.openxmlformats.org/drawingml/2006/main">
              <a:ext uri="{FF2B5EF4-FFF2-40B4-BE49-F238E27FC236}">
                <a16:creationId xmlns:a16="http://schemas.microsoft.com/office/drawing/2014/main" id="{F5F6A740-2D0D-4231-9F95-D5E9B35001CF}"/>
              </a:ext>
            </a:extLst>
          </p:cNvPr>
          <p:cNvSpPr>
            <a:spLocks xmlns:a="http://schemas.openxmlformats.org/drawingml/2006/main" noGrp="1"/>
          </p:cNvSpPr>
          <p:nvPr/>
        </p:nvSpPr>
        <p:spPr>
          <a:xfrm xmlns:a="http://schemas.openxmlformats.org/drawingml/2006/main">
            <a:off x="6638925" y="2562225"/>
            <a:ext cx="1104900" cy="11049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15" name="!!flow-2-icon-0">
            <a:extLst xmlns:a="http://schemas.openxmlformats.org/drawingml/2006/main">
              <a:ext uri="{FF2B5EF4-FFF2-40B4-BE49-F238E27FC236}">
                <a16:creationId xmlns:a16="http://schemas.microsoft.com/office/drawing/2014/main" id="{B36D523C-82AC-4716-BCCE-F9ABBFB06F8B}"/>
              </a:ext>
            </a:extLst>
          </p:cNvPr>
          <p:cNvSpPr>
            <a:spLocks xmlns:a="http://schemas.openxmlformats.org/drawingml/2006/main" noGrp="1"/>
          </p:cNvSpPr>
          <p:nvPr/>
        </p:nvSpPr>
        <p:spPr>
          <a:xfrm xmlns:a="http://schemas.openxmlformats.org/drawingml/2006/main">
            <a:off x="6942773" y="2866073"/>
            <a:ext cx="497205" cy="497205"/>
          </a:xfrm>
          <a:prstGeom xmlns:a="http://schemas.openxmlformats.org/drawingml/2006/main" prst="ellipse">
            <a:avLst/>
          </a:prstGeom>
          <a:noFill xmlns:a="http://schemas.openxmlformats.org/drawingml/2006/main"/>
          <a:ln xmlns:a="http://schemas.openxmlformats.org/drawingml/2006/main" w="21309">
            <a:solidFill>
              <a:srgbClr val="A3BCAB"/>
            </a:solidFill>
            <a:prstDash val="solid"/>
          </a:ln>
        </p:spPr>
      </p:sp>
      <p:sp>
        <p:nvSpPr>
          <p:cNvPr id="16" name="!!flow-2-icon-1">
            <a:extLst xmlns:a="http://schemas.openxmlformats.org/drawingml/2006/main">
              <a:ext uri="{FF2B5EF4-FFF2-40B4-BE49-F238E27FC236}">
                <a16:creationId xmlns:a16="http://schemas.microsoft.com/office/drawing/2014/main" id="{6286C6F9-19FE-4138-9AB7-D75B43A57574}"/>
              </a:ext>
            </a:extLst>
          </p:cNvPr>
          <p:cNvSpPr>
            <a:spLocks xmlns:a="http://schemas.openxmlformats.org/drawingml/2006/main" noGrp="1"/>
          </p:cNvSpPr>
          <p:nvPr/>
        </p:nvSpPr>
        <p:spPr>
          <a:xfrm xmlns:a="http://schemas.openxmlformats.org/drawingml/2006/main">
            <a:off x="6893052" y="2816352"/>
            <a:ext cx="596646" cy="596646"/>
          </a:xfrm>
          <a:custGeom xmlns:a="http://schemas.openxmlformats.org/drawingml/2006/main">
            <a:pathLst>
              <a:path w="228600" h="228600">
                <a:moveTo>
                  <a:pt x="114300" y="47625"/>
                </a:moveTo>
                <a:lnTo>
                  <a:pt x="114300" y="114300"/>
                </a:lnTo>
                <a:lnTo>
                  <a:pt x="161925" y="142875"/>
                </a:lnTo>
              </a:path>
            </a:pathLst>
          </a:custGeom>
          <a:noFill xmlns:a="http://schemas.openxmlformats.org/drawingml/2006/main"/>
          <a:ln xmlns:a="http://schemas.openxmlformats.org/drawingml/2006/main" w="21309">
            <a:solidFill>
              <a:srgbClr val="A3BCAB"/>
            </a:solidFill>
            <a:prstDash val="solid"/>
          </a:ln>
        </p:spPr>
      </p:sp>
      <p:sp>
        <p:nvSpPr>
          <p:cNvPr id="17" name="!!flow-label-2">
            <a:extLst xmlns:a="http://schemas.openxmlformats.org/drawingml/2006/main">
              <a:ext uri="{FF2B5EF4-FFF2-40B4-BE49-F238E27FC236}">
                <a16:creationId xmlns:a16="http://schemas.microsoft.com/office/drawing/2014/main" id="{5963FC1A-02F8-464B-A721-F271DDDFB09F}"/>
              </a:ext>
            </a:extLst>
          </p:cNvPr>
          <p:cNvSpPr>
            <a:spLocks xmlns:a="http://schemas.openxmlformats.org/drawingml/2006/main" noGrp="1"/>
          </p:cNvSpPr>
          <p:nvPr/>
        </p:nvSpPr>
        <p:spPr>
          <a:xfrm xmlns:a="http://schemas.openxmlformats.org/drawingml/2006/main">
            <a:off x="6067425" y="4057650"/>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025" b="1">
                <a:solidFill>
                  <a:srgbClr val="F4F1E8"/>
                </a:solidFill>
                <a:latin typeface="Segoe UI"/>
                <a:ea typeface="Segoe UI"/>
                <a:cs typeface="Segoe UI"/>
              </a:defRPr>
            </a:pPr>
            <a:r>
              <a:rPr sz="2025" b="1">
                <a:solidFill>
                  <a:srgbClr val="F4F1E8"/>
                </a:solidFill>
                <a:latin typeface="Segoe UI"/>
                <a:ea typeface="Segoe UI"/>
                <a:cs typeface="Segoe UI"/>
              </a:rPr>
              <a:t>Lịch sử</a:t>
            </a:r>
          </a:p>
          <a:p xmlns:a="http://schemas.openxmlformats.org/drawingml/2006/main">
            <a:pPr>
              <a:defRPr sz="2025" b="1">
                <a:solidFill>
                  <a:srgbClr val="F4F1E8"/>
                </a:solidFill>
                <a:latin typeface="Segoe UI"/>
                <a:ea typeface="Segoe UI"/>
                <a:cs typeface="Segoe UI"/>
              </a:defRPr>
            </a:pPr>
            <a:r>
              <a:rPr sz="2025" b="1">
                <a:solidFill>
                  <a:srgbClr val="F4F1E8"/>
                </a:solidFill>
                <a:latin typeface="Segoe UI"/>
                <a:ea typeface="Segoe UI"/>
                <a:cs typeface="Segoe UI"/>
              </a:rPr>
              <a:t>hành trình</a:t>
            </a:r>
          </a:p>
        </p:txBody>
      </p:sp>
      <p:cxnSp>
        <p:nvCxnSpPr>
          <p:cNvPr id="47" name="!!connector-4-1"/>
          <p:cNvCxnSpPr>
            <a:stCxn xmlns:a="http://schemas.openxmlformats.org/drawingml/2006/main" id="7" idx="6"/>
            <a:endCxn xmlns:a="http://schemas.openxmlformats.org/drawingml/2006/main" id="14" idx="2"/>
          </p:cNvCxnSpPr>
          <p:nvPr/>
        </p:nvCxnSpPr>
        <p:spPr>
          <a:xfrm xmlns:a="http://schemas.openxmlformats.org/drawingml/2006/main">
            <a:off x="4953000" y="3114675"/>
            <a:ext cx="1685925" cy="0"/>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sp>
        <p:nvSpPr>
          <p:cNvPr id="19" name="!!flow-3-selection">
            <a:extLst xmlns:a="http://schemas.openxmlformats.org/drawingml/2006/main">
              <a:ext uri="{FF2B5EF4-FFF2-40B4-BE49-F238E27FC236}">
                <a16:creationId xmlns:a16="http://schemas.microsoft.com/office/drawing/2014/main" id="{955A04C3-9907-48B6-9E58-31BF728217C8}"/>
              </a:ext>
            </a:extLst>
          </p:cNvPr>
          <p:cNvSpPr>
            <a:spLocks xmlns:a="http://schemas.openxmlformats.org/drawingml/2006/main" noGrp="1"/>
          </p:cNvSpPr>
          <p:nvPr/>
        </p:nvSpPr>
        <p:spPr>
          <a:xfrm xmlns:a="http://schemas.openxmlformats.org/drawingml/2006/main">
            <a:off x="9286875" y="2419350"/>
            <a:ext cx="1390650" cy="139065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20" name="!!flow-3-icon-0">
            <a:extLst xmlns:a="http://schemas.openxmlformats.org/drawingml/2006/main">
              <a:ext uri="{FF2B5EF4-FFF2-40B4-BE49-F238E27FC236}">
                <a16:creationId xmlns:a16="http://schemas.microsoft.com/office/drawing/2014/main" id="{4CF43A53-0404-4C2D-B5F4-05AF649CB908}"/>
              </a:ext>
            </a:extLst>
          </p:cNvPr>
          <p:cNvSpPr>
            <a:spLocks xmlns:a="http://schemas.openxmlformats.org/drawingml/2006/main" noGrp="1"/>
          </p:cNvSpPr>
          <p:nvPr/>
        </p:nvSpPr>
        <p:spPr>
          <a:xfrm xmlns:a="http://schemas.openxmlformats.org/drawingml/2006/main">
            <a:off x="9606725" y="2739200"/>
            <a:ext cx="750951" cy="750951"/>
          </a:xfrm>
          <a:custGeom xmlns:a="http://schemas.openxmlformats.org/drawingml/2006/main">
            <a:pathLst>
              <a:path w="228600" h="228600">
                <a:moveTo>
                  <a:pt x="19050" y="76200"/>
                </a:moveTo>
                <a:lnTo>
                  <a:pt x="19050" y="19050"/>
                </a:lnTo>
                <a:lnTo>
                  <a:pt x="76200" y="19050"/>
                </a:lnTo>
              </a:path>
            </a:pathLst>
          </a:custGeom>
          <a:noFill xmlns:a="http://schemas.openxmlformats.org/drawingml/2006/main"/>
          <a:ln xmlns:a="http://schemas.openxmlformats.org/drawingml/2006/main" w="26820">
            <a:solidFill>
              <a:srgbClr val="FFFFFF"/>
            </a:solidFill>
            <a:prstDash val="solid"/>
          </a:ln>
        </p:spPr>
      </p:sp>
      <p:sp>
        <p:nvSpPr>
          <p:cNvPr id="21" name="!!flow-3-icon-1">
            <a:extLst xmlns:a="http://schemas.openxmlformats.org/drawingml/2006/main">
              <a:ext uri="{FF2B5EF4-FFF2-40B4-BE49-F238E27FC236}">
                <a16:creationId xmlns:a16="http://schemas.microsoft.com/office/drawing/2014/main" id="{C275B2D2-F23E-4556-BBFF-6202BA8FFC3A}"/>
              </a:ext>
            </a:extLst>
          </p:cNvPr>
          <p:cNvSpPr>
            <a:spLocks xmlns:a="http://schemas.openxmlformats.org/drawingml/2006/main" noGrp="1"/>
          </p:cNvSpPr>
          <p:nvPr/>
        </p:nvSpPr>
        <p:spPr>
          <a:xfrm xmlns:a="http://schemas.openxmlformats.org/drawingml/2006/main">
            <a:off x="9606725" y="2739200"/>
            <a:ext cx="750951" cy="750951"/>
          </a:xfrm>
          <a:custGeom xmlns:a="http://schemas.openxmlformats.org/drawingml/2006/main">
            <a:pathLst>
              <a:path w="228600" h="228600">
                <a:moveTo>
                  <a:pt x="152400" y="19050"/>
                </a:moveTo>
                <a:lnTo>
                  <a:pt x="209550" y="19050"/>
                </a:lnTo>
                <a:lnTo>
                  <a:pt x="209550" y="76200"/>
                </a:lnTo>
              </a:path>
            </a:pathLst>
          </a:custGeom>
          <a:noFill xmlns:a="http://schemas.openxmlformats.org/drawingml/2006/main"/>
          <a:ln xmlns:a="http://schemas.openxmlformats.org/drawingml/2006/main" w="26820">
            <a:solidFill>
              <a:srgbClr val="FFFFFF"/>
            </a:solidFill>
            <a:prstDash val="solid"/>
          </a:ln>
        </p:spPr>
      </p:sp>
      <p:sp>
        <p:nvSpPr>
          <p:cNvPr id="22" name="!!flow-3-icon-2">
            <a:extLst xmlns:a="http://schemas.openxmlformats.org/drawingml/2006/main">
              <a:ext uri="{FF2B5EF4-FFF2-40B4-BE49-F238E27FC236}">
                <a16:creationId xmlns:a16="http://schemas.microsoft.com/office/drawing/2014/main" id="{B5A88CE0-0E16-44E9-9D43-AAEE88178B2C}"/>
              </a:ext>
            </a:extLst>
          </p:cNvPr>
          <p:cNvSpPr>
            <a:spLocks xmlns:a="http://schemas.openxmlformats.org/drawingml/2006/main" noGrp="1"/>
          </p:cNvSpPr>
          <p:nvPr/>
        </p:nvSpPr>
        <p:spPr>
          <a:xfrm xmlns:a="http://schemas.openxmlformats.org/drawingml/2006/main">
            <a:off x="9606725" y="2739200"/>
            <a:ext cx="750951" cy="750951"/>
          </a:xfrm>
          <a:custGeom xmlns:a="http://schemas.openxmlformats.org/drawingml/2006/main">
            <a:pathLst>
              <a:path w="228600" h="228600">
                <a:moveTo>
                  <a:pt x="209550" y="152400"/>
                </a:moveTo>
                <a:lnTo>
                  <a:pt x="209550" y="209550"/>
                </a:lnTo>
                <a:lnTo>
                  <a:pt x="152400" y="209550"/>
                </a:lnTo>
              </a:path>
            </a:pathLst>
          </a:custGeom>
          <a:noFill xmlns:a="http://schemas.openxmlformats.org/drawingml/2006/main"/>
          <a:ln xmlns:a="http://schemas.openxmlformats.org/drawingml/2006/main" w="26820">
            <a:solidFill>
              <a:srgbClr val="FFFFFF"/>
            </a:solidFill>
            <a:prstDash val="solid"/>
          </a:ln>
        </p:spPr>
      </p:sp>
      <p:sp>
        <p:nvSpPr>
          <p:cNvPr id="23" name="!!flow-3-icon-3">
            <a:extLst xmlns:a="http://schemas.openxmlformats.org/drawingml/2006/main">
              <a:ext uri="{FF2B5EF4-FFF2-40B4-BE49-F238E27FC236}">
                <a16:creationId xmlns:a16="http://schemas.microsoft.com/office/drawing/2014/main" id="{9913B213-81CF-4AE7-87D7-8E75E9135392}"/>
              </a:ext>
            </a:extLst>
          </p:cNvPr>
          <p:cNvSpPr>
            <a:spLocks xmlns:a="http://schemas.openxmlformats.org/drawingml/2006/main" noGrp="1"/>
          </p:cNvSpPr>
          <p:nvPr/>
        </p:nvSpPr>
        <p:spPr>
          <a:xfrm xmlns:a="http://schemas.openxmlformats.org/drawingml/2006/main">
            <a:off x="9606725" y="2739200"/>
            <a:ext cx="750951" cy="750951"/>
          </a:xfrm>
          <a:custGeom xmlns:a="http://schemas.openxmlformats.org/drawingml/2006/main">
            <a:pathLst>
              <a:path w="228600" h="228600">
                <a:moveTo>
                  <a:pt x="76200" y="209550"/>
                </a:moveTo>
                <a:lnTo>
                  <a:pt x="19050" y="209550"/>
                </a:lnTo>
                <a:lnTo>
                  <a:pt x="19050" y="152400"/>
                </a:lnTo>
              </a:path>
            </a:pathLst>
          </a:custGeom>
          <a:noFill xmlns:a="http://schemas.openxmlformats.org/drawingml/2006/main"/>
          <a:ln xmlns:a="http://schemas.openxmlformats.org/drawingml/2006/main" w="26820">
            <a:solidFill>
              <a:srgbClr val="FFFFFF"/>
            </a:solidFill>
            <a:prstDash val="solid"/>
          </a:ln>
        </p:spPr>
      </p:sp>
      <p:sp>
        <p:nvSpPr>
          <p:cNvPr id="24" name="!!flow-3-icon-4">
            <a:extLst xmlns:a="http://schemas.openxmlformats.org/drawingml/2006/main">
              <a:ext uri="{FF2B5EF4-FFF2-40B4-BE49-F238E27FC236}">
                <a16:creationId xmlns:a16="http://schemas.microsoft.com/office/drawing/2014/main" id="{F023068A-A176-4C2F-BA7E-C7CDE08BDB01}"/>
              </a:ext>
            </a:extLst>
          </p:cNvPr>
          <p:cNvSpPr>
            <a:spLocks xmlns:a="http://schemas.openxmlformats.org/drawingml/2006/main" noGrp="1"/>
          </p:cNvSpPr>
          <p:nvPr/>
        </p:nvSpPr>
        <p:spPr>
          <a:xfrm xmlns:a="http://schemas.openxmlformats.org/drawingml/2006/main">
            <a:off x="9606725" y="2739200"/>
            <a:ext cx="750951" cy="750951"/>
          </a:xfrm>
          <a:custGeom xmlns:a="http://schemas.openxmlformats.org/drawingml/2006/main">
            <a:pathLst>
              <a:path w="228600" h="228600">
                <a:moveTo>
                  <a:pt x="57150" y="114300"/>
                </a:moveTo>
                <a:lnTo>
                  <a:pt x="171450" y="114300"/>
                </a:lnTo>
              </a:path>
            </a:pathLst>
          </a:custGeom>
          <a:noFill xmlns:a="http://schemas.openxmlformats.org/drawingml/2006/main"/>
          <a:ln xmlns:a="http://schemas.openxmlformats.org/drawingml/2006/main" w="26820">
            <a:solidFill>
              <a:srgbClr val="FFFFFF"/>
            </a:solidFill>
            <a:prstDash val="solid"/>
          </a:ln>
        </p:spPr>
      </p:sp>
      <p:sp>
        <p:nvSpPr>
          <p:cNvPr id="25" name="!!flow-label-3">
            <a:extLst xmlns:a="http://schemas.openxmlformats.org/drawingml/2006/main">
              <a:ext uri="{FF2B5EF4-FFF2-40B4-BE49-F238E27FC236}">
                <a16:creationId xmlns:a16="http://schemas.microsoft.com/office/drawing/2014/main" id="{179B95FC-C5F2-410F-B27A-799AB3504975}"/>
              </a:ext>
            </a:extLst>
          </p:cNvPr>
          <p:cNvSpPr>
            <a:spLocks xmlns:a="http://schemas.openxmlformats.org/drawingml/2006/main" noGrp="1"/>
          </p:cNvSpPr>
          <p:nvPr/>
        </p:nvSpPr>
        <p:spPr>
          <a:xfrm xmlns:a="http://schemas.openxmlformats.org/drawingml/2006/main">
            <a:off x="8858250" y="4057650"/>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325" b="1">
                <a:solidFill>
                  <a:srgbClr val="F4F1E8"/>
                </a:solidFill>
                <a:latin typeface="Segoe UI"/>
                <a:ea typeface="Segoe UI"/>
                <a:cs typeface="Segoe UI"/>
              </a:defRPr>
            </a:pPr>
            <a:r>
              <a:rPr sz="2325" b="1">
                <a:solidFill>
                  <a:srgbClr val="F4F1E8"/>
                </a:solidFill>
                <a:latin typeface="Segoe UI"/>
                <a:ea typeface="Segoe UI"/>
                <a:cs typeface="Segoe UI"/>
              </a:rPr>
              <a:t>Công khai</a:t>
            </a:r>
          </a:p>
          <a:p xmlns:a="http://schemas.openxmlformats.org/drawingml/2006/main">
            <a:pPr>
              <a:defRPr sz="2325" b="1">
                <a:solidFill>
                  <a:srgbClr val="F4F1E8"/>
                </a:solidFill>
                <a:latin typeface="Segoe UI"/>
                <a:ea typeface="Segoe UI"/>
                <a:cs typeface="Segoe UI"/>
              </a:defRPr>
            </a:pPr>
            <a:r>
              <a:rPr sz="2325" b="1">
                <a:solidFill>
                  <a:srgbClr val="F4F1E8"/>
                </a:solidFill>
                <a:latin typeface="Segoe UI"/>
                <a:ea typeface="Segoe UI"/>
                <a:cs typeface="Segoe UI"/>
              </a:rPr>
              <a:t>QR</a:t>
            </a:r>
          </a:p>
        </p:txBody>
      </p:sp>
      <p:cxnSp>
        <p:nvCxnSpPr>
          <p:cNvPr id="55" name="!!connector-4-2"/>
          <p:cNvCxnSpPr>
            <a:stCxn xmlns:a="http://schemas.openxmlformats.org/drawingml/2006/main" id="14" idx="6"/>
            <a:endCxn xmlns:a="http://schemas.openxmlformats.org/drawingml/2006/main" id="19" idx="2"/>
          </p:cNvCxnSpPr>
          <p:nvPr/>
        </p:nvCxnSpPr>
        <p:spPr>
          <a:xfrm xmlns:a="http://schemas.openxmlformats.org/drawingml/2006/main">
            <a:off x="7743825" y="3114675"/>
            <a:ext cx="1543050" cy="0"/>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sp>
        <p:nvSpPr>
          <p:cNvPr id="27" name="!!flow-note">
            <a:extLst xmlns:a="http://schemas.openxmlformats.org/drawingml/2006/main">
              <a:ext uri="{FF2B5EF4-FFF2-40B4-BE49-F238E27FC236}">
                <a16:creationId xmlns:a16="http://schemas.microsoft.com/office/drawing/2014/main" id="{F311CD3D-7F98-4924-830A-9A913C2C5E9D}"/>
              </a:ext>
            </a:extLst>
          </p:cNvPr>
          <p:cNvSpPr>
            <a:spLocks xmlns:a="http://schemas.openxmlformats.org/drawingml/2006/main" noGrp="1"/>
          </p:cNvSpPr>
          <p:nvPr/>
        </p:nvSpPr>
        <p:spPr>
          <a:xfrm xmlns:a="http://schemas.openxmlformats.org/drawingml/2006/main">
            <a:off x="609600" y="532447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325" b="0">
                <a:solidFill>
                  <a:srgbClr val="F4F1E8"/>
                </a:solidFill>
                <a:latin typeface="Segoe UI"/>
                <a:ea typeface="Segoe UI"/>
                <a:cs typeface="Segoe UI"/>
              </a:defRPr>
            </a:pPr>
            <a:r>
              <a:rPr sz="2325" b="0">
                <a:solidFill>
                  <a:srgbClr val="F4F1E8"/>
                </a:solidFill>
                <a:latin typeface="Segoe UI"/>
                <a:ea typeface="Segoe UI"/>
                <a:cs typeface="Segoe UI"/>
              </a:rPr>
              <a:t>Chủ hồ sơ chủ động chọn thời điểm chia sẻ</a:t>
            </a:r>
          </a:p>
        </p:txBody>
      </p:sp>
      <p:sp>
        <p:nvSpPr>
          <p:cNvPr id="28" name="!!page">
            <a:extLst xmlns:a="http://schemas.openxmlformats.org/drawingml/2006/main">
              <a:ext uri="{FF2B5EF4-FFF2-40B4-BE49-F238E27FC236}">
                <a16:creationId xmlns:a16="http://schemas.microsoft.com/office/drawing/2014/main" id="{40616EF1-4437-4D58-9998-0168C239C2B2}"/>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13 / 30</a:t>
            </a:r>
          </a:p>
        </p:txBody>
      </p:sp>
      <p:sp>
        <p:nvSpPr>
          <p:cNvPr id="29" name="!!caption">
            <a:extLst xmlns:a="http://schemas.openxmlformats.org/drawingml/2006/main">
              <a:ext uri="{FF2B5EF4-FFF2-40B4-BE49-F238E27FC236}">
                <a16:creationId xmlns:a16="http://schemas.microsoft.com/office/drawing/2014/main" id="{15CCF6F1-6FF3-4CFD-9520-37F7F9BE8206}"/>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Luồng cloud hiện có trong mã nguồn</a:t>
            </a:r>
          </a:p>
        </p:txBody>
      </p:sp>
    </p:spTree>
    <p:extLst>
      <p:ext uri="{BB962C8B-B14F-4D97-AF65-F5344CB8AC3E}">
        <p14:creationId xmlns:p14="http://schemas.microsoft.com/office/powerpoint/2010/main" val="1953937213"/>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32.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12" name="!!backdrop"/>
          <p:cNvPicPr>
            <a:picLocks xmlns:a="http://schemas.openxmlformats.org/drawingml/2006/main" noChangeAspect="1"/>
          </p:cNvPicPr>
          <p:nvPr/>
        </p:nvPicPr>
        <p:blipFill>
          <a:blip xmlns:r="http://schemas.openxmlformats.org/officeDocument/2006/relationships" xmlns:a="http://schemas.openxmlformats.org/drawingml/2006/main" r:embed="Rab50b55a1fed4318"/>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4E858BDF-100B-49AC-8E39-7F3038B2DF8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C872109E-830F-47C3-BFE7-AD380E5F82CB}"/>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HTX chuẩn bị hồ sơ cho bên mua</a:t>
            </a:r>
          </a:p>
        </p:txBody>
      </p:sp>
      <p:sp>
        <p:nvSpPr>
          <p:cNvPr id="4" name="!!demo-video-matte">
            <a:extLst xmlns:a="http://schemas.openxmlformats.org/drawingml/2006/main">
              <a:ext uri="{FF2B5EF4-FFF2-40B4-BE49-F238E27FC236}">
                <a16:creationId xmlns:a16="http://schemas.microsoft.com/office/drawing/2014/main" id="{713EC2E9-6697-4B4B-9D72-5E7428375A9C}"/>
              </a:ext>
            </a:extLst>
          </p:cNvPr>
          <p:cNvSpPr>
            <a:spLocks xmlns:a="http://schemas.openxmlformats.org/drawingml/2006/main" noGrp="1"/>
          </p:cNvSpPr>
          <p:nvPr/>
        </p:nvSpPr>
        <p:spPr>
          <a:xfrm xmlns:a="http://schemas.openxmlformats.org/drawingml/2006/main">
            <a:off x="609600" y="1771650"/>
            <a:ext cx="7505700" cy="4219575"/>
          </a:xfrm>
          <a:prstGeom xmlns:a="http://schemas.openxmlformats.org/drawingml/2006/main" prst="rect">
            <a:avLst/>
          </a:prstGeom>
          <a:solidFill xmlns:a="http://schemas.openxmlformats.org/drawingml/2006/main">
            <a:srgbClr val="102C21"/>
          </a:solidFill>
          <a:ln xmlns:a="http://schemas.openxmlformats.org/drawingml/2006/main" w="0">
            <a:noFill/>
          </a:ln>
        </p:spPr>
      </p:sp>
      <p:pic>
        <p:nvPicPr>
          <p:cNvPr id="16" name="!!demo-video">
            <ns0:hlinkClick xmlns:ns0="http://schemas.openxmlformats.org/drawingml/2006/main" action="ppaction://media"/>
          </p:cNvPr>
          <p:cNvPicPr>
            <a:picLocks xmlns:a="http://schemas.openxmlformats.org/drawingml/2006/main" noChangeAspect="1"/>
          </p:cNvPicPr>
          <p:nvPr>
            <ns1:videoFile xmlns:ns1="http://schemas.openxmlformats.org/drawingml/2006/main" xmlns:ns2="http://schemas.openxmlformats.org/officeDocument/2006/relationships" ns2:link="rIdDemoVideo"/>
            <p:extLst>
              <p:ext uri="{DAA4B4D4-6D71-4841-9C94-3DE7FCFB9230}">
                <p14:media xmlns:p14="http://schemas.microsoft.com/office/powerpoint/2010/main" xmlns:ns3="http://schemas.openxmlformats.org/officeDocument/2006/relationships" ns3:embed="rIdDemoMedia"/>
              </p:ext>
            </p:extLst>
          </p:nvPr>
        </p:nvPicPr>
        <p:blipFill>
          <a:blip xmlns:r="http://schemas.openxmlformats.org/officeDocument/2006/relationships" xmlns:a="http://schemas.openxmlformats.org/drawingml/2006/main" r:embed="R91a6dcd88c084e98"/>
          <a:stretch xmlns:a="http://schemas.openxmlformats.org/drawingml/2006/main"/>
        </p:blipFill>
        <p:spPr>
          <a:xfrm xmlns:a="http://schemas.openxmlformats.org/drawingml/2006/main">
            <a:off x="611717" y="1771650"/>
            <a:ext cx="7501467" cy="4219575"/>
          </a:xfrm>
          <a:prstGeom xmlns:a="http://schemas.openxmlformats.org/drawingml/2006/main" prst="rect">
            <a:avLst/>
          </a:prstGeom>
        </p:spPr>
      </p:pic>
      <p:sp>
        <p:nvSpPr>
          <p:cNvPr id="6" name="!!demo-duration">
            <a:extLst xmlns:a="http://schemas.openxmlformats.org/drawingml/2006/main">
              <a:ext uri="{FF2B5EF4-FFF2-40B4-BE49-F238E27FC236}">
                <a16:creationId xmlns:a16="http://schemas.microsoft.com/office/drawing/2014/main" id="{7BD50ACE-A336-4FE1-811F-27D3E1050108}"/>
              </a:ext>
            </a:extLst>
          </p:cNvPr>
          <p:cNvSpPr>
            <a:spLocks xmlns:a="http://schemas.openxmlformats.org/drawingml/2006/main" noGrp="1"/>
          </p:cNvSpPr>
          <p:nvPr/>
        </p:nvSpPr>
        <p:spPr>
          <a:xfrm xmlns:a="http://schemas.openxmlformats.org/drawingml/2006/main">
            <a:off x="8591550" y="1952625"/>
            <a:ext cx="28765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150" b="1">
                <a:solidFill>
                  <a:srgbClr val="C8A45B"/>
                </a:solidFill>
                <a:latin typeface="Segoe UI"/>
                <a:ea typeface="Segoe UI"/>
                <a:cs typeface="Segoe UI"/>
              </a:defRPr>
            </a:pPr>
            <a:r>
              <a:rPr sz="3150" b="1">
                <a:solidFill>
                  <a:srgbClr val="C8A45B"/>
                </a:solidFill>
                <a:latin typeface="Segoe UI"/>
                <a:ea typeface="Segoe UI"/>
                <a:cs typeface="Segoe UI"/>
              </a:rPr>
              <a:t>40 giây</a:t>
            </a:r>
          </a:p>
        </p:txBody>
      </p:sp>
      <p:sp>
        <p:nvSpPr>
          <p:cNvPr id="7" name="!!demo-start">
            <a:extLst xmlns:a="http://schemas.openxmlformats.org/drawingml/2006/main">
              <a:ext uri="{FF2B5EF4-FFF2-40B4-BE49-F238E27FC236}">
                <a16:creationId xmlns:a16="http://schemas.microsoft.com/office/drawing/2014/main" id="{894A46E4-F9FB-4722-9622-907B89D16C53}"/>
              </a:ext>
            </a:extLst>
          </p:cNvPr>
          <p:cNvSpPr>
            <a:spLocks xmlns:a="http://schemas.openxmlformats.org/drawingml/2006/main" noGrp="1"/>
          </p:cNvSpPr>
          <p:nvPr/>
        </p:nvSpPr>
        <p:spPr>
          <a:xfrm xmlns:a="http://schemas.openxmlformats.org/drawingml/2006/main">
            <a:off x="8591550" y="2762250"/>
            <a:ext cx="28765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325" b="1">
                <a:solidFill>
                  <a:srgbClr val="F4F1E8"/>
                </a:solidFill>
                <a:latin typeface="Segoe UI"/>
                <a:ea typeface="Segoe UI"/>
                <a:cs typeface="Segoe UI"/>
              </a:defRPr>
            </a:pPr>
            <a:r>
              <a:rPr sz="2325" b="1">
                <a:solidFill>
                  <a:srgbClr val="F4F1E8"/>
                </a:solidFill>
                <a:latin typeface="Segoe UI"/>
                <a:ea typeface="Segoe UI"/>
                <a:cs typeface="Segoe UI"/>
              </a:rPr>
              <a:t>Bấm vào video</a:t>
            </a:r>
          </a:p>
          <a:p xmlns:a="http://schemas.openxmlformats.org/drawingml/2006/main">
            <a:pPr>
              <a:defRPr sz="2325" b="1">
                <a:solidFill>
                  <a:srgbClr val="F4F1E8"/>
                </a:solidFill>
                <a:latin typeface="Segoe UI"/>
                <a:ea typeface="Segoe UI"/>
                <a:cs typeface="Segoe UI"/>
              </a:defRPr>
            </a:pPr>
            <a:r>
              <a:rPr sz="2325" b="1">
                <a:solidFill>
                  <a:srgbClr val="F4F1E8"/>
                </a:solidFill>
                <a:latin typeface="Segoe UI"/>
                <a:ea typeface="Segoe UI"/>
                <a:cs typeface="Segoe UI"/>
              </a:rPr>
              <a:t>để phát</a:t>
            </a:r>
          </a:p>
        </p:txBody>
      </p:sp>
      <p:sp>
        <p:nvSpPr>
          <p:cNvPr id="8" name="!!demo-content">
            <a:extLst xmlns:a="http://schemas.openxmlformats.org/drawingml/2006/main">
              <a:ext uri="{FF2B5EF4-FFF2-40B4-BE49-F238E27FC236}">
                <a16:creationId xmlns:a16="http://schemas.microsoft.com/office/drawing/2014/main" id="{BED27316-94F1-4E94-8CED-D732A754C71B}"/>
              </a:ext>
            </a:extLst>
          </p:cNvPr>
          <p:cNvSpPr>
            <a:spLocks xmlns:a="http://schemas.openxmlformats.org/drawingml/2006/main" noGrp="1"/>
          </p:cNvSpPr>
          <p:nvPr/>
        </p:nvSpPr>
        <p:spPr>
          <a:xfrm xmlns:a="http://schemas.openxmlformats.org/drawingml/2006/main">
            <a:off x="8591550" y="4000500"/>
            <a:ext cx="28765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75" b="0">
                <a:solidFill>
                  <a:srgbClr val="A3BCAB"/>
                </a:solidFill>
                <a:latin typeface="Segoe UI"/>
                <a:ea typeface="Segoe UI"/>
                <a:cs typeface="Segoe UI"/>
              </a:defRPr>
            </a:pPr>
            <a:r>
              <a:rPr sz="1875" b="0">
                <a:solidFill>
                  <a:srgbClr val="A3BCAB"/>
                </a:solidFill>
                <a:latin typeface="Segoe UI"/>
                <a:ea typeface="Segoe UI"/>
                <a:cs typeface="Segoe UI"/>
              </a:rPr>
              <a:t>Chuẩn bị tài liệu</a:t>
            </a:r>
          </a:p>
          <a:p xmlns:a="http://schemas.openxmlformats.org/drawingml/2006/main">
            <a:pPr>
              <a:defRPr sz="1875" b="0">
                <a:solidFill>
                  <a:srgbClr val="A3BCAB"/>
                </a:solidFill>
                <a:latin typeface="Segoe UI"/>
                <a:ea typeface="Segoe UI"/>
                <a:cs typeface="Segoe UI"/>
              </a:defRPr>
            </a:pPr>
            <a:r>
              <a:rPr sz="1875" b="0">
                <a:solidFill>
                  <a:srgbClr val="A3BCAB"/>
                </a:solidFill>
                <a:latin typeface="Segoe UI"/>
                <a:ea typeface="Segoe UI"/>
                <a:cs typeface="Segoe UI"/>
              </a:rPr>
              <a:t>Gửi hồ sơ qua QR</a:t>
            </a:r>
          </a:p>
        </p:txBody>
      </p:sp>
      <p:sp>
        <p:nvSpPr>
          <p:cNvPr id="9" name="!!demo-backup">
            <a:extLst xmlns:a="http://schemas.openxmlformats.org/drawingml/2006/main">
              <a:ext uri="{FF2B5EF4-FFF2-40B4-BE49-F238E27FC236}">
                <a16:creationId xmlns:a16="http://schemas.microsoft.com/office/drawing/2014/main" id="{364E21A5-64E9-4698-BFC2-99B7C4A7A769}"/>
              </a:ext>
            </a:extLst>
          </p:cNvPr>
          <p:cNvSpPr>
            <a:spLocks xmlns:a="http://schemas.openxmlformats.org/drawingml/2006/main" noGrp="1"/>
          </p:cNvSpPr>
          <p:nvPr/>
        </p:nvSpPr>
        <p:spPr>
          <a:xfrm xmlns:a="http://schemas.openxmlformats.org/drawingml/2006/main">
            <a:off x="8591550" y="5400675"/>
            <a:ext cx="28765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725" b="1">
                <a:solidFill>
                  <a:srgbClr val="C8A45B"/>
                </a:solidFill>
                <a:latin typeface="Segoe UI"/>
                <a:ea typeface="Segoe UI"/>
                <a:cs typeface="Segoe UI"/>
              </a:defRPr>
            </a:pPr>
            <a:r>
              <a:rPr sz="1725" b="1">
                <a:solidFill>
                  <a:srgbClr val="C8A45B"/>
                </a:solidFill>
                <a:latin typeface="Segoe UI"/>
                <a:ea typeface="Segoe UI"/>
                <a:cs typeface="Segoe UI"/>
                <a:hlinkClick xmlns:r="http://schemas.openxmlformats.org/officeDocument/2006/relationships" r:id="Re26199ef2d5c4961"/>
              </a:rPr>
              <a:t>Mở video dự phòng</a:t>
            </a:r>
          </a:p>
        </p:txBody>
      </p:sp>
      <p:sp>
        <p:nvSpPr>
          <p:cNvPr id="10" name="!!page">
            <a:extLst xmlns:a="http://schemas.openxmlformats.org/drawingml/2006/main">
              <a:ext uri="{FF2B5EF4-FFF2-40B4-BE49-F238E27FC236}">
                <a16:creationId xmlns:a16="http://schemas.microsoft.com/office/drawing/2014/main" id="{33FDE19C-126B-4933-8BAD-EF5A9727356F}"/>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14 / 30</a:t>
            </a:r>
          </a:p>
        </p:txBody>
      </p:sp>
      <p:sp>
        <p:nvSpPr>
          <p:cNvPr id="11" name="!!caption">
            <a:extLst xmlns:a="http://schemas.openxmlformats.org/drawingml/2006/main">
              <a:ext uri="{FF2B5EF4-FFF2-40B4-BE49-F238E27FC236}">
                <a16:creationId xmlns:a16="http://schemas.microsoft.com/office/drawing/2014/main" id="{8D8E85D9-B71D-4186-A944-95E2E6CDA88B}"/>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UI compact local · Auth/API mô phỏng · Dữ liệu TEST · 30/09/2026</a:t>
            </a:r>
          </a:p>
        </p:txBody>
      </p:sp>
    </p:spTree>
    <p:extLst>
      <p:ext uri="{BB962C8B-B14F-4D97-AF65-F5344CB8AC3E}">
        <p14:creationId xmlns:p14="http://schemas.microsoft.com/office/powerpoint/2010/main" val="960004769"/>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timing>
    <p:tnLst>
      <p:par>
        <p:cTn id="1" dur="indefinite" restart="never" nodeType="tmRoot">
          <p:childTnLst>
            <p:video>
              <p:cMediaNode vol="80000">
                <p:cTn id="2" fill="hold" display="0">
                  <p:stCondLst>
                    <p:cond delay="indefinite"/>
                  </p:stCondLst>
                </p:cTn>
                <p:tgtEl>
                  <p:spTgt spid="16"/>
                </p:tgtEl>
              </p:cMediaNode>
            </p:video>
          </p:childTnLst>
        </p:cTn>
      </p:par>
    </p:tnLst>
  </p:timing>
</p:sld>
</file>

<file path=ppt/slides/slide33.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14" name="!!backdrop"/>
          <p:cNvPicPr>
            <a:picLocks xmlns:a="http://schemas.openxmlformats.org/drawingml/2006/main" noChangeAspect="1"/>
          </p:cNvPicPr>
          <p:nvPr/>
        </p:nvPicPr>
        <p:blipFill>
          <a:blip xmlns:r="http://schemas.openxmlformats.org/officeDocument/2006/relationships" xmlns:a="http://schemas.openxmlformats.org/drawingml/2006/main" r:embed="R68a9012c862b421a"/>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A7C21D0B-EFAD-4549-860B-509A6C02650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25399AED-D7CF-4A35-BA96-82BBF9F55390}"/>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Công nghệ và kiến trúc cloud</a:t>
            </a:r>
          </a:p>
        </p:txBody>
      </p:sp>
      <p:sp>
        <p:nvSpPr>
          <p:cNvPr id="4" name="!!client">
            <a:extLst xmlns:a="http://schemas.openxmlformats.org/drawingml/2006/main">
              <a:ext uri="{FF2B5EF4-FFF2-40B4-BE49-F238E27FC236}">
                <a16:creationId xmlns:a16="http://schemas.microsoft.com/office/drawing/2014/main" id="{0247539F-4E50-4BEF-9C99-DA26455FD808}"/>
              </a:ext>
            </a:extLst>
          </p:cNvPr>
          <p:cNvSpPr>
            <a:spLocks xmlns:a="http://schemas.openxmlformats.org/drawingml/2006/main" noGrp="1"/>
          </p:cNvSpPr>
          <p:nvPr/>
        </p:nvSpPr>
        <p:spPr>
          <a:xfrm xmlns:a="http://schemas.openxmlformats.org/drawingml/2006/main">
            <a:off x="609600" y="2295525"/>
            <a:ext cx="2324100" cy="1143000"/>
          </a:xfrm>
          <a:prstGeom xmlns:a="http://schemas.openxmlformats.org/drawingml/2006/main" prst="rect">
            <a:avLst/>
          </a:prstGeom>
          <a:solidFill xmlns:a="http://schemas.openxmlformats.org/drawingml/2006/main">
            <a:srgbClr val="166447"/>
          </a:solidFill>
          <a:ln xmlns:a="http://schemas.openxmlformats.org/drawingml/2006/main" w="28575">
            <a:solidFill>
              <a:srgbClr val="C8A45B"/>
            </a:solidFill>
          </a:ln>
        </p:spPr>
      </p:sp>
      <p:sp>
        <p:nvSpPr>
          <p:cNvPr id="5" name="!!client-text">
            <a:extLst xmlns:a="http://schemas.openxmlformats.org/drawingml/2006/main">
              <a:ext uri="{FF2B5EF4-FFF2-40B4-BE49-F238E27FC236}">
                <a16:creationId xmlns:a16="http://schemas.microsoft.com/office/drawing/2014/main" id="{2C06A242-827A-4DC4-9CBD-54E4AFA99B33}"/>
              </a:ext>
            </a:extLst>
          </p:cNvPr>
          <p:cNvSpPr>
            <a:spLocks xmlns:a="http://schemas.openxmlformats.org/drawingml/2006/main" noGrp="1"/>
          </p:cNvSpPr>
          <p:nvPr/>
        </p:nvSpPr>
        <p:spPr>
          <a:xfrm xmlns:a="http://schemas.openxmlformats.org/drawingml/2006/main">
            <a:off x="781050" y="2447925"/>
            <a:ext cx="19812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defRPr sz="1800" b="1">
                <a:solidFill>
                  <a:srgbClr val="FFFFFF"/>
                </a:solidFill>
                <a:latin typeface="Segoe UI"/>
                <a:ea typeface="Segoe UI"/>
                <a:cs typeface="Segoe UI"/>
              </a:defRPr>
            </a:pPr>
            <a:r>
              <a:rPr sz="1800" b="1">
                <a:solidFill>
                  <a:srgbClr val="FFFFFF"/>
                </a:solidFill>
                <a:latin typeface="Segoe UI"/>
                <a:ea typeface="Segoe UI"/>
                <a:cs typeface="Segoe UI"/>
              </a:rPr>
              <a:t>React 19 + Vite 8</a:t>
            </a:r>
          </a:p>
          <a:p xmlns:a="http://schemas.openxmlformats.org/drawingml/2006/main">
            <a:pPr>
              <a:defRPr sz="1800" b="1">
                <a:solidFill>
                  <a:srgbClr val="FFFFFF"/>
                </a:solidFill>
                <a:latin typeface="Segoe UI"/>
                <a:ea typeface="Segoe UI"/>
                <a:cs typeface="Segoe UI"/>
              </a:defRPr>
            </a:pPr>
            <a:r>
              <a:rPr sz="1800" b="1">
                <a:solidFill>
                  <a:srgbClr val="FFFFFF"/>
                </a:solidFill>
                <a:latin typeface="Segoe UI"/>
                <a:ea typeface="Segoe UI"/>
                <a:cs typeface="Segoe UI"/>
              </a:rPr>
              <a:t>Vercel · giao diện</a:t>
            </a:r>
          </a:p>
        </p:txBody>
      </p:sp>
      <p:sp>
        <p:nvSpPr>
          <p:cNvPr id="12" name="!!page">
            <a:extLst xmlns:a="http://schemas.openxmlformats.org/drawingml/2006/main">
              <a:ext uri="{FF2B5EF4-FFF2-40B4-BE49-F238E27FC236}">
                <a16:creationId xmlns:a16="http://schemas.microsoft.com/office/drawing/2014/main" id="{B0614D0C-D4DB-4CB1-A430-9DAF3F2BE79A}"/>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15 / 30</a:t>
            </a:r>
          </a:p>
        </p:txBody>
      </p:sp>
      <p:sp>
        <p:nvSpPr>
          <p:cNvPr id="13" name="!!caption">
            <a:extLst xmlns:a="http://schemas.openxmlformats.org/drawingml/2006/main">
              <a:ext uri="{FF2B5EF4-FFF2-40B4-BE49-F238E27FC236}">
                <a16:creationId xmlns:a16="http://schemas.microsoft.com/office/drawing/2014/main" id="{9B890CD0-7428-4F73-AC91-693B7F052CC5}"/>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Source trong repo, 29/09/2026 · Luồng cloud độc lập với Solana Devnet</a:t>
            </a:r>
          </a:p>
        </p:txBody>
      </p:sp>
      <p:pic>
        <p:nvPicPr>
          <p:cNvPr id="15" name="!!tech-logo-react" descr="react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15"/>
          <ns0:srcRect xmlns:ns0="http://schemas.openxmlformats.org/drawingml/2006/main" l="0" t="0" r="0" b="0"/>
          <a:stretch xmlns:a="http://schemas.openxmlformats.org/drawingml/2006/main">
            <a:fillRect/>
          </a:stretch>
        </p:blipFill>
        <p:spPr>
          <a:xfrm xmlns:a="http://schemas.openxmlformats.org/drawingml/2006/main">
            <a:off x="670917" y="1621128"/>
            <a:ext cx="510778" cy="459992"/>
          </a:xfrm>
          <a:prstGeom xmlns:a="http://schemas.openxmlformats.org/drawingml/2006/main" prst="rect">
            <a:avLst/>
          </a:prstGeom>
        </p:spPr>
      </p:pic>
      <p:pic>
        <p:nvPicPr>
          <p:cNvPr id="16" name="!!tech-logo-vite" descr="vite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16"/>
          <ns0:srcRect xmlns:ns0="http://schemas.openxmlformats.org/drawingml/2006/main" l="0" t="0" r="500" b="1042"/>
          <a:stretch xmlns:a="http://schemas.openxmlformats.org/drawingml/2006/main">
            <a:fillRect/>
          </a:stretch>
        </p:blipFill>
        <p:spPr>
          <a:xfrm xmlns:a="http://schemas.openxmlformats.org/drawingml/2006/main">
            <a:off x="1529953" y="1607285"/>
            <a:ext cx="510778" cy="487678"/>
          </a:xfrm>
          <a:prstGeom xmlns:a="http://schemas.openxmlformats.org/drawingml/2006/main" prst="rect">
            <a:avLst/>
          </a:prstGeom>
        </p:spPr>
      </p:pic>
      <p:pic>
        <p:nvPicPr>
          <p:cNvPr id="17" name="!!tech-logo-vercel" descr="vercel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17"/>
          <ns0:srcRect xmlns:ns0="http://schemas.openxmlformats.org/drawingml/2006/main" l="0" t="0" r="21" b="0"/>
          <a:stretch xmlns:a="http://schemas.openxmlformats.org/drawingml/2006/main">
            <a:fillRect/>
          </a:stretch>
        </p:blipFill>
        <p:spPr>
          <a:xfrm xmlns:a="http://schemas.openxmlformats.org/drawingml/2006/main">
            <a:off x="2388989" y="1629967"/>
            <a:ext cx="510778" cy="442314"/>
          </a:xfrm>
          <a:prstGeom xmlns:a="http://schemas.openxmlformats.org/drawingml/2006/main" prst="rect">
            <a:avLst/>
          </a:prstGeom>
        </p:spPr>
      </p:pic>
    </p:spTree>
    <p:extLst>
      <p:ext uri="{BB962C8B-B14F-4D97-AF65-F5344CB8AC3E}">
        <p14:creationId xmlns:p14="http://schemas.microsoft.com/office/powerpoint/2010/main" val="737207491"/>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34.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20" name="!!backdrop"/>
          <p:cNvPicPr>
            <a:picLocks xmlns:a="http://schemas.openxmlformats.org/drawingml/2006/main" noChangeAspect="1"/>
          </p:cNvPicPr>
          <p:nvPr/>
        </p:nvPicPr>
        <p:blipFill>
          <a:blip xmlns:r="http://schemas.openxmlformats.org/officeDocument/2006/relationships" xmlns:a="http://schemas.openxmlformats.org/drawingml/2006/main" r:embed="R5878ff9e0b134270"/>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4BB325D9-AC03-4A45-9730-B44FF805905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37D06C73-3D5E-4F22-9011-C75B460B35A6}"/>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Công nghệ và kiến trúc cloud</a:t>
            </a:r>
          </a:p>
        </p:txBody>
      </p:sp>
      <p:sp>
        <p:nvSpPr>
          <p:cNvPr id="4" name="!!client">
            <a:extLst xmlns:a="http://schemas.openxmlformats.org/drawingml/2006/main">
              <a:ext uri="{FF2B5EF4-FFF2-40B4-BE49-F238E27FC236}">
                <a16:creationId xmlns:a16="http://schemas.microsoft.com/office/drawing/2014/main" id="{B093FC9B-64CF-4F7F-835A-1B38EF9D5E95}"/>
              </a:ext>
            </a:extLst>
          </p:cNvPr>
          <p:cNvSpPr>
            <a:spLocks xmlns:a="http://schemas.openxmlformats.org/drawingml/2006/main" noGrp="1"/>
          </p:cNvSpPr>
          <p:nvPr/>
        </p:nvSpPr>
        <p:spPr>
          <a:xfrm xmlns:a="http://schemas.openxmlformats.org/drawingml/2006/main">
            <a:off x="609600" y="2295525"/>
            <a:ext cx="2324100" cy="1143000"/>
          </a:xfrm>
          <a:prstGeom xmlns:a="http://schemas.openxmlformats.org/drawingml/2006/main" prst="rect">
            <a:avLst/>
          </a:prstGeom>
          <a:solidFill xmlns:a="http://schemas.openxmlformats.org/drawingml/2006/main">
            <a:srgbClr val="183A2C"/>
          </a:solidFill>
          <a:ln xmlns:a="http://schemas.openxmlformats.org/drawingml/2006/main" w="9525">
            <a:solidFill>
              <a:srgbClr val="A3BCAB"/>
            </a:solidFill>
          </a:ln>
        </p:spPr>
      </p:sp>
      <p:sp>
        <p:nvSpPr>
          <p:cNvPr id="5" name="!!client-text">
            <a:extLst xmlns:a="http://schemas.openxmlformats.org/drawingml/2006/main">
              <a:ext uri="{FF2B5EF4-FFF2-40B4-BE49-F238E27FC236}">
                <a16:creationId xmlns:a16="http://schemas.microsoft.com/office/drawing/2014/main" id="{2C50E754-9B58-4CCC-BB55-F95B806672A4}"/>
              </a:ext>
            </a:extLst>
          </p:cNvPr>
          <p:cNvSpPr>
            <a:spLocks xmlns:a="http://schemas.openxmlformats.org/drawingml/2006/main" noGrp="1"/>
          </p:cNvSpPr>
          <p:nvPr/>
        </p:nvSpPr>
        <p:spPr>
          <a:xfrm xmlns:a="http://schemas.openxmlformats.org/drawingml/2006/main">
            <a:off x="781050" y="2447925"/>
            <a:ext cx="19812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defRPr sz="1800" b="1">
                <a:solidFill>
                  <a:srgbClr val="F4F1E8"/>
                </a:solidFill>
                <a:latin typeface="Segoe UI"/>
                <a:ea typeface="Segoe UI"/>
                <a:cs typeface="Segoe UI"/>
              </a:defRPr>
            </a:pPr>
            <a:r>
              <a:rPr sz="1800" b="1">
                <a:solidFill>
                  <a:srgbClr val="F4F1E8"/>
                </a:solidFill>
                <a:latin typeface="Segoe UI"/>
                <a:ea typeface="Segoe UI"/>
                <a:cs typeface="Segoe UI"/>
              </a:rPr>
              <a:t>React 19 + Vite 8</a:t>
            </a:r>
          </a:p>
          <a:p xmlns:a="http://schemas.openxmlformats.org/drawingml/2006/main">
            <a:pPr>
              <a:defRPr sz="1800" b="1">
                <a:solidFill>
                  <a:srgbClr val="F4F1E8"/>
                </a:solidFill>
                <a:latin typeface="Segoe UI"/>
                <a:ea typeface="Segoe UI"/>
                <a:cs typeface="Segoe UI"/>
              </a:defRPr>
            </a:pPr>
            <a:r>
              <a:rPr sz="1800" b="1">
                <a:solidFill>
                  <a:srgbClr val="F4F1E8"/>
                </a:solidFill>
                <a:latin typeface="Segoe UI"/>
                <a:ea typeface="Segoe UI"/>
                <a:cs typeface="Segoe UI"/>
              </a:rPr>
              <a:t>Vercel · giao diện</a:t>
            </a:r>
          </a:p>
        </p:txBody>
      </p:sp>
      <p:sp>
        <p:nvSpPr>
          <p:cNvPr id="12" name="!!auth">
            <a:extLst xmlns:a="http://schemas.openxmlformats.org/drawingml/2006/main">
              <a:ext uri="{FF2B5EF4-FFF2-40B4-BE49-F238E27FC236}">
                <a16:creationId xmlns:a16="http://schemas.microsoft.com/office/drawing/2014/main" id="{38A4A214-E29B-44A4-95EE-5A6BE6B3F722}"/>
              </a:ext>
            </a:extLst>
          </p:cNvPr>
          <p:cNvSpPr>
            <a:spLocks xmlns:a="http://schemas.openxmlformats.org/drawingml/2006/main" noGrp="1"/>
          </p:cNvSpPr>
          <p:nvPr/>
        </p:nvSpPr>
        <p:spPr>
          <a:xfrm xmlns:a="http://schemas.openxmlformats.org/drawingml/2006/main">
            <a:off x="609600" y="4152900"/>
            <a:ext cx="2905125" cy="1143000"/>
          </a:xfrm>
          <a:prstGeom xmlns:a="http://schemas.openxmlformats.org/drawingml/2006/main" prst="rect">
            <a:avLst/>
          </a:prstGeom>
          <a:solidFill xmlns:a="http://schemas.openxmlformats.org/drawingml/2006/main">
            <a:srgbClr val="166447"/>
          </a:solidFill>
          <a:ln xmlns:a="http://schemas.openxmlformats.org/drawingml/2006/main" w="28575">
            <a:solidFill>
              <a:srgbClr val="C8A45B"/>
            </a:solidFill>
          </a:ln>
        </p:spPr>
      </p:sp>
      <p:sp>
        <p:nvSpPr>
          <p:cNvPr id="13" name="!!auth-text">
            <a:extLst xmlns:a="http://schemas.openxmlformats.org/drawingml/2006/main">
              <a:ext uri="{FF2B5EF4-FFF2-40B4-BE49-F238E27FC236}">
                <a16:creationId xmlns:a16="http://schemas.microsoft.com/office/drawing/2014/main" id="{A803BD01-5E66-43E5-AAD4-A0FE352B3AC3}"/>
              </a:ext>
            </a:extLst>
          </p:cNvPr>
          <p:cNvSpPr>
            <a:spLocks xmlns:a="http://schemas.openxmlformats.org/drawingml/2006/main" noGrp="1"/>
          </p:cNvSpPr>
          <p:nvPr/>
        </p:nvSpPr>
        <p:spPr>
          <a:xfrm xmlns:a="http://schemas.openxmlformats.org/drawingml/2006/main">
            <a:off x="781050" y="4305300"/>
            <a:ext cx="25622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defRPr sz="1800" b="1">
                <a:solidFill>
                  <a:srgbClr val="FFFFFF"/>
                </a:solidFill>
                <a:latin typeface="Segoe UI"/>
                <a:ea typeface="Segoe UI"/>
                <a:cs typeface="Segoe UI"/>
              </a:defRPr>
            </a:pPr>
            <a:r>
              <a:rPr sz="1800" b="1">
                <a:solidFill>
                  <a:srgbClr val="FFFFFF"/>
                </a:solidFill>
                <a:latin typeface="Segoe UI"/>
                <a:ea typeface="Segoe UI"/>
                <a:cs typeface="Segoe UI"/>
              </a:rPr>
              <a:t>Google OAuth</a:t>
            </a:r>
          </a:p>
          <a:p xmlns:a="http://schemas.openxmlformats.org/drawingml/2006/main">
            <a:pPr>
              <a:defRPr sz="1800" b="1">
                <a:solidFill>
                  <a:srgbClr val="FFFFFF"/>
                </a:solidFill>
                <a:latin typeface="Segoe UI"/>
                <a:ea typeface="Segoe UI"/>
                <a:cs typeface="Segoe UI"/>
              </a:defRPr>
            </a:pPr>
            <a:r>
              <a:rPr sz="1800" b="1">
                <a:solidFill>
                  <a:srgbClr val="FFFFFF"/>
                </a:solidFill>
                <a:latin typeface="Segoe UI"/>
                <a:ea typeface="Segoe UI"/>
                <a:cs typeface="Segoe UI"/>
              </a:rPr>
              <a:t>Đăng nhập tài khoản</a:t>
            </a:r>
          </a:p>
        </p:txBody>
      </p:sp>
      <p:cxnSp>
        <p:nvCxnSpPr>
          <p:cNvPr id="33" name="!!connector-11-0"/>
          <p:cNvCxnSpPr>
            <a:stCxn xmlns:a="http://schemas.openxmlformats.org/drawingml/2006/main" id="4" idx="2"/>
            <a:endCxn xmlns:a="http://schemas.openxmlformats.org/drawingml/2006/main" id="12" idx="0"/>
          </p:cNvCxnSpPr>
          <p:nvPr/>
        </p:nvCxnSpPr>
        <p:spPr>
          <a:xfrm xmlns:a="http://schemas.openxmlformats.org/drawingml/2006/main">
            <a:off x="1771650" y="3438525"/>
            <a:ext cx="290513" cy="714375"/>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sp>
        <p:nvSpPr>
          <p:cNvPr id="15" name="!!auth-symbol-selection">
            <a:extLst xmlns:a="http://schemas.openxmlformats.org/drawingml/2006/main">
              <a:ext uri="{FF2B5EF4-FFF2-40B4-BE49-F238E27FC236}">
                <a16:creationId xmlns:a16="http://schemas.microsoft.com/office/drawing/2014/main" id="{818D4303-E1AC-4516-9E1D-AAFF911DA055}"/>
              </a:ext>
            </a:extLst>
          </p:cNvPr>
          <p:cNvSpPr>
            <a:spLocks xmlns:a="http://schemas.openxmlformats.org/drawingml/2006/main" noGrp="1"/>
          </p:cNvSpPr>
          <p:nvPr/>
        </p:nvSpPr>
        <p:spPr>
          <a:xfrm xmlns:a="http://schemas.openxmlformats.org/drawingml/2006/main">
            <a:off x="1704975" y="3381375"/>
            <a:ext cx="742950" cy="742950"/>
          </a:xfrm>
          <a:prstGeom xmlns:a="http://schemas.openxmlformats.org/drawingml/2006/main" prst="ellipse">
            <a:avLst/>
          </a:prstGeom>
          <a:solidFill xmlns:a="http://schemas.openxmlformats.org/drawingml/2006/main">
            <a:srgbClr val="FFFFFF"/>
          </a:solidFill>
          <a:ln xmlns:a="http://schemas.openxmlformats.org/drawingml/2006/main" w="28575">
            <a:solidFill>
              <a:srgbClr val="C8A45B"/>
            </a:solidFill>
          </a:ln>
        </p:spPr>
      </p:sp>
      <p:sp>
        <p:nvSpPr>
          <p:cNvPr id="18" name="!!page">
            <a:extLst xmlns:a="http://schemas.openxmlformats.org/drawingml/2006/main">
              <a:ext uri="{FF2B5EF4-FFF2-40B4-BE49-F238E27FC236}">
                <a16:creationId xmlns:a16="http://schemas.microsoft.com/office/drawing/2014/main" id="{F733F521-05E4-4956-A5D1-E1DF4F18C547}"/>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16 / 30</a:t>
            </a:r>
          </a:p>
        </p:txBody>
      </p:sp>
      <p:sp>
        <p:nvSpPr>
          <p:cNvPr id="19" name="!!caption">
            <a:extLst xmlns:a="http://schemas.openxmlformats.org/drawingml/2006/main">
              <a:ext uri="{FF2B5EF4-FFF2-40B4-BE49-F238E27FC236}">
                <a16:creationId xmlns:a16="http://schemas.microsoft.com/office/drawing/2014/main" id="{E9A1B433-193D-4296-8A12-F455A7498526}"/>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Source trong repo, 29/09/2026 · Luồng cloud độc lập với Solana Devnet</a:t>
            </a:r>
          </a:p>
        </p:txBody>
      </p:sp>
      <p:pic>
        <p:nvPicPr>
          <p:cNvPr id="34" name="!!tech-logo-react" descr="react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34"/>
          <ns0:srcRect xmlns:ns0="http://schemas.openxmlformats.org/drawingml/2006/main" l="0" t="0" r="0" b="0"/>
          <a:stretch xmlns:a="http://schemas.openxmlformats.org/drawingml/2006/main">
            <a:fillRect/>
          </a:stretch>
        </p:blipFill>
        <p:spPr>
          <a:xfrm xmlns:a="http://schemas.openxmlformats.org/drawingml/2006/main">
            <a:off x="866775" y="1668660"/>
            <a:ext cx="419100" cy="377429"/>
          </a:xfrm>
          <a:prstGeom xmlns:a="http://schemas.openxmlformats.org/drawingml/2006/main" prst="rect">
            <a:avLst/>
          </a:prstGeom>
        </p:spPr>
      </p:pic>
      <p:pic>
        <p:nvPicPr>
          <p:cNvPr id="35" name="!!tech-logo-vite" descr="vite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35"/>
          <ns0:srcRect xmlns:ns0="http://schemas.openxmlformats.org/drawingml/2006/main" l="0" t="0" r="500" b="1042"/>
          <a:stretch xmlns:a="http://schemas.openxmlformats.org/drawingml/2006/main">
            <a:fillRect/>
          </a:stretch>
        </p:blipFill>
        <p:spPr>
          <a:xfrm xmlns:a="http://schemas.openxmlformats.org/drawingml/2006/main">
            <a:off x="1571625" y="1657302"/>
            <a:ext cx="419100" cy="400146"/>
          </a:xfrm>
          <a:prstGeom xmlns:a="http://schemas.openxmlformats.org/drawingml/2006/main" prst="rect">
            <a:avLst/>
          </a:prstGeom>
        </p:spPr>
      </p:pic>
      <p:pic>
        <p:nvPicPr>
          <p:cNvPr id="36" name="!!tech-logo-vercel" descr="vercel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36"/>
          <ns0:srcRect xmlns:ns0="http://schemas.openxmlformats.org/drawingml/2006/main" l="0" t="0" r="21" b="0"/>
          <a:stretch xmlns:a="http://schemas.openxmlformats.org/drawingml/2006/main">
            <a:fillRect/>
          </a:stretch>
        </p:blipFill>
        <p:spPr>
          <a:xfrm xmlns:a="http://schemas.openxmlformats.org/drawingml/2006/main">
            <a:off x="2276475" y="1675913"/>
            <a:ext cx="419100" cy="362924"/>
          </a:xfrm>
          <a:prstGeom xmlns:a="http://schemas.openxmlformats.org/drawingml/2006/main" prst="rect">
            <a:avLst/>
          </a:prstGeom>
        </p:spPr>
      </p:pic>
      <p:pic>
        <p:nvPicPr>
          <p:cNvPr id="42" name="!!tech-logo-google-auth" descr="Google G logo for Google OAuth"/>
          <p:cNvPicPr>
            <a:picLocks xmlns:a="http://schemas.openxmlformats.org/drawingml/2006/main" noChangeAspect="1"/>
          </p:cNvPicPr>
          <p:nvPr/>
        </p:nvPicPr>
        <p:blipFill>
          <a:blip xmlns:r="http://schemas.openxmlformats.org/officeDocument/2006/relationships" xmlns:a="http://schemas.openxmlformats.org/drawingml/2006/main" r:embed="rIdGoogleAuthLogo"/>
          <ns0:srcRect xmlns:ns0="http://schemas.openxmlformats.org/drawingml/2006/main" l="0" t="0" r="0" b="0"/>
          <a:stretch xmlns:a="http://schemas.openxmlformats.org/drawingml/2006/main">
            <a:fillRect/>
          </a:stretch>
        </p:blipFill>
        <p:spPr>
          <a:xfrm xmlns:a="http://schemas.openxmlformats.org/drawingml/2006/main">
            <a:off x="1793781" y="3474244"/>
            <a:ext cx="546286" cy="557212"/>
          </a:xfrm>
          <a:prstGeom xmlns:a="http://schemas.openxmlformats.org/drawingml/2006/main" prst="rect">
            <a:avLst/>
          </a:prstGeom>
        </p:spPr>
      </p:pic>
    </p:spTree>
    <p:extLst>
      <p:ext uri="{BB962C8B-B14F-4D97-AF65-F5344CB8AC3E}">
        <p14:creationId xmlns:p14="http://schemas.microsoft.com/office/powerpoint/2010/main" val="682066292"/>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35.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34" name="!!backdrop"/>
          <p:cNvPicPr>
            <a:picLocks xmlns:a="http://schemas.openxmlformats.org/drawingml/2006/main" noChangeAspect="1"/>
          </p:cNvPicPr>
          <p:nvPr/>
        </p:nvPicPr>
        <p:blipFill>
          <a:blip xmlns:r="http://schemas.openxmlformats.org/officeDocument/2006/relationships" xmlns:a="http://schemas.openxmlformats.org/drawingml/2006/main" r:embed="Rd6f1133ec8bf44ea"/>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414D43C6-7955-4F02-A18D-3CDC46B8A52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F2F82607-B21E-4E6B-83C6-78FA3C90E02C}"/>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Công nghệ và kiến trúc cloud</a:t>
            </a:r>
          </a:p>
        </p:txBody>
      </p:sp>
      <p:sp>
        <p:nvSpPr>
          <p:cNvPr id="4" name="!!client">
            <a:extLst xmlns:a="http://schemas.openxmlformats.org/drawingml/2006/main">
              <a:ext uri="{FF2B5EF4-FFF2-40B4-BE49-F238E27FC236}">
                <a16:creationId xmlns:a16="http://schemas.microsoft.com/office/drawing/2014/main" id="{C55B7865-70D0-420B-9780-EB2372758DBF}"/>
              </a:ext>
            </a:extLst>
          </p:cNvPr>
          <p:cNvSpPr>
            <a:spLocks xmlns:a="http://schemas.openxmlformats.org/drawingml/2006/main" noGrp="1"/>
          </p:cNvSpPr>
          <p:nvPr/>
        </p:nvSpPr>
        <p:spPr>
          <a:xfrm xmlns:a="http://schemas.openxmlformats.org/drawingml/2006/main">
            <a:off x="609600" y="2295525"/>
            <a:ext cx="2324100" cy="1143000"/>
          </a:xfrm>
          <a:prstGeom xmlns:a="http://schemas.openxmlformats.org/drawingml/2006/main" prst="rect">
            <a:avLst/>
          </a:prstGeom>
          <a:solidFill xmlns:a="http://schemas.openxmlformats.org/drawingml/2006/main">
            <a:srgbClr val="183A2C"/>
          </a:solidFill>
          <a:ln xmlns:a="http://schemas.openxmlformats.org/drawingml/2006/main" w="9525">
            <a:solidFill>
              <a:srgbClr val="A3BCAB"/>
            </a:solidFill>
          </a:ln>
        </p:spPr>
      </p:sp>
      <p:sp>
        <p:nvSpPr>
          <p:cNvPr id="5" name="!!client-text">
            <a:extLst xmlns:a="http://schemas.openxmlformats.org/drawingml/2006/main">
              <a:ext uri="{FF2B5EF4-FFF2-40B4-BE49-F238E27FC236}">
                <a16:creationId xmlns:a16="http://schemas.microsoft.com/office/drawing/2014/main" id="{88D962F3-DE2E-4765-8A39-7DA70A8B4228}"/>
              </a:ext>
            </a:extLst>
          </p:cNvPr>
          <p:cNvSpPr>
            <a:spLocks xmlns:a="http://schemas.openxmlformats.org/drawingml/2006/main" noGrp="1"/>
          </p:cNvSpPr>
          <p:nvPr/>
        </p:nvSpPr>
        <p:spPr>
          <a:xfrm xmlns:a="http://schemas.openxmlformats.org/drawingml/2006/main">
            <a:off x="781050" y="2447925"/>
            <a:ext cx="19812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defRPr sz="1800" b="1">
                <a:solidFill>
                  <a:srgbClr val="F4F1E8"/>
                </a:solidFill>
                <a:latin typeface="Segoe UI"/>
                <a:ea typeface="Segoe UI"/>
                <a:cs typeface="Segoe UI"/>
              </a:defRPr>
            </a:pPr>
            <a:r>
              <a:rPr sz="1800" b="1">
                <a:solidFill>
                  <a:srgbClr val="F4F1E8"/>
                </a:solidFill>
                <a:latin typeface="Segoe UI"/>
                <a:ea typeface="Segoe UI"/>
                <a:cs typeface="Segoe UI"/>
              </a:rPr>
              <a:t>React 19 + Vite 8</a:t>
            </a:r>
          </a:p>
          <a:p xmlns:a="http://schemas.openxmlformats.org/drawingml/2006/main">
            <a:pPr>
              <a:defRPr sz="1800" b="1">
                <a:solidFill>
                  <a:srgbClr val="F4F1E8"/>
                </a:solidFill>
                <a:latin typeface="Segoe UI"/>
                <a:ea typeface="Segoe UI"/>
                <a:cs typeface="Segoe UI"/>
              </a:defRPr>
            </a:pPr>
            <a:r>
              <a:rPr sz="1800" b="1">
                <a:solidFill>
                  <a:srgbClr val="F4F1E8"/>
                </a:solidFill>
                <a:latin typeface="Segoe UI"/>
                <a:ea typeface="Segoe UI"/>
                <a:cs typeface="Segoe UI"/>
              </a:rPr>
              <a:t>Vercel · giao diện</a:t>
            </a:r>
          </a:p>
        </p:txBody>
      </p:sp>
      <p:sp>
        <p:nvSpPr>
          <p:cNvPr id="12" name="!!auth">
            <a:extLst xmlns:a="http://schemas.openxmlformats.org/drawingml/2006/main">
              <a:ext uri="{FF2B5EF4-FFF2-40B4-BE49-F238E27FC236}">
                <a16:creationId xmlns:a16="http://schemas.microsoft.com/office/drawing/2014/main" id="{A0FB76BC-A5E6-4F3B-9F63-C6FFD67185E4}"/>
              </a:ext>
            </a:extLst>
          </p:cNvPr>
          <p:cNvSpPr>
            <a:spLocks xmlns:a="http://schemas.openxmlformats.org/drawingml/2006/main" noGrp="1"/>
          </p:cNvSpPr>
          <p:nvPr/>
        </p:nvSpPr>
        <p:spPr>
          <a:xfrm xmlns:a="http://schemas.openxmlformats.org/drawingml/2006/main">
            <a:off x="609600" y="4152900"/>
            <a:ext cx="2905125" cy="1143000"/>
          </a:xfrm>
          <a:prstGeom xmlns:a="http://schemas.openxmlformats.org/drawingml/2006/main" prst="rect">
            <a:avLst/>
          </a:prstGeom>
          <a:solidFill xmlns:a="http://schemas.openxmlformats.org/drawingml/2006/main">
            <a:srgbClr val="183A2C"/>
          </a:solidFill>
          <a:ln xmlns:a="http://schemas.openxmlformats.org/drawingml/2006/main" w="9525">
            <a:solidFill>
              <a:srgbClr val="A3BCAB"/>
            </a:solidFill>
          </a:ln>
        </p:spPr>
      </p:sp>
      <p:sp>
        <p:nvSpPr>
          <p:cNvPr id="13" name="!!auth-text">
            <a:extLst xmlns:a="http://schemas.openxmlformats.org/drawingml/2006/main">
              <a:ext uri="{FF2B5EF4-FFF2-40B4-BE49-F238E27FC236}">
                <a16:creationId xmlns:a16="http://schemas.microsoft.com/office/drawing/2014/main" id="{10EE88DC-A3F5-481B-8DFF-3189585DAE09}"/>
              </a:ext>
            </a:extLst>
          </p:cNvPr>
          <p:cNvSpPr>
            <a:spLocks xmlns:a="http://schemas.openxmlformats.org/drawingml/2006/main" noGrp="1"/>
          </p:cNvSpPr>
          <p:nvPr/>
        </p:nvSpPr>
        <p:spPr>
          <a:xfrm xmlns:a="http://schemas.openxmlformats.org/drawingml/2006/main">
            <a:off x="781050" y="4305300"/>
            <a:ext cx="25622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defRPr sz="1800" b="1">
                <a:solidFill>
                  <a:srgbClr val="F4F1E8"/>
                </a:solidFill>
                <a:latin typeface="Segoe UI"/>
                <a:ea typeface="Segoe UI"/>
                <a:cs typeface="Segoe UI"/>
              </a:defRPr>
            </a:pPr>
            <a:r>
              <a:rPr sz="1800" b="1">
                <a:solidFill>
                  <a:srgbClr val="F4F1E8"/>
                </a:solidFill>
                <a:latin typeface="Segoe UI"/>
                <a:ea typeface="Segoe UI"/>
                <a:cs typeface="Segoe UI"/>
              </a:rPr>
              <a:t>Google OAuth</a:t>
            </a:r>
          </a:p>
          <a:p xmlns:a="http://schemas.openxmlformats.org/drawingml/2006/main">
            <a:pPr>
              <a:defRPr sz="1800" b="1">
                <a:solidFill>
                  <a:srgbClr val="F4F1E8"/>
                </a:solidFill>
                <a:latin typeface="Segoe UI"/>
                <a:ea typeface="Segoe UI"/>
                <a:cs typeface="Segoe UI"/>
              </a:defRPr>
            </a:pPr>
            <a:r>
              <a:rPr sz="1800" b="1">
                <a:solidFill>
                  <a:srgbClr val="F4F1E8"/>
                </a:solidFill>
                <a:latin typeface="Segoe UI"/>
                <a:ea typeface="Segoe UI"/>
                <a:cs typeface="Segoe UI"/>
              </a:rPr>
              <a:t>Đăng nhập tài khoản</a:t>
            </a:r>
          </a:p>
        </p:txBody>
      </p:sp>
      <p:cxnSp>
        <p:nvCxnSpPr>
          <p:cNvPr id="47" name="!!connector-11-0"/>
          <p:cNvCxnSpPr>
            <a:stCxn xmlns:a="http://schemas.openxmlformats.org/drawingml/2006/main" id="4" idx="2"/>
            <a:endCxn xmlns:a="http://schemas.openxmlformats.org/drawingml/2006/main" id="12" idx="0"/>
          </p:cNvCxnSpPr>
          <p:nvPr/>
        </p:nvCxnSpPr>
        <p:spPr>
          <a:xfrm xmlns:a="http://schemas.openxmlformats.org/drawingml/2006/main">
            <a:off x="1771650" y="3438525"/>
            <a:ext cx="290513" cy="714375"/>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sp>
        <p:nvSpPr>
          <p:cNvPr id="15" name="!!auth-symbol-selection">
            <a:extLst xmlns:a="http://schemas.openxmlformats.org/drawingml/2006/main">
              <a:ext uri="{FF2B5EF4-FFF2-40B4-BE49-F238E27FC236}">
                <a16:creationId xmlns:a16="http://schemas.microsoft.com/office/drawing/2014/main" id="{E925E5B0-F399-40D2-A073-40638A3CBE7E}"/>
              </a:ext>
            </a:extLst>
          </p:cNvPr>
          <p:cNvSpPr>
            <a:spLocks xmlns:a="http://schemas.openxmlformats.org/drawingml/2006/main" noGrp="1"/>
          </p:cNvSpPr>
          <p:nvPr/>
        </p:nvSpPr>
        <p:spPr>
          <a:xfrm xmlns:a="http://schemas.openxmlformats.org/drawingml/2006/main">
            <a:off x="1771650" y="3448050"/>
            <a:ext cx="609600" cy="609600"/>
          </a:xfrm>
          <a:prstGeom xmlns:a="http://schemas.openxmlformats.org/drawingml/2006/main" prst="ellipse">
            <a:avLst/>
          </a:prstGeom>
          <a:solidFill xmlns:a="http://schemas.openxmlformats.org/drawingml/2006/main">
            <a:srgbClr val="FFFFFF"/>
          </a:solidFill>
          <a:ln xmlns:a="http://schemas.openxmlformats.org/drawingml/2006/main" w="9525">
            <a:solidFill>
              <a:srgbClr val="A3BCAB"/>
            </a:solidFill>
          </a:ln>
        </p:spPr>
      </p:sp>
      <p:sp>
        <p:nvSpPr>
          <p:cNvPr id="18" name="!!render">
            <a:extLst xmlns:a="http://schemas.openxmlformats.org/drawingml/2006/main">
              <a:ext uri="{FF2B5EF4-FFF2-40B4-BE49-F238E27FC236}">
                <a16:creationId xmlns:a16="http://schemas.microsoft.com/office/drawing/2014/main" id="{F518E113-BD73-401B-BB3D-38FDFA35802C}"/>
              </a:ext>
            </a:extLst>
          </p:cNvPr>
          <p:cNvSpPr>
            <a:spLocks xmlns:a="http://schemas.openxmlformats.org/drawingml/2006/main" noGrp="1"/>
          </p:cNvSpPr>
          <p:nvPr/>
        </p:nvSpPr>
        <p:spPr>
          <a:xfrm xmlns:a="http://schemas.openxmlformats.org/drawingml/2006/main">
            <a:off x="3886200" y="2295525"/>
            <a:ext cx="2905125" cy="1143000"/>
          </a:xfrm>
          <a:prstGeom xmlns:a="http://schemas.openxmlformats.org/drawingml/2006/main" prst="rect">
            <a:avLst/>
          </a:prstGeom>
          <a:solidFill xmlns:a="http://schemas.openxmlformats.org/drawingml/2006/main">
            <a:srgbClr val="166447"/>
          </a:solidFill>
          <a:ln xmlns:a="http://schemas.openxmlformats.org/drawingml/2006/main" w="28575">
            <a:solidFill>
              <a:srgbClr val="C8A45B"/>
            </a:solidFill>
          </a:ln>
        </p:spPr>
      </p:sp>
      <p:sp>
        <p:nvSpPr>
          <p:cNvPr id="19" name="!!render-text">
            <a:extLst xmlns:a="http://schemas.openxmlformats.org/drawingml/2006/main">
              <a:ext uri="{FF2B5EF4-FFF2-40B4-BE49-F238E27FC236}">
                <a16:creationId xmlns:a16="http://schemas.microsoft.com/office/drawing/2014/main" id="{A0C7B4DB-80E2-4D18-9F3B-73CD3B640D74}"/>
              </a:ext>
            </a:extLst>
          </p:cNvPr>
          <p:cNvSpPr>
            <a:spLocks xmlns:a="http://schemas.openxmlformats.org/drawingml/2006/main" noGrp="1"/>
          </p:cNvSpPr>
          <p:nvPr/>
        </p:nvSpPr>
        <p:spPr>
          <a:xfrm xmlns:a="http://schemas.openxmlformats.org/drawingml/2006/main">
            <a:off x="4057650" y="2447925"/>
            <a:ext cx="25622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defRPr sz="1800" b="1">
                <a:solidFill>
                  <a:srgbClr val="FFFFFF"/>
                </a:solidFill>
                <a:latin typeface="Segoe UI"/>
                <a:ea typeface="Segoe UI"/>
                <a:cs typeface="Segoe UI"/>
              </a:defRPr>
            </a:pPr>
            <a:r>
              <a:rPr sz="1800" b="1">
                <a:solidFill>
                  <a:srgbClr val="FFFFFF"/>
                </a:solidFill>
                <a:latin typeface="Segoe UI"/>
                <a:ea typeface="Segoe UI"/>
                <a:cs typeface="Segoe UI"/>
              </a:rPr>
              <a:t>FastAPI · Python</a:t>
            </a:r>
          </a:p>
          <a:p xmlns:a="http://schemas.openxmlformats.org/drawingml/2006/main">
            <a:pPr>
              <a:defRPr sz="1800" b="1">
                <a:solidFill>
                  <a:srgbClr val="FFFFFF"/>
                </a:solidFill>
                <a:latin typeface="Segoe UI"/>
                <a:ea typeface="Segoe UI"/>
                <a:cs typeface="Segoe UI"/>
              </a:defRPr>
            </a:pPr>
            <a:r>
              <a:rPr sz="1800" b="1">
                <a:solidFill>
                  <a:srgbClr val="FFFFFF"/>
                </a:solidFill>
                <a:latin typeface="Segoe UI"/>
                <a:ea typeface="Segoe UI"/>
                <a:cs typeface="Segoe UI"/>
              </a:rPr>
              <a:t>Render · REST API</a:t>
            </a:r>
          </a:p>
        </p:txBody>
      </p:sp>
      <p:cxnSp>
        <p:nvCxnSpPr>
          <p:cNvPr id="53" name="!!connector-11-1"/>
          <p:cNvCxnSpPr>
            <a:stCxn xmlns:a="http://schemas.openxmlformats.org/drawingml/2006/main" id="4" idx="3"/>
            <a:endCxn xmlns:a="http://schemas.openxmlformats.org/drawingml/2006/main" id="18" idx="1"/>
          </p:cNvCxnSpPr>
          <p:nvPr/>
        </p:nvCxnSpPr>
        <p:spPr>
          <a:xfrm xmlns:a="http://schemas.openxmlformats.org/drawingml/2006/main">
            <a:off x="2933700" y="2867025"/>
            <a:ext cx="952500" cy="0"/>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sp>
        <p:nvSpPr>
          <p:cNvPr id="32" name="!!page">
            <a:extLst xmlns:a="http://schemas.openxmlformats.org/drawingml/2006/main">
              <a:ext uri="{FF2B5EF4-FFF2-40B4-BE49-F238E27FC236}">
                <a16:creationId xmlns:a16="http://schemas.microsoft.com/office/drawing/2014/main" id="{8EACE44B-7C3A-4FBD-AE1C-CD119C0CF511}"/>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17 / 30</a:t>
            </a:r>
          </a:p>
        </p:txBody>
      </p:sp>
      <p:sp>
        <p:nvSpPr>
          <p:cNvPr id="33" name="!!caption">
            <a:extLst xmlns:a="http://schemas.openxmlformats.org/drawingml/2006/main">
              <a:ext uri="{FF2B5EF4-FFF2-40B4-BE49-F238E27FC236}">
                <a16:creationId xmlns:a16="http://schemas.microsoft.com/office/drawing/2014/main" id="{352AF713-3869-45A4-938B-01B6DB94F18F}"/>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Source trong repo, 29/09/2026 · Luồng cloud độc lập với Solana Devnet</a:t>
            </a:r>
          </a:p>
        </p:txBody>
      </p:sp>
      <p:pic>
        <p:nvPicPr>
          <p:cNvPr id="54" name="!!tech-logo-react" descr="react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54"/>
          <ns0:srcRect xmlns:ns0="http://schemas.openxmlformats.org/drawingml/2006/main" l="0" t="0" r="0" b="0"/>
          <a:stretch xmlns:a="http://schemas.openxmlformats.org/drawingml/2006/main">
            <a:fillRect/>
          </a:stretch>
        </p:blipFill>
        <p:spPr>
          <a:xfrm xmlns:a="http://schemas.openxmlformats.org/drawingml/2006/main">
            <a:off x="866775" y="1668660"/>
            <a:ext cx="419100" cy="377429"/>
          </a:xfrm>
          <a:prstGeom xmlns:a="http://schemas.openxmlformats.org/drawingml/2006/main" prst="rect">
            <a:avLst/>
          </a:prstGeom>
        </p:spPr>
      </p:pic>
      <p:pic>
        <p:nvPicPr>
          <p:cNvPr id="55" name="!!tech-logo-vite" descr="vite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55"/>
          <ns0:srcRect xmlns:ns0="http://schemas.openxmlformats.org/drawingml/2006/main" l="0" t="0" r="500" b="1042"/>
          <a:stretch xmlns:a="http://schemas.openxmlformats.org/drawingml/2006/main">
            <a:fillRect/>
          </a:stretch>
        </p:blipFill>
        <p:spPr>
          <a:xfrm xmlns:a="http://schemas.openxmlformats.org/drawingml/2006/main">
            <a:off x="1571625" y="1657302"/>
            <a:ext cx="419100" cy="400146"/>
          </a:xfrm>
          <a:prstGeom xmlns:a="http://schemas.openxmlformats.org/drawingml/2006/main" prst="rect">
            <a:avLst/>
          </a:prstGeom>
        </p:spPr>
      </p:pic>
      <p:pic>
        <p:nvPicPr>
          <p:cNvPr id="56" name="!!tech-logo-vercel" descr="vercel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56"/>
          <ns0:srcRect xmlns:ns0="http://schemas.openxmlformats.org/drawingml/2006/main" l="0" t="0" r="21" b="0"/>
          <a:stretch xmlns:a="http://schemas.openxmlformats.org/drawingml/2006/main">
            <a:fillRect/>
          </a:stretch>
        </p:blipFill>
        <p:spPr>
          <a:xfrm xmlns:a="http://schemas.openxmlformats.org/drawingml/2006/main">
            <a:off x="2276475" y="1675913"/>
            <a:ext cx="419100" cy="362924"/>
          </a:xfrm>
          <a:prstGeom xmlns:a="http://schemas.openxmlformats.org/drawingml/2006/main" prst="rect">
            <a:avLst/>
          </a:prstGeom>
        </p:spPr>
      </p:pic>
      <p:pic>
        <p:nvPicPr>
          <p:cNvPr id="57" name="!!tech-logo-fastapi" descr="fastapi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57"/>
          <ns0:srcRect xmlns:ns0="http://schemas.openxmlformats.org/drawingml/2006/main" l="8333" t="8333" r="8333" b="8654"/>
          <a:stretch xmlns:a="http://schemas.openxmlformats.org/drawingml/2006/main">
            <a:fillRect/>
          </a:stretch>
        </p:blipFill>
        <p:spPr>
          <a:xfrm xmlns:a="http://schemas.openxmlformats.org/drawingml/2006/main">
            <a:off x="4022229" y="1573589"/>
            <a:ext cx="557212" cy="555070"/>
          </a:xfrm>
          <a:prstGeom xmlns:a="http://schemas.openxmlformats.org/drawingml/2006/main" prst="rect">
            <a:avLst/>
          </a:prstGeom>
        </p:spPr>
      </p:pic>
      <p:pic>
        <p:nvPicPr>
          <p:cNvPr id="58" name="!!tech-logo-python" descr="python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58"/>
          <ns0:srcRect xmlns:ns0="http://schemas.openxmlformats.org/drawingml/2006/main" l="0" t="0" r="67934" b="67998"/>
          <a:stretch xmlns:a="http://schemas.openxmlformats.org/drawingml/2006/main">
            <a:fillRect/>
          </a:stretch>
        </p:blipFill>
        <p:spPr>
          <a:xfrm xmlns:a="http://schemas.openxmlformats.org/drawingml/2006/main">
            <a:off x="4933452" y="1549301"/>
            <a:ext cx="499273" cy="603647"/>
          </a:xfrm>
          <a:prstGeom xmlns:a="http://schemas.openxmlformats.org/drawingml/2006/main" prst="rect">
            <a:avLst/>
          </a:prstGeom>
        </p:spPr>
      </p:pic>
      <p:pic>
        <p:nvPicPr>
          <p:cNvPr id="59" name="!!tech-logo-render" descr="render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59"/>
          <ns0:srcRect xmlns:ns0="http://schemas.openxmlformats.org/drawingml/2006/main" l="25743" t="24242" r="24302" b="25833"/>
          <a:stretch xmlns:a="http://schemas.openxmlformats.org/drawingml/2006/main">
            <a:fillRect/>
          </a:stretch>
        </p:blipFill>
        <p:spPr>
          <a:xfrm xmlns:a="http://schemas.openxmlformats.org/drawingml/2006/main">
            <a:off x="5786735" y="1572685"/>
            <a:ext cx="557212" cy="556877"/>
          </a:xfrm>
          <a:prstGeom xmlns:a="http://schemas.openxmlformats.org/drawingml/2006/main" prst="rect">
            <a:avLst/>
          </a:prstGeom>
        </p:spPr>
      </p:pic>
      <p:pic>
        <p:nvPicPr>
          <p:cNvPr id="62" name="!!tech-logo-google-auth" descr="Google G logo for Google OAuth"/>
          <p:cNvPicPr>
            <a:picLocks xmlns:a="http://schemas.openxmlformats.org/drawingml/2006/main" noChangeAspect="1"/>
          </p:cNvPicPr>
          <p:nvPr/>
        </p:nvPicPr>
        <p:blipFill>
          <a:blip xmlns:r="http://schemas.openxmlformats.org/officeDocument/2006/relationships" xmlns:a="http://schemas.openxmlformats.org/drawingml/2006/main" r:embed="rIdGoogleAuthLogo"/>
          <ns0:srcRect xmlns:ns0="http://schemas.openxmlformats.org/drawingml/2006/main" l="0" t="0" r="0" b="0"/>
          <a:stretch xmlns:a="http://schemas.openxmlformats.org/drawingml/2006/main">
            <a:fillRect/>
          </a:stretch>
        </p:blipFill>
        <p:spPr>
          <a:xfrm xmlns:a="http://schemas.openxmlformats.org/drawingml/2006/main">
            <a:off x="1842807" y="3524250"/>
            <a:ext cx="448235" cy="457200"/>
          </a:xfrm>
          <a:prstGeom xmlns:a="http://schemas.openxmlformats.org/drawingml/2006/main" prst="rect">
            <a:avLst/>
          </a:prstGeom>
        </p:spPr>
      </p:pic>
    </p:spTree>
    <p:extLst>
      <p:ext uri="{BB962C8B-B14F-4D97-AF65-F5344CB8AC3E}">
        <p14:creationId xmlns:p14="http://schemas.microsoft.com/office/powerpoint/2010/main" val="406190134"/>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36.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46" name="!!backdrop"/>
          <p:cNvPicPr>
            <a:picLocks xmlns:a="http://schemas.openxmlformats.org/drawingml/2006/main" noChangeAspect="1"/>
          </p:cNvPicPr>
          <p:nvPr/>
        </p:nvPicPr>
        <p:blipFill>
          <a:blip xmlns:r="http://schemas.openxmlformats.org/officeDocument/2006/relationships" xmlns:a="http://schemas.openxmlformats.org/drawingml/2006/main" r:embed="R853020a19e2b4a99"/>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60D6231E-6689-4566-B64C-E8B5796FAB4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C828FBA9-4669-45D4-AB44-A1B7DFA74512}"/>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Công nghệ và kiến trúc cloud</a:t>
            </a:r>
          </a:p>
        </p:txBody>
      </p:sp>
      <p:sp>
        <p:nvSpPr>
          <p:cNvPr id="4" name="!!client">
            <a:extLst xmlns:a="http://schemas.openxmlformats.org/drawingml/2006/main">
              <a:ext uri="{FF2B5EF4-FFF2-40B4-BE49-F238E27FC236}">
                <a16:creationId xmlns:a16="http://schemas.microsoft.com/office/drawing/2014/main" id="{02C05EEF-D0B8-41A3-89BD-ED9C3B0B140A}"/>
              </a:ext>
            </a:extLst>
          </p:cNvPr>
          <p:cNvSpPr>
            <a:spLocks xmlns:a="http://schemas.openxmlformats.org/drawingml/2006/main" noGrp="1"/>
          </p:cNvSpPr>
          <p:nvPr/>
        </p:nvSpPr>
        <p:spPr>
          <a:xfrm xmlns:a="http://schemas.openxmlformats.org/drawingml/2006/main">
            <a:off x="609600" y="2295525"/>
            <a:ext cx="2324100" cy="1143000"/>
          </a:xfrm>
          <a:prstGeom xmlns:a="http://schemas.openxmlformats.org/drawingml/2006/main" prst="rect">
            <a:avLst/>
          </a:prstGeom>
          <a:solidFill xmlns:a="http://schemas.openxmlformats.org/drawingml/2006/main">
            <a:srgbClr val="183A2C"/>
          </a:solidFill>
          <a:ln xmlns:a="http://schemas.openxmlformats.org/drawingml/2006/main" w="9525">
            <a:solidFill>
              <a:srgbClr val="A3BCAB"/>
            </a:solidFill>
          </a:ln>
        </p:spPr>
      </p:sp>
      <p:sp>
        <p:nvSpPr>
          <p:cNvPr id="5" name="!!client-text">
            <a:extLst xmlns:a="http://schemas.openxmlformats.org/drawingml/2006/main">
              <a:ext uri="{FF2B5EF4-FFF2-40B4-BE49-F238E27FC236}">
                <a16:creationId xmlns:a16="http://schemas.microsoft.com/office/drawing/2014/main" id="{A2DCE1C1-0F78-4133-9DFB-F022B1AC4B32}"/>
              </a:ext>
            </a:extLst>
          </p:cNvPr>
          <p:cNvSpPr>
            <a:spLocks xmlns:a="http://schemas.openxmlformats.org/drawingml/2006/main" noGrp="1"/>
          </p:cNvSpPr>
          <p:nvPr/>
        </p:nvSpPr>
        <p:spPr>
          <a:xfrm xmlns:a="http://schemas.openxmlformats.org/drawingml/2006/main">
            <a:off x="781050" y="2447925"/>
            <a:ext cx="19812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defRPr sz="1800" b="1">
                <a:solidFill>
                  <a:srgbClr val="F4F1E8"/>
                </a:solidFill>
                <a:latin typeface="Segoe UI"/>
                <a:ea typeface="Segoe UI"/>
                <a:cs typeface="Segoe UI"/>
              </a:defRPr>
            </a:pPr>
            <a:r>
              <a:rPr sz="1800" b="1">
                <a:solidFill>
                  <a:srgbClr val="F4F1E8"/>
                </a:solidFill>
                <a:latin typeface="Segoe UI"/>
                <a:ea typeface="Segoe UI"/>
                <a:cs typeface="Segoe UI"/>
              </a:rPr>
              <a:t>React 19 + Vite 8</a:t>
            </a:r>
          </a:p>
          <a:p xmlns:a="http://schemas.openxmlformats.org/drawingml/2006/main">
            <a:pPr>
              <a:defRPr sz="1800" b="1">
                <a:solidFill>
                  <a:srgbClr val="F4F1E8"/>
                </a:solidFill>
                <a:latin typeface="Segoe UI"/>
                <a:ea typeface="Segoe UI"/>
                <a:cs typeface="Segoe UI"/>
              </a:defRPr>
            </a:pPr>
            <a:r>
              <a:rPr sz="1800" b="1">
                <a:solidFill>
                  <a:srgbClr val="F4F1E8"/>
                </a:solidFill>
                <a:latin typeface="Segoe UI"/>
                <a:ea typeface="Segoe UI"/>
                <a:cs typeface="Segoe UI"/>
              </a:rPr>
              <a:t>Vercel · giao diện</a:t>
            </a:r>
          </a:p>
        </p:txBody>
      </p:sp>
      <p:sp>
        <p:nvSpPr>
          <p:cNvPr id="12" name="!!auth">
            <a:extLst xmlns:a="http://schemas.openxmlformats.org/drawingml/2006/main">
              <a:ext uri="{FF2B5EF4-FFF2-40B4-BE49-F238E27FC236}">
                <a16:creationId xmlns:a16="http://schemas.microsoft.com/office/drawing/2014/main" id="{6FEB6A53-3BFE-43D2-969B-08DB813B4760}"/>
              </a:ext>
            </a:extLst>
          </p:cNvPr>
          <p:cNvSpPr>
            <a:spLocks xmlns:a="http://schemas.openxmlformats.org/drawingml/2006/main" noGrp="1"/>
          </p:cNvSpPr>
          <p:nvPr/>
        </p:nvSpPr>
        <p:spPr>
          <a:xfrm xmlns:a="http://schemas.openxmlformats.org/drawingml/2006/main">
            <a:off x="609600" y="4152900"/>
            <a:ext cx="2905125" cy="1143000"/>
          </a:xfrm>
          <a:prstGeom xmlns:a="http://schemas.openxmlformats.org/drawingml/2006/main" prst="rect">
            <a:avLst/>
          </a:prstGeom>
          <a:solidFill xmlns:a="http://schemas.openxmlformats.org/drawingml/2006/main">
            <a:srgbClr val="183A2C"/>
          </a:solidFill>
          <a:ln xmlns:a="http://schemas.openxmlformats.org/drawingml/2006/main" w="9525">
            <a:solidFill>
              <a:srgbClr val="A3BCAB"/>
            </a:solidFill>
          </a:ln>
        </p:spPr>
      </p:sp>
      <p:sp>
        <p:nvSpPr>
          <p:cNvPr id="13" name="!!auth-text">
            <a:extLst xmlns:a="http://schemas.openxmlformats.org/drawingml/2006/main">
              <a:ext uri="{FF2B5EF4-FFF2-40B4-BE49-F238E27FC236}">
                <a16:creationId xmlns:a16="http://schemas.microsoft.com/office/drawing/2014/main" id="{2CB7A0B6-C4A3-4D7E-9DEB-3286C1EB4BD1}"/>
              </a:ext>
            </a:extLst>
          </p:cNvPr>
          <p:cNvSpPr>
            <a:spLocks xmlns:a="http://schemas.openxmlformats.org/drawingml/2006/main" noGrp="1"/>
          </p:cNvSpPr>
          <p:nvPr/>
        </p:nvSpPr>
        <p:spPr>
          <a:xfrm xmlns:a="http://schemas.openxmlformats.org/drawingml/2006/main">
            <a:off x="781050" y="4305300"/>
            <a:ext cx="25622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defRPr sz="1800" b="1">
                <a:solidFill>
                  <a:srgbClr val="F4F1E8"/>
                </a:solidFill>
                <a:latin typeface="Segoe UI"/>
                <a:ea typeface="Segoe UI"/>
                <a:cs typeface="Segoe UI"/>
              </a:defRPr>
            </a:pPr>
            <a:r>
              <a:rPr sz="1800" b="1">
                <a:solidFill>
                  <a:srgbClr val="F4F1E8"/>
                </a:solidFill>
                <a:latin typeface="Segoe UI"/>
                <a:ea typeface="Segoe UI"/>
                <a:cs typeface="Segoe UI"/>
              </a:rPr>
              <a:t>Google OAuth</a:t>
            </a:r>
          </a:p>
          <a:p xmlns:a="http://schemas.openxmlformats.org/drawingml/2006/main">
            <a:pPr>
              <a:defRPr sz="1800" b="1">
                <a:solidFill>
                  <a:srgbClr val="F4F1E8"/>
                </a:solidFill>
                <a:latin typeface="Segoe UI"/>
                <a:ea typeface="Segoe UI"/>
                <a:cs typeface="Segoe UI"/>
              </a:defRPr>
            </a:pPr>
            <a:r>
              <a:rPr sz="1800" b="1">
                <a:solidFill>
                  <a:srgbClr val="F4F1E8"/>
                </a:solidFill>
                <a:latin typeface="Segoe UI"/>
                <a:ea typeface="Segoe UI"/>
                <a:cs typeface="Segoe UI"/>
              </a:rPr>
              <a:t>Đăng nhập tài khoản</a:t>
            </a:r>
          </a:p>
        </p:txBody>
      </p:sp>
      <p:cxnSp>
        <p:nvCxnSpPr>
          <p:cNvPr id="59" name="!!connector-11-0"/>
          <p:cNvCxnSpPr>
            <a:stCxn xmlns:a="http://schemas.openxmlformats.org/drawingml/2006/main" id="4" idx="2"/>
            <a:endCxn xmlns:a="http://schemas.openxmlformats.org/drawingml/2006/main" id="12" idx="0"/>
          </p:cNvCxnSpPr>
          <p:nvPr/>
        </p:nvCxnSpPr>
        <p:spPr>
          <a:xfrm xmlns:a="http://schemas.openxmlformats.org/drawingml/2006/main">
            <a:off x="1771650" y="3438525"/>
            <a:ext cx="290513" cy="714375"/>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sp>
        <p:nvSpPr>
          <p:cNvPr id="15" name="!!auth-symbol-selection">
            <a:extLst xmlns:a="http://schemas.openxmlformats.org/drawingml/2006/main">
              <a:ext uri="{FF2B5EF4-FFF2-40B4-BE49-F238E27FC236}">
                <a16:creationId xmlns:a16="http://schemas.microsoft.com/office/drawing/2014/main" id="{7C52B530-61C5-4070-A374-A97622660237}"/>
              </a:ext>
            </a:extLst>
          </p:cNvPr>
          <p:cNvSpPr>
            <a:spLocks xmlns:a="http://schemas.openxmlformats.org/drawingml/2006/main" noGrp="1"/>
          </p:cNvSpPr>
          <p:nvPr/>
        </p:nvSpPr>
        <p:spPr>
          <a:xfrm xmlns:a="http://schemas.openxmlformats.org/drawingml/2006/main">
            <a:off x="1771650" y="3448050"/>
            <a:ext cx="609600" cy="609600"/>
          </a:xfrm>
          <a:prstGeom xmlns:a="http://schemas.openxmlformats.org/drawingml/2006/main" prst="ellipse">
            <a:avLst/>
          </a:prstGeom>
          <a:solidFill xmlns:a="http://schemas.openxmlformats.org/drawingml/2006/main">
            <a:srgbClr val="FFFFFF"/>
          </a:solidFill>
          <a:ln xmlns:a="http://schemas.openxmlformats.org/drawingml/2006/main" w="9525">
            <a:solidFill>
              <a:srgbClr val="A3BCAB"/>
            </a:solidFill>
          </a:ln>
        </p:spPr>
      </p:sp>
      <p:sp>
        <p:nvSpPr>
          <p:cNvPr id="18" name="!!render">
            <a:extLst xmlns:a="http://schemas.openxmlformats.org/drawingml/2006/main">
              <a:ext uri="{FF2B5EF4-FFF2-40B4-BE49-F238E27FC236}">
                <a16:creationId xmlns:a16="http://schemas.microsoft.com/office/drawing/2014/main" id="{8B371532-73DF-4655-8AFA-3D6BA92EA70A}"/>
              </a:ext>
            </a:extLst>
          </p:cNvPr>
          <p:cNvSpPr>
            <a:spLocks xmlns:a="http://schemas.openxmlformats.org/drawingml/2006/main" noGrp="1"/>
          </p:cNvSpPr>
          <p:nvPr/>
        </p:nvSpPr>
        <p:spPr>
          <a:xfrm xmlns:a="http://schemas.openxmlformats.org/drawingml/2006/main">
            <a:off x="3886200" y="2295525"/>
            <a:ext cx="2905125" cy="1143000"/>
          </a:xfrm>
          <a:prstGeom xmlns:a="http://schemas.openxmlformats.org/drawingml/2006/main" prst="rect">
            <a:avLst/>
          </a:prstGeom>
          <a:solidFill xmlns:a="http://schemas.openxmlformats.org/drawingml/2006/main">
            <a:srgbClr val="183A2C"/>
          </a:solidFill>
          <a:ln xmlns:a="http://schemas.openxmlformats.org/drawingml/2006/main" w="9525">
            <a:solidFill>
              <a:srgbClr val="A3BCAB"/>
            </a:solidFill>
          </a:ln>
        </p:spPr>
      </p:sp>
      <p:sp>
        <p:nvSpPr>
          <p:cNvPr id="19" name="!!render-text">
            <a:extLst xmlns:a="http://schemas.openxmlformats.org/drawingml/2006/main">
              <a:ext uri="{FF2B5EF4-FFF2-40B4-BE49-F238E27FC236}">
                <a16:creationId xmlns:a16="http://schemas.microsoft.com/office/drawing/2014/main" id="{1C55F9B5-72F6-4BD1-A6FD-60A71006DB22}"/>
              </a:ext>
            </a:extLst>
          </p:cNvPr>
          <p:cNvSpPr>
            <a:spLocks xmlns:a="http://schemas.openxmlformats.org/drawingml/2006/main" noGrp="1"/>
          </p:cNvSpPr>
          <p:nvPr/>
        </p:nvSpPr>
        <p:spPr>
          <a:xfrm xmlns:a="http://schemas.openxmlformats.org/drawingml/2006/main">
            <a:off x="4057650" y="2447925"/>
            <a:ext cx="25622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defRPr sz="1800" b="1">
                <a:solidFill>
                  <a:srgbClr val="F4F1E8"/>
                </a:solidFill>
                <a:latin typeface="Segoe UI"/>
                <a:ea typeface="Segoe UI"/>
                <a:cs typeface="Segoe UI"/>
              </a:defRPr>
            </a:pPr>
            <a:r>
              <a:rPr sz="1800" b="1">
                <a:solidFill>
                  <a:srgbClr val="F4F1E8"/>
                </a:solidFill>
                <a:latin typeface="Segoe UI"/>
                <a:ea typeface="Segoe UI"/>
                <a:cs typeface="Segoe UI"/>
              </a:rPr>
              <a:t>FastAPI · Python</a:t>
            </a:r>
          </a:p>
          <a:p xmlns:a="http://schemas.openxmlformats.org/drawingml/2006/main">
            <a:pPr>
              <a:defRPr sz="1800" b="1">
                <a:solidFill>
                  <a:srgbClr val="F4F1E8"/>
                </a:solidFill>
                <a:latin typeface="Segoe UI"/>
                <a:ea typeface="Segoe UI"/>
                <a:cs typeface="Segoe UI"/>
              </a:defRPr>
            </a:pPr>
            <a:r>
              <a:rPr sz="1800" b="1">
                <a:solidFill>
                  <a:srgbClr val="F4F1E8"/>
                </a:solidFill>
                <a:latin typeface="Segoe UI"/>
                <a:ea typeface="Segoe UI"/>
                <a:cs typeface="Segoe UI"/>
              </a:rPr>
              <a:t>Render · REST API</a:t>
            </a:r>
          </a:p>
        </p:txBody>
      </p:sp>
      <p:cxnSp>
        <p:nvCxnSpPr>
          <p:cNvPr id="65" name="!!connector-11-1"/>
          <p:cNvCxnSpPr>
            <a:stCxn xmlns:a="http://schemas.openxmlformats.org/drawingml/2006/main" id="4" idx="3"/>
            <a:endCxn xmlns:a="http://schemas.openxmlformats.org/drawingml/2006/main" id="18" idx="1"/>
          </p:cNvCxnSpPr>
          <p:nvPr/>
        </p:nvCxnSpPr>
        <p:spPr>
          <a:xfrm xmlns:a="http://schemas.openxmlformats.org/drawingml/2006/main">
            <a:off x="2933700" y="2867025"/>
            <a:ext cx="952500" cy="0"/>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sp>
        <p:nvSpPr>
          <p:cNvPr id="32" name="!!db">
            <a:extLst xmlns:a="http://schemas.openxmlformats.org/drawingml/2006/main">
              <a:ext uri="{FF2B5EF4-FFF2-40B4-BE49-F238E27FC236}">
                <a16:creationId xmlns:a16="http://schemas.microsoft.com/office/drawing/2014/main" id="{5EF90799-05B6-4DAF-8020-668DDACC86CA}"/>
              </a:ext>
            </a:extLst>
          </p:cNvPr>
          <p:cNvSpPr>
            <a:spLocks xmlns:a="http://schemas.openxmlformats.org/drawingml/2006/main" noGrp="1"/>
          </p:cNvSpPr>
          <p:nvPr/>
        </p:nvSpPr>
        <p:spPr>
          <a:xfrm xmlns:a="http://schemas.openxmlformats.org/drawingml/2006/main">
            <a:off x="8010525" y="2295525"/>
            <a:ext cx="3467100" cy="1143000"/>
          </a:xfrm>
          <a:prstGeom xmlns:a="http://schemas.openxmlformats.org/drawingml/2006/main" prst="rect">
            <a:avLst/>
          </a:prstGeom>
          <a:solidFill xmlns:a="http://schemas.openxmlformats.org/drawingml/2006/main">
            <a:srgbClr val="166447"/>
          </a:solidFill>
          <a:ln xmlns:a="http://schemas.openxmlformats.org/drawingml/2006/main" w="28575">
            <a:solidFill>
              <a:srgbClr val="C8A45B"/>
            </a:solidFill>
          </a:ln>
        </p:spPr>
      </p:sp>
      <p:sp>
        <p:nvSpPr>
          <p:cNvPr id="33" name="!!db-text">
            <a:extLst xmlns:a="http://schemas.openxmlformats.org/drawingml/2006/main">
              <a:ext uri="{FF2B5EF4-FFF2-40B4-BE49-F238E27FC236}">
                <a16:creationId xmlns:a16="http://schemas.microsoft.com/office/drawing/2014/main" id="{052DE448-AEA7-4EFD-91FB-F34025918B79}"/>
              </a:ext>
            </a:extLst>
          </p:cNvPr>
          <p:cNvSpPr>
            <a:spLocks xmlns:a="http://schemas.openxmlformats.org/drawingml/2006/main" noGrp="1"/>
          </p:cNvSpPr>
          <p:nvPr/>
        </p:nvSpPr>
        <p:spPr>
          <a:xfrm xmlns:a="http://schemas.openxmlformats.org/drawingml/2006/main">
            <a:off x="8181975" y="2447925"/>
            <a:ext cx="31242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defRPr sz="1800" b="1">
                <a:solidFill>
                  <a:srgbClr val="FFFFFF"/>
                </a:solidFill>
                <a:latin typeface="Segoe UI"/>
                <a:ea typeface="Segoe UI"/>
                <a:cs typeface="Segoe UI"/>
              </a:defRPr>
            </a:pPr>
            <a:r>
              <a:rPr sz="1800" b="1">
                <a:solidFill>
                  <a:srgbClr val="FFFFFF"/>
                </a:solidFill>
                <a:latin typeface="Segoe UI"/>
                <a:ea typeface="Segoe UI"/>
                <a:cs typeface="Segoe UI"/>
              </a:rPr>
              <a:t>Supabase PostgreSQL</a:t>
            </a:r>
          </a:p>
          <a:p xmlns:a="http://schemas.openxmlformats.org/drawingml/2006/main">
            <a:pPr>
              <a:defRPr sz="1800" b="1">
                <a:solidFill>
                  <a:srgbClr val="FFFFFF"/>
                </a:solidFill>
                <a:latin typeface="Segoe UI"/>
                <a:ea typeface="Segoe UI"/>
                <a:cs typeface="Segoe UI"/>
              </a:defRPr>
            </a:pPr>
            <a:r>
              <a:rPr sz="1800" b="1">
                <a:solidFill>
                  <a:srgbClr val="FFFFFF"/>
                </a:solidFill>
                <a:latin typeface="Segoe UI"/>
                <a:ea typeface="Segoe UI"/>
                <a:cs typeface="Segoe UI"/>
              </a:rPr>
              <a:t>RLS · lô và lịch sử</a:t>
            </a:r>
          </a:p>
        </p:txBody>
      </p:sp>
      <p:sp>
        <p:nvSpPr>
          <p:cNvPr id="34" name="!!storage">
            <a:extLst xmlns:a="http://schemas.openxmlformats.org/drawingml/2006/main">
              <a:ext uri="{FF2B5EF4-FFF2-40B4-BE49-F238E27FC236}">
                <a16:creationId xmlns:a16="http://schemas.microsoft.com/office/drawing/2014/main" id="{07C84B4C-459D-4064-B4DE-FD68EEB78FA0}"/>
              </a:ext>
            </a:extLst>
          </p:cNvPr>
          <p:cNvSpPr>
            <a:spLocks xmlns:a="http://schemas.openxmlformats.org/drawingml/2006/main" noGrp="1"/>
          </p:cNvSpPr>
          <p:nvPr/>
        </p:nvSpPr>
        <p:spPr>
          <a:xfrm xmlns:a="http://schemas.openxmlformats.org/drawingml/2006/main">
            <a:off x="4762500" y="4152900"/>
            <a:ext cx="3467100" cy="1143000"/>
          </a:xfrm>
          <a:prstGeom xmlns:a="http://schemas.openxmlformats.org/drawingml/2006/main" prst="rect">
            <a:avLst/>
          </a:prstGeom>
          <a:solidFill xmlns:a="http://schemas.openxmlformats.org/drawingml/2006/main">
            <a:srgbClr val="166447"/>
          </a:solidFill>
          <a:ln xmlns:a="http://schemas.openxmlformats.org/drawingml/2006/main" w="28575">
            <a:solidFill>
              <a:srgbClr val="C8A45B"/>
            </a:solidFill>
          </a:ln>
        </p:spPr>
      </p:sp>
      <p:sp>
        <p:nvSpPr>
          <p:cNvPr id="35" name="!!storage-text">
            <a:extLst xmlns:a="http://schemas.openxmlformats.org/drawingml/2006/main">
              <a:ext uri="{FF2B5EF4-FFF2-40B4-BE49-F238E27FC236}">
                <a16:creationId xmlns:a16="http://schemas.microsoft.com/office/drawing/2014/main" id="{6376F472-174F-40E1-9339-203E7A2CAF87}"/>
              </a:ext>
            </a:extLst>
          </p:cNvPr>
          <p:cNvSpPr>
            <a:spLocks xmlns:a="http://schemas.openxmlformats.org/drawingml/2006/main" noGrp="1"/>
          </p:cNvSpPr>
          <p:nvPr/>
        </p:nvSpPr>
        <p:spPr>
          <a:xfrm xmlns:a="http://schemas.openxmlformats.org/drawingml/2006/main">
            <a:off x="4933950" y="4305300"/>
            <a:ext cx="31242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defRPr sz="1800" b="1">
                <a:solidFill>
                  <a:srgbClr val="FFFFFF"/>
                </a:solidFill>
                <a:latin typeface="Segoe UI"/>
                <a:ea typeface="Segoe UI"/>
                <a:cs typeface="Segoe UI"/>
              </a:defRPr>
            </a:pPr>
            <a:r>
              <a:rPr sz="1800" b="1">
                <a:solidFill>
                  <a:srgbClr val="FFFFFF"/>
                </a:solidFill>
                <a:latin typeface="Segoe UI"/>
                <a:ea typeface="Segoe UI"/>
                <a:cs typeface="Segoe UI"/>
              </a:rPr>
              <a:t>Supabase Storage</a:t>
            </a:r>
          </a:p>
          <a:p xmlns:a="http://schemas.openxmlformats.org/drawingml/2006/main">
            <a:pPr>
              <a:defRPr sz="1800" b="1">
                <a:solidFill>
                  <a:srgbClr val="FFFFFF"/>
                </a:solidFill>
                <a:latin typeface="Segoe UI"/>
                <a:ea typeface="Segoe UI"/>
                <a:cs typeface="Segoe UI"/>
              </a:defRPr>
            </a:pPr>
            <a:r>
              <a:rPr sz="1800" b="1">
                <a:solidFill>
                  <a:srgbClr val="FFFFFF"/>
                </a:solidFill>
                <a:latin typeface="Segoe UI"/>
                <a:ea typeface="Segoe UI"/>
                <a:cs typeface="Segoe UI"/>
              </a:rPr>
              <a:t>JPG / PNG / PDF</a:t>
            </a:r>
          </a:p>
        </p:txBody>
      </p:sp>
      <p:cxnSp>
        <p:nvCxnSpPr>
          <p:cNvPr id="81" name="!!connector-11-2"/>
          <p:cNvCxnSpPr>
            <a:stCxn xmlns:a="http://schemas.openxmlformats.org/drawingml/2006/main" id="18" idx="3"/>
            <a:endCxn xmlns:a="http://schemas.openxmlformats.org/drawingml/2006/main" id="32" idx="1"/>
          </p:cNvCxnSpPr>
          <p:nvPr/>
        </p:nvCxnSpPr>
        <p:spPr>
          <a:xfrm xmlns:a="http://schemas.openxmlformats.org/drawingml/2006/main">
            <a:off x="6791325" y="2867025"/>
            <a:ext cx="1219200" cy="0"/>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cxnSp>
        <p:nvCxnSpPr>
          <p:cNvPr id="82" name="!!connector-11-3"/>
          <p:cNvCxnSpPr>
            <a:stCxn xmlns:a="http://schemas.openxmlformats.org/drawingml/2006/main" id="4" idx="3"/>
            <a:endCxn xmlns:a="http://schemas.openxmlformats.org/drawingml/2006/main" id="34" idx="1"/>
          </p:cNvCxnSpPr>
          <p:nvPr/>
        </p:nvCxnSpPr>
        <p:spPr>
          <a:xfrm xmlns:a="http://schemas.openxmlformats.org/drawingml/2006/main">
            <a:off x="2933700" y="2867025"/>
            <a:ext cx="1828800" cy="1857375"/>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sp>
        <p:nvSpPr>
          <p:cNvPr id="42" name="!!db-rel">
            <a:extLst xmlns:a="http://schemas.openxmlformats.org/drawingml/2006/main">
              <a:ext uri="{FF2B5EF4-FFF2-40B4-BE49-F238E27FC236}">
                <a16:creationId xmlns:a16="http://schemas.microsoft.com/office/drawing/2014/main" id="{547716D4-DAD9-425C-B408-FB49218DFFF5}"/>
              </a:ext>
            </a:extLst>
          </p:cNvPr>
          <p:cNvSpPr>
            <a:spLocks xmlns:a="http://schemas.openxmlformats.org/drawingml/2006/main" noGrp="1"/>
          </p:cNvSpPr>
          <p:nvPr/>
        </p:nvSpPr>
        <p:spPr>
          <a:xfrm xmlns:a="http://schemas.openxmlformats.org/drawingml/2006/main">
            <a:off x="8010525" y="3638550"/>
            <a:ext cx="35337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0">
                <a:solidFill>
                  <a:srgbClr val="A3BCAB"/>
                </a:solidFill>
                <a:latin typeface="Segoe UI"/>
                <a:ea typeface="Segoe UI"/>
                <a:cs typeface="Segoe UI"/>
              </a:defRPr>
            </a:pPr>
            <a:r>
              <a:rPr sz="1650" b="0">
                <a:solidFill>
                  <a:srgbClr val="A3BCAB"/>
                </a:solidFill>
                <a:latin typeface="Segoe UI"/>
                <a:ea typeface="Segoe UI"/>
                <a:cs typeface="Segoe UI"/>
              </a:rPr>
              <a:t>API đọc / ghi theo quyền</a:t>
            </a:r>
          </a:p>
        </p:txBody>
      </p:sp>
      <p:sp>
        <p:nvSpPr>
          <p:cNvPr id="43" name="!!storage-rel">
            <a:extLst xmlns:a="http://schemas.openxmlformats.org/drawingml/2006/main">
              <a:ext uri="{FF2B5EF4-FFF2-40B4-BE49-F238E27FC236}">
                <a16:creationId xmlns:a16="http://schemas.microsoft.com/office/drawing/2014/main" id="{FD467B2F-63A8-4414-9CE6-6FA0115E03AE}"/>
              </a:ext>
            </a:extLst>
          </p:cNvPr>
          <p:cNvSpPr>
            <a:spLocks xmlns:a="http://schemas.openxmlformats.org/drawingml/2006/main" noGrp="1"/>
          </p:cNvSpPr>
          <p:nvPr/>
        </p:nvSpPr>
        <p:spPr>
          <a:xfrm xmlns:a="http://schemas.openxmlformats.org/drawingml/2006/main">
            <a:off x="4762500" y="5600700"/>
            <a:ext cx="4429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Browser tải tệp trực tiếp</a:t>
            </a:r>
          </a:p>
        </p:txBody>
      </p:sp>
      <p:sp>
        <p:nvSpPr>
          <p:cNvPr id="44" name="!!page">
            <a:extLst xmlns:a="http://schemas.openxmlformats.org/drawingml/2006/main">
              <a:ext uri="{FF2B5EF4-FFF2-40B4-BE49-F238E27FC236}">
                <a16:creationId xmlns:a16="http://schemas.microsoft.com/office/drawing/2014/main" id="{FA9CA6F8-4F20-4C0D-9A68-5703FCCB6461}"/>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18 / 30</a:t>
            </a:r>
          </a:p>
        </p:txBody>
      </p:sp>
      <p:sp>
        <p:nvSpPr>
          <p:cNvPr id="45" name="!!caption">
            <a:extLst xmlns:a="http://schemas.openxmlformats.org/drawingml/2006/main">
              <a:ext uri="{FF2B5EF4-FFF2-40B4-BE49-F238E27FC236}">
                <a16:creationId xmlns:a16="http://schemas.microsoft.com/office/drawing/2014/main" id="{50649360-FDB7-4C18-9533-2B9EA69E11AD}"/>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Source trong repo, 29/09/2026 · Luồng cloud độc lập với Solana Devnet</a:t>
            </a:r>
          </a:p>
        </p:txBody>
      </p:sp>
      <p:pic>
        <p:nvPicPr>
          <p:cNvPr id="83" name="!!tech-logo-react" descr="react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83"/>
          <ns0:srcRect xmlns:ns0="http://schemas.openxmlformats.org/drawingml/2006/main" l="0" t="0" r="0" b="0"/>
          <a:stretch xmlns:a="http://schemas.openxmlformats.org/drawingml/2006/main">
            <a:fillRect/>
          </a:stretch>
        </p:blipFill>
        <p:spPr>
          <a:xfrm xmlns:a="http://schemas.openxmlformats.org/drawingml/2006/main">
            <a:off x="866775" y="1668660"/>
            <a:ext cx="419100" cy="377429"/>
          </a:xfrm>
          <a:prstGeom xmlns:a="http://schemas.openxmlformats.org/drawingml/2006/main" prst="rect">
            <a:avLst/>
          </a:prstGeom>
        </p:spPr>
      </p:pic>
      <p:pic>
        <p:nvPicPr>
          <p:cNvPr id="84" name="!!tech-logo-vite" descr="vite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84"/>
          <ns0:srcRect xmlns:ns0="http://schemas.openxmlformats.org/drawingml/2006/main" l="0" t="0" r="500" b="1042"/>
          <a:stretch xmlns:a="http://schemas.openxmlformats.org/drawingml/2006/main">
            <a:fillRect/>
          </a:stretch>
        </p:blipFill>
        <p:spPr>
          <a:xfrm xmlns:a="http://schemas.openxmlformats.org/drawingml/2006/main">
            <a:off x="1571625" y="1657302"/>
            <a:ext cx="419100" cy="400146"/>
          </a:xfrm>
          <a:prstGeom xmlns:a="http://schemas.openxmlformats.org/drawingml/2006/main" prst="rect">
            <a:avLst/>
          </a:prstGeom>
        </p:spPr>
      </p:pic>
      <p:pic>
        <p:nvPicPr>
          <p:cNvPr id="85" name="!!tech-logo-vercel" descr="vercel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85"/>
          <ns0:srcRect xmlns:ns0="http://schemas.openxmlformats.org/drawingml/2006/main" l="0" t="0" r="21" b="0"/>
          <a:stretch xmlns:a="http://schemas.openxmlformats.org/drawingml/2006/main">
            <a:fillRect/>
          </a:stretch>
        </p:blipFill>
        <p:spPr>
          <a:xfrm xmlns:a="http://schemas.openxmlformats.org/drawingml/2006/main">
            <a:off x="2276475" y="1675913"/>
            <a:ext cx="419100" cy="362924"/>
          </a:xfrm>
          <a:prstGeom xmlns:a="http://schemas.openxmlformats.org/drawingml/2006/main" prst="rect">
            <a:avLst/>
          </a:prstGeom>
        </p:spPr>
      </p:pic>
      <p:pic>
        <p:nvPicPr>
          <p:cNvPr id="86" name="!!tech-logo-fastapi" descr="fastapi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86"/>
          <ns0:srcRect xmlns:ns0="http://schemas.openxmlformats.org/drawingml/2006/main" l="8333" t="8333" r="8333" b="8654"/>
          <a:stretch xmlns:a="http://schemas.openxmlformats.org/drawingml/2006/main">
            <a:fillRect/>
          </a:stretch>
        </p:blipFill>
        <p:spPr>
          <a:xfrm xmlns:a="http://schemas.openxmlformats.org/drawingml/2006/main">
            <a:off x="4257675" y="1629654"/>
            <a:ext cx="457200" cy="455442"/>
          </a:xfrm>
          <a:prstGeom xmlns:a="http://schemas.openxmlformats.org/drawingml/2006/main" prst="rect">
            <a:avLst/>
          </a:prstGeom>
        </p:spPr>
      </p:pic>
      <p:pic>
        <p:nvPicPr>
          <p:cNvPr id="87" name="!!tech-logo-python" descr="python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87"/>
          <ns0:srcRect xmlns:ns0="http://schemas.openxmlformats.org/drawingml/2006/main" l="0" t="0" r="67934" b="67998"/>
          <a:stretch xmlns:a="http://schemas.openxmlformats.org/drawingml/2006/main">
            <a:fillRect/>
          </a:stretch>
        </p:blipFill>
        <p:spPr>
          <a:xfrm xmlns:a="http://schemas.openxmlformats.org/drawingml/2006/main">
            <a:off x="5005345" y="1609725"/>
            <a:ext cx="409660" cy="495300"/>
          </a:xfrm>
          <a:prstGeom xmlns:a="http://schemas.openxmlformats.org/drawingml/2006/main" prst="rect">
            <a:avLst/>
          </a:prstGeom>
        </p:spPr>
      </p:pic>
      <p:pic>
        <p:nvPicPr>
          <p:cNvPr id="88" name="!!tech-logo-render" descr="render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88"/>
          <ns0:srcRect xmlns:ns0="http://schemas.openxmlformats.org/drawingml/2006/main" l="25743" t="24242" r="24302" b="25833"/>
          <a:stretch xmlns:a="http://schemas.openxmlformats.org/drawingml/2006/main">
            <a:fillRect/>
          </a:stretch>
        </p:blipFill>
        <p:spPr>
          <a:xfrm xmlns:a="http://schemas.openxmlformats.org/drawingml/2006/main">
            <a:off x="5705475" y="1628912"/>
            <a:ext cx="457200" cy="456925"/>
          </a:xfrm>
          <a:prstGeom xmlns:a="http://schemas.openxmlformats.org/drawingml/2006/main" prst="rect">
            <a:avLst/>
          </a:prstGeom>
        </p:spPr>
      </p:pic>
      <p:pic>
        <p:nvPicPr>
          <p:cNvPr id="90" name="!!tech-logo-postgresql" descr="postgresql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90"/>
          <ns0:srcRect xmlns:ns0="http://schemas.openxmlformats.org/drawingml/2006/main" l="107" t="0" r="0" b="0"/>
          <a:stretch xmlns:a="http://schemas.openxmlformats.org/drawingml/2006/main">
            <a:fillRect/>
          </a:stretch>
        </p:blipFill>
        <p:spPr>
          <a:xfrm xmlns:a="http://schemas.openxmlformats.org/drawingml/2006/main">
            <a:off x="10662157" y="1468041"/>
            <a:ext cx="697486" cy="719733"/>
          </a:xfrm>
          <a:prstGeom xmlns:a="http://schemas.openxmlformats.org/drawingml/2006/main" prst="rect">
            <a:avLst/>
          </a:prstGeom>
        </p:spPr>
      </p:pic>
      <p:pic>
        <p:nvPicPr>
          <p:cNvPr id="92" name="!!tech-logo-supabase-db" descr="Official Supabase wordmark for db"/>
          <p:cNvPicPr>
            <a:picLocks xmlns:a="http://schemas.openxmlformats.org/drawingml/2006/main" noChangeAspect="1"/>
          </p:cNvPicPr>
          <p:nvPr/>
        </p:nvPicPr>
        <p:blipFill>
          <a:blip xmlns:r="http://schemas.openxmlformats.org/officeDocument/2006/relationships" xmlns:a="http://schemas.openxmlformats.org/drawingml/2006/main" r:embed="rIdSupabaseWordmark92"/>
          <ns0:srcRect xmlns:ns0="http://schemas.openxmlformats.org/drawingml/2006/main" l="0" t="0" r="83" b="637"/>
          <a:stretch xmlns:a="http://schemas.openxmlformats.org/drawingml/2006/main">
            <a:fillRect/>
          </a:stretch>
        </p:blipFill>
        <p:spPr>
          <a:xfrm xmlns:a="http://schemas.openxmlformats.org/drawingml/2006/main">
            <a:off x="7974434" y="1613594"/>
            <a:ext cx="2520108" cy="487561"/>
          </a:xfrm>
          <a:prstGeom xmlns:a="http://schemas.openxmlformats.org/drawingml/2006/main" prst="rect">
            <a:avLst/>
          </a:prstGeom>
        </p:spPr>
      </p:pic>
      <p:pic>
        <p:nvPicPr>
          <p:cNvPr id="93" name="!!tech-logo-supabase-storage" descr="Official Supabase wordmark for storage"/>
          <p:cNvPicPr>
            <a:picLocks xmlns:a="http://schemas.openxmlformats.org/drawingml/2006/main" noChangeAspect="1"/>
          </p:cNvPicPr>
          <p:nvPr/>
        </p:nvPicPr>
        <p:blipFill>
          <a:blip xmlns:r="http://schemas.openxmlformats.org/officeDocument/2006/relationships" xmlns:a="http://schemas.openxmlformats.org/drawingml/2006/main" r:embed="rIdSupabaseWordmark93"/>
          <ns0:srcRect xmlns:ns0="http://schemas.openxmlformats.org/drawingml/2006/main" l="0" t="0" r="83" b="637"/>
          <a:stretch xmlns:a="http://schemas.openxmlformats.org/drawingml/2006/main">
            <a:fillRect/>
          </a:stretch>
        </p:blipFill>
        <p:spPr>
          <a:xfrm xmlns:a="http://schemas.openxmlformats.org/drawingml/2006/main">
            <a:off x="5286474" y="3539728"/>
            <a:ext cx="2400101" cy="464344"/>
          </a:xfrm>
          <a:prstGeom xmlns:a="http://schemas.openxmlformats.org/drawingml/2006/main" prst="rect">
            <a:avLst/>
          </a:prstGeom>
        </p:spPr>
      </p:pic>
      <p:pic>
        <p:nvPicPr>
          <p:cNvPr id="91" name="!!tech-logo-google-auth" descr="Google G logo for Google OAuth"/>
          <p:cNvPicPr>
            <a:picLocks xmlns:a="http://schemas.openxmlformats.org/drawingml/2006/main" noChangeAspect="1"/>
          </p:cNvPicPr>
          <p:nvPr/>
        </p:nvPicPr>
        <p:blipFill>
          <a:blip xmlns:r="http://schemas.openxmlformats.org/officeDocument/2006/relationships" xmlns:a="http://schemas.openxmlformats.org/drawingml/2006/main" r:embed="rIdGoogleAuthLogo"/>
          <ns0:srcRect xmlns:ns0="http://schemas.openxmlformats.org/drawingml/2006/main" l="0" t="0" r="0" b="0"/>
          <a:stretch xmlns:a="http://schemas.openxmlformats.org/drawingml/2006/main">
            <a:fillRect/>
          </a:stretch>
        </p:blipFill>
        <p:spPr>
          <a:xfrm xmlns:a="http://schemas.openxmlformats.org/drawingml/2006/main">
            <a:off x="1842807" y="3524250"/>
            <a:ext cx="448235" cy="457200"/>
          </a:xfrm>
          <a:prstGeom xmlns:a="http://schemas.openxmlformats.org/drawingml/2006/main" prst="rect">
            <a:avLst/>
          </a:prstGeom>
        </p:spPr>
      </p:pic>
    </p:spTree>
    <p:extLst>
      <p:ext uri="{BB962C8B-B14F-4D97-AF65-F5344CB8AC3E}">
        <p14:creationId xmlns:p14="http://schemas.microsoft.com/office/powerpoint/2010/main" val="1034931993"/>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37.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pic>
        <p:nvPicPr>
          <p:cNvPr id="12" name="!!backdrop"/>
          <p:cNvPicPr>
            <a:picLocks xmlns:a="http://schemas.openxmlformats.org/drawingml/2006/main" noChangeAspect="1"/>
          </p:cNvPicPr>
          <p:nvPr/>
        </p:nvPicPr>
        <p:blipFill>
          <a:blip xmlns:r="http://schemas.openxmlformats.org/officeDocument/2006/relationships" xmlns:a="http://schemas.openxmlformats.org/drawingml/2006/main" r:embed="R225747e159ae407d"/>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headline">
            <a:extLst xmlns:a="http://schemas.openxmlformats.org/drawingml/2006/main">
              <a:ext uri="{FF2B5EF4-FFF2-40B4-BE49-F238E27FC236}">
                <a16:creationId xmlns:a16="http://schemas.microsoft.com/office/drawing/2014/main" id="{8C30F379-2ACB-4816-BBDB-A306336351B7}"/>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142F24"/>
                </a:solidFill>
                <a:latin typeface="Segoe UI"/>
                <a:ea typeface="Segoe UI"/>
                <a:cs typeface="Segoe UI"/>
              </a:defRPr>
            </a:pPr>
            <a:r>
              <a:rPr sz="3450" b="1">
                <a:solidFill>
                  <a:srgbClr val="142F24"/>
                </a:solidFill>
                <a:latin typeface="Segoe UI"/>
                <a:ea typeface="Segoe UI"/>
                <a:cs typeface="Segoe UI"/>
              </a:rPr>
              <a:t>Bàn giao trên Solana</a:t>
            </a:r>
          </a:p>
        </p:txBody>
      </p:sp>
      <p:sp>
        <p:nvSpPr>
          <p:cNvPr id="4" name="!!custody-0-selection">
            <a:extLst xmlns:a="http://schemas.openxmlformats.org/drawingml/2006/main">
              <a:ext uri="{FF2B5EF4-FFF2-40B4-BE49-F238E27FC236}">
                <a16:creationId xmlns:a16="http://schemas.microsoft.com/office/drawing/2014/main" id="{E0D2EADF-3976-4226-92E2-C8CA90E6203B}"/>
              </a:ext>
            </a:extLst>
          </p:cNvPr>
          <p:cNvSpPr>
            <a:spLocks xmlns:a="http://schemas.openxmlformats.org/drawingml/2006/main" noGrp="1"/>
          </p:cNvSpPr>
          <p:nvPr/>
        </p:nvSpPr>
        <p:spPr>
          <a:xfrm xmlns:a="http://schemas.openxmlformats.org/drawingml/2006/main">
            <a:off x="581025" y="1971675"/>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5" name="!!custody-0-icon-0">
            <a:extLst xmlns:a="http://schemas.openxmlformats.org/drawingml/2006/main">
              <a:ext uri="{FF2B5EF4-FFF2-40B4-BE49-F238E27FC236}">
                <a16:creationId xmlns:a16="http://schemas.microsoft.com/office/drawing/2014/main" id="{A3267BEC-3A88-4EA9-B5AB-FB655ADA010B}"/>
              </a:ext>
            </a:extLst>
          </p:cNvPr>
          <p:cNvSpPr>
            <a:spLocks xmlns:a="http://schemas.openxmlformats.org/drawingml/2006/main" noGrp="1"/>
          </p:cNvSpPr>
          <p:nvPr/>
        </p:nvSpPr>
        <p:spPr>
          <a:xfrm xmlns:a="http://schemas.openxmlformats.org/drawingml/2006/main">
            <a:off x="747522" y="2138172"/>
            <a:ext cx="390906" cy="390906"/>
          </a:xfrm>
          <a:custGeom xmlns:a="http://schemas.openxmlformats.org/drawingml/2006/main">
            <a:pathLst>
              <a:path w="228600" h="228600">
                <a:moveTo>
                  <a:pt x="38100" y="161925"/>
                </a:moveTo>
                <a:lnTo>
                  <a:pt x="28575" y="209550"/>
                </a:lnTo>
                <a:lnTo>
                  <a:pt x="76200" y="200025"/>
                </a:lnTo>
                <a:lnTo>
                  <a:pt x="200025" y="76200"/>
                </a:lnTo>
                <a:lnTo>
                  <a:pt x="152400" y="28575"/>
                </a:lnTo>
                <a:close/>
              </a:path>
            </a:pathLst>
          </a:custGeom>
          <a:noFill xmlns:a="http://schemas.openxmlformats.org/drawingml/2006/main"/>
          <a:ln xmlns:a="http://schemas.openxmlformats.org/drawingml/2006/main" w="19050">
            <a:solidFill>
              <a:srgbClr val="FFFFFF"/>
            </a:solidFill>
            <a:prstDash val="solid"/>
          </a:ln>
        </p:spPr>
      </p:sp>
      <p:sp>
        <p:nvSpPr>
          <p:cNvPr id="6" name="!!custody-0-icon-1">
            <a:extLst xmlns:a="http://schemas.openxmlformats.org/drawingml/2006/main">
              <a:ext uri="{FF2B5EF4-FFF2-40B4-BE49-F238E27FC236}">
                <a16:creationId xmlns:a16="http://schemas.microsoft.com/office/drawing/2014/main" id="{D3761793-928F-49F5-BDEE-3AA39BFD2C5B}"/>
              </a:ext>
            </a:extLst>
          </p:cNvPr>
          <p:cNvSpPr>
            <a:spLocks xmlns:a="http://schemas.openxmlformats.org/drawingml/2006/main" noGrp="1"/>
          </p:cNvSpPr>
          <p:nvPr/>
        </p:nvSpPr>
        <p:spPr>
          <a:xfrm xmlns:a="http://schemas.openxmlformats.org/drawingml/2006/main">
            <a:off x="747522" y="2138172"/>
            <a:ext cx="390906" cy="390906"/>
          </a:xfrm>
          <a:custGeom xmlns:a="http://schemas.openxmlformats.org/drawingml/2006/main">
            <a:pathLst>
              <a:path w="228600" h="228600">
                <a:moveTo>
                  <a:pt x="133350" y="47625"/>
                </a:moveTo>
                <a:lnTo>
                  <a:pt x="180975" y="95250"/>
                </a:lnTo>
              </a:path>
            </a:pathLst>
          </a:custGeom>
          <a:noFill xmlns:a="http://schemas.openxmlformats.org/drawingml/2006/main"/>
          <a:ln xmlns:a="http://schemas.openxmlformats.org/drawingml/2006/main" w="19050">
            <a:solidFill>
              <a:srgbClr val="FFFFFF"/>
            </a:solidFill>
            <a:prstDash val="solid"/>
          </a:ln>
        </p:spPr>
      </p:sp>
      <p:sp>
        <p:nvSpPr>
          <p:cNvPr id="7" name="!!custody-0-icon-2">
            <a:extLst xmlns:a="http://schemas.openxmlformats.org/drawingml/2006/main">
              <a:ext uri="{FF2B5EF4-FFF2-40B4-BE49-F238E27FC236}">
                <a16:creationId xmlns:a16="http://schemas.microsoft.com/office/drawing/2014/main" id="{2E00B783-BEDA-4F15-845D-488F02C7A0BE}"/>
              </a:ext>
            </a:extLst>
          </p:cNvPr>
          <p:cNvSpPr>
            <a:spLocks xmlns:a="http://schemas.openxmlformats.org/drawingml/2006/main" noGrp="1"/>
          </p:cNvSpPr>
          <p:nvPr/>
        </p:nvSpPr>
        <p:spPr>
          <a:xfrm xmlns:a="http://schemas.openxmlformats.org/drawingml/2006/main">
            <a:off x="747522" y="2138172"/>
            <a:ext cx="390906" cy="390906"/>
          </a:xfrm>
          <a:custGeom xmlns:a="http://schemas.openxmlformats.org/drawingml/2006/main">
            <a:pathLst>
              <a:path w="228600" h="228600">
                <a:moveTo>
                  <a:pt x="95250" y="209550"/>
                </a:moveTo>
                <a:lnTo>
                  <a:pt x="209550" y="209550"/>
                </a:lnTo>
              </a:path>
            </a:pathLst>
          </a:custGeom>
          <a:noFill xmlns:a="http://schemas.openxmlformats.org/drawingml/2006/main"/>
          <a:ln xmlns:a="http://schemas.openxmlformats.org/drawingml/2006/main" w="19050">
            <a:solidFill>
              <a:srgbClr val="FFFFFF"/>
            </a:solidFill>
            <a:prstDash val="solid"/>
          </a:ln>
        </p:spPr>
      </p:sp>
      <p:sp>
        <p:nvSpPr>
          <p:cNvPr id="8" name="!!custody-0-label">
            <a:extLst xmlns:a="http://schemas.openxmlformats.org/drawingml/2006/main">
              <a:ext uri="{FF2B5EF4-FFF2-40B4-BE49-F238E27FC236}">
                <a16:creationId xmlns:a16="http://schemas.microsoft.com/office/drawing/2014/main" id="{3E2A75E7-37CC-4CAD-877E-B39387E54FB6}"/>
              </a:ext>
            </a:extLst>
          </p:cNvPr>
          <p:cNvSpPr>
            <a:spLocks xmlns:a="http://schemas.openxmlformats.org/drawingml/2006/main" noGrp="1"/>
          </p:cNvSpPr>
          <p:nvPr/>
        </p:nvSpPr>
        <p:spPr>
          <a:xfrm xmlns:a="http://schemas.openxmlformats.org/drawingml/2006/main">
            <a:off x="1447800" y="2028825"/>
            <a:ext cx="4095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400" b="1">
                <a:solidFill>
                  <a:srgbClr val="142F24"/>
                </a:solidFill>
                <a:latin typeface="Segoe UI"/>
                <a:ea typeface="Segoe UI"/>
                <a:cs typeface="Segoe UI"/>
              </a:defRPr>
            </a:pPr>
            <a:r>
              <a:rPr sz="2400" b="1">
                <a:solidFill>
                  <a:srgbClr val="142F24"/>
                </a:solidFill>
                <a:latin typeface="Segoe UI"/>
                <a:ea typeface="Segoe UI"/>
                <a:cs typeface="Segoe UI"/>
              </a:rPr>
              <a:t>Người giữ hiện tại</a:t>
            </a:r>
          </a:p>
        </p:txBody>
      </p:sp>
      <p:sp>
        <p:nvSpPr>
          <p:cNvPr id="9" name="!!custody-0-detail">
            <a:extLst xmlns:a="http://schemas.openxmlformats.org/drawingml/2006/main">
              <a:ext uri="{FF2B5EF4-FFF2-40B4-BE49-F238E27FC236}">
                <a16:creationId xmlns:a16="http://schemas.microsoft.com/office/drawing/2014/main" id="{D268972E-3AFB-4BED-86DC-589B79066422}"/>
              </a:ext>
            </a:extLst>
          </p:cNvPr>
          <p:cNvSpPr>
            <a:spLocks xmlns:a="http://schemas.openxmlformats.org/drawingml/2006/main" noGrp="1"/>
          </p:cNvSpPr>
          <p:nvPr/>
        </p:nvSpPr>
        <p:spPr>
          <a:xfrm xmlns:a="http://schemas.openxmlformats.org/drawingml/2006/main">
            <a:off x="1447800" y="2600325"/>
            <a:ext cx="4095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53685B"/>
                </a:solidFill>
                <a:latin typeface="Segoe UI"/>
                <a:ea typeface="Segoe UI"/>
                <a:cs typeface="Segoe UI"/>
              </a:defRPr>
            </a:pPr>
            <a:r>
              <a:rPr sz="1800" b="0">
                <a:solidFill>
                  <a:srgbClr val="53685B"/>
                </a:solidFill>
                <a:latin typeface="Segoe UI"/>
                <a:ea typeface="Segoe UI"/>
                <a:cs typeface="Segoe UI"/>
              </a:rPr>
              <a:t>Ký đề xuất ví nhận tiếp theo</a:t>
            </a:r>
          </a:p>
        </p:txBody>
      </p:sp>
      <p:sp>
        <p:nvSpPr>
          <p:cNvPr id="10" name="!!page">
            <a:extLst xmlns:a="http://schemas.openxmlformats.org/drawingml/2006/main">
              <a:ext uri="{FF2B5EF4-FFF2-40B4-BE49-F238E27FC236}">
                <a16:creationId xmlns:a16="http://schemas.microsoft.com/office/drawing/2014/main" id="{34EAA38F-757D-4F32-B2E8-2EF3B12B97A5}"/>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19 / 30</a:t>
            </a:r>
          </a:p>
        </p:txBody>
      </p:sp>
      <p:sp>
        <p:nvSpPr>
          <p:cNvPr id="11" name="!!caption">
            <a:extLst xmlns:a="http://schemas.openxmlformats.org/drawingml/2006/main">
              <a:ext uri="{FF2B5EF4-FFF2-40B4-BE49-F238E27FC236}">
                <a16:creationId xmlns:a16="http://schemas.microsoft.com/office/drawing/2014/main" id="{3FFE2226-4878-447D-BAA1-81F9E710DDF5}"/>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Tính năng thử nghiệm độc lập trên Devnet. Hình nền tạo bằng AI</a:t>
            </a:r>
          </a:p>
        </p:txBody>
      </p:sp>
      <p:pic>
        <p:nvPicPr>
          <p:cNvPr id="13" name="!!tech-logo-rust" descr="rust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13"/>
          <ns0:srcRect xmlns:ns0="http://schemas.openxmlformats.org/drawingml/2006/main" l="0" t="0" r="0" b="0"/>
          <a:stretch xmlns:a="http://schemas.openxmlformats.org/drawingml/2006/main">
            <a:fillRect/>
          </a:stretch>
        </p:blipFill>
        <p:spPr>
          <a:xfrm xmlns:a="http://schemas.openxmlformats.org/drawingml/2006/main">
            <a:off x="609600" y="1495425"/>
            <a:ext cx="304800" cy="304800"/>
          </a:xfrm>
          <a:prstGeom xmlns:a="http://schemas.openxmlformats.org/drawingml/2006/main" prst="rect">
            <a:avLst/>
          </a:prstGeom>
        </p:spPr>
      </p:pic>
      <p:sp>
        <p:nvSpPr>
          <p:cNvPr id="14" name="!!tech-label-rust">
            <a:extLst xmlns:a="http://schemas.openxmlformats.org/drawingml/2006/main">
              <a:ext uri="{FF2B5EF4-FFF2-40B4-BE49-F238E27FC236}">
                <a16:creationId xmlns:a16="http://schemas.microsoft.com/office/drawing/2014/main" id="{C0B316C9-FB1F-47D6-89DD-A327E9D0299F}"/>
              </a:ext>
            </a:extLst>
          </p:cNvPr>
          <p:cNvSpPr>
            <a:spLocks xmlns:a="http://schemas.openxmlformats.org/drawingml/2006/main" noGrp="1"/>
          </p:cNvSpPr>
          <p:nvPr/>
        </p:nvSpPr>
        <p:spPr>
          <a:xfrm xmlns:a="http://schemas.openxmlformats.org/drawingml/2006/main">
            <a:off x="1019175" y="1504950"/>
            <a:ext cx="571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76F52"/>
                </a:solidFill>
                <a:latin typeface="Aptos"/>
                <a:ea typeface="Aptos"/>
                <a:cs typeface="Aptos"/>
              </a:defRPr>
            </a:pPr>
            <a:r>
              <a:rPr sz="1575" b="1">
                <a:solidFill>
                  <a:srgbClr val="176F52"/>
                </a:solidFill>
                <a:latin typeface="Aptos"/>
                <a:ea typeface="Aptos"/>
                <a:cs typeface="Aptos"/>
              </a:rPr>
              <a:t>Rust</a:t>
            </a:r>
          </a:p>
        </p:txBody>
      </p:sp>
      <p:pic>
        <p:nvPicPr>
          <p:cNvPr id="15" name="!!tech-logo-anchor" descr="anchor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15"/>
          <ns0:srcRect xmlns:ns0="http://schemas.openxmlformats.org/drawingml/2006/main" l="0" t="0" r="0" b="0"/>
          <a:stretch xmlns:a="http://schemas.openxmlformats.org/drawingml/2006/main">
            <a:fillRect/>
          </a:stretch>
        </p:blipFill>
        <p:spPr>
          <a:xfrm xmlns:a="http://schemas.openxmlformats.org/drawingml/2006/main">
            <a:off x="1638300" y="1495425"/>
            <a:ext cx="304800" cy="304800"/>
          </a:xfrm>
          <a:prstGeom xmlns:a="http://schemas.openxmlformats.org/drawingml/2006/main" prst="rect">
            <a:avLst/>
          </a:prstGeom>
        </p:spPr>
      </p:pic>
      <p:sp>
        <p:nvSpPr>
          <p:cNvPr id="16" name="!!tech-label-anchor">
            <a:extLst xmlns:a="http://schemas.openxmlformats.org/drawingml/2006/main">
              <a:ext uri="{FF2B5EF4-FFF2-40B4-BE49-F238E27FC236}">
                <a16:creationId xmlns:a16="http://schemas.microsoft.com/office/drawing/2014/main" id="{82178C72-A994-4D6C-A18E-7CA5B5309412}"/>
              </a:ext>
            </a:extLst>
          </p:cNvPr>
          <p:cNvSpPr>
            <a:spLocks xmlns:a="http://schemas.openxmlformats.org/drawingml/2006/main" noGrp="1"/>
          </p:cNvSpPr>
          <p:nvPr/>
        </p:nvSpPr>
        <p:spPr>
          <a:xfrm xmlns:a="http://schemas.openxmlformats.org/drawingml/2006/main">
            <a:off x="2047875" y="1504950"/>
            <a:ext cx="13620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76F52"/>
                </a:solidFill>
                <a:latin typeface="Aptos"/>
                <a:ea typeface="Aptos"/>
                <a:cs typeface="Aptos"/>
              </a:defRPr>
            </a:pPr>
            <a:r>
              <a:rPr sz="1575" b="1">
                <a:solidFill>
                  <a:srgbClr val="176F52"/>
                </a:solidFill>
                <a:latin typeface="Aptos"/>
                <a:ea typeface="Aptos"/>
                <a:cs typeface="Aptos"/>
              </a:rPr>
              <a:t>Anchor 0.31</a:t>
            </a:r>
          </a:p>
        </p:txBody>
      </p:sp>
      <p:pic>
        <p:nvPicPr>
          <p:cNvPr id="17" name="!!tech-logo-solana" descr="solana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17"/>
          <ns0:srcRect xmlns:ns0="http://schemas.openxmlformats.org/drawingml/2006/main" l="0" t="0" r="0" b="0"/>
          <a:stretch xmlns:a="http://schemas.openxmlformats.org/drawingml/2006/main">
            <a:fillRect/>
          </a:stretch>
        </p:blipFill>
        <p:spPr>
          <a:xfrm xmlns:a="http://schemas.openxmlformats.org/drawingml/2006/main">
            <a:off x="3486150" y="1514973"/>
            <a:ext cx="304800" cy="265705"/>
          </a:xfrm>
          <a:prstGeom xmlns:a="http://schemas.openxmlformats.org/drawingml/2006/main" prst="rect">
            <a:avLst/>
          </a:prstGeom>
        </p:spPr>
      </p:pic>
      <p:sp>
        <p:nvSpPr>
          <p:cNvPr id="18" name="!!tech-label-solana">
            <a:extLst xmlns:a="http://schemas.openxmlformats.org/drawingml/2006/main">
              <a:ext uri="{FF2B5EF4-FFF2-40B4-BE49-F238E27FC236}">
                <a16:creationId xmlns:a16="http://schemas.microsoft.com/office/drawing/2014/main" id="{06A2388B-CCED-42E4-BF8A-BA8B5E2D6D3F}"/>
              </a:ext>
            </a:extLst>
          </p:cNvPr>
          <p:cNvSpPr>
            <a:spLocks xmlns:a="http://schemas.openxmlformats.org/drawingml/2006/main" noGrp="1"/>
          </p:cNvSpPr>
          <p:nvPr/>
        </p:nvSpPr>
        <p:spPr>
          <a:xfrm xmlns:a="http://schemas.openxmlformats.org/drawingml/2006/main">
            <a:off x="3895725" y="1504950"/>
            <a:ext cx="18669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76F52"/>
                </a:solidFill>
                <a:latin typeface="Aptos"/>
                <a:ea typeface="Aptos"/>
                <a:cs typeface="Aptos"/>
              </a:defRPr>
            </a:pPr>
            <a:r>
              <a:rPr sz="1575" b="1">
                <a:solidFill>
                  <a:srgbClr val="176F52"/>
                </a:solidFill>
                <a:latin typeface="Aptos"/>
                <a:ea typeface="Aptos"/>
                <a:cs typeface="Aptos"/>
              </a:rPr>
              <a:t>Solana Devnet</a:t>
            </a:r>
          </a:p>
        </p:txBody>
      </p:sp>
    </p:spTree>
    <p:extLst>
      <p:ext uri="{BB962C8B-B14F-4D97-AF65-F5344CB8AC3E}">
        <p14:creationId xmlns:p14="http://schemas.microsoft.com/office/powerpoint/2010/main" val="1614206346"/>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38.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pic>
        <p:nvPicPr>
          <p:cNvPr id="19" name="!!backdrop"/>
          <p:cNvPicPr>
            <a:picLocks xmlns:a="http://schemas.openxmlformats.org/drawingml/2006/main" noChangeAspect="1"/>
          </p:cNvPicPr>
          <p:nvPr/>
        </p:nvPicPr>
        <p:blipFill>
          <a:blip xmlns:r="http://schemas.openxmlformats.org/officeDocument/2006/relationships" xmlns:a="http://schemas.openxmlformats.org/drawingml/2006/main" r:embed="R8162b3e568d9434d"/>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headline">
            <a:extLst xmlns:a="http://schemas.openxmlformats.org/drawingml/2006/main">
              <a:ext uri="{FF2B5EF4-FFF2-40B4-BE49-F238E27FC236}">
                <a16:creationId xmlns:a16="http://schemas.microsoft.com/office/drawing/2014/main" id="{CFD2BB6B-D2A0-4050-9FA0-2A3FFE0F1BDC}"/>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142F24"/>
                </a:solidFill>
                <a:latin typeface="Segoe UI"/>
                <a:ea typeface="Segoe UI"/>
                <a:cs typeface="Segoe UI"/>
              </a:defRPr>
            </a:pPr>
            <a:r>
              <a:rPr sz="3450" b="1">
                <a:solidFill>
                  <a:srgbClr val="142F24"/>
                </a:solidFill>
                <a:latin typeface="Segoe UI"/>
                <a:ea typeface="Segoe UI"/>
                <a:cs typeface="Segoe UI"/>
              </a:rPr>
              <a:t>Bàn giao trên Solana</a:t>
            </a:r>
          </a:p>
        </p:txBody>
      </p:sp>
      <p:sp>
        <p:nvSpPr>
          <p:cNvPr id="4" name="!!custody-0-selection">
            <a:extLst xmlns:a="http://schemas.openxmlformats.org/drawingml/2006/main">
              <a:ext uri="{FF2B5EF4-FFF2-40B4-BE49-F238E27FC236}">
                <a16:creationId xmlns:a16="http://schemas.microsoft.com/office/drawing/2014/main" id="{5FEE1845-586D-45D3-8227-649015AA2956}"/>
              </a:ext>
            </a:extLst>
          </p:cNvPr>
          <p:cNvSpPr>
            <a:spLocks xmlns:a="http://schemas.openxmlformats.org/drawingml/2006/main" noGrp="1"/>
          </p:cNvSpPr>
          <p:nvPr/>
        </p:nvSpPr>
        <p:spPr>
          <a:xfrm xmlns:a="http://schemas.openxmlformats.org/drawingml/2006/main">
            <a:off x="657225" y="2047875"/>
            <a:ext cx="571500" cy="5715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5" name="!!custody-0-icon-0">
            <a:extLst xmlns:a="http://schemas.openxmlformats.org/drawingml/2006/main">
              <a:ext uri="{FF2B5EF4-FFF2-40B4-BE49-F238E27FC236}">
                <a16:creationId xmlns:a16="http://schemas.microsoft.com/office/drawing/2014/main" id="{FCDE12B1-5DFC-45E2-81E1-86D8027C36F9}"/>
              </a:ext>
            </a:extLst>
          </p:cNvPr>
          <p:cNvSpPr>
            <a:spLocks xmlns:a="http://schemas.openxmlformats.org/drawingml/2006/main" noGrp="1"/>
          </p:cNvSpPr>
          <p:nvPr/>
        </p:nvSpPr>
        <p:spPr>
          <a:xfrm xmlns:a="http://schemas.openxmlformats.org/drawingml/2006/main">
            <a:off x="788670" y="2179320"/>
            <a:ext cx="308610" cy="308610"/>
          </a:xfrm>
          <a:custGeom xmlns:a="http://schemas.openxmlformats.org/drawingml/2006/main">
            <a:pathLst>
              <a:path w="228600" h="228600">
                <a:moveTo>
                  <a:pt x="38100" y="161925"/>
                </a:moveTo>
                <a:lnTo>
                  <a:pt x="28575" y="209550"/>
                </a:lnTo>
                <a:lnTo>
                  <a:pt x="76200" y="200025"/>
                </a:lnTo>
                <a:lnTo>
                  <a:pt x="200025" y="76200"/>
                </a:lnTo>
                <a:lnTo>
                  <a:pt x="152400" y="28575"/>
                </a:lnTo>
                <a:close/>
              </a:path>
            </a:pathLst>
          </a:custGeom>
          <a:noFill xmlns:a="http://schemas.openxmlformats.org/drawingml/2006/main"/>
          <a:ln xmlns:a="http://schemas.openxmlformats.org/drawingml/2006/main" w="19050">
            <a:solidFill>
              <a:srgbClr val="166447"/>
            </a:solidFill>
            <a:prstDash val="solid"/>
          </a:ln>
        </p:spPr>
      </p:sp>
      <p:sp>
        <p:nvSpPr>
          <p:cNvPr id="6" name="!!custody-0-icon-1">
            <a:extLst xmlns:a="http://schemas.openxmlformats.org/drawingml/2006/main">
              <a:ext uri="{FF2B5EF4-FFF2-40B4-BE49-F238E27FC236}">
                <a16:creationId xmlns:a16="http://schemas.microsoft.com/office/drawing/2014/main" id="{D0DF087B-D6A4-4866-8F2D-867C00FE3881}"/>
              </a:ext>
            </a:extLst>
          </p:cNvPr>
          <p:cNvSpPr>
            <a:spLocks xmlns:a="http://schemas.openxmlformats.org/drawingml/2006/main" noGrp="1"/>
          </p:cNvSpPr>
          <p:nvPr/>
        </p:nvSpPr>
        <p:spPr>
          <a:xfrm xmlns:a="http://schemas.openxmlformats.org/drawingml/2006/main">
            <a:off x="788670" y="2179320"/>
            <a:ext cx="308610" cy="308610"/>
          </a:xfrm>
          <a:custGeom xmlns:a="http://schemas.openxmlformats.org/drawingml/2006/main">
            <a:pathLst>
              <a:path w="228600" h="228600">
                <a:moveTo>
                  <a:pt x="133350" y="47625"/>
                </a:moveTo>
                <a:lnTo>
                  <a:pt x="180975" y="95250"/>
                </a:lnTo>
              </a:path>
            </a:pathLst>
          </a:custGeom>
          <a:noFill xmlns:a="http://schemas.openxmlformats.org/drawingml/2006/main"/>
          <a:ln xmlns:a="http://schemas.openxmlformats.org/drawingml/2006/main" w="19050">
            <a:solidFill>
              <a:srgbClr val="166447"/>
            </a:solidFill>
            <a:prstDash val="solid"/>
          </a:ln>
        </p:spPr>
      </p:sp>
      <p:sp>
        <p:nvSpPr>
          <p:cNvPr id="7" name="!!custody-0-icon-2">
            <a:extLst xmlns:a="http://schemas.openxmlformats.org/drawingml/2006/main">
              <a:ext uri="{FF2B5EF4-FFF2-40B4-BE49-F238E27FC236}">
                <a16:creationId xmlns:a16="http://schemas.microsoft.com/office/drawing/2014/main" id="{66838987-7BCD-4DAA-801D-75DF33DDEA5D}"/>
              </a:ext>
            </a:extLst>
          </p:cNvPr>
          <p:cNvSpPr>
            <a:spLocks xmlns:a="http://schemas.openxmlformats.org/drawingml/2006/main" noGrp="1"/>
          </p:cNvSpPr>
          <p:nvPr/>
        </p:nvSpPr>
        <p:spPr>
          <a:xfrm xmlns:a="http://schemas.openxmlformats.org/drawingml/2006/main">
            <a:off x="788670" y="2179320"/>
            <a:ext cx="308610" cy="308610"/>
          </a:xfrm>
          <a:custGeom xmlns:a="http://schemas.openxmlformats.org/drawingml/2006/main">
            <a:pathLst>
              <a:path w="228600" h="228600">
                <a:moveTo>
                  <a:pt x="95250" y="209550"/>
                </a:moveTo>
                <a:lnTo>
                  <a:pt x="209550" y="209550"/>
                </a:lnTo>
              </a:path>
            </a:pathLst>
          </a:custGeom>
          <a:noFill xmlns:a="http://schemas.openxmlformats.org/drawingml/2006/main"/>
          <a:ln xmlns:a="http://schemas.openxmlformats.org/drawingml/2006/main" w="19050">
            <a:solidFill>
              <a:srgbClr val="166447"/>
            </a:solidFill>
            <a:prstDash val="solid"/>
          </a:ln>
        </p:spPr>
      </p:sp>
      <p:sp>
        <p:nvSpPr>
          <p:cNvPr id="8" name="!!custody-0-label">
            <a:extLst xmlns:a="http://schemas.openxmlformats.org/drawingml/2006/main">
              <a:ext uri="{FF2B5EF4-FFF2-40B4-BE49-F238E27FC236}">
                <a16:creationId xmlns:a16="http://schemas.microsoft.com/office/drawing/2014/main" id="{C223026D-DC94-4432-AB0D-44B5B27BAD5A}"/>
              </a:ext>
            </a:extLst>
          </p:cNvPr>
          <p:cNvSpPr>
            <a:spLocks xmlns:a="http://schemas.openxmlformats.org/drawingml/2006/main" noGrp="1"/>
          </p:cNvSpPr>
          <p:nvPr/>
        </p:nvSpPr>
        <p:spPr>
          <a:xfrm xmlns:a="http://schemas.openxmlformats.org/drawingml/2006/main">
            <a:off x="1447800" y="2028825"/>
            <a:ext cx="4095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142F24"/>
                </a:solidFill>
                <a:latin typeface="Segoe UI"/>
                <a:ea typeface="Segoe UI"/>
                <a:cs typeface="Segoe UI"/>
              </a:defRPr>
            </a:pPr>
            <a:r>
              <a:rPr sz="2100" b="1">
                <a:solidFill>
                  <a:srgbClr val="142F24"/>
                </a:solidFill>
                <a:latin typeface="Segoe UI"/>
                <a:ea typeface="Segoe UI"/>
                <a:cs typeface="Segoe UI"/>
              </a:rPr>
              <a:t>Người giữ hiện tại</a:t>
            </a:r>
          </a:p>
        </p:txBody>
      </p:sp>
      <p:sp>
        <p:nvSpPr>
          <p:cNvPr id="9" name="!!custody-0-detail">
            <a:extLst xmlns:a="http://schemas.openxmlformats.org/drawingml/2006/main">
              <a:ext uri="{FF2B5EF4-FFF2-40B4-BE49-F238E27FC236}">
                <a16:creationId xmlns:a16="http://schemas.microsoft.com/office/drawing/2014/main" id="{92EA1740-EDCE-49B7-A2B5-468D19C3CDD1}"/>
              </a:ext>
            </a:extLst>
          </p:cNvPr>
          <p:cNvSpPr>
            <a:spLocks xmlns:a="http://schemas.openxmlformats.org/drawingml/2006/main" noGrp="1"/>
          </p:cNvSpPr>
          <p:nvPr/>
        </p:nvSpPr>
        <p:spPr>
          <a:xfrm xmlns:a="http://schemas.openxmlformats.org/drawingml/2006/main">
            <a:off x="1447800" y="2600325"/>
            <a:ext cx="4095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53685B"/>
                </a:solidFill>
                <a:latin typeface="Segoe UI"/>
                <a:ea typeface="Segoe UI"/>
                <a:cs typeface="Segoe UI"/>
              </a:defRPr>
            </a:pPr>
            <a:r>
              <a:rPr sz="1800" b="0">
                <a:solidFill>
                  <a:srgbClr val="53685B"/>
                </a:solidFill>
                <a:latin typeface="Segoe UI"/>
                <a:ea typeface="Segoe UI"/>
                <a:cs typeface="Segoe UI"/>
              </a:rPr>
              <a:t>Ký đề xuất ví nhận tiếp theo</a:t>
            </a:r>
          </a:p>
        </p:txBody>
      </p:sp>
      <p:sp>
        <p:nvSpPr>
          <p:cNvPr id="10" name="!!custody-1-selection">
            <a:extLst xmlns:a="http://schemas.openxmlformats.org/drawingml/2006/main">
              <a:ext uri="{FF2B5EF4-FFF2-40B4-BE49-F238E27FC236}">
                <a16:creationId xmlns:a16="http://schemas.microsoft.com/office/drawing/2014/main" id="{6187CFE2-9B63-4B2C-80ED-50E0D0FB9159}"/>
              </a:ext>
            </a:extLst>
          </p:cNvPr>
          <p:cNvSpPr>
            <a:spLocks xmlns:a="http://schemas.openxmlformats.org/drawingml/2006/main" noGrp="1"/>
          </p:cNvSpPr>
          <p:nvPr/>
        </p:nvSpPr>
        <p:spPr>
          <a:xfrm xmlns:a="http://schemas.openxmlformats.org/drawingml/2006/main">
            <a:off x="581025" y="3114675"/>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11" name="!!custody-1-icon-0">
            <a:extLst xmlns:a="http://schemas.openxmlformats.org/drawingml/2006/main">
              <a:ext uri="{FF2B5EF4-FFF2-40B4-BE49-F238E27FC236}">
                <a16:creationId xmlns:a16="http://schemas.microsoft.com/office/drawing/2014/main" id="{12A13EE7-94B0-43AA-BB2A-2018771170D4}"/>
              </a:ext>
            </a:extLst>
          </p:cNvPr>
          <p:cNvSpPr>
            <a:spLocks xmlns:a="http://schemas.openxmlformats.org/drawingml/2006/main" noGrp="1"/>
          </p:cNvSpPr>
          <p:nvPr/>
        </p:nvSpPr>
        <p:spPr>
          <a:xfrm xmlns:a="http://schemas.openxmlformats.org/drawingml/2006/main">
            <a:off x="747522" y="3281172"/>
            <a:ext cx="390906" cy="390906"/>
          </a:xfrm>
          <a:custGeom xmlns:a="http://schemas.openxmlformats.org/drawingml/2006/main">
            <a:pathLst>
              <a:path w="228600" h="228600">
                <a:moveTo>
                  <a:pt x="38100" y="161925"/>
                </a:moveTo>
                <a:lnTo>
                  <a:pt x="28575" y="209550"/>
                </a:lnTo>
                <a:lnTo>
                  <a:pt x="76200" y="200025"/>
                </a:lnTo>
                <a:lnTo>
                  <a:pt x="200025" y="76200"/>
                </a:lnTo>
                <a:lnTo>
                  <a:pt x="152400" y="28575"/>
                </a:lnTo>
                <a:close/>
              </a:path>
            </a:pathLst>
          </a:custGeom>
          <a:noFill xmlns:a="http://schemas.openxmlformats.org/drawingml/2006/main"/>
          <a:ln xmlns:a="http://schemas.openxmlformats.org/drawingml/2006/main" w="19050">
            <a:solidFill>
              <a:srgbClr val="FFFFFF"/>
            </a:solidFill>
            <a:prstDash val="solid"/>
          </a:ln>
        </p:spPr>
      </p:sp>
      <p:sp>
        <p:nvSpPr>
          <p:cNvPr id="12" name="!!custody-1-icon-1">
            <a:extLst xmlns:a="http://schemas.openxmlformats.org/drawingml/2006/main">
              <a:ext uri="{FF2B5EF4-FFF2-40B4-BE49-F238E27FC236}">
                <a16:creationId xmlns:a16="http://schemas.microsoft.com/office/drawing/2014/main" id="{DA5D31D6-0B36-4EBB-8F4A-E48BE4C94C1B}"/>
              </a:ext>
            </a:extLst>
          </p:cNvPr>
          <p:cNvSpPr>
            <a:spLocks xmlns:a="http://schemas.openxmlformats.org/drawingml/2006/main" noGrp="1"/>
          </p:cNvSpPr>
          <p:nvPr/>
        </p:nvSpPr>
        <p:spPr>
          <a:xfrm xmlns:a="http://schemas.openxmlformats.org/drawingml/2006/main">
            <a:off x="747522" y="3281172"/>
            <a:ext cx="390906" cy="390906"/>
          </a:xfrm>
          <a:custGeom xmlns:a="http://schemas.openxmlformats.org/drawingml/2006/main">
            <a:pathLst>
              <a:path w="228600" h="228600">
                <a:moveTo>
                  <a:pt x="133350" y="47625"/>
                </a:moveTo>
                <a:lnTo>
                  <a:pt x="180975" y="95250"/>
                </a:lnTo>
              </a:path>
            </a:pathLst>
          </a:custGeom>
          <a:noFill xmlns:a="http://schemas.openxmlformats.org/drawingml/2006/main"/>
          <a:ln xmlns:a="http://schemas.openxmlformats.org/drawingml/2006/main" w="19050">
            <a:solidFill>
              <a:srgbClr val="FFFFFF"/>
            </a:solidFill>
            <a:prstDash val="solid"/>
          </a:ln>
        </p:spPr>
      </p:sp>
      <p:sp>
        <p:nvSpPr>
          <p:cNvPr id="13" name="!!custody-1-icon-2">
            <a:extLst xmlns:a="http://schemas.openxmlformats.org/drawingml/2006/main">
              <a:ext uri="{FF2B5EF4-FFF2-40B4-BE49-F238E27FC236}">
                <a16:creationId xmlns:a16="http://schemas.microsoft.com/office/drawing/2014/main" id="{11D6C92C-CD9B-4F62-AD14-A64290D1D5A4}"/>
              </a:ext>
            </a:extLst>
          </p:cNvPr>
          <p:cNvSpPr>
            <a:spLocks xmlns:a="http://schemas.openxmlformats.org/drawingml/2006/main" noGrp="1"/>
          </p:cNvSpPr>
          <p:nvPr/>
        </p:nvSpPr>
        <p:spPr>
          <a:xfrm xmlns:a="http://schemas.openxmlformats.org/drawingml/2006/main">
            <a:off x="747522" y="3281172"/>
            <a:ext cx="390906" cy="390906"/>
          </a:xfrm>
          <a:custGeom xmlns:a="http://schemas.openxmlformats.org/drawingml/2006/main">
            <a:pathLst>
              <a:path w="228600" h="228600">
                <a:moveTo>
                  <a:pt x="95250" y="209550"/>
                </a:moveTo>
                <a:lnTo>
                  <a:pt x="209550" y="209550"/>
                </a:lnTo>
              </a:path>
            </a:pathLst>
          </a:custGeom>
          <a:noFill xmlns:a="http://schemas.openxmlformats.org/drawingml/2006/main"/>
          <a:ln xmlns:a="http://schemas.openxmlformats.org/drawingml/2006/main" w="19050">
            <a:solidFill>
              <a:srgbClr val="FFFFFF"/>
            </a:solidFill>
            <a:prstDash val="solid"/>
          </a:ln>
        </p:spPr>
      </p:sp>
      <p:cxnSp>
        <p:nvCxnSpPr>
          <p:cNvPr id="32" name="!!connector-12-0"/>
          <p:cNvCxnSpPr>
            <a:stCxn xmlns:a="http://schemas.openxmlformats.org/drawingml/2006/main" id="4" idx="4"/>
            <a:endCxn xmlns:a="http://schemas.openxmlformats.org/drawingml/2006/main" id="10" idx="0"/>
          </p:cNvCxnSpPr>
          <p:nvPr/>
        </p:nvCxnSpPr>
        <p:spPr>
          <a:xfrm xmlns:a="http://schemas.openxmlformats.org/drawingml/2006/main">
            <a:off x="942975" y="2619375"/>
            <a:ext cx="0" cy="495300"/>
          </a:xfrm>
          <a:prstGeom xmlns:a="http://schemas.openxmlformats.org/drawingml/2006/main" prst="straightConnector1">
            <a:avLst/>
          </a:prstGeom>
          <a:ln xmlns:a="http://schemas.openxmlformats.org/drawingml/2006/main" w="19050">
            <a:solidFill>
              <a:srgbClr val="166447"/>
            </a:solidFill>
            <a:prstDash val="solid"/>
            <a:tailEnd type="arrow" w="med" len="med"/>
          </a:ln>
        </p:spPr>
      </p:cxnSp>
      <p:sp>
        <p:nvSpPr>
          <p:cNvPr id="15" name="!!custody-1-label">
            <a:extLst xmlns:a="http://schemas.openxmlformats.org/drawingml/2006/main">
              <a:ext uri="{FF2B5EF4-FFF2-40B4-BE49-F238E27FC236}">
                <a16:creationId xmlns:a16="http://schemas.microsoft.com/office/drawing/2014/main" id="{461D8A07-B222-42BF-A632-597C18257F57}"/>
              </a:ext>
            </a:extLst>
          </p:cNvPr>
          <p:cNvSpPr>
            <a:spLocks xmlns:a="http://schemas.openxmlformats.org/drawingml/2006/main" noGrp="1"/>
          </p:cNvSpPr>
          <p:nvPr/>
        </p:nvSpPr>
        <p:spPr>
          <a:xfrm xmlns:a="http://schemas.openxmlformats.org/drawingml/2006/main">
            <a:off x="1447800" y="3171825"/>
            <a:ext cx="4095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400" b="1">
                <a:solidFill>
                  <a:srgbClr val="142F24"/>
                </a:solidFill>
                <a:latin typeface="Segoe UI"/>
                <a:ea typeface="Segoe UI"/>
                <a:cs typeface="Segoe UI"/>
              </a:defRPr>
            </a:pPr>
            <a:r>
              <a:rPr sz="2400" b="1">
                <a:solidFill>
                  <a:srgbClr val="142F24"/>
                </a:solidFill>
                <a:latin typeface="Segoe UI"/>
                <a:ea typeface="Segoe UI"/>
                <a:cs typeface="Segoe UI"/>
              </a:rPr>
              <a:t>Người nhận</a:t>
            </a:r>
          </a:p>
        </p:txBody>
      </p:sp>
      <p:sp>
        <p:nvSpPr>
          <p:cNvPr id="16" name="!!custody-1-detail">
            <a:extLst xmlns:a="http://schemas.openxmlformats.org/drawingml/2006/main">
              <a:ext uri="{FF2B5EF4-FFF2-40B4-BE49-F238E27FC236}">
                <a16:creationId xmlns:a16="http://schemas.microsoft.com/office/drawing/2014/main" id="{EB42050E-90D4-436E-9389-8DF5573B2C7F}"/>
              </a:ext>
            </a:extLst>
          </p:cNvPr>
          <p:cNvSpPr>
            <a:spLocks xmlns:a="http://schemas.openxmlformats.org/drawingml/2006/main" noGrp="1"/>
          </p:cNvSpPr>
          <p:nvPr/>
        </p:nvSpPr>
        <p:spPr>
          <a:xfrm xmlns:a="http://schemas.openxmlformats.org/drawingml/2006/main">
            <a:off x="1447800" y="3743325"/>
            <a:ext cx="4095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53685B"/>
                </a:solidFill>
                <a:latin typeface="Segoe UI"/>
                <a:ea typeface="Segoe UI"/>
                <a:cs typeface="Segoe UI"/>
              </a:defRPr>
            </a:pPr>
            <a:r>
              <a:rPr sz="1800" b="0">
                <a:solidFill>
                  <a:srgbClr val="53685B"/>
                </a:solidFill>
                <a:latin typeface="Segoe UI"/>
                <a:ea typeface="Segoe UI"/>
                <a:cs typeface="Segoe UI"/>
              </a:rPr>
              <a:t>Ký chấp nhận bàn giao</a:t>
            </a:r>
          </a:p>
        </p:txBody>
      </p:sp>
      <p:sp>
        <p:nvSpPr>
          <p:cNvPr id="17" name="!!page">
            <a:extLst xmlns:a="http://schemas.openxmlformats.org/drawingml/2006/main">
              <a:ext uri="{FF2B5EF4-FFF2-40B4-BE49-F238E27FC236}">
                <a16:creationId xmlns:a16="http://schemas.microsoft.com/office/drawing/2014/main" id="{A78C4847-8618-46BA-AD49-E18D701EC711}"/>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20 / 30</a:t>
            </a:r>
          </a:p>
        </p:txBody>
      </p:sp>
      <p:sp>
        <p:nvSpPr>
          <p:cNvPr id="18" name="!!caption">
            <a:extLst xmlns:a="http://schemas.openxmlformats.org/drawingml/2006/main">
              <a:ext uri="{FF2B5EF4-FFF2-40B4-BE49-F238E27FC236}">
                <a16:creationId xmlns:a16="http://schemas.microsoft.com/office/drawing/2014/main" id="{8F43B972-52D7-4F26-9572-F2E7C800FFB1}"/>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Tính năng thử nghiệm độc lập trên Devnet. Hình nền tạo bằng AI</a:t>
            </a:r>
          </a:p>
        </p:txBody>
      </p:sp>
      <p:pic>
        <p:nvPicPr>
          <p:cNvPr id="33" name="!!tech-logo-rust" descr="rust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33"/>
          <ns0:srcRect xmlns:ns0="http://schemas.openxmlformats.org/drawingml/2006/main" l="0" t="0" r="0" b="0"/>
          <a:stretch xmlns:a="http://schemas.openxmlformats.org/drawingml/2006/main">
            <a:fillRect/>
          </a:stretch>
        </p:blipFill>
        <p:spPr>
          <a:xfrm xmlns:a="http://schemas.openxmlformats.org/drawingml/2006/main">
            <a:off x="609600" y="1495425"/>
            <a:ext cx="304800" cy="304800"/>
          </a:xfrm>
          <a:prstGeom xmlns:a="http://schemas.openxmlformats.org/drawingml/2006/main" prst="rect">
            <a:avLst/>
          </a:prstGeom>
        </p:spPr>
      </p:pic>
      <p:sp>
        <p:nvSpPr>
          <p:cNvPr id="34" name="!!tech-label-rust">
            <a:extLst xmlns:a="http://schemas.openxmlformats.org/drawingml/2006/main">
              <a:ext uri="{FF2B5EF4-FFF2-40B4-BE49-F238E27FC236}">
                <a16:creationId xmlns:a16="http://schemas.microsoft.com/office/drawing/2014/main" id="{C0B316C9-FB1F-47D6-89DD-A327E9D0299F}"/>
              </a:ext>
            </a:extLst>
          </p:cNvPr>
          <p:cNvSpPr>
            <a:spLocks xmlns:a="http://schemas.openxmlformats.org/drawingml/2006/main" noGrp="1"/>
          </p:cNvSpPr>
          <p:nvPr/>
        </p:nvSpPr>
        <p:spPr>
          <a:xfrm xmlns:a="http://schemas.openxmlformats.org/drawingml/2006/main">
            <a:off x="1019175" y="1504950"/>
            <a:ext cx="571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76F52"/>
                </a:solidFill>
                <a:latin typeface="Aptos"/>
                <a:ea typeface="Aptos"/>
                <a:cs typeface="Aptos"/>
              </a:defRPr>
            </a:pPr>
            <a:r>
              <a:rPr sz="1575" b="1">
                <a:solidFill>
                  <a:srgbClr val="176F52"/>
                </a:solidFill>
                <a:latin typeface="Aptos"/>
                <a:ea typeface="Aptos"/>
                <a:cs typeface="Aptos"/>
              </a:rPr>
              <a:t>Rust</a:t>
            </a:r>
          </a:p>
        </p:txBody>
      </p:sp>
      <p:pic>
        <p:nvPicPr>
          <p:cNvPr id="35" name="!!tech-logo-anchor" descr="anchor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35"/>
          <ns0:srcRect xmlns:ns0="http://schemas.openxmlformats.org/drawingml/2006/main" l="0" t="0" r="0" b="0"/>
          <a:stretch xmlns:a="http://schemas.openxmlformats.org/drawingml/2006/main">
            <a:fillRect/>
          </a:stretch>
        </p:blipFill>
        <p:spPr>
          <a:xfrm xmlns:a="http://schemas.openxmlformats.org/drawingml/2006/main">
            <a:off x="1638300" y="1495425"/>
            <a:ext cx="304800" cy="304800"/>
          </a:xfrm>
          <a:prstGeom xmlns:a="http://schemas.openxmlformats.org/drawingml/2006/main" prst="rect">
            <a:avLst/>
          </a:prstGeom>
        </p:spPr>
      </p:pic>
      <p:sp>
        <p:nvSpPr>
          <p:cNvPr id="36" name="!!tech-label-anchor">
            <a:extLst xmlns:a="http://schemas.openxmlformats.org/drawingml/2006/main">
              <a:ext uri="{FF2B5EF4-FFF2-40B4-BE49-F238E27FC236}">
                <a16:creationId xmlns:a16="http://schemas.microsoft.com/office/drawing/2014/main" id="{82178C72-A994-4D6C-A18E-7CA5B5309412}"/>
              </a:ext>
            </a:extLst>
          </p:cNvPr>
          <p:cNvSpPr>
            <a:spLocks xmlns:a="http://schemas.openxmlformats.org/drawingml/2006/main" noGrp="1"/>
          </p:cNvSpPr>
          <p:nvPr/>
        </p:nvSpPr>
        <p:spPr>
          <a:xfrm xmlns:a="http://schemas.openxmlformats.org/drawingml/2006/main">
            <a:off x="2047875" y="1504950"/>
            <a:ext cx="13620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76F52"/>
                </a:solidFill>
                <a:latin typeface="Aptos"/>
                <a:ea typeface="Aptos"/>
                <a:cs typeface="Aptos"/>
              </a:defRPr>
            </a:pPr>
            <a:r>
              <a:rPr sz="1575" b="1">
                <a:solidFill>
                  <a:srgbClr val="176F52"/>
                </a:solidFill>
                <a:latin typeface="Aptos"/>
                <a:ea typeface="Aptos"/>
                <a:cs typeface="Aptos"/>
              </a:rPr>
              <a:t>Anchor 0.31</a:t>
            </a:r>
          </a:p>
        </p:txBody>
      </p:sp>
      <p:pic>
        <p:nvPicPr>
          <p:cNvPr id="37" name="!!tech-logo-solana" descr="solana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37"/>
          <ns0:srcRect xmlns:ns0="http://schemas.openxmlformats.org/drawingml/2006/main" l="0" t="0" r="0" b="0"/>
          <a:stretch xmlns:a="http://schemas.openxmlformats.org/drawingml/2006/main">
            <a:fillRect/>
          </a:stretch>
        </p:blipFill>
        <p:spPr>
          <a:xfrm xmlns:a="http://schemas.openxmlformats.org/drawingml/2006/main">
            <a:off x="3486150" y="1514973"/>
            <a:ext cx="304800" cy="265705"/>
          </a:xfrm>
          <a:prstGeom xmlns:a="http://schemas.openxmlformats.org/drawingml/2006/main" prst="rect">
            <a:avLst/>
          </a:prstGeom>
        </p:spPr>
      </p:pic>
      <p:sp>
        <p:nvSpPr>
          <p:cNvPr id="38" name="!!tech-label-solana">
            <a:extLst xmlns:a="http://schemas.openxmlformats.org/drawingml/2006/main">
              <a:ext uri="{FF2B5EF4-FFF2-40B4-BE49-F238E27FC236}">
                <a16:creationId xmlns:a16="http://schemas.microsoft.com/office/drawing/2014/main" id="{06A2388B-CCED-42E4-BF8A-BA8B5E2D6D3F}"/>
              </a:ext>
            </a:extLst>
          </p:cNvPr>
          <p:cNvSpPr>
            <a:spLocks xmlns:a="http://schemas.openxmlformats.org/drawingml/2006/main" noGrp="1"/>
          </p:cNvSpPr>
          <p:nvPr/>
        </p:nvSpPr>
        <p:spPr>
          <a:xfrm xmlns:a="http://schemas.openxmlformats.org/drawingml/2006/main">
            <a:off x="3895725" y="1504950"/>
            <a:ext cx="18669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76F52"/>
                </a:solidFill>
                <a:latin typeface="Aptos"/>
                <a:ea typeface="Aptos"/>
                <a:cs typeface="Aptos"/>
              </a:defRPr>
            </a:pPr>
            <a:r>
              <a:rPr sz="1575" b="1">
                <a:solidFill>
                  <a:srgbClr val="176F52"/>
                </a:solidFill>
                <a:latin typeface="Aptos"/>
                <a:ea typeface="Aptos"/>
                <a:cs typeface="Aptos"/>
              </a:rPr>
              <a:t>Solana Devnet</a:t>
            </a:r>
          </a:p>
        </p:txBody>
      </p:sp>
    </p:spTree>
    <p:extLst>
      <p:ext uri="{BB962C8B-B14F-4D97-AF65-F5344CB8AC3E}">
        <p14:creationId xmlns:p14="http://schemas.microsoft.com/office/powerpoint/2010/main" val="674374123"/>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39.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pic>
        <p:nvPicPr>
          <p:cNvPr id="26" name="!!backdrop"/>
          <p:cNvPicPr>
            <a:picLocks xmlns:a="http://schemas.openxmlformats.org/drawingml/2006/main" noChangeAspect="1"/>
          </p:cNvPicPr>
          <p:nvPr/>
        </p:nvPicPr>
        <p:blipFill>
          <a:blip xmlns:r="http://schemas.openxmlformats.org/officeDocument/2006/relationships" xmlns:a="http://schemas.openxmlformats.org/drawingml/2006/main" r:embed="R4056399d3bb94364"/>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headline">
            <a:extLst xmlns:a="http://schemas.openxmlformats.org/drawingml/2006/main">
              <a:ext uri="{FF2B5EF4-FFF2-40B4-BE49-F238E27FC236}">
                <a16:creationId xmlns:a16="http://schemas.microsoft.com/office/drawing/2014/main" id="{445984E3-2660-4BCC-ACE1-54DCE013A3EB}"/>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142F24"/>
                </a:solidFill>
                <a:latin typeface="Segoe UI"/>
                <a:ea typeface="Segoe UI"/>
                <a:cs typeface="Segoe UI"/>
              </a:defRPr>
            </a:pPr>
            <a:r>
              <a:rPr sz="3450" b="1">
                <a:solidFill>
                  <a:srgbClr val="142F24"/>
                </a:solidFill>
                <a:latin typeface="Segoe UI"/>
                <a:ea typeface="Segoe UI"/>
                <a:cs typeface="Segoe UI"/>
              </a:rPr>
              <a:t>Bàn giao trên Solana</a:t>
            </a:r>
          </a:p>
        </p:txBody>
      </p:sp>
      <p:sp>
        <p:nvSpPr>
          <p:cNvPr id="4" name="!!custody-0-selection">
            <a:extLst xmlns:a="http://schemas.openxmlformats.org/drawingml/2006/main">
              <a:ext uri="{FF2B5EF4-FFF2-40B4-BE49-F238E27FC236}">
                <a16:creationId xmlns:a16="http://schemas.microsoft.com/office/drawing/2014/main" id="{84AED978-80ED-421C-A1CE-A9D721233C16}"/>
              </a:ext>
            </a:extLst>
          </p:cNvPr>
          <p:cNvSpPr>
            <a:spLocks xmlns:a="http://schemas.openxmlformats.org/drawingml/2006/main" noGrp="1"/>
          </p:cNvSpPr>
          <p:nvPr/>
        </p:nvSpPr>
        <p:spPr>
          <a:xfrm xmlns:a="http://schemas.openxmlformats.org/drawingml/2006/main">
            <a:off x="657225" y="2047875"/>
            <a:ext cx="571500" cy="5715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5" name="!!custody-0-icon-0">
            <a:extLst xmlns:a="http://schemas.openxmlformats.org/drawingml/2006/main">
              <a:ext uri="{FF2B5EF4-FFF2-40B4-BE49-F238E27FC236}">
                <a16:creationId xmlns:a16="http://schemas.microsoft.com/office/drawing/2014/main" id="{931F9A92-79CE-4543-9E73-F3900F4696E1}"/>
              </a:ext>
            </a:extLst>
          </p:cNvPr>
          <p:cNvSpPr>
            <a:spLocks xmlns:a="http://schemas.openxmlformats.org/drawingml/2006/main" noGrp="1"/>
          </p:cNvSpPr>
          <p:nvPr/>
        </p:nvSpPr>
        <p:spPr>
          <a:xfrm xmlns:a="http://schemas.openxmlformats.org/drawingml/2006/main">
            <a:off x="788670" y="2179320"/>
            <a:ext cx="308610" cy="308610"/>
          </a:xfrm>
          <a:custGeom xmlns:a="http://schemas.openxmlformats.org/drawingml/2006/main">
            <a:pathLst>
              <a:path w="228600" h="228600">
                <a:moveTo>
                  <a:pt x="38100" y="161925"/>
                </a:moveTo>
                <a:lnTo>
                  <a:pt x="28575" y="209550"/>
                </a:lnTo>
                <a:lnTo>
                  <a:pt x="76200" y="200025"/>
                </a:lnTo>
                <a:lnTo>
                  <a:pt x="200025" y="76200"/>
                </a:lnTo>
                <a:lnTo>
                  <a:pt x="152400" y="28575"/>
                </a:lnTo>
                <a:close/>
              </a:path>
            </a:pathLst>
          </a:custGeom>
          <a:noFill xmlns:a="http://schemas.openxmlformats.org/drawingml/2006/main"/>
          <a:ln xmlns:a="http://schemas.openxmlformats.org/drawingml/2006/main" w="19050">
            <a:solidFill>
              <a:srgbClr val="166447"/>
            </a:solidFill>
            <a:prstDash val="solid"/>
          </a:ln>
        </p:spPr>
      </p:sp>
      <p:sp>
        <p:nvSpPr>
          <p:cNvPr id="6" name="!!custody-0-icon-1">
            <a:extLst xmlns:a="http://schemas.openxmlformats.org/drawingml/2006/main">
              <a:ext uri="{FF2B5EF4-FFF2-40B4-BE49-F238E27FC236}">
                <a16:creationId xmlns:a16="http://schemas.microsoft.com/office/drawing/2014/main" id="{9B26521C-A9FB-4974-8A7D-690CB201FADB}"/>
              </a:ext>
            </a:extLst>
          </p:cNvPr>
          <p:cNvSpPr>
            <a:spLocks xmlns:a="http://schemas.openxmlformats.org/drawingml/2006/main" noGrp="1"/>
          </p:cNvSpPr>
          <p:nvPr/>
        </p:nvSpPr>
        <p:spPr>
          <a:xfrm xmlns:a="http://schemas.openxmlformats.org/drawingml/2006/main">
            <a:off x="788670" y="2179320"/>
            <a:ext cx="308610" cy="308610"/>
          </a:xfrm>
          <a:custGeom xmlns:a="http://schemas.openxmlformats.org/drawingml/2006/main">
            <a:pathLst>
              <a:path w="228600" h="228600">
                <a:moveTo>
                  <a:pt x="133350" y="47625"/>
                </a:moveTo>
                <a:lnTo>
                  <a:pt x="180975" y="95250"/>
                </a:lnTo>
              </a:path>
            </a:pathLst>
          </a:custGeom>
          <a:noFill xmlns:a="http://schemas.openxmlformats.org/drawingml/2006/main"/>
          <a:ln xmlns:a="http://schemas.openxmlformats.org/drawingml/2006/main" w="19050">
            <a:solidFill>
              <a:srgbClr val="166447"/>
            </a:solidFill>
            <a:prstDash val="solid"/>
          </a:ln>
        </p:spPr>
      </p:sp>
      <p:sp>
        <p:nvSpPr>
          <p:cNvPr id="7" name="!!custody-0-icon-2">
            <a:extLst xmlns:a="http://schemas.openxmlformats.org/drawingml/2006/main">
              <a:ext uri="{FF2B5EF4-FFF2-40B4-BE49-F238E27FC236}">
                <a16:creationId xmlns:a16="http://schemas.microsoft.com/office/drawing/2014/main" id="{ED6C5D22-65CD-4F38-AC10-D5E478491104}"/>
              </a:ext>
            </a:extLst>
          </p:cNvPr>
          <p:cNvSpPr>
            <a:spLocks xmlns:a="http://schemas.openxmlformats.org/drawingml/2006/main" noGrp="1"/>
          </p:cNvSpPr>
          <p:nvPr/>
        </p:nvSpPr>
        <p:spPr>
          <a:xfrm xmlns:a="http://schemas.openxmlformats.org/drawingml/2006/main">
            <a:off x="788670" y="2179320"/>
            <a:ext cx="308610" cy="308610"/>
          </a:xfrm>
          <a:custGeom xmlns:a="http://schemas.openxmlformats.org/drawingml/2006/main">
            <a:pathLst>
              <a:path w="228600" h="228600">
                <a:moveTo>
                  <a:pt x="95250" y="209550"/>
                </a:moveTo>
                <a:lnTo>
                  <a:pt x="209550" y="209550"/>
                </a:lnTo>
              </a:path>
            </a:pathLst>
          </a:custGeom>
          <a:noFill xmlns:a="http://schemas.openxmlformats.org/drawingml/2006/main"/>
          <a:ln xmlns:a="http://schemas.openxmlformats.org/drawingml/2006/main" w="19050">
            <a:solidFill>
              <a:srgbClr val="166447"/>
            </a:solidFill>
            <a:prstDash val="solid"/>
          </a:ln>
        </p:spPr>
      </p:sp>
      <p:sp>
        <p:nvSpPr>
          <p:cNvPr id="8" name="!!custody-0-label">
            <a:extLst xmlns:a="http://schemas.openxmlformats.org/drawingml/2006/main">
              <a:ext uri="{FF2B5EF4-FFF2-40B4-BE49-F238E27FC236}">
                <a16:creationId xmlns:a16="http://schemas.microsoft.com/office/drawing/2014/main" id="{2FEE077B-0192-4788-91DF-DBAC33BE75A4}"/>
              </a:ext>
            </a:extLst>
          </p:cNvPr>
          <p:cNvSpPr>
            <a:spLocks xmlns:a="http://schemas.openxmlformats.org/drawingml/2006/main" noGrp="1"/>
          </p:cNvSpPr>
          <p:nvPr/>
        </p:nvSpPr>
        <p:spPr>
          <a:xfrm xmlns:a="http://schemas.openxmlformats.org/drawingml/2006/main">
            <a:off x="1447800" y="2028825"/>
            <a:ext cx="4095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142F24"/>
                </a:solidFill>
                <a:latin typeface="Segoe UI"/>
                <a:ea typeface="Segoe UI"/>
                <a:cs typeface="Segoe UI"/>
              </a:defRPr>
            </a:pPr>
            <a:r>
              <a:rPr sz="2100" b="1">
                <a:solidFill>
                  <a:srgbClr val="142F24"/>
                </a:solidFill>
                <a:latin typeface="Segoe UI"/>
                <a:ea typeface="Segoe UI"/>
                <a:cs typeface="Segoe UI"/>
              </a:rPr>
              <a:t>Người giữ hiện tại</a:t>
            </a:r>
          </a:p>
        </p:txBody>
      </p:sp>
      <p:sp>
        <p:nvSpPr>
          <p:cNvPr id="9" name="!!custody-0-detail">
            <a:extLst xmlns:a="http://schemas.openxmlformats.org/drawingml/2006/main">
              <a:ext uri="{FF2B5EF4-FFF2-40B4-BE49-F238E27FC236}">
                <a16:creationId xmlns:a16="http://schemas.microsoft.com/office/drawing/2014/main" id="{CB4B2538-EDAD-4241-9EDE-5F436172B259}"/>
              </a:ext>
            </a:extLst>
          </p:cNvPr>
          <p:cNvSpPr>
            <a:spLocks xmlns:a="http://schemas.openxmlformats.org/drawingml/2006/main" noGrp="1"/>
          </p:cNvSpPr>
          <p:nvPr/>
        </p:nvSpPr>
        <p:spPr>
          <a:xfrm xmlns:a="http://schemas.openxmlformats.org/drawingml/2006/main">
            <a:off x="1447800" y="2600325"/>
            <a:ext cx="4095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53685B"/>
                </a:solidFill>
                <a:latin typeface="Segoe UI"/>
                <a:ea typeface="Segoe UI"/>
                <a:cs typeface="Segoe UI"/>
              </a:defRPr>
            </a:pPr>
            <a:r>
              <a:rPr sz="1800" b="0">
                <a:solidFill>
                  <a:srgbClr val="53685B"/>
                </a:solidFill>
                <a:latin typeface="Segoe UI"/>
                <a:ea typeface="Segoe UI"/>
                <a:cs typeface="Segoe UI"/>
              </a:rPr>
              <a:t>Ký đề xuất ví nhận tiếp theo</a:t>
            </a:r>
          </a:p>
        </p:txBody>
      </p:sp>
      <p:sp>
        <p:nvSpPr>
          <p:cNvPr id="10" name="!!custody-1-selection">
            <a:extLst xmlns:a="http://schemas.openxmlformats.org/drawingml/2006/main">
              <a:ext uri="{FF2B5EF4-FFF2-40B4-BE49-F238E27FC236}">
                <a16:creationId xmlns:a16="http://schemas.microsoft.com/office/drawing/2014/main" id="{CFBA64C0-C77C-4309-8AA6-0CDF707F9EA4}"/>
              </a:ext>
            </a:extLst>
          </p:cNvPr>
          <p:cNvSpPr>
            <a:spLocks xmlns:a="http://schemas.openxmlformats.org/drawingml/2006/main" noGrp="1"/>
          </p:cNvSpPr>
          <p:nvPr/>
        </p:nvSpPr>
        <p:spPr>
          <a:xfrm xmlns:a="http://schemas.openxmlformats.org/drawingml/2006/main">
            <a:off x="657225" y="3190875"/>
            <a:ext cx="571500" cy="5715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11" name="!!custody-1-icon-0">
            <a:extLst xmlns:a="http://schemas.openxmlformats.org/drawingml/2006/main">
              <a:ext uri="{FF2B5EF4-FFF2-40B4-BE49-F238E27FC236}">
                <a16:creationId xmlns:a16="http://schemas.microsoft.com/office/drawing/2014/main" id="{B8B8F70C-3E63-4629-9FED-1BB7C45A986B}"/>
              </a:ext>
            </a:extLst>
          </p:cNvPr>
          <p:cNvSpPr>
            <a:spLocks xmlns:a="http://schemas.openxmlformats.org/drawingml/2006/main" noGrp="1"/>
          </p:cNvSpPr>
          <p:nvPr/>
        </p:nvSpPr>
        <p:spPr>
          <a:xfrm xmlns:a="http://schemas.openxmlformats.org/drawingml/2006/main">
            <a:off x="788670" y="3322320"/>
            <a:ext cx="308610" cy="308610"/>
          </a:xfrm>
          <a:custGeom xmlns:a="http://schemas.openxmlformats.org/drawingml/2006/main">
            <a:pathLst>
              <a:path w="228600" h="228600">
                <a:moveTo>
                  <a:pt x="38100" y="161925"/>
                </a:moveTo>
                <a:lnTo>
                  <a:pt x="28575" y="209550"/>
                </a:lnTo>
                <a:lnTo>
                  <a:pt x="76200" y="200025"/>
                </a:lnTo>
                <a:lnTo>
                  <a:pt x="200025" y="76200"/>
                </a:lnTo>
                <a:lnTo>
                  <a:pt x="152400" y="28575"/>
                </a:lnTo>
                <a:close/>
              </a:path>
            </a:pathLst>
          </a:custGeom>
          <a:noFill xmlns:a="http://schemas.openxmlformats.org/drawingml/2006/main"/>
          <a:ln xmlns:a="http://schemas.openxmlformats.org/drawingml/2006/main" w="19050">
            <a:solidFill>
              <a:srgbClr val="166447"/>
            </a:solidFill>
            <a:prstDash val="solid"/>
          </a:ln>
        </p:spPr>
      </p:sp>
      <p:sp>
        <p:nvSpPr>
          <p:cNvPr id="12" name="!!custody-1-icon-1">
            <a:extLst xmlns:a="http://schemas.openxmlformats.org/drawingml/2006/main">
              <a:ext uri="{FF2B5EF4-FFF2-40B4-BE49-F238E27FC236}">
                <a16:creationId xmlns:a16="http://schemas.microsoft.com/office/drawing/2014/main" id="{7E34EB2B-88C4-406F-A5E3-81673E9B440D}"/>
              </a:ext>
            </a:extLst>
          </p:cNvPr>
          <p:cNvSpPr>
            <a:spLocks xmlns:a="http://schemas.openxmlformats.org/drawingml/2006/main" noGrp="1"/>
          </p:cNvSpPr>
          <p:nvPr/>
        </p:nvSpPr>
        <p:spPr>
          <a:xfrm xmlns:a="http://schemas.openxmlformats.org/drawingml/2006/main">
            <a:off x="788670" y="3322320"/>
            <a:ext cx="308610" cy="308610"/>
          </a:xfrm>
          <a:custGeom xmlns:a="http://schemas.openxmlformats.org/drawingml/2006/main">
            <a:pathLst>
              <a:path w="228600" h="228600">
                <a:moveTo>
                  <a:pt x="133350" y="47625"/>
                </a:moveTo>
                <a:lnTo>
                  <a:pt x="180975" y="95250"/>
                </a:lnTo>
              </a:path>
            </a:pathLst>
          </a:custGeom>
          <a:noFill xmlns:a="http://schemas.openxmlformats.org/drawingml/2006/main"/>
          <a:ln xmlns:a="http://schemas.openxmlformats.org/drawingml/2006/main" w="19050">
            <a:solidFill>
              <a:srgbClr val="166447"/>
            </a:solidFill>
            <a:prstDash val="solid"/>
          </a:ln>
        </p:spPr>
      </p:sp>
      <p:sp>
        <p:nvSpPr>
          <p:cNvPr id="13" name="!!custody-1-icon-2">
            <a:extLst xmlns:a="http://schemas.openxmlformats.org/drawingml/2006/main">
              <a:ext uri="{FF2B5EF4-FFF2-40B4-BE49-F238E27FC236}">
                <a16:creationId xmlns:a16="http://schemas.microsoft.com/office/drawing/2014/main" id="{E630845E-1504-4D4C-82C9-5B8F1439B2D2}"/>
              </a:ext>
            </a:extLst>
          </p:cNvPr>
          <p:cNvSpPr>
            <a:spLocks xmlns:a="http://schemas.openxmlformats.org/drawingml/2006/main" noGrp="1"/>
          </p:cNvSpPr>
          <p:nvPr/>
        </p:nvSpPr>
        <p:spPr>
          <a:xfrm xmlns:a="http://schemas.openxmlformats.org/drawingml/2006/main">
            <a:off x="788670" y="3322320"/>
            <a:ext cx="308610" cy="308610"/>
          </a:xfrm>
          <a:custGeom xmlns:a="http://schemas.openxmlformats.org/drawingml/2006/main">
            <a:pathLst>
              <a:path w="228600" h="228600">
                <a:moveTo>
                  <a:pt x="95250" y="209550"/>
                </a:moveTo>
                <a:lnTo>
                  <a:pt x="209550" y="209550"/>
                </a:lnTo>
              </a:path>
            </a:pathLst>
          </a:custGeom>
          <a:noFill xmlns:a="http://schemas.openxmlformats.org/drawingml/2006/main"/>
          <a:ln xmlns:a="http://schemas.openxmlformats.org/drawingml/2006/main" w="19050">
            <a:solidFill>
              <a:srgbClr val="166447"/>
            </a:solidFill>
            <a:prstDash val="solid"/>
          </a:ln>
        </p:spPr>
      </p:sp>
      <p:cxnSp>
        <p:nvCxnSpPr>
          <p:cNvPr id="39" name="!!connector-12-0"/>
          <p:cNvCxnSpPr>
            <a:stCxn xmlns:a="http://schemas.openxmlformats.org/drawingml/2006/main" id="4" idx="4"/>
            <a:endCxn xmlns:a="http://schemas.openxmlformats.org/drawingml/2006/main" id="10" idx="0"/>
          </p:cNvCxnSpPr>
          <p:nvPr/>
        </p:nvCxnSpPr>
        <p:spPr>
          <a:xfrm xmlns:a="http://schemas.openxmlformats.org/drawingml/2006/main">
            <a:off x="942975" y="2619375"/>
            <a:ext cx="0" cy="571500"/>
          </a:xfrm>
          <a:prstGeom xmlns:a="http://schemas.openxmlformats.org/drawingml/2006/main" prst="straightConnector1">
            <a:avLst/>
          </a:prstGeom>
          <a:ln xmlns:a="http://schemas.openxmlformats.org/drawingml/2006/main" w="19050">
            <a:solidFill>
              <a:srgbClr val="166447"/>
            </a:solidFill>
            <a:prstDash val="solid"/>
            <a:tailEnd type="arrow" w="med" len="med"/>
          </a:ln>
        </p:spPr>
      </p:cxnSp>
      <p:sp>
        <p:nvSpPr>
          <p:cNvPr id="15" name="!!custody-1-label">
            <a:extLst xmlns:a="http://schemas.openxmlformats.org/drawingml/2006/main">
              <a:ext uri="{FF2B5EF4-FFF2-40B4-BE49-F238E27FC236}">
                <a16:creationId xmlns:a16="http://schemas.microsoft.com/office/drawing/2014/main" id="{E82EA6C9-3D90-4FFD-A3A3-AEB3AD6552AB}"/>
              </a:ext>
            </a:extLst>
          </p:cNvPr>
          <p:cNvSpPr>
            <a:spLocks xmlns:a="http://schemas.openxmlformats.org/drawingml/2006/main" noGrp="1"/>
          </p:cNvSpPr>
          <p:nvPr/>
        </p:nvSpPr>
        <p:spPr>
          <a:xfrm xmlns:a="http://schemas.openxmlformats.org/drawingml/2006/main">
            <a:off x="1447800" y="3171825"/>
            <a:ext cx="4095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142F24"/>
                </a:solidFill>
                <a:latin typeface="Segoe UI"/>
                <a:ea typeface="Segoe UI"/>
                <a:cs typeface="Segoe UI"/>
              </a:defRPr>
            </a:pPr>
            <a:r>
              <a:rPr sz="2100" b="1">
                <a:solidFill>
                  <a:srgbClr val="142F24"/>
                </a:solidFill>
                <a:latin typeface="Segoe UI"/>
                <a:ea typeface="Segoe UI"/>
                <a:cs typeface="Segoe UI"/>
              </a:rPr>
              <a:t>Người nhận</a:t>
            </a:r>
          </a:p>
        </p:txBody>
      </p:sp>
      <p:sp>
        <p:nvSpPr>
          <p:cNvPr id="16" name="!!custody-1-detail">
            <a:extLst xmlns:a="http://schemas.openxmlformats.org/drawingml/2006/main">
              <a:ext uri="{FF2B5EF4-FFF2-40B4-BE49-F238E27FC236}">
                <a16:creationId xmlns:a16="http://schemas.microsoft.com/office/drawing/2014/main" id="{D8374183-51AA-482C-837A-F65ED4FC9B05}"/>
              </a:ext>
            </a:extLst>
          </p:cNvPr>
          <p:cNvSpPr>
            <a:spLocks xmlns:a="http://schemas.openxmlformats.org/drawingml/2006/main" noGrp="1"/>
          </p:cNvSpPr>
          <p:nvPr/>
        </p:nvSpPr>
        <p:spPr>
          <a:xfrm xmlns:a="http://schemas.openxmlformats.org/drawingml/2006/main">
            <a:off x="1447800" y="3743325"/>
            <a:ext cx="4095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53685B"/>
                </a:solidFill>
                <a:latin typeface="Segoe UI"/>
                <a:ea typeface="Segoe UI"/>
                <a:cs typeface="Segoe UI"/>
              </a:defRPr>
            </a:pPr>
            <a:r>
              <a:rPr sz="1800" b="0">
                <a:solidFill>
                  <a:srgbClr val="53685B"/>
                </a:solidFill>
                <a:latin typeface="Segoe UI"/>
                <a:ea typeface="Segoe UI"/>
                <a:cs typeface="Segoe UI"/>
              </a:rPr>
              <a:t>Ký chấp nhận bàn giao</a:t>
            </a:r>
          </a:p>
        </p:txBody>
      </p:sp>
      <p:sp>
        <p:nvSpPr>
          <p:cNvPr id="17" name="!!custody-2-selection">
            <a:extLst xmlns:a="http://schemas.openxmlformats.org/drawingml/2006/main">
              <a:ext uri="{FF2B5EF4-FFF2-40B4-BE49-F238E27FC236}">
                <a16:creationId xmlns:a16="http://schemas.microsoft.com/office/drawing/2014/main" id="{1222E1D3-C346-4883-8B95-EA8F40F80723}"/>
              </a:ext>
            </a:extLst>
          </p:cNvPr>
          <p:cNvSpPr>
            <a:spLocks xmlns:a="http://schemas.openxmlformats.org/drawingml/2006/main" noGrp="1"/>
          </p:cNvSpPr>
          <p:nvPr/>
        </p:nvSpPr>
        <p:spPr>
          <a:xfrm xmlns:a="http://schemas.openxmlformats.org/drawingml/2006/main">
            <a:off x="581025" y="4257675"/>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18" name="!!custody-2-icon-0">
            <a:extLst xmlns:a="http://schemas.openxmlformats.org/drawingml/2006/main">
              <a:ext uri="{FF2B5EF4-FFF2-40B4-BE49-F238E27FC236}">
                <a16:creationId xmlns:a16="http://schemas.microsoft.com/office/drawing/2014/main" id="{B438526F-1F94-49FD-AD8C-D39C1B1A209A}"/>
              </a:ext>
            </a:extLst>
          </p:cNvPr>
          <p:cNvSpPr>
            <a:spLocks xmlns:a="http://schemas.openxmlformats.org/drawingml/2006/main" noGrp="1"/>
          </p:cNvSpPr>
          <p:nvPr/>
        </p:nvSpPr>
        <p:spPr>
          <a:xfrm xmlns:a="http://schemas.openxmlformats.org/drawingml/2006/main">
            <a:off x="747522" y="4424172"/>
            <a:ext cx="390906" cy="390906"/>
          </a:xfrm>
          <a:custGeom xmlns:a="http://schemas.openxmlformats.org/drawingml/2006/main">
            <a:pathLst>
              <a:path w="228600" h="228600">
                <a:moveTo>
                  <a:pt x="28575" y="66675"/>
                </a:moveTo>
                <a:lnTo>
                  <a:pt x="114300" y="19050"/>
                </a:lnTo>
                <a:lnTo>
                  <a:pt x="200025" y="66675"/>
                </a:lnTo>
                <a:lnTo>
                  <a:pt x="200025" y="161925"/>
                </a:lnTo>
                <a:lnTo>
                  <a:pt x="114300" y="209550"/>
                </a:lnTo>
                <a:lnTo>
                  <a:pt x="28575" y="161925"/>
                </a:lnTo>
                <a:close/>
              </a:path>
            </a:pathLst>
          </a:custGeom>
          <a:noFill xmlns:a="http://schemas.openxmlformats.org/drawingml/2006/main"/>
          <a:ln xmlns:a="http://schemas.openxmlformats.org/drawingml/2006/main" w="19050">
            <a:solidFill>
              <a:srgbClr val="FFFFFF"/>
            </a:solidFill>
            <a:prstDash val="solid"/>
          </a:ln>
        </p:spPr>
      </p:sp>
      <p:sp>
        <p:nvSpPr>
          <p:cNvPr id="19" name="!!custody-2-icon-1">
            <a:extLst xmlns:a="http://schemas.openxmlformats.org/drawingml/2006/main">
              <a:ext uri="{FF2B5EF4-FFF2-40B4-BE49-F238E27FC236}">
                <a16:creationId xmlns:a16="http://schemas.microsoft.com/office/drawing/2014/main" id="{F92646D6-89CC-4C13-9969-DBBEBD71F67C}"/>
              </a:ext>
            </a:extLst>
          </p:cNvPr>
          <p:cNvSpPr>
            <a:spLocks xmlns:a="http://schemas.openxmlformats.org/drawingml/2006/main" noGrp="1"/>
          </p:cNvSpPr>
          <p:nvPr/>
        </p:nvSpPr>
        <p:spPr>
          <a:xfrm xmlns:a="http://schemas.openxmlformats.org/drawingml/2006/main">
            <a:off x="747522" y="4424172"/>
            <a:ext cx="390906" cy="390906"/>
          </a:xfrm>
          <a:custGeom xmlns:a="http://schemas.openxmlformats.org/drawingml/2006/main">
            <a:pathLst>
              <a:path w="228600" h="228600">
                <a:moveTo>
                  <a:pt x="28575" y="66675"/>
                </a:moveTo>
                <a:lnTo>
                  <a:pt x="114300" y="114300"/>
                </a:lnTo>
                <a:lnTo>
                  <a:pt x="200025" y="66675"/>
                </a:lnTo>
              </a:path>
            </a:pathLst>
          </a:custGeom>
          <a:noFill xmlns:a="http://schemas.openxmlformats.org/drawingml/2006/main"/>
          <a:ln xmlns:a="http://schemas.openxmlformats.org/drawingml/2006/main" w="19050">
            <a:solidFill>
              <a:srgbClr val="FFFFFF"/>
            </a:solidFill>
            <a:prstDash val="solid"/>
          </a:ln>
        </p:spPr>
      </p:sp>
      <p:sp>
        <p:nvSpPr>
          <p:cNvPr id="20" name="!!custody-2-icon-2">
            <a:extLst xmlns:a="http://schemas.openxmlformats.org/drawingml/2006/main">
              <a:ext uri="{FF2B5EF4-FFF2-40B4-BE49-F238E27FC236}">
                <a16:creationId xmlns:a16="http://schemas.microsoft.com/office/drawing/2014/main" id="{934688CF-2C97-4D36-B89E-C0EF5F77B9D1}"/>
              </a:ext>
            </a:extLst>
          </p:cNvPr>
          <p:cNvSpPr>
            <a:spLocks xmlns:a="http://schemas.openxmlformats.org/drawingml/2006/main" noGrp="1"/>
          </p:cNvSpPr>
          <p:nvPr/>
        </p:nvSpPr>
        <p:spPr>
          <a:xfrm xmlns:a="http://schemas.openxmlformats.org/drawingml/2006/main">
            <a:off x="747522" y="4424172"/>
            <a:ext cx="390906" cy="390906"/>
          </a:xfrm>
          <a:custGeom xmlns:a="http://schemas.openxmlformats.org/drawingml/2006/main">
            <a:pathLst>
              <a:path w="228600" h="228600">
                <a:moveTo>
                  <a:pt x="114300" y="114300"/>
                </a:moveTo>
                <a:lnTo>
                  <a:pt x="114300" y="209550"/>
                </a:lnTo>
              </a:path>
            </a:pathLst>
          </a:custGeom>
          <a:noFill xmlns:a="http://schemas.openxmlformats.org/drawingml/2006/main"/>
          <a:ln xmlns:a="http://schemas.openxmlformats.org/drawingml/2006/main" w="19050">
            <a:solidFill>
              <a:srgbClr val="FFFFFF"/>
            </a:solidFill>
            <a:prstDash val="solid"/>
          </a:ln>
        </p:spPr>
      </p:sp>
      <p:cxnSp>
        <p:nvCxnSpPr>
          <p:cNvPr id="46" name="!!connector-12-1"/>
          <p:cNvCxnSpPr>
            <a:stCxn xmlns:a="http://schemas.openxmlformats.org/drawingml/2006/main" id="10" idx="4"/>
            <a:endCxn xmlns:a="http://schemas.openxmlformats.org/drawingml/2006/main" id="17" idx="0"/>
          </p:cNvCxnSpPr>
          <p:nvPr/>
        </p:nvCxnSpPr>
        <p:spPr>
          <a:xfrm xmlns:a="http://schemas.openxmlformats.org/drawingml/2006/main">
            <a:off x="942975" y="3762375"/>
            <a:ext cx="0" cy="495300"/>
          </a:xfrm>
          <a:prstGeom xmlns:a="http://schemas.openxmlformats.org/drawingml/2006/main" prst="straightConnector1">
            <a:avLst/>
          </a:prstGeom>
          <a:ln xmlns:a="http://schemas.openxmlformats.org/drawingml/2006/main" w="19050">
            <a:solidFill>
              <a:srgbClr val="166447"/>
            </a:solidFill>
            <a:prstDash val="solid"/>
            <a:tailEnd type="arrow" w="med" len="med"/>
          </a:ln>
        </p:spPr>
      </p:cxnSp>
      <p:sp>
        <p:nvSpPr>
          <p:cNvPr id="22" name="!!custody-2-label">
            <a:extLst xmlns:a="http://schemas.openxmlformats.org/drawingml/2006/main">
              <a:ext uri="{FF2B5EF4-FFF2-40B4-BE49-F238E27FC236}">
                <a16:creationId xmlns:a16="http://schemas.microsoft.com/office/drawing/2014/main" id="{020AE27D-7021-4450-8EC9-8FF399454C6E}"/>
              </a:ext>
            </a:extLst>
          </p:cNvPr>
          <p:cNvSpPr>
            <a:spLocks xmlns:a="http://schemas.openxmlformats.org/drawingml/2006/main" noGrp="1"/>
          </p:cNvSpPr>
          <p:nvPr/>
        </p:nvSpPr>
        <p:spPr>
          <a:xfrm xmlns:a="http://schemas.openxmlformats.org/drawingml/2006/main">
            <a:off x="1447800" y="4314825"/>
            <a:ext cx="4095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400" b="1">
                <a:solidFill>
                  <a:srgbClr val="142F24"/>
                </a:solidFill>
                <a:latin typeface="Segoe UI"/>
                <a:ea typeface="Segoe UI"/>
                <a:cs typeface="Segoe UI"/>
              </a:defRPr>
            </a:pPr>
            <a:r>
              <a:rPr sz="2400" b="1">
                <a:solidFill>
                  <a:srgbClr val="142F24"/>
                </a:solidFill>
                <a:latin typeface="Segoe UI"/>
                <a:ea typeface="Segoe UI"/>
                <a:cs typeface="Segoe UI"/>
              </a:rPr>
              <a:t>Custody đổi trạng thái</a:t>
            </a:r>
          </a:p>
        </p:txBody>
      </p:sp>
      <p:sp>
        <p:nvSpPr>
          <p:cNvPr id="23" name="!!custody-2-detail">
            <a:extLst xmlns:a="http://schemas.openxmlformats.org/drawingml/2006/main">
              <a:ext uri="{FF2B5EF4-FFF2-40B4-BE49-F238E27FC236}">
                <a16:creationId xmlns:a16="http://schemas.microsoft.com/office/drawing/2014/main" id="{6EEAC286-A915-49FF-8D1F-75103F7D7335}"/>
              </a:ext>
            </a:extLst>
          </p:cNvPr>
          <p:cNvSpPr>
            <a:spLocks xmlns:a="http://schemas.openxmlformats.org/drawingml/2006/main" noGrp="1"/>
          </p:cNvSpPr>
          <p:nvPr/>
        </p:nvSpPr>
        <p:spPr>
          <a:xfrm xmlns:a="http://schemas.openxmlformats.org/drawingml/2006/main">
            <a:off x="1447800" y="4886325"/>
            <a:ext cx="4095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53685B"/>
                </a:solidFill>
                <a:latin typeface="Segoe UI"/>
                <a:ea typeface="Segoe UI"/>
                <a:cs typeface="Segoe UI"/>
              </a:defRPr>
            </a:pPr>
            <a:r>
              <a:rPr sz="1800" b="0">
                <a:solidFill>
                  <a:srgbClr val="53685B"/>
                </a:solidFill>
                <a:latin typeface="Segoe UI"/>
                <a:ea typeface="Segoe UI"/>
                <a:cs typeface="Segoe UI"/>
              </a:rPr>
              <a:t>Chỉ sau chữ ký chấp nhận</a:t>
            </a:r>
          </a:p>
        </p:txBody>
      </p:sp>
      <p:sp>
        <p:nvSpPr>
          <p:cNvPr id="24" name="!!page">
            <a:extLst xmlns:a="http://schemas.openxmlformats.org/drawingml/2006/main">
              <a:ext uri="{FF2B5EF4-FFF2-40B4-BE49-F238E27FC236}">
                <a16:creationId xmlns:a16="http://schemas.microsoft.com/office/drawing/2014/main" id="{F19B53AE-E0ED-4B8A-80AD-DC46D415C54D}"/>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21 / 30</a:t>
            </a:r>
          </a:p>
        </p:txBody>
      </p:sp>
      <p:sp>
        <p:nvSpPr>
          <p:cNvPr id="25" name="!!caption">
            <a:extLst xmlns:a="http://schemas.openxmlformats.org/drawingml/2006/main">
              <a:ext uri="{FF2B5EF4-FFF2-40B4-BE49-F238E27FC236}">
                <a16:creationId xmlns:a16="http://schemas.microsoft.com/office/drawing/2014/main" id="{87196568-BBED-4773-B7FB-5F4BE0739332}"/>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Tính năng thử nghiệm độc lập trên Devnet. Hình nền tạo bằng AI</a:t>
            </a:r>
          </a:p>
        </p:txBody>
      </p:sp>
      <p:pic>
        <p:nvPicPr>
          <p:cNvPr id="47" name="!!tech-logo-rust" descr="rust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47"/>
          <ns0:srcRect xmlns:ns0="http://schemas.openxmlformats.org/drawingml/2006/main" l="0" t="0" r="0" b="0"/>
          <a:stretch xmlns:a="http://schemas.openxmlformats.org/drawingml/2006/main">
            <a:fillRect/>
          </a:stretch>
        </p:blipFill>
        <p:spPr>
          <a:xfrm xmlns:a="http://schemas.openxmlformats.org/drawingml/2006/main">
            <a:off x="609600" y="1495425"/>
            <a:ext cx="304800" cy="304800"/>
          </a:xfrm>
          <a:prstGeom xmlns:a="http://schemas.openxmlformats.org/drawingml/2006/main" prst="rect">
            <a:avLst/>
          </a:prstGeom>
        </p:spPr>
      </p:pic>
      <p:sp>
        <p:nvSpPr>
          <p:cNvPr id="48" name="!!tech-label-rust">
            <a:extLst xmlns:a="http://schemas.openxmlformats.org/drawingml/2006/main">
              <a:ext uri="{FF2B5EF4-FFF2-40B4-BE49-F238E27FC236}">
                <a16:creationId xmlns:a16="http://schemas.microsoft.com/office/drawing/2014/main" id="{C0B316C9-FB1F-47D6-89DD-A327E9D0299F}"/>
              </a:ext>
            </a:extLst>
          </p:cNvPr>
          <p:cNvSpPr>
            <a:spLocks xmlns:a="http://schemas.openxmlformats.org/drawingml/2006/main" noGrp="1"/>
          </p:cNvSpPr>
          <p:nvPr/>
        </p:nvSpPr>
        <p:spPr>
          <a:xfrm xmlns:a="http://schemas.openxmlformats.org/drawingml/2006/main">
            <a:off x="1019175" y="1504950"/>
            <a:ext cx="571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76F52"/>
                </a:solidFill>
                <a:latin typeface="Aptos"/>
                <a:ea typeface="Aptos"/>
                <a:cs typeface="Aptos"/>
              </a:defRPr>
            </a:pPr>
            <a:r>
              <a:rPr sz="1575" b="1">
                <a:solidFill>
                  <a:srgbClr val="176F52"/>
                </a:solidFill>
                <a:latin typeface="Aptos"/>
                <a:ea typeface="Aptos"/>
                <a:cs typeface="Aptos"/>
              </a:rPr>
              <a:t>Rust</a:t>
            </a:r>
          </a:p>
        </p:txBody>
      </p:sp>
      <p:pic>
        <p:nvPicPr>
          <p:cNvPr id="49" name="!!tech-logo-anchor" descr="anchor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49"/>
          <ns0:srcRect xmlns:ns0="http://schemas.openxmlformats.org/drawingml/2006/main" l="0" t="0" r="0" b="0"/>
          <a:stretch xmlns:a="http://schemas.openxmlformats.org/drawingml/2006/main">
            <a:fillRect/>
          </a:stretch>
        </p:blipFill>
        <p:spPr>
          <a:xfrm xmlns:a="http://schemas.openxmlformats.org/drawingml/2006/main">
            <a:off x="1638300" y="1495425"/>
            <a:ext cx="304800" cy="304800"/>
          </a:xfrm>
          <a:prstGeom xmlns:a="http://schemas.openxmlformats.org/drawingml/2006/main" prst="rect">
            <a:avLst/>
          </a:prstGeom>
        </p:spPr>
      </p:pic>
      <p:sp>
        <p:nvSpPr>
          <p:cNvPr id="50" name="!!tech-label-anchor">
            <a:extLst xmlns:a="http://schemas.openxmlformats.org/drawingml/2006/main">
              <a:ext uri="{FF2B5EF4-FFF2-40B4-BE49-F238E27FC236}">
                <a16:creationId xmlns:a16="http://schemas.microsoft.com/office/drawing/2014/main" id="{82178C72-A994-4D6C-A18E-7CA5B5309412}"/>
              </a:ext>
            </a:extLst>
          </p:cNvPr>
          <p:cNvSpPr>
            <a:spLocks xmlns:a="http://schemas.openxmlformats.org/drawingml/2006/main" noGrp="1"/>
          </p:cNvSpPr>
          <p:nvPr/>
        </p:nvSpPr>
        <p:spPr>
          <a:xfrm xmlns:a="http://schemas.openxmlformats.org/drawingml/2006/main">
            <a:off x="2047875" y="1504950"/>
            <a:ext cx="13620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76F52"/>
                </a:solidFill>
                <a:latin typeface="Aptos"/>
                <a:ea typeface="Aptos"/>
                <a:cs typeface="Aptos"/>
              </a:defRPr>
            </a:pPr>
            <a:r>
              <a:rPr sz="1575" b="1">
                <a:solidFill>
                  <a:srgbClr val="176F52"/>
                </a:solidFill>
                <a:latin typeface="Aptos"/>
                <a:ea typeface="Aptos"/>
                <a:cs typeface="Aptos"/>
              </a:rPr>
              <a:t>Anchor 0.31</a:t>
            </a:r>
          </a:p>
        </p:txBody>
      </p:sp>
      <p:pic>
        <p:nvPicPr>
          <p:cNvPr id="51" name="!!tech-logo-solana" descr="solana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51"/>
          <ns0:srcRect xmlns:ns0="http://schemas.openxmlformats.org/drawingml/2006/main" l="0" t="0" r="0" b="0"/>
          <a:stretch xmlns:a="http://schemas.openxmlformats.org/drawingml/2006/main">
            <a:fillRect/>
          </a:stretch>
        </p:blipFill>
        <p:spPr>
          <a:xfrm xmlns:a="http://schemas.openxmlformats.org/drawingml/2006/main">
            <a:off x="3486150" y="1514973"/>
            <a:ext cx="304800" cy="265705"/>
          </a:xfrm>
          <a:prstGeom xmlns:a="http://schemas.openxmlformats.org/drawingml/2006/main" prst="rect">
            <a:avLst/>
          </a:prstGeom>
        </p:spPr>
      </p:pic>
      <p:sp>
        <p:nvSpPr>
          <p:cNvPr id="52" name="!!tech-label-solana">
            <a:extLst xmlns:a="http://schemas.openxmlformats.org/drawingml/2006/main">
              <a:ext uri="{FF2B5EF4-FFF2-40B4-BE49-F238E27FC236}">
                <a16:creationId xmlns:a16="http://schemas.microsoft.com/office/drawing/2014/main" id="{06A2388B-CCED-42E4-BF8A-BA8B5E2D6D3F}"/>
              </a:ext>
            </a:extLst>
          </p:cNvPr>
          <p:cNvSpPr>
            <a:spLocks xmlns:a="http://schemas.openxmlformats.org/drawingml/2006/main" noGrp="1"/>
          </p:cNvSpPr>
          <p:nvPr/>
        </p:nvSpPr>
        <p:spPr>
          <a:xfrm xmlns:a="http://schemas.openxmlformats.org/drawingml/2006/main">
            <a:off x="3895725" y="1504950"/>
            <a:ext cx="18669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76F52"/>
                </a:solidFill>
                <a:latin typeface="Aptos"/>
                <a:ea typeface="Aptos"/>
                <a:cs typeface="Aptos"/>
              </a:defRPr>
            </a:pPr>
            <a:r>
              <a:rPr sz="1575" b="1">
                <a:solidFill>
                  <a:srgbClr val="176F52"/>
                </a:solidFill>
                <a:latin typeface="Aptos"/>
                <a:ea typeface="Aptos"/>
                <a:cs typeface="Aptos"/>
              </a:rPr>
              <a:t>Solana Devnet</a:t>
            </a:r>
          </a:p>
        </p:txBody>
      </p:sp>
    </p:spTree>
    <p:extLst>
      <p:ext uri="{BB962C8B-B14F-4D97-AF65-F5344CB8AC3E}">
        <p14:creationId xmlns:p14="http://schemas.microsoft.com/office/powerpoint/2010/main" val="173288324"/>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40.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pic>
        <p:nvPicPr>
          <p:cNvPr id="27" name="!!backdrop"/>
          <p:cNvPicPr>
            <a:picLocks xmlns:a="http://schemas.openxmlformats.org/drawingml/2006/main" noChangeAspect="1"/>
          </p:cNvPicPr>
          <p:nvPr/>
        </p:nvPicPr>
        <p:blipFill>
          <a:blip xmlns:r="http://schemas.openxmlformats.org/officeDocument/2006/relationships" xmlns:a="http://schemas.openxmlformats.org/drawingml/2006/main" r:embed="R2c84fe5be9e64ff3"/>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headline">
            <a:extLst xmlns:a="http://schemas.openxmlformats.org/drawingml/2006/main">
              <a:ext uri="{FF2B5EF4-FFF2-40B4-BE49-F238E27FC236}">
                <a16:creationId xmlns:a16="http://schemas.microsoft.com/office/drawing/2014/main" id="{E68FEEDE-3570-4BA0-8F57-A2E24BF44398}"/>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142F24"/>
                </a:solidFill>
                <a:latin typeface="Segoe UI"/>
                <a:ea typeface="Segoe UI"/>
                <a:cs typeface="Segoe UI"/>
              </a:defRPr>
            </a:pPr>
            <a:r>
              <a:rPr sz="3450" b="1">
                <a:solidFill>
                  <a:srgbClr val="142F24"/>
                </a:solidFill>
                <a:latin typeface="Segoe UI"/>
                <a:ea typeface="Segoe UI"/>
                <a:cs typeface="Segoe UI"/>
              </a:rPr>
              <a:t>Bàn giao trên Solana</a:t>
            </a:r>
          </a:p>
        </p:txBody>
      </p:sp>
      <p:sp>
        <p:nvSpPr>
          <p:cNvPr id="4" name="!!custody-0-selection">
            <a:extLst xmlns:a="http://schemas.openxmlformats.org/drawingml/2006/main">
              <a:ext uri="{FF2B5EF4-FFF2-40B4-BE49-F238E27FC236}">
                <a16:creationId xmlns:a16="http://schemas.microsoft.com/office/drawing/2014/main" id="{FFAF1C2C-930B-4F5F-81A0-F3672C47217F}"/>
              </a:ext>
            </a:extLst>
          </p:cNvPr>
          <p:cNvSpPr>
            <a:spLocks xmlns:a="http://schemas.openxmlformats.org/drawingml/2006/main" noGrp="1"/>
          </p:cNvSpPr>
          <p:nvPr/>
        </p:nvSpPr>
        <p:spPr>
          <a:xfrm xmlns:a="http://schemas.openxmlformats.org/drawingml/2006/main">
            <a:off x="657225" y="2047875"/>
            <a:ext cx="571500" cy="5715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5" name="!!custody-0-icon-0">
            <a:extLst xmlns:a="http://schemas.openxmlformats.org/drawingml/2006/main">
              <a:ext uri="{FF2B5EF4-FFF2-40B4-BE49-F238E27FC236}">
                <a16:creationId xmlns:a16="http://schemas.microsoft.com/office/drawing/2014/main" id="{376BE38E-308E-4415-BE8E-20B727294646}"/>
              </a:ext>
            </a:extLst>
          </p:cNvPr>
          <p:cNvSpPr>
            <a:spLocks xmlns:a="http://schemas.openxmlformats.org/drawingml/2006/main" noGrp="1"/>
          </p:cNvSpPr>
          <p:nvPr/>
        </p:nvSpPr>
        <p:spPr>
          <a:xfrm xmlns:a="http://schemas.openxmlformats.org/drawingml/2006/main">
            <a:off x="788670" y="2179320"/>
            <a:ext cx="308610" cy="308610"/>
          </a:xfrm>
          <a:custGeom xmlns:a="http://schemas.openxmlformats.org/drawingml/2006/main">
            <a:pathLst>
              <a:path w="228600" h="228600">
                <a:moveTo>
                  <a:pt x="38100" y="161925"/>
                </a:moveTo>
                <a:lnTo>
                  <a:pt x="28575" y="209550"/>
                </a:lnTo>
                <a:lnTo>
                  <a:pt x="76200" y="200025"/>
                </a:lnTo>
                <a:lnTo>
                  <a:pt x="200025" y="76200"/>
                </a:lnTo>
                <a:lnTo>
                  <a:pt x="152400" y="28575"/>
                </a:lnTo>
                <a:close/>
              </a:path>
            </a:pathLst>
          </a:custGeom>
          <a:noFill xmlns:a="http://schemas.openxmlformats.org/drawingml/2006/main"/>
          <a:ln xmlns:a="http://schemas.openxmlformats.org/drawingml/2006/main" w="19050">
            <a:solidFill>
              <a:srgbClr val="166447"/>
            </a:solidFill>
            <a:prstDash val="solid"/>
          </a:ln>
        </p:spPr>
      </p:sp>
      <p:sp>
        <p:nvSpPr>
          <p:cNvPr id="6" name="!!custody-0-icon-1">
            <a:extLst xmlns:a="http://schemas.openxmlformats.org/drawingml/2006/main">
              <a:ext uri="{FF2B5EF4-FFF2-40B4-BE49-F238E27FC236}">
                <a16:creationId xmlns:a16="http://schemas.microsoft.com/office/drawing/2014/main" id="{9E805ED0-3C02-42ED-B0FB-BB7F1FBDFF0F}"/>
              </a:ext>
            </a:extLst>
          </p:cNvPr>
          <p:cNvSpPr>
            <a:spLocks xmlns:a="http://schemas.openxmlformats.org/drawingml/2006/main" noGrp="1"/>
          </p:cNvSpPr>
          <p:nvPr/>
        </p:nvSpPr>
        <p:spPr>
          <a:xfrm xmlns:a="http://schemas.openxmlformats.org/drawingml/2006/main">
            <a:off x="788670" y="2179320"/>
            <a:ext cx="308610" cy="308610"/>
          </a:xfrm>
          <a:custGeom xmlns:a="http://schemas.openxmlformats.org/drawingml/2006/main">
            <a:pathLst>
              <a:path w="228600" h="228600">
                <a:moveTo>
                  <a:pt x="133350" y="47625"/>
                </a:moveTo>
                <a:lnTo>
                  <a:pt x="180975" y="95250"/>
                </a:lnTo>
              </a:path>
            </a:pathLst>
          </a:custGeom>
          <a:noFill xmlns:a="http://schemas.openxmlformats.org/drawingml/2006/main"/>
          <a:ln xmlns:a="http://schemas.openxmlformats.org/drawingml/2006/main" w="19050">
            <a:solidFill>
              <a:srgbClr val="166447"/>
            </a:solidFill>
            <a:prstDash val="solid"/>
          </a:ln>
        </p:spPr>
      </p:sp>
      <p:sp>
        <p:nvSpPr>
          <p:cNvPr id="7" name="!!custody-0-icon-2">
            <a:extLst xmlns:a="http://schemas.openxmlformats.org/drawingml/2006/main">
              <a:ext uri="{FF2B5EF4-FFF2-40B4-BE49-F238E27FC236}">
                <a16:creationId xmlns:a16="http://schemas.microsoft.com/office/drawing/2014/main" id="{4AD948F0-F20B-497A-9847-05E52DF2D41D}"/>
              </a:ext>
            </a:extLst>
          </p:cNvPr>
          <p:cNvSpPr>
            <a:spLocks xmlns:a="http://schemas.openxmlformats.org/drawingml/2006/main" noGrp="1"/>
          </p:cNvSpPr>
          <p:nvPr/>
        </p:nvSpPr>
        <p:spPr>
          <a:xfrm xmlns:a="http://schemas.openxmlformats.org/drawingml/2006/main">
            <a:off x="788670" y="2179320"/>
            <a:ext cx="308610" cy="308610"/>
          </a:xfrm>
          <a:custGeom xmlns:a="http://schemas.openxmlformats.org/drawingml/2006/main">
            <a:pathLst>
              <a:path w="228600" h="228600">
                <a:moveTo>
                  <a:pt x="95250" y="209550"/>
                </a:moveTo>
                <a:lnTo>
                  <a:pt x="209550" y="209550"/>
                </a:lnTo>
              </a:path>
            </a:pathLst>
          </a:custGeom>
          <a:noFill xmlns:a="http://schemas.openxmlformats.org/drawingml/2006/main"/>
          <a:ln xmlns:a="http://schemas.openxmlformats.org/drawingml/2006/main" w="19050">
            <a:solidFill>
              <a:srgbClr val="166447"/>
            </a:solidFill>
            <a:prstDash val="solid"/>
          </a:ln>
        </p:spPr>
      </p:sp>
      <p:sp>
        <p:nvSpPr>
          <p:cNvPr id="8" name="!!custody-0-label">
            <a:extLst xmlns:a="http://schemas.openxmlformats.org/drawingml/2006/main">
              <a:ext uri="{FF2B5EF4-FFF2-40B4-BE49-F238E27FC236}">
                <a16:creationId xmlns:a16="http://schemas.microsoft.com/office/drawing/2014/main" id="{15D3439A-FDE7-42F5-B121-728513BF72B8}"/>
              </a:ext>
            </a:extLst>
          </p:cNvPr>
          <p:cNvSpPr>
            <a:spLocks xmlns:a="http://schemas.openxmlformats.org/drawingml/2006/main" noGrp="1"/>
          </p:cNvSpPr>
          <p:nvPr/>
        </p:nvSpPr>
        <p:spPr>
          <a:xfrm xmlns:a="http://schemas.openxmlformats.org/drawingml/2006/main">
            <a:off x="1447800" y="2028825"/>
            <a:ext cx="4095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142F24"/>
                </a:solidFill>
                <a:latin typeface="Segoe UI"/>
                <a:ea typeface="Segoe UI"/>
                <a:cs typeface="Segoe UI"/>
              </a:defRPr>
            </a:pPr>
            <a:r>
              <a:rPr sz="2100" b="1">
                <a:solidFill>
                  <a:srgbClr val="142F24"/>
                </a:solidFill>
                <a:latin typeface="Segoe UI"/>
                <a:ea typeface="Segoe UI"/>
                <a:cs typeface="Segoe UI"/>
              </a:rPr>
              <a:t>Người giữ hiện tại</a:t>
            </a:r>
          </a:p>
        </p:txBody>
      </p:sp>
      <p:sp>
        <p:nvSpPr>
          <p:cNvPr id="9" name="!!custody-0-detail">
            <a:extLst xmlns:a="http://schemas.openxmlformats.org/drawingml/2006/main">
              <a:ext uri="{FF2B5EF4-FFF2-40B4-BE49-F238E27FC236}">
                <a16:creationId xmlns:a16="http://schemas.microsoft.com/office/drawing/2014/main" id="{4A2925FD-6170-4216-A249-9504FC1A4BE1}"/>
              </a:ext>
            </a:extLst>
          </p:cNvPr>
          <p:cNvSpPr>
            <a:spLocks xmlns:a="http://schemas.openxmlformats.org/drawingml/2006/main" noGrp="1"/>
          </p:cNvSpPr>
          <p:nvPr/>
        </p:nvSpPr>
        <p:spPr>
          <a:xfrm xmlns:a="http://schemas.openxmlformats.org/drawingml/2006/main">
            <a:off x="1447800" y="2600325"/>
            <a:ext cx="4095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53685B"/>
                </a:solidFill>
                <a:latin typeface="Segoe UI"/>
                <a:ea typeface="Segoe UI"/>
                <a:cs typeface="Segoe UI"/>
              </a:defRPr>
            </a:pPr>
            <a:r>
              <a:rPr sz="1800" b="0">
                <a:solidFill>
                  <a:srgbClr val="53685B"/>
                </a:solidFill>
                <a:latin typeface="Segoe UI"/>
                <a:ea typeface="Segoe UI"/>
                <a:cs typeface="Segoe UI"/>
              </a:rPr>
              <a:t>Ký đề xuất ví nhận tiếp theo</a:t>
            </a:r>
          </a:p>
        </p:txBody>
      </p:sp>
      <p:sp>
        <p:nvSpPr>
          <p:cNvPr id="10" name="!!custody-1-selection">
            <a:extLst xmlns:a="http://schemas.openxmlformats.org/drawingml/2006/main">
              <a:ext uri="{FF2B5EF4-FFF2-40B4-BE49-F238E27FC236}">
                <a16:creationId xmlns:a16="http://schemas.microsoft.com/office/drawing/2014/main" id="{55AF4E73-3D41-4BC3-824D-F1DFFA56B57D}"/>
              </a:ext>
            </a:extLst>
          </p:cNvPr>
          <p:cNvSpPr>
            <a:spLocks xmlns:a="http://schemas.openxmlformats.org/drawingml/2006/main" noGrp="1"/>
          </p:cNvSpPr>
          <p:nvPr/>
        </p:nvSpPr>
        <p:spPr>
          <a:xfrm xmlns:a="http://schemas.openxmlformats.org/drawingml/2006/main">
            <a:off x="657225" y="3190875"/>
            <a:ext cx="571500" cy="5715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11" name="!!custody-1-icon-0">
            <a:extLst xmlns:a="http://schemas.openxmlformats.org/drawingml/2006/main">
              <a:ext uri="{FF2B5EF4-FFF2-40B4-BE49-F238E27FC236}">
                <a16:creationId xmlns:a16="http://schemas.microsoft.com/office/drawing/2014/main" id="{10908D45-38E8-494F-81CC-6BF01D4A85DC}"/>
              </a:ext>
            </a:extLst>
          </p:cNvPr>
          <p:cNvSpPr>
            <a:spLocks xmlns:a="http://schemas.openxmlformats.org/drawingml/2006/main" noGrp="1"/>
          </p:cNvSpPr>
          <p:nvPr/>
        </p:nvSpPr>
        <p:spPr>
          <a:xfrm xmlns:a="http://schemas.openxmlformats.org/drawingml/2006/main">
            <a:off x="788670" y="3322320"/>
            <a:ext cx="308610" cy="308610"/>
          </a:xfrm>
          <a:custGeom xmlns:a="http://schemas.openxmlformats.org/drawingml/2006/main">
            <a:pathLst>
              <a:path w="228600" h="228600">
                <a:moveTo>
                  <a:pt x="38100" y="161925"/>
                </a:moveTo>
                <a:lnTo>
                  <a:pt x="28575" y="209550"/>
                </a:lnTo>
                <a:lnTo>
                  <a:pt x="76200" y="200025"/>
                </a:lnTo>
                <a:lnTo>
                  <a:pt x="200025" y="76200"/>
                </a:lnTo>
                <a:lnTo>
                  <a:pt x="152400" y="28575"/>
                </a:lnTo>
                <a:close/>
              </a:path>
            </a:pathLst>
          </a:custGeom>
          <a:noFill xmlns:a="http://schemas.openxmlformats.org/drawingml/2006/main"/>
          <a:ln xmlns:a="http://schemas.openxmlformats.org/drawingml/2006/main" w="19050">
            <a:solidFill>
              <a:srgbClr val="166447"/>
            </a:solidFill>
            <a:prstDash val="solid"/>
          </a:ln>
        </p:spPr>
      </p:sp>
      <p:sp>
        <p:nvSpPr>
          <p:cNvPr id="12" name="!!custody-1-icon-1">
            <a:extLst xmlns:a="http://schemas.openxmlformats.org/drawingml/2006/main">
              <a:ext uri="{FF2B5EF4-FFF2-40B4-BE49-F238E27FC236}">
                <a16:creationId xmlns:a16="http://schemas.microsoft.com/office/drawing/2014/main" id="{F45E2D75-80D2-43DC-AFD4-74A5728D2C16}"/>
              </a:ext>
            </a:extLst>
          </p:cNvPr>
          <p:cNvSpPr>
            <a:spLocks xmlns:a="http://schemas.openxmlformats.org/drawingml/2006/main" noGrp="1"/>
          </p:cNvSpPr>
          <p:nvPr/>
        </p:nvSpPr>
        <p:spPr>
          <a:xfrm xmlns:a="http://schemas.openxmlformats.org/drawingml/2006/main">
            <a:off x="788670" y="3322320"/>
            <a:ext cx="308610" cy="308610"/>
          </a:xfrm>
          <a:custGeom xmlns:a="http://schemas.openxmlformats.org/drawingml/2006/main">
            <a:pathLst>
              <a:path w="228600" h="228600">
                <a:moveTo>
                  <a:pt x="133350" y="47625"/>
                </a:moveTo>
                <a:lnTo>
                  <a:pt x="180975" y="95250"/>
                </a:lnTo>
              </a:path>
            </a:pathLst>
          </a:custGeom>
          <a:noFill xmlns:a="http://schemas.openxmlformats.org/drawingml/2006/main"/>
          <a:ln xmlns:a="http://schemas.openxmlformats.org/drawingml/2006/main" w="19050">
            <a:solidFill>
              <a:srgbClr val="166447"/>
            </a:solidFill>
            <a:prstDash val="solid"/>
          </a:ln>
        </p:spPr>
      </p:sp>
      <p:sp>
        <p:nvSpPr>
          <p:cNvPr id="13" name="!!custody-1-icon-2">
            <a:extLst xmlns:a="http://schemas.openxmlformats.org/drawingml/2006/main">
              <a:ext uri="{FF2B5EF4-FFF2-40B4-BE49-F238E27FC236}">
                <a16:creationId xmlns:a16="http://schemas.microsoft.com/office/drawing/2014/main" id="{8F7E1105-A034-40A7-903A-9912A02DA5D1}"/>
              </a:ext>
            </a:extLst>
          </p:cNvPr>
          <p:cNvSpPr>
            <a:spLocks xmlns:a="http://schemas.openxmlformats.org/drawingml/2006/main" noGrp="1"/>
          </p:cNvSpPr>
          <p:nvPr/>
        </p:nvSpPr>
        <p:spPr>
          <a:xfrm xmlns:a="http://schemas.openxmlformats.org/drawingml/2006/main">
            <a:off x="788670" y="3322320"/>
            <a:ext cx="308610" cy="308610"/>
          </a:xfrm>
          <a:custGeom xmlns:a="http://schemas.openxmlformats.org/drawingml/2006/main">
            <a:pathLst>
              <a:path w="228600" h="228600">
                <a:moveTo>
                  <a:pt x="95250" y="209550"/>
                </a:moveTo>
                <a:lnTo>
                  <a:pt x="209550" y="209550"/>
                </a:lnTo>
              </a:path>
            </a:pathLst>
          </a:custGeom>
          <a:noFill xmlns:a="http://schemas.openxmlformats.org/drawingml/2006/main"/>
          <a:ln xmlns:a="http://schemas.openxmlformats.org/drawingml/2006/main" w="19050">
            <a:solidFill>
              <a:srgbClr val="166447"/>
            </a:solidFill>
            <a:prstDash val="solid"/>
          </a:ln>
        </p:spPr>
      </p:sp>
      <p:cxnSp>
        <p:nvCxnSpPr>
          <p:cNvPr id="40" name="!!connector-12-0"/>
          <p:cNvCxnSpPr>
            <a:stCxn xmlns:a="http://schemas.openxmlformats.org/drawingml/2006/main" id="4" idx="4"/>
            <a:endCxn xmlns:a="http://schemas.openxmlformats.org/drawingml/2006/main" id="10" idx="0"/>
          </p:cNvCxnSpPr>
          <p:nvPr/>
        </p:nvCxnSpPr>
        <p:spPr>
          <a:xfrm xmlns:a="http://schemas.openxmlformats.org/drawingml/2006/main">
            <a:off x="942975" y="2619375"/>
            <a:ext cx="0" cy="571500"/>
          </a:xfrm>
          <a:prstGeom xmlns:a="http://schemas.openxmlformats.org/drawingml/2006/main" prst="straightConnector1">
            <a:avLst/>
          </a:prstGeom>
          <a:ln xmlns:a="http://schemas.openxmlformats.org/drawingml/2006/main" w="19050">
            <a:solidFill>
              <a:srgbClr val="166447"/>
            </a:solidFill>
            <a:prstDash val="solid"/>
            <a:tailEnd type="arrow" w="med" len="med"/>
          </a:ln>
        </p:spPr>
      </p:cxnSp>
      <p:sp>
        <p:nvSpPr>
          <p:cNvPr id="15" name="!!custody-1-label">
            <a:extLst xmlns:a="http://schemas.openxmlformats.org/drawingml/2006/main">
              <a:ext uri="{FF2B5EF4-FFF2-40B4-BE49-F238E27FC236}">
                <a16:creationId xmlns:a16="http://schemas.microsoft.com/office/drawing/2014/main" id="{35803B08-DBEC-4BE7-88FE-B899A72CCDCD}"/>
              </a:ext>
            </a:extLst>
          </p:cNvPr>
          <p:cNvSpPr>
            <a:spLocks xmlns:a="http://schemas.openxmlformats.org/drawingml/2006/main" noGrp="1"/>
          </p:cNvSpPr>
          <p:nvPr/>
        </p:nvSpPr>
        <p:spPr>
          <a:xfrm xmlns:a="http://schemas.openxmlformats.org/drawingml/2006/main">
            <a:off x="1447800" y="3171825"/>
            <a:ext cx="4095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142F24"/>
                </a:solidFill>
                <a:latin typeface="Segoe UI"/>
                <a:ea typeface="Segoe UI"/>
                <a:cs typeface="Segoe UI"/>
              </a:defRPr>
            </a:pPr>
            <a:r>
              <a:rPr sz="2100" b="1">
                <a:solidFill>
                  <a:srgbClr val="142F24"/>
                </a:solidFill>
                <a:latin typeface="Segoe UI"/>
                <a:ea typeface="Segoe UI"/>
                <a:cs typeface="Segoe UI"/>
              </a:rPr>
              <a:t>Người nhận</a:t>
            </a:r>
          </a:p>
        </p:txBody>
      </p:sp>
      <p:sp>
        <p:nvSpPr>
          <p:cNvPr id="16" name="!!custody-1-detail">
            <a:extLst xmlns:a="http://schemas.openxmlformats.org/drawingml/2006/main">
              <a:ext uri="{FF2B5EF4-FFF2-40B4-BE49-F238E27FC236}">
                <a16:creationId xmlns:a16="http://schemas.microsoft.com/office/drawing/2014/main" id="{7C3D33B2-C6E1-499F-8391-0405CC607198}"/>
              </a:ext>
            </a:extLst>
          </p:cNvPr>
          <p:cNvSpPr>
            <a:spLocks xmlns:a="http://schemas.openxmlformats.org/drawingml/2006/main" noGrp="1"/>
          </p:cNvSpPr>
          <p:nvPr/>
        </p:nvSpPr>
        <p:spPr>
          <a:xfrm xmlns:a="http://schemas.openxmlformats.org/drawingml/2006/main">
            <a:off x="1447800" y="3743325"/>
            <a:ext cx="4095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53685B"/>
                </a:solidFill>
                <a:latin typeface="Segoe UI"/>
                <a:ea typeface="Segoe UI"/>
                <a:cs typeface="Segoe UI"/>
              </a:defRPr>
            </a:pPr>
            <a:r>
              <a:rPr sz="1800" b="0">
                <a:solidFill>
                  <a:srgbClr val="53685B"/>
                </a:solidFill>
                <a:latin typeface="Segoe UI"/>
                <a:ea typeface="Segoe UI"/>
                <a:cs typeface="Segoe UI"/>
              </a:rPr>
              <a:t>Ký chấp nhận bàn giao</a:t>
            </a:r>
          </a:p>
        </p:txBody>
      </p:sp>
      <p:sp>
        <p:nvSpPr>
          <p:cNvPr id="17" name="!!custody-2-selection">
            <a:extLst xmlns:a="http://schemas.openxmlformats.org/drawingml/2006/main">
              <a:ext uri="{FF2B5EF4-FFF2-40B4-BE49-F238E27FC236}">
                <a16:creationId xmlns:a16="http://schemas.microsoft.com/office/drawing/2014/main" id="{304269A4-9285-4F59-847F-7AFBFA30485E}"/>
              </a:ext>
            </a:extLst>
          </p:cNvPr>
          <p:cNvSpPr>
            <a:spLocks xmlns:a="http://schemas.openxmlformats.org/drawingml/2006/main" noGrp="1"/>
          </p:cNvSpPr>
          <p:nvPr/>
        </p:nvSpPr>
        <p:spPr>
          <a:xfrm xmlns:a="http://schemas.openxmlformats.org/drawingml/2006/main">
            <a:off x="581025" y="4257675"/>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18" name="!!custody-2-icon-0">
            <a:extLst xmlns:a="http://schemas.openxmlformats.org/drawingml/2006/main">
              <a:ext uri="{FF2B5EF4-FFF2-40B4-BE49-F238E27FC236}">
                <a16:creationId xmlns:a16="http://schemas.microsoft.com/office/drawing/2014/main" id="{C77EC338-3F6C-4F76-9DBA-158821142BA2}"/>
              </a:ext>
            </a:extLst>
          </p:cNvPr>
          <p:cNvSpPr>
            <a:spLocks xmlns:a="http://schemas.openxmlformats.org/drawingml/2006/main" noGrp="1"/>
          </p:cNvSpPr>
          <p:nvPr/>
        </p:nvSpPr>
        <p:spPr>
          <a:xfrm xmlns:a="http://schemas.openxmlformats.org/drawingml/2006/main">
            <a:off x="747522" y="4424172"/>
            <a:ext cx="390906" cy="390906"/>
          </a:xfrm>
          <a:custGeom xmlns:a="http://schemas.openxmlformats.org/drawingml/2006/main">
            <a:pathLst>
              <a:path w="228600" h="228600">
                <a:moveTo>
                  <a:pt x="28575" y="66675"/>
                </a:moveTo>
                <a:lnTo>
                  <a:pt x="114300" y="19050"/>
                </a:lnTo>
                <a:lnTo>
                  <a:pt x="200025" y="66675"/>
                </a:lnTo>
                <a:lnTo>
                  <a:pt x="200025" y="161925"/>
                </a:lnTo>
                <a:lnTo>
                  <a:pt x="114300" y="209550"/>
                </a:lnTo>
                <a:lnTo>
                  <a:pt x="28575" y="161925"/>
                </a:lnTo>
                <a:close/>
              </a:path>
            </a:pathLst>
          </a:custGeom>
          <a:noFill xmlns:a="http://schemas.openxmlformats.org/drawingml/2006/main"/>
          <a:ln xmlns:a="http://schemas.openxmlformats.org/drawingml/2006/main" w="19050">
            <a:solidFill>
              <a:srgbClr val="FFFFFF"/>
            </a:solidFill>
            <a:prstDash val="solid"/>
          </a:ln>
        </p:spPr>
      </p:sp>
      <p:sp>
        <p:nvSpPr>
          <p:cNvPr id="19" name="!!custody-2-icon-1">
            <a:extLst xmlns:a="http://schemas.openxmlformats.org/drawingml/2006/main">
              <a:ext uri="{FF2B5EF4-FFF2-40B4-BE49-F238E27FC236}">
                <a16:creationId xmlns:a16="http://schemas.microsoft.com/office/drawing/2014/main" id="{9EC5D341-163D-44FA-BF2B-D23F584E76A8}"/>
              </a:ext>
            </a:extLst>
          </p:cNvPr>
          <p:cNvSpPr>
            <a:spLocks xmlns:a="http://schemas.openxmlformats.org/drawingml/2006/main" noGrp="1"/>
          </p:cNvSpPr>
          <p:nvPr/>
        </p:nvSpPr>
        <p:spPr>
          <a:xfrm xmlns:a="http://schemas.openxmlformats.org/drawingml/2006/main">
            <a:off x="747522" y="4424172"/>
            <a:ext cx="390906" cy="390906"/>
          </a:xfrm>
          <a:custGeom xmlns:a="http://schemas.openxmlformats.org/drawingml/2006/main">
            <a:pathLst>
              <a:path w="228600" h="228600">
                <a:moveTo>
                  <a:pt x="28575" y="66675"/>
                </a:moveTo>
                <a:lnTo>
                  <a:pt x="114300" y="114300"/>
                </a:lnTo>
                <a:lnTo>
                  <a:pt x="200025" y="66675"/>
                </a:lnTo>
              </a:path>
            </a:pathLst>
          </a:custGeom>
          <a:noFill xmlns:a="http://schemas.openxmlformats.org/drawingml/2006/main"/>
          <a:ln xmlns:a="http://schemas.openxmlformats.org/drawingml/2006/main" w="19050">
            <a:solidFill>
              <a:srgbClr val="FFFFFF"/>
            </a:solidFill>
            <a:prstDash val="solid"/>
          </a:ln>
        </p:spPr>
      </p:sp>
      <p:sp>
        <p:nvSpPr>
          <p:cNvPr id="20" name="!!custody-2-icon-2">
            <a:extLst xmlns:a="http://schemas.openxmlformats.org/drawingml/2006/main">
              <a:ext uri="{FF2B5EF4-FFF2-40B4-BE49-F238E27FC236}">
                <a16:creationId xmlns:a16="http://schemas.microsoft.com/office/drawing/2014/main" id="{092F2B65-FD52-4515-8E2A-3B5FEB712B9C}"/>
              </a:ext>
            </a:extLst>
          </p:cNvPr>
          <p:cNvSpPr>
            <a:spLocks xmlns:a="http://schemas.openxmlformats.org/drawingml/2006/main" noGrp="1"/>
          </p:cNvSpPr>
          <p:nvPr/>
        </p:nvSpPr>
        <p:spPr>
          <a:xfrm xmlns:a="http://schemas.openxmlformats.org/drawingml/2006/main">
            <a:off x="747522" y="4424172"/>
            <a:ext cx="390906" cy="390906"/>
          </a:xfrm>
          <a:custGeom xmlns:a="http://schemas.openxmlformats.org/drawingml/2006/main">
            <a:pathLst>
              <a:path w="228600" h="228600">
                <a:moveTo>
                  <a:pt x="114300" y="114300"/>
                </a:moveTo>
                <a:lnTo>
                  <a:pt x="114300" y="209550"/>
                </a:lnTo>
              </a:path>
            </a:pathLst>
          </a:custGeom>
          <a:noFill xmlns:a="http://schemas.openxmlformats.org/drawingml/2006/main"/>
          <a:ln xmlns:a="http://schemas.openxmlformats.org/drawingml/2006/main" w="19050">
            <a:solidFill>
              <a:srgbClr val="FFFFFF"/>
            </a:solidFill>
            <a:prstDash val="solid"/>
          </a:ln>
        </p:spPr>
      </p:sp>
      <p:cxnSp>
        <p:nvCxnSpPr>
          <p:cNvPr id="47" name="!!connector-12-1"/>
          <p:cNvCxnSpPr>
            <a:stCxn xmlns:a="http://schemas.openxmlformats.org/drawingml/2006/main" id="10" idx="4"/>
            <a:endCxn xmlns:a="http://schemas.openxmlformats.org/drawingml/2006/main" id="17" idx="0"/>
          </p:cNvCxnSpPr>
          <p:nvPr/>
        </p:nvCxnSpPr>
        <p:spPr>
          <a:xfrm xmlns:a="http://schemas.openxmlformats.org/drawingml/2006/main">
            <a:off x="942975" y="3762375"/>
            <a:ext cx="0" cy="495300"/>
          </a:xfrm>
          <a:prstGeom xmlns:a="http://schemas.openxmlformats.org/drawingml/2006/main" prst="straightConnector1">
            <a:avLst/>
          </a:prstGeom>
          <a:ln xmlns:a="http://schemas.openxmlformats.org/drawingml/2006/main" w="19050">
            <a:solidFill>
              <a:srgbClr val="166447"/>
            </a:solidFill>
            <a:prstDash val="solid"/>
            <a:tailEnd type="arrow" w="med" len="med"/>
          </a:ln>
        </p:spPr>
      </p:cxnSp>
      <p:sp>
        <p:nvSpPr>
          <p:cNvPr id="22" name="!!custody-2-label">
            <a:extLst xmlns:a="http://schemas.openxmlformats.org/drawingml/2006/main">
              <a:ext uri="{FF2B5EF4-FFF2-40B4-BE49-F238E27FC236}">
                <a16:creationId xmlns:a16="http://schemas.microsoft.com/office/drawing/2014/main" id="{369D6144-E41D-40A4-B327-E3C0D3C84DB4}"/>
              </a:ext>
            </a:extLst>
          </p:cNvPr>
          <p:cNvSpPr>
            <a:spLocks xmlns:a="http://schemas.openxmlformats.org/drawingml/2006/main" noGrp="1"/>
          </p:cNvSpPr>
          <p:nvPr/>
        </p:nvSpPr>
        <p:spPr>
          <a:xfrm xmlns:a="http://schemas.openxmlformats.org/drawingml/2006/main">
            <a:off x="1447800" y="4314825"/>
            <a:ext cx="4095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400" b="1">
                <a:solidFill>
                  <a:srgbClr val="142F24"/>
                </a:solidFill>
                <a:latin typeface="Segoe UI"/>
                <a:ea typeface="Segoe UI"/>
                <a:cs typeface="Segoe UI"/>
              </a:defRPr>
            </a:pPr>
            <a:r>
              <a:rPr sz="2400" b="1">
                <a:solidFill>
                  <a:srgbClr val="142F24"/>
                </a:solidFill>
                <a:latin typeface="Segoe UI"/>
                <a:ea typeface="Segoe UI"/>
                <a:cs typeface="Segoe UI"/>
              </a:rPr>
              <a:t>Custody đổi trạng thái</a:t>
            </a:r>
          </a:p>
        </p:txBody>
      </p:sp>
      <p:sp>
        <p:nvSpPr>
          <p:cNvPr id="23" name="!!custody-2-detail">
            <a:extLst xmlns:a="http://schemas.openxmlformats.org/drawingml/2006/main">
              <a:ext uri="{FF2B5EF4-FFF2-40B4-BE49-F238E27FC236}">
                <a16:creationId xmlns:a16="http://schemas.microsoft.com/office/drawing/2014/main" id="{C7E6E951-E80B-4D1A-A2E7-0093955C92E9}"/>
              </a:ext>
            </a:extLst>
          </p:cNvPr>
          <p:cNvSpPr>
            <a:spLocks xmlns:a="http://schemas.openxmlformats.org/drawingml/2006/main" noGrp="1"/>
          </p:cNvSpPr>
          <p:nvPr/>
        </p:nvSpPr>
        <p:spPr>
          <a:xfrm xmlns:a="http://schemas.openxmlformats.org/drawingml/2006/main">
            <a:off x="1447800" y="4886325"/>
            <a:ext cx="4095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53685B"/>
                </a:solidFill>
                <a:latin typeface="Segoe UI"/>
                <a:ea typeface="Segoe UI"/>
                <a:cs typeface="Segoe UI"/>
              </a:defRPr>
            </a:pPr>
            <a:r>
              <a:rPr sz="1800" b="0">
                <a:solidFill>
                  <a:srgbClr val="53685B"/>
                </a:solidFill>
                <a:latin typeface="Segoe UI"/>
                <a:ea typeface="Segoe UI"/>
                <a:cs typeface="Segoe UI"/>
              </a:rPr>
              <a:t>Chỉ sau chữ ký chấp nhận</a:t>
            </a:r>
          </a:p>
        </p:txBody>
      </p:sp>
      <p:sp>
        <p:nvSpPr>
          <p:cNvPr id="24" name="!!custody-boundary">
            <a:extLst xmlns:a="http://schemas.openxmlformats.org/drawingml/2006/main">
              <a:ext uri="{FF2B5EF4-FFF2-40B4-BE49-F238E27FC236}">
                <a16:creationId xmlns:a16="http://schemas.microsoft.com/office/drawing/2014/main" id="{8299242F-C042-42A1-9D8B-CDD3D16ABE20}"/>
              </a:ext>
            </a:extLst>
          </p:cNvPr>
          <p:cNvSpPr>
            <a:spLocks xmlns:a="http://schemas.openxmlformats.org/drawingml/2006/main" noGrp="1"/>
          </p:cNvSpPr>
          <p:nvPr/>
        </p:nvSpPr>
        <p:spPr>
          <a:xfrm xmlns:a="http://schemas.openxmlformats.org/drawingml/2006/main">
            <a:off x="609600" y="5581650"/>
            <a:ext cx="5619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025" b="1">
                <a:solidFill>
                  <a:srgbClr val="825525"/>
                </a:solidFill>
                <a:latin typeface="Segoe UI"/>
                <a:ea typeface="Segoe UI"/>
                <a:cs typeface="Segoe UI"/>
              </a:defRPr>
            </a:pPr>
            <a:r>
              <a:rPr sz="2025" b="1">
                <a:solidFill>
                  <a:srgbClr val="825525"/>
                </a:solidFill>
                <a:latin typeface="Segoe UI"/>
                <a:ea typeface="Segoe UI"/>
                <a:cs typeface="Segoe UI"/>
              </a:rPr>
              <a:t>Trạng thái số cần bằng chứng</a:t>
            </a:r>
          </a:p>
          <a:p xmlns:a="http://schemas.openxmlformats.org/drawingml/2006/main">
            <a:pPr>
              <a:defRPr sz="2025" b="1">
                <a:solidFill>
                  <a:srgbClr val="825525"/>
                </a:solidFill>
                <a:latin typeface="Segoe UI"/>
                <a:ea typeface="Segoe UI"/>
                <a:cs typeface="Segoe UI"/>
              </a:defRPr>
            </a:pPr>
            <a:r>
              <a:rPr sz="2025" b="1">
                <a:solidFill>
                  <a:srgbClr val="825525"/>
                </a:solidFill>
                <a:latin typeface="Segoe UI"/>
                <a:ea typeface="Segoe UI"/>
                <a:cs typeface="Segoe UI"/>
              </a:rPr>
              <a:t>về giao hàng ngoài đời</a:t>
            </a:r>
          </a:p>
        </p:txBody>
      </p:sp>
      <p:sp>
        <p:nvSpPr>
          <p:cNvPr id="25" name="!!page">
            <a:extLst xmlns:a="http://schemas.openxmlformats.org/drawingml/2006/main">
              <a:ext uri="{FF2B5EF4-FFF2-40B4-BE49-F238E27FC236}">
                <a16:creationId xmlns:a16="http://schemas.microsoft.com/office/drawing/2014/main" id="{A2F2DC18-C4D7-4D7E-9473-87056443BC54}"/>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22 / 30</a:t>
            </a:r>
          </a:p>
        </p:txBody>
      </p:sp>
      <p:sp>
        <p:nvSpPr>
          <p:cNvPr id="26" name="!!caption">
            <a:extLst xmlns:a="http://schemas.openxmlformats.org/drawingml/2006/main">
              <a:ext uri="{FF2B5EF4-FFF2-40B4-BE49-F238E27FC236}">
                <a16:creationId xmlns:a16="http://schemas.microsoft.com/office/drawing/2014/main" id="{C3843852-3B51-470A-B567-B9342A8569CF}"/>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Tính năng thử nghiệm độc lập trên Devnet. Hình nền tạo bằng AI</a:t>
            </a:r>
          </a:p>
        </p:txBody>
      </p:sp>
      <p:pic>
        <p:nvPicPr>
          <p:cNvPr id="48" name="!!tech-logo-rust" descr="rust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48"/>
          <ns0:srcRect xmlns:ns0="http://schemas.openxmlformats.org/drawingml/2006/main" l="0" t="0" r="0" b="0"/>
          <a:stretch xmlns:a="http://schemas.openxmlformats.org/drawingml/2006/main">
            <a:fillRect/>
          </a:stretch>
        </p:blipFill>
        <p:spPr>
          <a:xfrm xmlns:a="http://schemas.openxmlformats.org/drawingml/2006/main">
            <a:off x="609600" y="1495425"/>
            <a:ext cx="304800" cy="304800"/>
          </a:xfrm>
          <a:prstGeom xmlns:a="http://schemas.openxmlformats.org/drawingml/2006/main" prst="rect">
            <a:avLst/>
          </a:prstGeom>
        </p:spPr>
      </p:pic>
      <p:sp>
        <p:nvSpPr>
          <p:cNvPr id="49" name="!!tech-label-rust">
            <a:extLst xmlns:a="http://schemas.openxmlformats.org/drawingml/2006/main">
              <a:ext uri="{FF2B5EF4-FFF2-40B4-BE49-F238E27FC236}">
                <a16:creationId xmlns:a16="http://schemas.microsoft.com/office/drawing/2014/main" id="{C0B316C9-FB1F-47D6-89DD-A327E9D0299F}"/>
              </a:ext>
            </a:extLst>
          </p:cNvPr>
          <p:cNvSpPr>
            <a:spLocks xmlns:a="http://schemas.openxmlformats.org/drawingml/2006/main" noGrp="1"/>
          </p:cNvSpPr>
          <p:nvPr/>
        </p:nvSpPr>
        <p:spPr>
          <a:xfrm xmlns:a="http://schemas.openxmlformats.org/drawingml/2006/main">
            <a:off x="1019175" y="1504950"/>
            <a:ext cx="571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76F52"/>
                </a:solidFill>
                <a:latin typeface="Aptos"/>
                <a:ea typeface="Aptos"/>
                <a:cs typeface="Aptos"/>
              </a:defRPr>
            </a:pPr>
            <a:r>
              <a:rPr sz="1575" b="1">
                <a:solidFill>
                  <a:srgbClr val="176F52"/>
                </a:solidFill>
                <a:latin typeface="Aptos"/>
                <a:ea typeface="Aptos"/>
                <a:cs typeface="Aptos"/>
              </a:rPr>
              <a:t>Rust</a:t>
            </a:r>
          </a:p>
        </p:txBody>
      </p:sp>
      <p:pic>
        <p:nvPicPr>
          <p:cNvPr id="50" name="!!tech-logo-anchor" descr="anchor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50"/>
          <ns0:srcRect xmlns:ns0="http://schemas.openxmlformats.org/drawingml/2006/main" l="0" t="0" r="0" b="0"/>
          <a:stretch xmlns:a="http://schemas.openxmlformats.org/drawingml/2006/main">
            <a:fillRect/>
          </a:stretch>
        </p:blipFill>
        <p:spPr>
          <a:xfrm xmlns:a="http://schemas.openxmlformats.org/drawingml/2006/main">
            <a:off x="1638300" y="1495425"/>
            <a:ext cx="304800" cy="304800"/>
          </a:xfrm>
          <a:prstGeom xmlns:a="http://schemas.openxmlformats.org/drawingml/2006/main" prst="rect">
            <a:avLst/>
          </a:prstGeom>
        </p:spPr>
      </p:pic>
      <p:sp>
        <p:nvSpPr>
          <p:cNvPr id="51" name="!!tech-label-anchor">
            <a:extLst xmlns:a="http://schemas.openxmlformats.org/drawingml/2006/main">
              <a:ext uri="{FF2B5EF4-FFF2-40B4-BE49-F238E27FC236}">
                <a16:creationId xmlns:a16="http://schemas.microsoft.com/office/drawing/2014/main" id="{82178C72-A994-4D6C-A18E-7CA5B5309412}"/>
              </a:ext>
            </a:extLst>
          </p:cNvPr>
          <p:cNvSpPr>
            <a:spLocks xmlns:a="http://schemas.openxmlformats.org/drawingml/2006/main" noGrp="1"/>
          </p:cNvSpPr>
          <p:nvPr/>
        </p:nvSpPr>
        <p:spPr>
          <a:xfrm xmlns:a="http://schemas.openxmlformats.org/drawingml/2006/main">
            <a:off x="2047875" y="1504950"/>
            <a:ext cx="13620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76F52"/>
                </a:solidFill>
                <a:latin typeface="Aptos"/>
                <a:ea typeface="Aptos"/>
                <a:cs typeface="Aptos"/>
              </a:defRPr>
            </a:pPr>
            <a:r>
              <a:rPr sz="1575" b="1">
                <a:solidFill>
                  <a:srgbClr val="176F52"/>
                </a:solidFill>
                <a:latin typeface="Aptos"/>
                <a:ea typeface="Aptos"/>
                <a:cs typeface="Aptos"/>
              </a:rPr>
              <a:t>Anchor 0.31</a:t>
            </a:r>
          </a:p>
        </p:txBody>
      </p:sp>
      <p:pic>
        <p:nvPicPr>
          <p:cNvPr id="52" name="!!tech-logo-solana" descr="solana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52"/>
          <ns0:srcRect xmlns:ns0="http://schemas.openxmlformats.org/drawingml/2006/main" l="0" t="0" r="0" b="0"/>
          <a:stretch xmlns:a="http://schemas.openxmlformats.org/drawingml/2006/main">
            <a:fillRect/>
          </a:stretch>
        </p:blipFill>
        <p:spPr>
          <a:xfrm xmlns:a="http://schemas.openxmlformats.org/drawingml/2006/main">
            <a:off x="3486150" y="1514973"/>
            <a:ext cx="304800" cy="265705"/>
          </a:xfrm>
          <a:prstGeom xmlns:a="http://schemas.openxmlformats.org/drawingml/2006/main" prst="rect">
            <a:avLst/>
          </a:prstGeom>
        </p:spPr>
      </p:pic>
      <p:sp>
        <p:nvSpPr>
          <p:cNvPr id="53" name="!!tech-label-solana">
            <a:extLst xmlns:a="http://schemas.openxmlformats.org/drawingml/2006/main">
              <a:ext uri="{FF2B5EF4-FFF2-40B4-BE49-F238E27FC236}">
                <a16:creationId xmlns:a16="http://schemas.microsoft.com/office/drawing/2014/main" id="{06A2388B-CCED-42E4-BF8A-BA8B5E2D6D3F}"/>
              </a:ext>
            </a:extLst>
          </p:cNvPr>
          <p:cNvSpPr>
            <a:spLocks xmlns:a="http://schemas.openxmlformats.org/drawingml/2006/main" noGrp="1"/>
          </p:cNvSpPr>
          <p:nvPr/>
        </p:nvSpPr>
        <p:spPr>
          <a:xfrm xmlns:a="http://schemas.openxmlformats.org/drawingml/2006/main">
            <a:off x="3895725" y="1504950"/>
            <a:ext cx="18669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76F52"/>
                </a:solidFill>
                <a:latin typeface="Aptos"/>
                <a:ea typeface="Aptos"/>
                <a:cs typeface="Aptos"/>
              </a:defRPr>
            </a:pPr>
            <a:r>
              <a:rPr sz="1575" b="1">
                <a:solidFill>
                  <a:srgbClr val="176F52"/>
                </a:solidFill>
                <a:latin typeface="Aptos"/>
                <a:ea typeface="Aptos"/>
                <a:cs typeface="Aptos"/>
              </a:rPr>
              <a:t>Solana Devnet</a:t>
            </a:r>
          </a:p>
        </p:txBody>
      </p:sp>
    </p:spTree>
    <p:extLst>
      <p:ext uri="{BB962C8B-B14F-4D97-AF65-F5344CB8AC3E}">
        <p14:creationId xmlns:p14="http://schemas.microsoft.com/office/powerpoint/2010/main" val="1507870710"/>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44.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pic>
        <p:nvPicPr>
          <p:cNvPr id="10" name="!!backdrop"/>
          <p:cNvPicPr>
            <a:picLocks xmlns:a="http://schemas.openxmlformats.org/drawingml/2006/main" noChangeAspect="1"/>
          </p:cNvPicPr>
          <p:nvPr/>
        </p:nvPicPr>
        <p:blipFill>
          <a:blip xmlns:r="http://schemas.openxmlformats.org/officeDocument/2006/relationships" xmlns:a="http://schemas.openxmlformats.org/drawingml/2006/main" r:embed="R370104696a1a433e"/>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headline">
            <a:extLst xmlns:a="http://schemas.openxmlformats.org/drawingml/2006/main">
              <a:ext uri="{FF2B5EF4-FFF2-40B4-BE49-F238E27FC236}">
                <a16:creationId xmlns:a16="http://schemas.microsoft.com/office/drawing/2014/main" id="{22CAD3B3-CA4D-4E5A-B554-DE0A6D8FD249}"/>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142F24"/>
                </a:solidFill>
                <a:latin typeface="Segoe UI"/>
                <a:ea typeface="Segoe UI"/>
                <a:cs typeface="Segoe UI"/>
              </a:defRPr>
            </a:pPr>
            <a:r>
              <a:rPr sz="3450" b="1">
                <a:solidFill>
                  <a:srgbClr val="142F24"/>
                </a:solidFill>
                <a:latin typeface="Segoe UI"/>
                <a:ea typeface="Segoe UI"/>
                <a:cs typeface="Segoe UI"/>
              </a:rPr>
              <a:t>AI gợi ý từ ảnh lá</a:t>
            </a:r>
          </a:p>
        </p:txBody>
      </p:sp>
      <p:sp>
        <p:nvSpPr>
          <p:cNvPr id="3" name="!!leaf-input-selection">
            <a:extLst xmlns:a="http://schemas.openxmlformats.org/drawingml/2006/main">
              <a:ext uri="{FF2B5EF4-FFF2-40B4-BE49-F238E27FC236}">
                <a16:creationId xmlns:a16="http://schemas.microsoft.com/office/drawing/2014/main" id="{BE19F0C0-C198-47A1-9C1C-048575DC03CC}"/>
              </a:ext>
            </a:extLst>
          </p:cNvPr>
          <p:cNvSpPr>
            <a:spLocks xmlns:a="http://schemas.openxmlformats.org/drawingml/2006/main" noGrp="1"/>
          </p:cNvSpPr>
          <p:nvPr/>
        </p:nvSpPr>
        <p:spPr>
          <a:xfrm xmlns:a="http://schemas.openxmlformats.org/drawingml/2006/main">
            <a:off x="590550" y="2114550"/>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4" name="!!leaf-input-icon-0">
            <a:extLst xmlns:a="http://schemas.openxmlformats.org/drawingml/2006/main">
              <a:ext uri="{FF2B5EF4-FFF2-40B4-BE49-F238E27FC236}">
                <a16:creationId xmlns:a16="http://schemas.microsoft.com/office/drawing/2014/main" id="{B756D657-466E-4451-A2E6-128F83D9ADBF}"/>
              </a:ext>
            </a:extLst>
          </p:cNvPr>
          <p:cNvSpPr>
            <a:spLocks xmlns:a="http://schemas.openxmlformats.org/drawingml/2006/main" noGrp="1"/>
          </p:cNvSpPr>
          <p:nvPr/>
        </p:nvSpPr>
        <p:spPr>
          <a:xfrm xmlns:a="http://schemas.openxmlformats.org/drawingml/2006/main">
            <a:off x="757047" y="2281047"/>
            <a:ext cx="390906" cy="390906"/>
          </a:xfrm>
          <a:custGeom xmlns:a="http://schemas.openxmlformats.org/drawingml/2006/main">
            <a:pathLst>
              <a:path w="228600" h="228600">
                <a:moveTo>
                  <a:pt x="28575" y="180975"/>
                </a:moveTo>
                <a:lnTo>
                  <a:pt x="28575" y="114300"/>
                </a:lnTo>
                <a:lnTo>
                  <a:pt x="47625" y="66675"/>
                </a:lnTo>
                <a:lnTo>
                  <a:pt x="95250" y="47625"/>
                </a:lnTo>
                <a:lnTo>
                  <a:pt x="152400" y="38100"/>
                </a:lnTo>
                <a:lnTo>
                  <a:pt x="200025" y="19050"/>
                </a:lnTo>
                <a:lnTo>
                  <a:pt x="200025" y="85725"/>
                </a:lnTo>
                <a:lnTo>
                  <a:pt x="180975" y="142875"/>
                </a:lnTo>
                <a:lnTo>
                  <a:pt x="142875" y="180975"/>
                </a:lnTo>
                <a:lnTo>
                  <a:pt x="85725" y="200025"/>
                </a:lnTo>
                <a:close/>
              </a:path>
            </a:pathLst>
          </a:custGeom>
          <a:noFill xmlns:a="http://schemas.openxmlformats.org/drawingml/2006/main"/>
          <a:ln xmlns:a="http://schemas.openxmlformats.org/drawingml/2006/main" w="19050">
            <a:solidFill>
              <a:srgbClr val="FFFFFF"/>
            </a:solidFill>
            <a:prstDash val="solid"/>
          </a:ln>
        </p:spPr>
      </p:sp>
      <p:sp>
        <p:nvSpPr>
          <p:cNvPr id="5" name="!!leaf-input-icon-1">
            <a:extLst xmlns:a="http://schemas.openxmlformats.org/drawingml/2006/main">
              <a:ext uri="{FF2B5EF4-FFF2-40B4-BE49-F238E27FC236}">
                <a16:creationId xmlns:a16="http://schemas.microsoft.com/office/drawing/2014/main" id="{9565E5BE-8BCD-4A0F-B7E5-7F1FBC054AD5}"/>
              </a:ext>
            </a:extLst>
          </p:cNvPr>
          <p:cNvSpPr>
            <a:spLocks xmlns:a="http://schemas.openxmlformats.org/drawingml/2006/main" noGrp="1"/>
          </p:cNvSpPr>
          <p:nvPr/>
        </p:nvSpPr>
        <p:spPr>
          <a:xfrm xmlns:a="http://schemas.openxmlformats.org/drawingml/2006/main">
            <a:off x="757047" y="2281047"/>
            <a:ext cx="390906" cy="390906"/>
          </a:xfrm>
          <a:custGeom xmlns:a="http://schemas.openxmlformats.org/drawingml/2006/main">
            <a:pathLst>
              <a:path w="228600" h="228600">
                <a:moveTo>
                  <a:pt x="19050" y="209550"/>
                </a:moveTo>
                <a:lnTo>
                  <a:pt x="95250" y="133350"/>
                </a:lnTo>
                <a:lnTo>
                  <a:pt x="142875" y="95250"/>
                </a:lnTo>
              </a:path>
            </a:pathLst>
          </a:custGeom>
          <a:noFill xmlns:a="http://schemas.openxmlformats.org/drawingml/2006/main"/>
          <a:ln xmlns:a="http://schemas.openxmlformats.org/drawingml/2006/main" w="19050">
            <a:solidFill>
              <a:srgbClr val="FFFFFF"/>
            </a:solidFill>
            <a:prstDash val="solid"/>
          </a:ln>
        </p:spPr>
      </p:sp>
      <p:sp>
        <p:nvSpPr>
          <p:cNvPr id="6" name="!!leaf-input-label">
            <a:extLst xmlns:a="http://schemas.openxmlformats.org/drawingml/2006/main">
              <a:ext uri="{FF2B5EF4-FFF2-40B4-BE49-F238E27FC236}">
                <a16:creationId xmlns:a16="http://schemas.microsoft.com/office/drawing/2014/main" id="{132E24BA-84A0-4A19-A2E6-543147A8A105}"/>
              </a:ext>
            </a:extLst>
          </p:cNvPr>
          <p:cNvSpPr>
            <a:spLocks xmlns:a="http://schemas.openxmlformats.org/drawingml/2006/main" noGrp="1"/>
          </p:cNvSpPr>
          <p:nvPr/>
        </p:nvSpPr>
        <p:spPr>
          <a:xfrm xmlns:a="http://schemas.openxmlformats.org/drawingml/2006/main">
            <a:off x="1524000" y="2133600"/>
            <a:ext cx="43243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400" b="1">
                <a:solidFill>
                  <a:srgbClr val="142F24"/>
                </a:solidFill>
                <a:latin typeface="Segoe UI"/>
                <a:ea typeface="Segoe UI"/>
                <a:cs typeface="Segoe UI"/>
              </a:defRPr>
            </a:pPr>
            <a:r>
              <a:rPr sz="2400" b="1">
                <a:solidFill>
                  <a:srgbClr val="142F24"/>
                </a:solidFill>
                <a:latin typeface="Segoe UI"/>
                <a:ea typeface="Segoe UI"/>
                <a:cs typeface="Segoe UI"/>
              </a:rPr>
              <a:t>Ảnh lá</a:t>
            </a:r>
          </a:p>
        </p:txBody>
      </p:sp>
      <p:sp>
        <p:nvSpPr>
          <p:cNvPr id="7" name="!!leaf-input-detail">
            <a:extLst xmlns:a="http://schemas.openxmlformats.org/drawingml/2006/main">
              <a:ext uri="{FF2B5EF4-FFF2-40B4-BE49-F238E27FC236}">
                <a16:creationId xmlns:a16="http://schemas.microsoft.com/office/drawing/2014/main" id="{DA172BE3-CCB6-44BB-8172-C2C5E881207D}"/>
              </a:ext>
            </a:extLst>
          </p:cNvPr>
          <p:cNvSpPr>
            <a:spLocks xmlns:a="http://schemas.openxmlformats.org/drawingml/2006/main" noGrp="1"/>
          </p:cNvSpPr>
          <p:nvPr/>
        </p:nvSpPr>
        <p:spPr>
          <a:xfrm xmlns:a="http://schemas.openxmlformats.org/drawingml/2006/main">
            <a:off x="1524000" y="2705100"/>
            <a:ext cx="43243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53685B"/>
                </a:solidFill>
                <a:latin typeface="Segoe UI"/>
                <a:ea typeface="Segoe UI"/>
                <a:cs typeface="Segoe UI"/>
              </a:defRPr>
            </a:pPr>
            <a:r>
              <a:rPr sz="1800" b="0">
                <a:solidFill>
                  <a:srgbClr val="53685B"/>
                </a:solidFill>
                <a:latin typeface="Segoe UI"/>
                <a:ea typeface="Segoe UI"/>
                <a:cs typeface="Segoe UI"/>
              </a:rPr>
              <a:t>Pillow + NumPy xử lý ảnh</a:t>
            </a:r>
          </a:p>
        </p:txBody>
      </p:sp>
      <p:sp>
        <p:nvSpPr>
          <p:cNvPr id="8" name="!!page">
            <a:extLst xmlns:a="http://schemas.openxmlformats.org/drawingml/2006/main">
              <a:ext uri="{FF2B5EF4-FFF2-40B4-BE49-F238E27FC236}">
                <a16:creationId xmlns:a16="http://schemas.microsoft.com/office/drawing/2014/main" id="{5C96A22A-D6C0-42CA-9548-0828B0114D1D}"/>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23 / 30</a:t>
            </a:r>
          </a:p>
        </p:txBody>
      </p:sp>
      <p:sp>
        <p:nvSpPr>
          <p:cNvPr id="9" name="!!caption">
            <a:extLst xmlns:a="http://schemas.openxmlformats.org/drawingml/2006/main">
              <a:ext uri="{FF2B5EF4-FFF2-40B4-BE49-F238E27FC236}">
                <a16:creationId xmlns:a16="http://schemas.microsoft.com/office/drawing/2014/main" id="{F076A0E3-7BDD-4F1F-94AA-56C98C26505E}"/>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Ảnh giao diện/API ngày 26/09/2026. Hình nền tạo bằng AI</a:t>
            </a:r>
          </a:p>
        </p:txBody>
      </p:sp>
    </p:spTree>
    <p:extLst>
      <p:ext uri="{BB962C8B-B14F-4D97-AF65-F5344CB8AC3E}">
        <p14:creationId xmlns:p14="http://schemas.microsoft.com/office/powerpoint/2010/main" val="920887386"/>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45.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pic>
        <p:nvPicPr>
          <p:cNvPr id="23" name="!!backdrop"/>
          <p:cNvPicPr>
            <a:picLocks xmlns:a="http://schemas.openxmlformats.org/drawingml/2006/main" noChangeAspect="1"/>
          </p:cNvPicPr>
          <p:nvPr/>
        </p:nvPicPr>
        <p:blipFill>
          <a:blip xmlns:r="http://schemas.openxmlformats.org/officeDocument/2006/relationships" xmlns:a="http://schemas.openxmlformats.org/drawingml/2006/main" r:embed="R6396ee0363824c79"/>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headline">
            <a:extLst xmlns:a="http://schemas.openxmlformats.org/drawingml/2006/main">
              <a:ext uri="{FF2B5EF4-FFF2-40B4-BE49-F238E27FC236}">
                <a16:creationId xmlns:a16="http://schemas.microsoft.com/office/drawing/2014/main" id="{46EC514B-9E4F-4FFF-9B7F-9157BC5313E4}"/>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142F24"/>
                </a:solidFill>
                <a:latin typeface="Segoe UI"/>
                <a:ea typeface="Segoe UI"/>
                <a:cs typeface="Segoe UI"/>
              </a:defRPr>
            </a:pPr>
            <a:r>
              <a:rPr sz="3450" b="1">
                <a:solidFill>
                  <a:srgbClr val="142F24"/>
                </a:solidFill>
                <a:latin typeface="Segoe UI"/>
                <a:ea typeface="Segoe UI"/>
                <a:cs typeface="Segoe UI"/>
              </a:rPr>
              <a:t>AI gợi ý từ ảnh lá</a:t>
            </a:r>
          </a:p>
        </p:txBody>
      </p:sp>
      <p:sp>
        <p:nvSpPr>
          <p:cNvPr id="3" name="!!leaf-input-selection">
            <a:extLst xmlns:a="http://schemas.openxmlformats.org/drawingml/2006/main">
              <a:ext uri="{FF2B5EF4-FFF2-40B4-BE49-F238E27FC236}">
                <a16:creationId xmlns:a16="http://schemas.microsoft.com/office/drawing/2014/main" id="{7B4055F1-D644-4075-BD3A-B0A3D124C195}"/>
              </a:ext>
            </a:extLst>
          </p:cNvPr>
          <p:cNvSpPr>
            <a:spLocks xmlns:a="http://schemas.openxmlformats.org/drawingml/2006/main" noGrp="1"/>
          </p:cNvSpPr>
          <p:nvPr/>
        </p:nvSpPr>
        <p:spPr>
          <a:xfrm xmlns:a="http://schemas.openxmlformats.org/drawingml/2006/main">
            <a:off x="666750" y="2190750"/>
            <a:ext cx="571500" cy="5715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4" name="!!leaf-input-icon-0">
            <a:extLst xmlns:a="http://schemas.openxmlformats.org/drawingml/2006/main">
              <a:ext uri="{FF2B5EF4-FFF2-40B4-BE49-F238E27FC236}">
                <a16:creationId xmlns:a16="http://schemas.microsoft.com/office/drawing/2014/main" id="{5DC2A864-EC94-41E5-8EC6-6FBC72BC1BBD}"/>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28575" y="180975"/>
                </a:moveTo>
                <a:lnTo>
                  <a:pt x="28575" y="114300"/>
                </a:lnTo>
                <a:lnTo>
                  <a:pt x="47625" y="66675"/>
                </a:lnTo>
                <a:lnTo>
                  <a:pt x="95250" y="47625"/>
                </a:lnTo>
                <a:lnTo>
                  <a:pt x="152400" y="38100"/>
                </a:lnTo>
                <a:lnTo>
                  <a:pt x="200025" y="19050"/>
                </a:lnTo>
                <a:lnTo>
                  <a:pt x="200025" y="85725"/>
                </a:lnTo>
                <a:lnTo>
                  <a:pt x="180975" y="142875"/>
                </a:lnTo>
                <a:lnTo>
                  <a:pt x="142875" y="180975"/>
                </a:lnTo>
                <a:lnTo>
                  <a:pt x="85725" y="200025"/>
                </a:lnTo>
                <a:close/>
              </a:path>
            </a:pathLst>
          </a:custGeom>
          <a:noFill xmlns:a="http://schemas.openxmlformats.org/drawingml/2006/main"/>
          <a:ln xmlns:a="http://schemas.openxmlformats.org/drawingml/2006/main" w="19050">
            <a:solidFill>
              <a:srgbClr val="166447"/>
            </a:solidFill>
            <a:prstDash val="solid"/>
          </a:ln>
        </p:spPr>
      </p:sp>
      <p:sp>
        <p:nvSpPr>
          <p:cNvPr id="5" name="!!leaf-input-icon-1">
            <a:extLst xmlns:a="http://schemas.openxmlformats.org/drawingml/2006/main">
              <a:ext uri="{FF2B5EF4-FFF2-40B4-BE49-F238E27FC236}">
                <a16:creationId xmlns:a16="http://schemas.microsoft.com/office/drawing/2014/main" id="{BCA1E282-4461-4983-9AB9-01F0EC1E3F78}"/>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19050" y="209550"/>
                </a:moveTo>
                <a:lnTo>
                  <a:pt x="95250" y="133350"/>
                </a:lnTo>
                <a:lnTo>
                  <a:pt x="142875" y="95250"/>
                </a:lnTo>
              </a:path>
            </a:pathLst>
          </a:custGeom>
          <a:noFill xmlns:a="http://schemas.openxmlformats.org/drawingml/2006/main"/>
          <a:ln xmlns:a="http://schemas.openxmlformats.org/drawingml/2006/main" w="19050">
            <a:solidFill>
              <a:srgbClr val="166447"/>
            </a:solidFill>
            <a:prstDash val="solid"/>
          </a:ln>
        </p:spPr>
      </p:sp>
      <p:sp>
        <p:nvSpPr>
          <p:cNvPr id="6" name="!!leaf-input-label">
            <a:extLst xmlns:a="http://schemas.openxmlformats.org/drawingml/2006/main">
              <a:ext uri="{FF2B5EF4-FFF2-40B4-BE49-F238E27FC236}">
                <a16:creationId xmlns:a16="http://schemas.microsoft.com/office/drawing/2014/main" id="{7463D367-9841-47A2-8769-8307D3CFADF4}"/>
              </a:ext>
            </a:extLst>
          </p:cNvPr>
          <p:cNvSpPr>
            <a:spLocks xmlns:a="http://schemas.openxmlformats.org/drawingml/2006/main" noGrp="1"/>
          </p:cNvSpPr>
          <p:nvPr/>
        </p:nvSpPr>
        <p:spPr>
          <a:xfrm xmlns:a="http://schemas.openxmlformats.org/drawingml/2006/main">
            <a:off x="1524000" y="2133600"/>
            <a:ext cx="43243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142F24"/>
                </a:solidFill>
                <a:latin typeface="Segoe UI"/>
                <a:ea typeface="Segoe UI"/>
                <a:cs typeface="Segoe UI"/>
              </a:defRPr>
            </a:pPr>
            <a:r>
              <a:rPr sz="2100" b="1">
                <a:solidFill>
                  <a:srgbClr val="142F24"/>
                </a:solidFill>
                <a:latin typeface="Segoe UI"/>
                <a:ea typeface="Segoe UI"/>
                <a:cs typeface="Segoe UI"/>
              </a:rPr>
              <a:t>Ảnh lá</a:t>
            </a:r>
          </a:p>
        </p:txBody>
      </p:sp>
      <p:sp>
        <p:nvSpPr>
          <p:cNvPr id="7" name="!!leaf-input-detail">
            <a:extLst xmlns:a="http://schemas.openxmlformats.org/drawingml/2006/main">
              <a:ext uri="{FF2B5EF4-FFF2-40B4-BE49-F238E27FC236}">
                <a16:creationId xmlns:a16="http://schemas.microsoft.com/office/drawing/2014/main" id="{AC654F7B-161D-4DE6-AB99-3ABD53E0E743}"/>
              </a:ext>
            </a:extLst>
          </p:cNvPr>
          <p:cNvSpPr>
            <a:spLocks xmlns:a="http://schemas.openxmlformats.org/drawingml/2006/main" noGrp="1"/>
          </p:cNvSpPr>
          <p:nvPr/>
        </p:nvSpPr>
        <p:spPr>
          <a:xfrm xmlns:a="http://schemas.openxmlformats.org/drawingml/2006/main">
            <a:off x="1524000" y="2705100"/>
            <a:ext cx="43243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53685B"/>
                </a:solidFill>
                <a:latin typeface="Segoe UI"/>
                <a:ea typeface="Segoe UI"/>
                <a:cs typeface="Segoe UI"/>
              </a:defRPr>
            </a:pPr>
            <a:r>
              <a:rPr sz="1800" b="0">
                <a:solidFill>
                  <a:srgbClr val="53685B"/>
                </a:solidFill>
                <a:latin typeface="Segoe UI"/>
                <a:ea typeface="Segoe UI"/>
                <a:cs typeface="Segoe UI"/>
              </a:rPr>
              <a:t>Pillow + NumPy xử lý ảnh</a:t>
            </a:r>
          </a:p>
        </p:txBody>
      </p:sp>
      <p:sp>
        <p:nvSpPr>
          <p:cNvPr id="8" name="!!leaf-output-selection">
            <a:extLst xmlns:a="http://schemas.openxmlformats.org/drawingml/2006/main">
              <a:ext uri="{FF2B5EF4-FFF2-40B4-BE49-F238E27FC236}">
                <a16:creationId xmlns:a16="http://schemas.microsoft.com/office/drawing/2014/main" id="{59A6B94E-03C6-4271-9BC9-AE104BA21D80}"/>
              </a:ext>
            </a:extLst>
          </p:cNvPr>
          <p:cNvSpPr>
            <a:spLocks xmlns:a="http://schemas.openxmlformats.org/drawingml/2006/main" noGrp="1"/>
          </p:cNvSpPr>
          <p:nvPr/>
        </p:nvSpPr>
        <p:spPr>
          <a:xfrm xmlns:a="http://schemas.openxmlformats.org/drawingml/2006/main">
            <a:off x="590550" y="3352800"/>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9" name="!!leaf-output-icon-0">
            <a:extLst xmlns:a="http://schemas.openxmlformats.org/drawingml/2006/main">
              <a:ext uri="{FF2B5EF4-FFF2-40B4-BE49-F238E27FC236}">
                <a16:creationId xmlns:a16="http://schemas.microsoft.com/office/drawing/2014/main" id="{A1F669D0-C035-4D06-835D-955304AECD9A}"/>
              </a:ext>
            </a:extLst>
          </p:cNvPr>
          <p:cNvSpPr>
            <a:spLocks xmlns:a="http://schemas.openxmlformats.org/drawingml/2006/main" noGrp="1"/>
          </p:cNvSpPr>
          <p:nvPr/>
        </p:nvSpPr>
        <p:spPr>
          <a:xfrm xmlns:a="http://schemas.openxmlformats.org/drawingml/2006/main">
            <a:off x="854774" y="3617024"/>
            <a:ext cx="195453" cy="195453"/>
          </a:xfrm>
          <a:prstGeom xmlns:a="http://schemas.openxmlformats.org/drawingml/2006/main" prst="rect">
            <a:avLst/>
          </a:prstGeom>
          <a:noFill xmlns:a="http://schemas.openxmlformats.org/drawingml/2006/main"/>
          <a:ln xmlns:a="http://schemas.openxmlformats.org/drawingml/2006/main" w="19050">
            <a:solidFill>
              <a:srgbClr val="FFFFFF"/>
            </a:solidFill>
            <a:prstDash val="solid"/>
          </a:ln>
        </p:spPr>
      </p:sp>
      <p:sp>
        <p:nvSpPr>
          <p:cNvPr id="10" name="!!leaf-output-icon-1">
            <a:extLst xmlns:a="http://schemas.openxmlformats.org/drawingml/2006/main">
              <a:ext uri="{FF2B5EF4-FFF2-40B4-BE49-F238E27FC236}">
                <a16:creationId xmlns:a16="http://schemas.microsoft.com/office/drawing/2014/main" id="{05A18995-B30C-43EC-9FF1-9D087FDF55AB}"/>
              </a:ext>
            </a:extLst>
          </p:cNvPr>
          <p:cNvSpPr>
            <a:spLocks xmlns:a="http://schemas.openxmlformats.org/drawingml/2006/main" noGrp="1"/>
          </p:cNvSpPr>
          <p:nvPr/>
        </p:nvSpPr>
        <p:spPr>
          <a:xfrm xmlns:a="http://schemas.openxmlformats.org/drawingml/2006/main">
            <a:off x="903637" y="3665887"/>
            <a:ext cx="97727" cy="97727"/>
          </a:xfrm>
          <a:prstGeom xmlns:a="http://schemas.openxmlformats.org/drawingml/2006/main" prst="rect">
            <a:avLst/>
          </a:prstGeom>
          <a:noFill xmlns:a="http://schemas.openxmlformats.org/drawingml/2006/main"/>
          <a:ln xmlns:a="http://schemas.openxmlformats.org/drawingml/2006/main" w="19050">
            <a:solidFill>
              <a:srgbClr val="FFFFFF"/>
            </a:solidFill>
            <a:prstDash val="solid"/>
          </a:ln>
        </p:spPr>
      </p:sp>
      <p:sp>
        <p:nvSpPr>
          <p:cNvPr id="11" name="!!leaf-output-icon-2">
            <a:extLst xmlns:a="http://schemas.openxmlformats.org/drawingml/2006/main">
              <a:ext uri="{FF2B5EF4-FFF2-40B4-BE49-F238E27FC236}">
                <a16:creationId xmlns:a16="http://schemas.microsoft.com/office/drawing/2014/main" id="{D53737EE-3FED-410C-98AE-63E8E287EA4D}"/>
              </a:ext>
            </a:extLst>
          </p:cNvPr>
          <p:cNvSpPr>
            <a:spLocks xmlns:a="http://schemas.openxmlformats.org/drawingml/2006/main" noGrp="1"/>
          </p:cNvSpPr>
          <p:nvPr/>
        </p:nvSpPr>
        <p:spPr>
          <a:xfrm xmlns:a="http://schemas.openxmlformats.org/drawingml/2006/main">
            <a:off x="757047" y="3519297"/>
            <a:ext cx="390906" cy="390906"/>
          </a:xfrm>
          <a:custGeom xmlns:a="http://schemas.openxmlformats.org/drawingml/2006/main">
            <a:pathLst>
              <a:path w="228600" h="228600">
                <a:moveTo>
                  <a:pt x="85725" y="19050"/>
                </a:moveTo>
                <a:lnTo>
                  <a:pt x="85725" y="57150"/>
                </a:lnTo>
              </a:path>
            </a:pathLst>
          </a:custGeom>
          <a:noFill xmlns:a="http://schemas.openxmlformats.org/drawingml/2006/main"/>
          <a:ln xmlns:a="http://schemas.openxmlformats.org/drawingml/2006/main" w="19050">
            <a:solidFill>
              <a:srgbClr val="FFFFFF"/>
            </a:solidFill>
            <a:prstDash val="solid"/>
          </a:ln>
        </p:spPr>
      </p:sp>
      <p:sp>
        <p:nvSpPr>
          <p:cNvPr id="12" name="!!leaf-output-icon-3">
            <a:extLst xmlns:a="http://schemas.openxmlformats.org/drawingml/2006/main">
              <a:ext uri="{FF2B5EF4-FFF2-40B4-BE49-F238E27FC236}">
                <a16:creationId xmlns:a16="http://schemas.microsoft.com/office/drawing/2014/main" id="{E808608F-D27D-4542-9F09-A8EDF1CEAC1B}"/>
              </a:ext>
            </a:extLst>
          </p:cNvPr>
          <p:cNvSpPr>
            <a:spLocks xmlns:a="http://schemas.openxmlformats.org/drawingml/2006/main" noGrp="1"/>
          </p:cNvSpPr>
          <p:nvPr/>
        </p:nvSpPr>
        <p:spPr>
          <a:xfrm xmlns:a="http://schemas.openxmlformats.org/drawingml/2006/main">
            <a:off x="757047" y="3519297"/>
            <a:ext cx="390906" cy="390906"/>
          </a:xfrm>
          <a:custGeom xmlns:a="http://schemas.openxmlformats.org/drawingml/2006/main">
            <a:pathLst>
              <a:path w="228600" h="228600">
                <a:moveTo>
                  <a:pt x="85725" y="171450"/>
                </a:moveTo>
                <a:lnTo>
                  <a:pt x="85725" y="209550"/>
                </a:lnTo>
              </a:path>
            </a:pathLst>
          </a:custGeom>
          <a:noFill xmlns:a="http://schemas.openxmlformats.org/drawingml/2006/main"/>
          <a:ln xmlns:a="http://schemas.openxmlformats.org/drawingml/2006/main" w="19050">
            <a:solidFill>
              <a:srgbClr val="FFFFFF"/>
            </a:solidFill>
            <a:prstDash val="solid"/>
          </a:ln>
        </p:spPr>
      </p:sp>
      <p:sp>
        <p:nvSpPr>
          <p:cNvPr id="13" name="!!leaf-output-icon-4">
            <a:extLst xmlns:a="http://schemas.openxmlformats.org/drawingml/2006/main">
              <a:ext uri="{FF2B5EF4-FFF2-40B4-BE49-F238E27FC236}">
                <a16:creationId xmlns:a16="http://schemas.microsoft.com/office/drawing/2014/main" id="{4B751F72-C483-4891-BDEC-D62399364B2A}"/>
              </a:ext>
            </a:extLst>
          </p:cNvPr>
          <p:cNvSpPr>
            <a:spLocks xmlns:a="http://schemas.openxmlformats.org/drawingml/2006/main" noGrp="1"/>
          </p:cNvSpPr>
          <p:nvPr/>
        </p:nvSpPr>
        <p:spPr>
          <a:xfrm xmlns:a="http://schemas.openxmlformats.org/drawingml/2006/main">
            <a:off x="757047" y="3519297"/>
            <a:ext cx="390906" cy="390906"/>
          </a:xfrm>
          <a:custGeom xmlns:a="http://schemas.openxmlformats.org/drawingml/2006/main">
            <a:pathLst>
              <a:path w="228600" h="228600">
                <a:moveTo>
                  <a:pt x="19050" y="85725"/>
                </a:moveTo>
                <a:lnTo>
                  <a:pt x="57150" y="85725"/>
                </a:lnTo>
              </a:path>
            </a:pathLst>
          </a:custGeom>
          <a:noFill xmlns:a="http://schemas.openxmlformats.org/drawingml/2006/main"/>
          <a:ln xmlns:a="http://schemas.openxmlformats.org/drawingml/2006/main" w="19050">
            <a:solidFill>
              <a:srgbClr val="FFFFFF"/>
            </a:solidFill>
            <a:prstDash val="solid"/>
          </a:ln>
        </p:spPr>
      </p:sp>
      <p:sp>
        <p:nvSpPr>
          <p:cNvPr id="14" name="!!leaf-output-icon-5">
            <a:extLst xmlns:a="http://schemas.openxmlformats.org/drawingml/2006/main">
              <a:ext uri="{FF2B5EF4-FFF2-40B4-BE49-F238E27FC236}">
                <a16:creationId xmlns:a16="http://schemas.microsoft.com/office/drawing/2014/main" id="{505C689F-380E-4E56-AD95-25D4CF34C4E9}"/>
              </a:ext>
            </a:extLst>
          </p:cNvPr>
          <p:cNvSpPr>
            <a:spLocks xmlns:a="http://schemas.openxmlformats.org/drawingml/2006/main" noGrp="1"/>
          </p:cNvSpPr>
          <p:nvPr/>
        </p:nvSpPr>
        <p:spPr>
          <a:xfrm xmlns:a="http://schemas.openxmlformats.org/drawingml/2006/main">
            <a:off x="757047" y="3519297"/>
            <a:ext cx="390906" cy="390906"/>
          </a:xfrm>
          <a:custGeom xmlns:a="http://schemas.openxmlformats.org/drawingml/2006/main">
            <a:pathLst>
              <a:path w="228600" h="228600">
                <a:moveTo>
                  <a:pt x="171450" y="85725"/>
                </a:moveTo>
                <a:lnTo>
                  <a:pt x="209550" y="85725"/>
                </a:lnTo>
              </a:path>
            </a:pathLst>
          </a:custGeom>
          <a:noFill xmlns:a="http://schemas.openxmlformats.org/drawingml/2006/main"/>
          <a:ln xmlns:a="http://schemas.openxmlformats.org/drawingml/2006/main" w="19050">
            <a:solidFill>
              <a:srgbClr val="FFFFFF"/>
            </a:solidFill>
            <a:prstDash val="solid"/>
          </a:ln>
        </p:spPr>
      </p:sp>
      <p:sp>
        <p:nvSpPr>
          <p:cNvPr id="15" name="!!leaf-output-icon-6">
            <a:extLst xmlns:a="http://schemas.openxmlformats.org/drawingml/2006/main">
              <a:ext uri="{FF2B5EF4-FFF2-40B4-BE49-F238E27FC236}">
                <a16:creationId xmlns:a16="http://schemas.microsoft.com/office/drawing/2014/main" id="{AB5E4A5F-CF46-4062-9FFC-AE7F71E9B36E}"/>
              </a:ext>
            </a:extLst>
          </p:cNvPr>
          <p:cNvSpPr>
            <a:spLocks xmlns:a="http://schemas.openxmlformats.org/drawingml/2006/main" noGrp="1"/>
          </p:cNvSpPr>
          <p:nvPr/>
        </p:nvSpPr>
        <p:spPr>
          <a:xfrm xmlns:a="http://schemas.openxmlformats.org/drawingml/2006/main">
            <a:off x="757047" y="3519297"/>
            <a:ext cx="390906" cy="390906"/>
          </a:xfrm>
          <a:custGeom xmlns:a="http://schemas.openxmlformats.org/drawingml/2006/main">
            <a:pathLst>
              <a:path w="228600" h="228600">
                <a:moveTo>
                  <a:pt x="142875" y="19050"/>
                </a:moveTo>
                <a:lnTo>
                  <a:pt x="142875" y="57150"/>
                </a:lnTo>
              </a:path>
            </a:pathLst>
          </a:custGeom>
          <a:noFill xmlns:a="http://schemas.openxmlformats.org/drawingml/2006/main"/>
          <a:ln xmlns:a="http://schemas.openxmlformats.org/drawingml/2006/main" w="19050">
            <a:solidFill>
              <a:srgbClr val="FFFFFF"/>
            </a:solidFill>
            <a:prstDash val="solid"/>
          </a:ln>
        </p:spPr>
      </p:sp>
      <p:sp>
        <p:nvSpPr>
          <p:cNvPr id="16" name="!!leaf-output-icon-7">
            <a:extLst xmlns:a="http://schemas.openxmlformats.org/drawingml/2006/main">
              <a:ext uri="{FF2B5EF4-FFF2-40B4-BE49-F238E27FC236}">
                <a16:creationId xmlns:a16="http://schemas.microsoft.com/office/drawing/2014/main" id="{BA40229B-FDEA-4C8D-8AE3-53069816B3BA}"/>
              </a:ext>
            </a:extLst>
          </p:cNvPr>
          <p:cNvSpPr>
            <a:spLocks xmlns:a="http://schemas.openxmlformats.org/drawingml/2006/main" noGrp="1"/>
          </p:cNvSpPr>
          <p:nvPr/>
        </p:nvSpPr>
        <p:spPr>
          <a:xfrm xmlns:a="http://schemas.openxmlformats.org/drawingml/2006/main">
            <a:off x="757047" y="3519297"/>
            <a:ext cx="390906" cy="390906"/>
          </a:xfrm>
          <a:custGeom xmlns:a="http://schemas.openxmlformats.org/drawingml/2006/main">
            <a:pathLst>
              <a:path w="228600" h="228600">
                <a:moveTo>
                  <a:pt x="142875" y="171450"/>
                </a:moveTo>
                <a:lnTo>
                  <a:pt x="142875" y="209550"/>
                </a:lnTo>
              </a:path>
            </a:pathLst>
          </a:custGeom>
          <a:noFill xmlns:a="http://schemas.openxmlformats.org/drawingml/2006/main"/>
          <a:ln xmlns:a="http://schemas.openxmlformats.org/drawingml/2006/main" w="19050">
            <a:solidFill>
              <a:srgbClr val="FFFFFF"/>
            </a:solidFill>
            <a:prstDash val="solid"/>
          </a:ln>
        </p:spPr>
      </p:sp>
      <p:sp>
        <p:nvSpPr>
          <p:cNvPr id="17" name="!!leaf-output-icon-8">
            <a:extLst xmlns:a="http://schemas.openxmlformats.org/drawingml/2006/main">
              <a:ext uri="{FF2B5EF4-FFF2-40B4-BE49-F238E27FC236}">
                <a16:creationId xmlns:a16="http://schemas.microsoft.com/office/drawing/2014/main" id="{D190EE09-DD8D-4234-8652-76FC6A5716BA}"/>
              </a:ext>
            </a:extLst>
          </p:cNvPr>
          <p:cNvSpPr>
            <a:spLocks xmlns:a="http://schemas.openxmlformats.org/drawingml/2006/main" noGrp="1"/>
          </p:cNvSpPr>
          <p:nvPr/>
        </p:nvSpPr>
        <p:spPr>
          <a:xfrm xmlns:a="http://schemas.openxmlformats.org/drawingml/2006/main">
            <a:off x="757047" y="3519297"/>
            <a:ext cx="390906" cy="390906"/>
          </a:xfrm>
          <a:custGeom xmlns:a="http://schemas.openxmlformats.org/drawingml/2006/main">
            <a:pathLst>
              <a:path w="228600" h="228600">
                <a:moveTo>
                  <a:pt x="19050" y="142875"/>
                </a:moveTo>
                <a:lnTo>
                  <a:pt x="57150" y="142875"/>
                </a:lnTo>
              </a:path>
            </a:pathLst>
          </a:custGeom>
          <a:noFill xmlns:a="http://schemas.openxmlformats.org/drawingml/2006/main"/>
          <a:ln xmlns:a="http://schemas.openxmlformats.org/drawingml/2006/main" w="19050">
            <a:solidFill>
              <a:srgbClr val="FFFFFF"/>
            </a:solidFill>
            <a:prstDash val="solid"/>
          </a:ln>
        </p:spPr>
      </p:sp>
      <p:sp>
        <p:nvSpPr>
          <p:cNvPr id="18" name="!!leaf-output-icon-9">
            <a:extLst xmlns:a="http://schemas.openxmlformats.org/drawingml/2006/main">
              <a:ext uri="{FF2B5EF4-FFF2-40B4-BE49-F238E27FC236}">
                <a16:creationId xmlns:a16="http://schemas.microsoft.com/office/drawing/2014/main" id="{CD8A70F4-0BEB-4366-8AA5-4A5058C267FC}"/>
              </a:ext>
            </a:extLst>
          </p:cNvPr>
          <p:cNvSpPr>
            <a:spLocks xmlns:a="http://schemas.openxmlformats.org/drawingml/2006/main" noGrp="1"/>
          </p:cNvSpPr>
          <p:nvPr/>
        </p:nvSpPr>
        <p:spPr>
          <a:xfrm xmlns:a="http://schemas.openxmlformats.org/drawingml/2006/main">
            <a:off x="757047" y="3519297"/>
            <a:ext cx="390906" cy="390906"/>
          </a:xfrm>
          <a:custGeom xmlns:a="http://schemas.openxmlformats.org/drawingml/2006/main">
            <a:pathLst>
              <a:path w="228600" h="228600">
                <a:moveTo>
                  <a:pt x="171450" y="142875"/>
                </a:moveTo>
                <a:lnTo>
                  <a:pt x="209550" y="142875"/>
                </a:lnTo>
              </a:path>
            </a:pathLst>
          </a:custGeom>
          <a:noFill xmlns:a="http://schemas.openxmlformats.org/drawingml/2006/main"/>
          <a:ln xmlns:a="http://schemas.openxmlformats.org/drawingml/2006/main" w="19050">
            <a:solidFill>
              <a:srgbClr val="FFFFFF"/>
            </a:solidFill>
            <a:prstDash val="solid"/>
          </a:ln>
        </p:spPr>
      </p:sp>
      <p:sp>
        <p:nvSpPr>
          <p:cNvPr id="19" name="!!leaf-output-label">
            <a:extLst xmlns:a="http://schemas.openxmlformats.org/drawingml/2006/main">
              <a:ext uri="{FF2B5EF4-FFF2-40B4-BE49-F238E27FC236}">
                <a16:creationId xmlns:a16="http://schemas.microsoft.com/office/drawing/2014/main" id="{5273D198-C698-4AD3-84B0-DCCDC23ABBBC}"/>
              </a:ext>
            </a:extLst>
          </p:cNvPr>
          <p:cNvSpPr>
            <a:spLocks xmlns:a="http://schemas.openxmlformats.org/drawingml/2006/main" noGrp="1"/>
          </p:cNvSpPr>
          <p:nvPr/>
        </p:nvSpPr>
        <p:spPr>
          <a:xfrm xmlns:a="http://schemas.openxmlformats.org/drawingml/2006/main">
            <a:off x="1524000" y="3371850"/>
            <a:ext cx="43243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400" b="1">
                <a:solidFill>
                  <a:srgbClr val="142F24"/>
                </a:solidFill>
                <a:latin typeface="Segoe UI"/>
                <a:ea typeface="Segoe UI"/>
                <a:cs typeface="Segoe UI"/>
              </a:defRPr>
            </a:pPr>
            <a:r>
              <a:rPr sz="2400" b="1">
                <a:solidFill>
                  <a:srgbClr val="142F24"/>
                </a:solidFill>
                <a:latin typeface="Segoe UI"/>
                <a:ea typeface="Segoe UI"/>
                <a:cs typeface="Segoe UI"/>
              </a:rPr>
              <a:t>Gợi ý từ classifier</a:t>
            </a:r>
          </a:p>
        </p:txBody>
      </p:sp>
      <p:sp>
        <p:nvSpPr>
          <p:cNvPr id="20" name="!!leaf-output-detail">
            <a:extLst xmlns:a="http://schemas.openxmlformats.org/drawingml/2006/main">
              <a:ext uri="{FF2B5EF4-FFF2-40B4-BE49-F238E27FC236}">
                <a16:creationId xmlns:a16="http://schemas.microsoft.com/office/drawing/2014/main" id="{1AF1CCB1-883D-47F4-9D3D-72017EE326D8}"/>
              </a:ext>
            </a:extLst>
          </p:cNvPr>
          <p:cNvSpPr>
            <a:spLocks xmlns:a="http://schemas.openxmlformats.org/drawingml/2006/main" noGrp="1"/>
          </p:cNvSpPr>
          <p:nvPr/>
        </p:nvSpPr>
        <p:spPr>
          <a:xfrm xmlns:a="http://schemas.openxmlformats.org/drawingml/2006/main">
            <a:off x="1524000" y="3943350"/>
            <a:ext cx="43243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53685B"/>
                </a:solidFill>
                <a:latin typeface="Segoe UI"/>
                <a:ea typeface="Segoe UI"/>
                <a:cs typeface="Segoe UI"/>
              </a:defRPr>
            </a:pPr>
            <a:r>
              <a:rPr sz="1800" b="0">
                <a:solidFill>
                  <a:srgbClr val="53685B"/>
                </a:solidFill>
                <a:latin typeface="Segoe UI"/>
                <a:ea typeface="Segoe UI"/>
                <a:cs typeface="Segoe UI"/>
              </a:rPr>
              <a:t>ONNX Runtime trên FastAPI</a:t>
            </a:r>
          </a:p>
        </p:txBody>
      </p:sp>
      <p:sp>
        <p:nvSpPr>
          <p:cNvPr id="21" name="!!page">
            <a:extLst xmlns:a="http://schemas.openxmlformats.org/drawingml/2006/main">
              <a:ext uri="{FF2B5EF4-FFF2-40B4-BE49-F238E27FC236}">
                <a16:creationId xmlns:a16="http://schemas.microsoft.com/office/drawing/2014/main" id="{82AC85A4-C1F6-4C47-A87B-7342CCD75968}"/>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24 / 30</a:t>
            </a:r>
          </a:p>
        </p:txBody>
      </p:sp>
      <p:sp>
        <p:nvSpPr>
          <p:cNvPr id="22" name="!!caption">
            <a:extLst xmlns:a="http://schemas.openxmlformats.org/drawingml/2006/main">
              <a:ext uri="{FF2B5EF4-FFF2-40B4-BE49-F238E27FC236}">
                <a16:creationId xmlns:a16="http://schemas.microsoft.com/office/drawing/2014/main" id="{43B7CC4C-63D1-4A5A-881B-7850A13D864F}"/>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Ảnh giao diện/API ngày 26/09/2026. Hình nền tạo bằng AI</a:t>
            </a:r>
          </a:p>
        </p:txBody>
      </p:sp>
      <p:pic>
        <p:nvPicPr>
          <p:cNvPr id="24" name="!!tech-logo-onnxruntime" descr="onnxruntime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24"/>
          <ns0:srcRect xmlns:ns0="http://schemas.openxmlformats.org/drawingml/2006/main" l="9924" t="23439" r="9336" b="27816"/>
          <a:stretch xmlns:a="http://schemas.openxmlformats.org/drawingml/2006/main">
            <a:fillRect/>
          </a:stretch>
        </p:blipFill>
        <p:spPr>
          <a:xfrm xmlns:a="http://schemas.openxmlformats.org/drawingml/2006/main">
            <a:off x="930289" y="1571625"/>
            <a:ext cx="1682721" cy="571500"/>
          </a:xfrm>
          <a:prstGeom xmlns:a="http://schemas.openxmlformats.org/drawingml/2006/main" prst="rect">
            <a:avLst/>
          </a:prstGeom>
        </p:spPr>
      </p:pic>
      <p:pic>
        <p:nvPicPr>
          <p:cNvPr id="25" name="!!tech-logo-fastapi-teal" descr="fastapi-teal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25"/>
          <ns0:srcRect xmlns:ns0="http://schemas.openxmlformats.org/drawingml/2006/main" l="11621" t="30352" r="11621" b="30352"/>
          <a:stretch xmlns:a="http://schemas.openxmlformats.org/drawingml/2006/main">
            <a:fillRect/>
          </a:stretch>
        </p:blipFill>
        <p:spPr>
          <a:xfrm xmlns:a="http://schemas.openxmlformats.org/drawingml/2006/main">
            <a:off x="3238500" y="1653824"/>
            <a:ext cx="2000250" cy="369003"/>
          </a:xfrm>
          <a:prstGeom xmlns:a="http://schemas.openxmlformats.org/drawingml/2006/main" prst="rect">
            <a:avLst/>
          </a:prstGeom>
        </p:spPr>
      </p:pic>
    </p:spTree>
    <p:extLst>
      <p:ext uri="{BB962C8B-B14F-4D97-AF65-F5344CB8AC3E}">
        <p14:creationId xmlns:p14="http://schemas.microsoft.com/office/powerpoint/2010/main" val="119619462"/>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46.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pic>
        <p:nvPicPr>
          <p:cNvPr id="20" name="!!backdrop"/>
          <p:cNvPicPr>
            <a:picLocks xmlns:a="http://schemas.openxmlformats.org/drawingml/2006/main" noChangeAspect="1"/>
          </p:cNvPicPr>
          <p:nvPr/>
        </p:nvPicPr>
        <p:blipFill>
          <a:blip xmlns:r="http://schemas.openxmlformats.org/officeDocument/2006/relationships" xmlns:a="http://schemas.openxmlformats.org/drawingml/2006/main" r:embed="R179e90e8fecf46fd"/>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headline">
            <a:extLst xmlns:a="http://schemas.openxmlformats.org/drawingml/2006/main">
              <a:ext uri="{FF2B5EF4-FFF2-40B4-BE49-F238E27FC236}">
                <a16:creationId xmlns:a16="http://schemas.microsoft.com/office/drawing/2014/main" id="{BCF09167-1149-41CC-B75D-D9481B90DC90}"/>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142F24"/>
                </a:solidFill>
                <a:latin typeface="Segoe UI"/>
                <a:ea typeface="Segoe UI"/>
                <a:cs typeface="Segoe UI"/>
              </a:defRPr>
            </a:pPr>
            <a:r>
              <a:rPr sz="3450" b="1">
                <a:solidFill>
                  <a:srgbClr val="142F24"/>
                </a:solidFill>
                <a:latin typeface="Segoe UI"/>
                <a:ea typeface="Segoe UI"/>
                <a:cs typeface="Segoe UI"/>
              </a:rPr>
              <a:t>AI gợi ý từ ảnh lá</a:t>
            </a:r>
          </a:p>
        </p:txBody>
      </p:sp>
      <p:pic>
        <p:nvPicPr>
          <p:cNvPr id="34" name="!!leaf-result"/>
          <p:cNvPicPr>
            <a:picLocks xmlns:a="http://schemas.openxmlformats.org/drawingml/2006/main" noChangeAspect="1"/>
          </p:cNvPicPr>
          <p:nvPr/>
        </p:nvPicPr>
        <p:blipFill>
          <a:blip xmlns:r="http://schemas.openxmlformats.org/officeDocument/2006/relationships" xmlns:a="http://schemas.openxmlformats.org/drawingml/2006/main" r:embed="Rad468703b6ef4e34"/>
          <a:stretch xmlns:a="http://schemas.openxmlformats.org/drawingml/2006/main"/>
        </p:blipFill>
        <p:spPr>
          <a:xfrm xmlns:a="http://schemas.openxmlformats.org/drawingml/2006/main">
            <a:off x="5524500" y="2078543"/>
            <a:ext cx="6000750" cy="3377188"/>
          </a:xfrm>
          <a:prstGeom xmlns:a="http://schemas.openxmlformats.org/drawingml/2006/main" prst="rect">
            <a:avLst/>
          </a:prstGeom>
        </p:spPr>
      </p:pic>
      <p:sp>
        <p:nvSpPr>
          <p:cNvPr id="16" name="!!leaf-limit">
            <a:extLst xmlns:a="http://schemas.openxmlformats.org/drawingml/2006/main">
              <a:ext uri="{FF2B5EF4-FFF2-40B4-BE49-F238E27FC236}">
                <a16:creationId xmlns:a16="http://schemas.microsoft.com/office/drawing/2014/main" id="{A7A5F1F8-4369-4DAC-84F2-16CCC7D4E0BE}"/>
              </a:ext>
            </a:extLst>
          </p:cNvPr>
          <p:cNvSpPr>
            <a:spLocks xmlns:a="http://schemas.openxmlformats.org/drawingml/2006/main" noGrp="1"/>
          </p:cNvSpPr>
          <p:nvPr/>
        </p:nvSpPr>
        <p:spPr>
          <a:xfrm xmlns:a="http://schemas.openxmlformats.org/drawingml/2006/main">
            <a:off x="609600" y="2400300"/>
            <a:ext cx="44958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550" b="1">
                <a:solidFill>
                  <a:srgbClr val="142F24"/>
                </a:solidFill>
                <a:latin typeface="Segoe UI"/>
                <a:ea typeface="Segoe UI"/>
                <a:cs typeface="Segoe UI"/>
              </a:defRPr>
            </a:pPr>
            <a:r>
              <a:rPr sz="2550" b="1">
                <a:solidFill>
                  <a:srgbClr val="142F24"/>
                </a:solidFill>
                <a:latin typeface="Segoe UI"/>
                <a:ea typeface="Segoe UI"/>
                <a:cs typeface="Segoe UI"/>
              </a:rPr>
              <a:t>Classifier 5 nhóm lá</a:t>
            </a:r>
          </a:p>
          <a:p xmlns:a="http://schemas.openxmlformats.org/drawingml/2006/main">
            <a:pPr>
              <a:defRPr sz="2550" b="1">
                <a:solidFill>
                  <a:srgbClr val="142F24"/>
                </a:solidFill>
                <a:latin typeface="Segoe UI"/>
                <a:ea typeface="Segoe UI"/>
                <a:cs typeface="Segoe UI"/>
              </a:defRPr>
            </a:pPr>
            <a:r>
              <a:rPr sz="2550" b="1">
                <a:solidFill>
                  <a:srgbClr val="142F24"/>
                </a:solidFill>
                <a:latin typeface="Segoe UI"/>
                <a:ea typeface="Segoe UI"/>
                <a:cs typeface="Segoe UI"/>
              </a:rPr>
              <a:t>Cần chuyên gia đối chiếu</a:t>
            </a:r>
          </a:p>
        </p:txBody>
      </p:sp>
      <p:sp>
        <p:nvSpPr>
          <p:cNvPr id="17" name="!!leaf-chemistry">
            <a:extLst xmlns:a="http://schemas.openxmlformats.org/drawingml/2006/main">
              <a:ext uri="{FF2B5EF4-FFF2-40B4-BE49-F238E27FC236}">
                <a16:creationId xmlns:a16="http://schemas.microsoft.com/office/drawing/2014/main" id="{66AF17DF-B3EB-463E-9F42-258A71BB9AA5}"/>
              </a:ext>
            </a:extLst>
          </p:cNvPr>
          <p:cNvSpPr>
            <a:spLocks xmlns:a="http://schemas.openxmlformats.org/drawingml/2006/main" noGrp="1"/>
          </p:cNvSpPr>
          <p:nvPr/>
        </p:nvSpPr>
        <p:spPr>
          <a:xfrm xmlns:a="http://schemas.openxmlformats.org/drawingml/2006/main">
            <a:off x="609600" y="4171950"/>
            <a:ext cx="4495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75" b="0">
                <a:solidFill>
                  <a:srgbClr val="825525"/>
                </a:solidFill>
                <a:latin typeface="Segoe UI"/>
                <a:ea typeface="Segoe UI"/>
                <a:cs typeface="Segoe UI"/>
              </a:defRPr>
            </a:pPr>
            <a:r>
              <a:rPr sz="2175" b="0">
                <a:solidFill>
                  <a:srgbClr val="825525"/>
                </a:solidFill>
                <a:latin typeface="Segoe UI"/>
                <a:ea typeface="Segoe UI"/>
                <a:cs typeface="Segoe UI"/>
              </a:rPr>
              <a:t>Ảnh lá không đo</a:t>
            </a:r>
          </a:p>
          <a:p xmlns:a="http://schemas.openxmlformats.org/drawingml/2006/main">
            <a:pPr>
              <a:defRPr sz="2175" b="0">
                <a:solidFill>
                  <a:srgbClr val="825525"/>
                </a:solidFill>
                <a:latin typeface="Segoe UI"/>
                <a:ea typeface="Segoe UI"/>
                <a:cs typeface="Segoe UI"/>
              </a:defRPr>
            </a:pPr>
            <a:r>
              <a:rPr sz="2175" b="0">
                <a:solidFill>
                  <a:srgbClr val="825525"/>
                </a:solidFill>
                <a:latin typeface="Segoe UI"/>
                <a:ea typeface="Segoe UI"/>
                <a:cs typeface="Segoe UI"/>
              </a:rPr>
              <a:t>Cadimi hoặc Vàng O</a:t>
            </a:r>
          </a:p>
        </p:txBody>
      </p:sp>
      <p:sp>
        <p:nvSpPr>
          <p:cNvPr id="18" name="!!page">
            <a:extLst xmlns:a="http://schemas.openxmlformats.org/drawingml/2006/main">
              <a:ext uri="{FF2B5EF4-FFF2-40B4-BE49-F238E27FC236}">
                <a16:creationId xmlns:a16="http://schemas.microsoft.com/office/drawing/2014/main" id="{978CBB7E-2A94-438E-AB5B-9B22F820705C}"/>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25 / 30</a:t>
            </a:r>
          </a:p>
        </p:txBody>
      </p:sp>
      <p:sp>
        <p:nvSpPr>
          <p:cNvPr id="19" name="!!caption">
            <a:extLst xmlns:a="http://schemas.openxmlformats.org/drawingml/2006/main">
              <a:ext uri="{FF2B5EF4-FFF2-40B4-BE49-F238E27FC236}">
                <a16:creationId xmlns:a16="http://schemas.microsoft.com/office/drawing/2014/main" id="{CFA15880-5881-4C66-92D3-6F8F520E5834}"/>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AI thử nghiệm · Chi tiết đánh giá ở phụ lục</a:t>
            </a:r>
          </a:p>
        </p:txBody>
      </p:sp>
      <p:pic>
        <p:nvPicPr>
          <p:cNvPr id="35" name="!!tech-logo-onnxruntime" descr="onnxruntime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35"/>
          <ns0:srcRect xmlns:ns0="http://schemas.openxmlformats.org/drawingml/2006/main" l="9924" t="23439" r="9336" b="27816"/>
          <a:stretch xmlns:a="http://schemas.openxmlformats.org/drawingml/2006/main">
            <a:fillRect/>
          </a:stretch>
        </p:blipFill>
        <p:spPr>
          <a:xfrm xmlns:a="http://schemas.openxmlformats.org/drawingml/2006/main">
            <a:off x="930289" y="1571625"/>
            <a:ext cx="1682721" cy="571500"/>
          </a:xfrm>
          <a:prstGeom xmlns:a="http://schemas.openxmlformats.org/drawingml/2006/main" prst="rect">
            <a:avLst/>
          </a:prstGeom>
        </p:spPr>
      </p:pic>
      <p:pic>
        <p:nvPicPr>
          <p:cNvPr id="36" name="!!tech-logo-fastapi-teal" descr="fastapi-teal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36"/>
          <ns0:srcRect xmlns:ns0="http://schemas.openxmlformats.org/drawingml/2006/main" l="11621" t="30352" r="11621" b="30352"/>
          <a:stretch xmlns:a="http://schemas.openxmlformats.org/drawingml/2006/main">
            <a:fillRect/>
          </a:stretch>
        </p:blipFill>
        <p:spPr>
          <a:xfrm xmlns:a="http://schemas.openxmlformats.org/drawingml/2006/main">
            <a:off x="3238500" y="1653824"/>
            <a:ext cx="2000250" cy="369003"/>
          </a:xfrm>
          <a:prstGeom xmlns:a="http://schemas.openxmlformats.org/drawingml/2006/main" prst="rect">
            <a:avLst/>
          </a:prstGeom>
        </p:spPr>
      </p:pic>
    </p:spTree>
    <p:extLst>
      <p:ext uri="{BB962C8B-B14F-4D97-AF65-F5344CB8AC3E}">
        <p14:creationId xmlns:p14="http://schemas.microsoft.com/office/powerpoint/2010/main" val="1648818342"/>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52.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11" name="!!backdrop"/>
          <p:cNvPicPr>
            <a:picLocks xmlns:a="http://schemas.openxmlformats.org/drawingml/2006/main" noChangeAspect="1"/>
          </p:cNvPicPr>
          <p:nvPr/>
        </p:nvPicPr>
        <p:blipFill>
          <a:blip xmlns:r="http://schemas.openxmlformats.org/officeDocument/2006/relationships" xmlns:a="http://schemas.openxmlformats.org/drawingml/2006/main" r:embed="Ra7309318cacd4d71"/>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182E6217-5CE6-48E4-A3B4-F49133106CB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D2A16AF8-9530-417C-A0E4-E8A797F2A186}"/>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Trạng thái MVP và pilot</a:t>
            </a:r>
          </a:p>
        </p:txBody>
      </p:sp>
      <p:sp>
        <p:nvSpPr>
          <p:cNvPr id="4" name="!!pilot-start-selection">
            <a:extLst xmlns:a="http://schemas.openxmlformats.org/drawingml/2006/main">
              <a:ext uri="{FF2B5EF4-FFF2-40B4-BE49-F238E27FC236}">
                <a16:creationId xmlns:a16="http://schemas.microsoft.com/office/drawing/2014/main" id="{6BFC1C92-9B8B-4191-A1A8-D6344256BEF2}"/>
              </a:ext>
            </a:extLst>
          </p:cNvPr>
          <p:cNvSpPr>
            <a:spLocks xmlns:a="http://schemas.openxmlformats.org/drawingml/2006/main" noGrp="1"/>
          </p:cNvSpPr>
          <p:nvPr/>
        </p:nvSpPr>
        <p:spPr>
          <a:xfrm xmlns:a="http://schemas.openxmlformats.org/drawingml/2006/main">
            <a:off x="590550" y="2114550"/>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5" name="!!pilot-start-icon-0">
            <a:extLst xmlns:a="http://schemas.openxmlformats.org/drawingml/2006/main">
              <a:ext uri="{FF2B5EF4-FFF2-40B4-BE49-F238E27FC236}">
                <a16:creationId xmlns:a16="http://schemas.microsoft.com/office/drawing/2014/main" id="{EB3449DF-89B8-4EC4-9546-E2C6A949C6F3}"/>
              </a:ext>
            </a:extLst>
          </p:cNvPr>
          <p:cNvSpPr>
            <a:spLocks xmlns:a="http://schemas.openxmlformats.org/drawingml/2006/main" noGrp="1"/>
          </p:cNvSpPr>
          <p:nvPr/>
        </p:nvSpPr>
        <p:spPr>
          <a:xfrm xmlns:a="http://schemas.openxmlformats.org/drawingml/2006/main">
            <a:off x="887349" y="2313623"/>
            <a:ext cx="130302" cy="130302"/>
          </a:xfrm>
          <a:prstGeom xmlns:a="http://schemas.openxmlformats.org/drawingml/2006/main" prst="ellipse">
            <a:avLst/>
          </a:prstGeom>
          <a:noFill xmlns:a="http://schemas.openxmlformats.org/drawingml/2006/main"/>
          <a:ln xmlns:a="http://schemas.openxmlformats.org/drawingml/2006/main" w="19050">
            <a:solidFill>
              <a:srgbClr val="FFFFFF"/>
            </a:solidFill>
            <a:prstDash val="solid"/>
          </a:ln>
        </p:spPr>
      </p:sp>
      <p:sp>
        <p:nvSpPr>
          <p:cNvPr id="6" name="!!pilot-start-icon-1">
            <a:extLst xmlns:a="http://schemas.openxmlformats.org/drawingml/2006/main">
              <a:ext uri="{FF2B5EF4-FFF2-40B4-BE49-F238E27FC236}">
                <a16:creationId xmlns:a16="http://schemas.microsoft.com/office/drawing/2014/main" id="{698A93A1-F9EE-4095-8D98-A5AE9F84A3C9}"/>
              </a:ext>
            </a:extLst>
          </p:cNvPr>
          <p:cNvSpPr>
            <a:spLocks xmlns:a="http://schemas.openxmlformats.org/drawingml/2006/main" noGrp="1"/>
          </p:cNvSpPr>
          <p:nvPr/>
        </p:nvSpPr>
        <p:spPr>
          <a:xfrm xmlns:a="http://schemas.openxmlformats.org/drawingml/2006/main">
            <a:off x="822198" y="2492788"/>
            <a:ext cx="260604" cy="146590"/>
          </a:xfrm>
          <a:prstGeom xmlns:a="http://schemas.openxmlformats.org/drawingml/2006/main" prst="roundRect">
            <a:avLst>
              <a:gd name="adj" fmla="val 50000"/>
            </a:avLst>
          </a:prstGeom>
          <a:noFill xmlns:a="http://schemas.openxmlformats.org/drawingml/2006/main"/>
          <a:ln xmlns:a="http://schemas.openxmlformats.org/drawingml/2006/main" w="19050">
            <a:solidFill>
              <a:srgbClr val="FFFFFF"/>
            </a:solidFill>
            <a:prstDash val="solid"/>
          </a:ln>
        </p:spPr>
      </p:sp>
      <p:sp>
        <p:nvSpPr>
          <p:cNvPr id="7" name="!!pilot-start-label">
            <a:extLst xmlns:a="http://schemas.openxmlformats.org/drawingml/2006/main">
              <a:ext uri="{FF2B5EF4-FFF2-40B4-BE49-F238E27FC236}">
                <a16:creationId xmlns:a16="http://schemas.microsoft.com/office/drawing/2014/main" id="{7C747122-9AD5-498B-B56A-7CA7E23C1C86}"/>
              </a:ext>
            </a:extLst>
          </p:cNvPr>
          <p:cNvSpPr>
            <a:spLocks xmlns:a="http://schemas.openxmlformats.org/drawingml/2006/main" noGrp="1"/>
          </p:cNvSpPr>
          <p:nvPr/>
        </p:nvSpPr>
        <p:spPr>
          <a:xfrm xmlns:a="http://schemas.openxmlformats.org/drawingml/2006/main">
            <a:off x="1524000" y="2133600"/>
            <a:ext cx="45624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400" b="1">
                <a:solidFill>
                  <a:srgbClr val="F4F1E8"/>
                </a:solidFill>
                <a:latin typeface="Segoe UI"/>
                <a:ea typeface="Segoe UI"/>
                <a:cs typeface="Segoe UI"/>
              </a:defRPr>
            </a:pPr>
            <a:r>
              <a:rPr sz="2400" b="1">
                <a:solidFill>
                  <a:srgbClr val="F4F1E8"/>
                </a:solidFill>
                <a:latin typeface="Segoe UI"/>
                <a:ea typeface="Segoe UI"/>
                <a:cs typeface="Segoe UI"/>
              </a:rPr>
              <a:t>Một HTX, nhóm lô nhỏ</a:t>
            </a:r>
          </a:p>
        </p:txBody>
      </p:sp>
      <p:sp>
        <p:nvSpPr>
          <p:cNvPr id="8" name="!!pilot-start-detail">
            <a:extLst xmlns:a="http://schemas.openxmlformats.org/drawingml/2006/main">
              <a:ext uri="{FF2B5EF4-FFF2-40B4-BE49-F238E27FC236}">
                <a16:creationId xmlns:a16="http://schemas.microsoft.com/office/drawing/2014/main" id="{DEF853A2-66FD-4E1E-B1C0-DEE6FEE6F10B}"/>
              </a:ext>
            </a:extLst>
          </p:cNvPr>
          <p:cNvSpPr>
            <a:spLocks xmlns:a="http://schemas.openxmlformats.org/drawingml/2006/main" noGrp="1"/>
          </p:cNvSpPr>
          <p:nvPr/>
        </p:nvSpPr>
        <p:spPr>
          <a:xfrm xmlns:a="http://schemas.openxmlformats.org/drawingml/2006/main">
            <a:off x="1524000" y="2705100"/>
            <a:ext cx="45624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Làm cùng người phụ trách hồ sơ</a:t>
            </a:r>
          </a:p>
        </p:txBody>
      </p:sp>
      <p:sp>
        <p:nvSpPr>
          <p:cNvPr id="9" name="!!page">
            <a:extLst xmlns:a="http://schemas.openxmlformats.org/drawingml/2006/main">
              <a:ext uri="{FF2B5EF4-FFF2-40B4-BE49-F238E27FC236}">
                <a16:creationId xmlns:a16="http://schemas.microsoft.com/office/drawing/2014/main" id="{6D700B58-5579-4196-9639-C1AB1A92A2EA}"/>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26 / 30</a:t>
            </a:r>
          </a:p>
        </p:txBody>
      </p:sp>
      <p:sp>
        <p:nvSpPr>
          <p:cNvPr id="10" name="!!caption">
            <a:extLst xmlns:a="http://schemas.openxmlformats.org/drawingml/2006/main">
              <a:ext uri="{FF2B5EF4-FFF2-40B4-BE49-F238E27FC236}">
                <a16:creationId xmlns:a16="http://schemas.microsoft.com/office/drawing/2014/main" id="{FBF4878E-D12E-4DEC-B3B5-117860127154}"/>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Kế hoạch đề xuất. Chưa có pilot hoặc doanh thu được xác nhận</a:t>
            </a:r>
          </a:p>
        </p:txBody>
      </p:sp>
    </p:spTree>
    <p:extLst>
      <p:ext uri="{BB962C8B-B14F-4D97-AF65-F5344CB8AC3E}">
        <p14:creationId xmlns:p14="http://schemas.microsoft.com/office/powerpoint/2010/main" val="1097187003"/>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53.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16" name="!!backdrop"/>
          <p:cNvPicPr>
            <a:picLocks xmlns:a="http://schemas.openxmlformats.org/drawingml/2006/main" noChangeAspect="1"/>
          </p:cNvPicPr>
          <p:nvPr/>
        </p:nvPicPr>
        <p:blipFill>
          <a:blip xmlns:r="http://schemas.openxmlformats.org/officeDocument/2006/relationships" xmlns:a="http://schemas.openxmlformats.org/drawingml/2006/main" r:embed="R169244bd33a9400b"/>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A856FAF7-DAAA-4343-9C11-1BC1FE48637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C3C35F18-46E8-4F4B-9B18-239BBCD5B09B}"/>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Trạng thái MVP và pilot</a:t>
            </a:r>
          </a:p>
        </p:txBody>
      </p:sp>
      <p:sp>
        <p:nvSpPr>
          <p:cNvPr id="4" name="!!pilot-start-selection">
            <a:extLst xmlns:a="http://schemas.openxmlformats.org/drawingml/2006/main">
              <a:ext uri="{FF2B5EF4-FFF2-40B4-BE49-F238E27FC236}">
                <a16:creationId xmlns:a16="http://schemas.microsoft.com/office/drawing/2014/main" id="{FC30E2B9-9335-48EA-B905-FFF7B821B621}"/>
              </a:ext>
            </a:extLst>
          </p:cNvPr>
          <p:cNvSpPr>
            <a:spLocks xmlns:a="http://schemas.openxmlformats.org/drawingml/2006/main" noGrp="1"/>
          </p:cNvSpPr>
          <p:nvPr/>
        </p:nvSpPr>
        <p:spPr>
          <a:xfrm xmlns:a="http://schemas.openxmlformats.org/drawingml/2006/main">
            <a:off x="666750" y="2190750"/>
            <a:ext cx="571500" cy="5715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5" name="!!pilot-start-icon-0">
            <a:extLst xmlns:a="http://schemas.openxmlformats.org/drawingml/2006/main">
              <a:ext uri="{FF2B5EF4-FFF2-40B4-BE49-F238E27FC236}">
                <a16:creationId xmlns:a16="http://schemas.microsoft.com/office/drawing/2014/main" id="{F2F36077-AA16-4F8B-A1F6-70FE7CF1E1BC}"/>
              </a:ext>
            </a:extLst>
          </p:cNvPr>
          <p:cNvSpPr>
            <a:spLocks xmlns:a="http://schemas.openxmlformats.org/drawingml/2006/main" noGrp="1"/>
          </p:cNvSpPr>
          <p:nvPr/>
        </p:nvSpPr>
        <p:spPr>
          <a:xfrm xmlns:a="http://schemas.openxmlformats.org/drawingml/2006/main">
            <a:off x="901065" y="2347913"/>
            <a:ext cx="102870" cy="102870"/>
          </a:xfrm>
          <a:prstGeom xmlns:a="http://schemas.openxmlformats.org/drawingml/2006/main" prst="ellipse">
            <a:avLst/>
          </a:prstGeom>
          <a:noFill xmlns:a="http://schemas.openxmlformats.org/drawingml/2006/main"/>
          <a:ln xmlns:a="http://schemas.openxmlformats.org/drawingml/2006/main" w="19050">
            <a:solidFill>
              <a:srgbClr val="A3BCAB"/>
            </a:solidFill>
            <a:prstDash val="solid"/>
          </a:ln>
        </p:spPr>
      </p:sp>
      <p:sp>
        <p:nvSpPr>
          <p:cNvPr id="6" name="!!pilot-start-icon-1">
            <a:extLst xmlns:a="http://schemas.openxmlformats.org/drawingml/2006/main">
              <a:ext uri="{FF2B5EF4-FFF2-40B4-BE49-F238E27FC236}">
                <a16:creationId xmlns:a16="http://schemas.microsoft.com/office/drawing/2014/main" id="{0FB31F4F-99EB-45C2-AF73-5EBC8E4B90B7}"/>
              </a:ext>
            </a:extLst>
          </p:cNvPr>
          <p:cNvSpPr>
            <a:spLocks xmlns:a="http://schemas.openxmlformats.org/drawingml/2006/main" noGrp="1"/>
          </p:cNvSpPr>
          <p:nvPr/>
        </p:nvSpPr>
        <p:spPr>
          <a:xfrm xmlns:a="http://schemas.openxmlformats.org/drawingml/2006/main">
            <a:off x="849630" y="2489359"/>
            <a:ext cx="205740" cy="115729"/>
          </a:xfrm>
          <a:prstGeom xmlns:a="http://schemas.openxmlformats.org/drawingml/2006/main" prst="roundRect">
            <a:avLst>
              <a:gd name="adj" fmla="val 50000"/>
            </a:avLst>
          </a:prstGeom>
          <a:noFill xmlns:a="http://schemas.openxmlformats.org/drawingml/2006/main"/>
          <a:ln xmlns:a="http://schemas.openxmlformats.org/drawingml/2006/main" w="19050">
            <a:solidFill>
              <a:srgbClr val="A3BCAB"/>
            </a:solidFill>
            <a:prstDash val="solid"/>
          </a:ln>
        </p:spPr>
      </p:sp>
      <p:sp>
        <p:nvSpPr>
          <p:cNvPr id="7" name="!!pilot-start-label">
            <a:extLst xmlns:a="http://schemas.openxmlformats.org/drawingml/2006/main">
              <a:ext uri="{FF2B5EF4-FFF2-40B4-BE49-F238E27FC236}">
                <a16:creationId xmlns:a16="http://schemas.microsoft.com/office/drawing/2014/main" id="{BD6DCFCC-92DD-418F-BCF7-85CC5351E62E}"/>
              </a:ext>
            </a:extLst>
          </p:cNvPr>
          <p:cNvSpPr>
            <a:spLocks xmlns:a="http://schemas.openxmlformats.org/drawingml/2006/main" noGrp="1"/>
          </p:cNvSpPr>
          <p:nvPr/>
        </p:nvSpPr>
        <p:spPr>
          <a:xfrm xmlns:a="http://schemas.openxmlformats.org/drawingml/2006/main">
            <a:off x="1524000" y="2133600"/>
            <a:ext cx="45624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F4F1E8"/>
                </a:solidFill>
                <a:latin typeface="Segoe UI"/>
                <a:ea typeface="Segoe UI"/>
                <a:cs typeface="Segoe UI"/>
              </a:defRPr>
            </a:pPr>
            <a:r>
              <a:rPr sz="2100" b="1">
                <a:solidFill>
                  <a:srgbClr val="F4F1E8"/>
                </a:solidFill>
                <a:latin typeface="Segoe UI"/>
                <a:ea typeface="Segoe UI"/>
                <a:cs typeface="Segoe UI"/>
              </a:rPr>
              <a:t>Một HTX, nhóm lô nhỏ</a:t>
            </a:r>
          </a:p>
        </p:txBody>
      </p:sp>
      <p:sp>
        <p:nvSpPr>
          <p:cNvPr id="8" name="!!pilot-start-detail">
            <a:extLst xmlns:a="http://schemas.openxmlformats.org/drawingml/2006/main">
              <a:ext uri="{FF2B5EF4-FFF2-40B4-BE49-F238E27FC236}">
                <a16:creationId xmlns:a16="http://schemas.microsoft.com/office/drawing/2014/main" id="{0F4E9718-6B82-488E-8C7C-98E2B6AA97CD}"/>
              </a:ext>
            </a:extLst>
          </p:cNvPr>
          <p:cNvSpPr>
            <a:spLocks xmlns:a="http://schemas.openxmlformats.org/drawingml/2006/main" noGrp="1"/>
          </p:cNvSpPr>
          <p:nvPr/>
        </p:nvSpPr>
        <p:spPr>
          <a:xfrm xmlns:a="http://schemas.openxmlformats.org/drawingml/2006/main">
            <a:off x="1524000" y="2705100"/>
            <a:ext cx="45624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Làm cùng người phụ trách hồ sơ</a:t>
            </a:r>
          </a:p>
        </p:txBody>
      </p:sp>
      <p:sp>
        <p:nvSpPr>
          <p:cNvPr id="9" name="!!pilot-measure-selection">
            <a:extLst xmlns:a="http://schemas.openxmlformats.org/drawingml/2006/main">
              <a:ext uri="{FF2B5EF4-FFF2-40B4-BE49-F238E27FC236}">
                <a16:creationId xmlns:a16="http://schemas.microsoft.com/office/drawing/2014/main" id="{5CDBCD6B-4BB6-4661-B77B-B08D0A0BB37A}"/>
              </a:ext>
            </a:extLst>
          </p:cNvPr>
          <p:cNvSpPr>
            <a:spLocks xmlns:a="http://schemas.openxmlformats.org/drawingml/2006/main" noGrp="1"/>
          </p:cNvSpPr>
          <p:nvPr/>
        </p:nvSpPr>
        <p:spPr>
          <a:xfrm xmlns:a="http://schemas.openxmlformats.org/drawingml/2006/main">
            <a:off x="590550" y="3352800"/>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10" name="!!pilot-measure-icon-0">
            <a:extLst xmlns:a="http://schemas.openxmlformats.org/drawingml/2006/main">
              <a:ext uri="{FF2B5EF4-FFF2-40B4-BE49-F238E27FC236}">
                <a16:creationId xmlns:a16="http://schemas.microsoft.com/office/drawing/2014/main" id="{585C1D6F-A0D4-4D85-B7F4-87142CD54462}"/>
              </a:ext>
            </a:extLst>
          </p:cNvPr>
          <p:cNvSpPr>
            <a:spLocks xmlns:a="http://schemas.openxmlformats.org/drawingml/2006/main" noGrp="1"/>
          </p:cNvSpPr>
          <p:nvPr/>
        </p:nvSpPr>
        <p:spPr>
          <a:xfrm xmlns:a="http://schemas.openxmlformats.org/drawingml/2006/main">
            <a:off x="789622" y="3551873"/>
            <a:ext cx="325755" cy="325755"/>
          </a:xfrm>
          <a:prstGeom xmlns:a="http://schemas.openxmlformats.org/drawingml/2006/main" prst="ellipse">
            <a:avLst/>
          </a:prstGeom>
          <a:noFill xmlns:a="http://schemas.openxmlformats.org/drawingml/2006/main"/>
          <a:ln xmlns:a="http://schemas.openxmlformats.org/drawingml/2006/main" w="19050">
            <a:solidFill>
              <a:srgbClr val="FFFFFF"/>
            </a:solidFill>
            <a:prstDash val="solid"/>
          </a:ln>
        </p:spPr>
      </p:sp>
      <p:sp>
        <p:nvSpPr>
          <p:cNvPr id="11" name="!!pilot-measure-icon-1">
            <a:extLst xmlns:a="http://schemas.openxmlformats.org/drawingml/2006/main">
              <a:ext uri="{FF2B5EF4-FFF2-40B4-BE49-F238E27FC236}">
                <a16:creationId xmlns:a16="http://schemas.microsoft.com/office/drawing/2014/main" id="{7525714A-BA83-4F4E-BB51-544BF2877DE1}"/>
              </a:ext>
            </a:extLst>
          </p:cNvPr>
          <p:cNvSpPr>
            <a:spLocks xmlns:a="http://schemas.openxmlformats.org/drawingml/2006/main" noGrp="1"/>
          </p:cNvSpPr>
          <p:nvPr/>
        </p:nvSpPr>
        <p:spPr>
          <a:xfrm xmlns:a="http://schemas.openxmlformats.org/drawingml/2006/main">
            <a:off x="757047" y="3519297"/>
            <a:ext cx="390906" cy="390906"/>
          </a:xfrm>
          <a:custGeom xmlns:a="http://schemas.openxmlformats.org/drawingml/2006/main">
            <a:pathLst>
              <a:path w="228600" h="228600">
                <a:moveTo>
                  <a:pt x="114300" y="47625"/>
                </a:moveTo>
                <a:lnTo>
                  <a:pt x="114300" y="114300"/>
                </a:lnTo>
                <a:lnTo>
                  <a:pt x="161925" y="142875"/>
                </a:lnTo>
              </a:path>
            </a:pathLst>
          </a:custGeom>
          <a:noFill xmlns:a="http://schemas.openxmlformats.org/drawingml/2006/main"/>
          <a:ln xmlns:a="http://schemas.openxmlformats.org/drawingml/2006/main" w="19050">
            <a:solidFill>
              <a:srgbClr val="FFFFFF"/>
            </a:solidFill>
            <a:prstDash val="solid"/>
          </a:ln>
        </p:spPr>
      </p:sp>
      <p:sp>
        <p:nvSpPr>
          <p:cNvPr id="12" name="!!pilot-measure-label">
            <a:extLst xmlns:a="http://schemas.openxmlformats.org/drawingml/2006/main">
              <a:ext uri="{FF2B5EF4-FFF2-40B4-BE49-F238E27FC236}">
                <a16:creationId xmlns:a16="http://schemas.microsoft.com/office/drawing/2014/main" id="{7A7083B6-EB54-44FF-87AC-507781B795B7}"/>
              </a:ext>
            </a:extLst>
          </p:cNvPr>
          <p:cNvSpPr>
            <a:spLocks xmlns:a="http://schemas.openxmlformats.org/drawingml/2006/main" noGrp="1"/>
          </p:cNvSpPr>
          <p:nvPr/>
        </p:nvSpPr>
        <p:spPr>
          <a:xfrm xmlns:a="http://schemas.openxmlformats.org/drawingml/2006/main">
            <a:off x="1524000" y="3371850"/>
            <a:ext cx="45624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400" b="1">
                <a:solidFill>
                  <a:srgbClr val="F4F1E8"/>
                </a:solidFill>
                <a:latin typeface="Segoe UI"/>
                <a:ea typeface="Segoe UI"/>
                <a:cs typeface="Segoe UI"/>
              </a:defRPr>
            </a:pPr>
            <a:r>
              <a:rPr sz="2400" b="1">
                <a:solidFill>
                  <a:srgbClr val="F4F1E8"/>
                </a:solidFill>
                <a:latin typeface="Segoe UI"/>
                <a:ea typeface="Segoe UI"/>
                <a:cs typeface="Segoe UI"/>
              </a:rPr>
              <a:t>Đo trước và sau</a:t>
            </a:r>
          </a:p>
        </p:txBody>
      </p:sp>
      <p:sp>
        <p:nvSpPr>
          <p:cNvPr id="13" name="!!pilot-measure-detail">
            <a:extLst xmlns:a="http://schemas.openxmlformats.org/drawingml/2006/main">
              <a:ext uri="{FF2B5EF4-FFF2-40B4-BE49-F238E27FC236}">
                <a16:creationId xmlns:a16="http://schemas.microsoft.com/office/drawing/2014/main" id="{0B7B806D-F131-4294-8C5E-700C165C72AE}"/>
              </a:ext>
            </a:extLst>
          </p:cNvPr>
          <p:cNvSpPr>
            <a:spLocks xmlns:a="http://schemas.openxmlformats.org/drawingml/2006/main" noGrp="1"/>
          </p:cNvSpPr>
          <p:nvPr/>
        </p:nvSpPr>
        <p:spPr>
          <a:xfrm xmlns:a="http://schemas.openxmlformats.org/drawingml/2006/main">
            <a:off x="1524000" y="3943350"/>
            <a:ext cx="45624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Thời gian tìm hồ sơ, tài liệu còn thiếu</a:t>
            </a:r>
          </a:p>
        </p:txBody>
      </p:sp>
      <p:sp>
        <p:nvSpPr>
          <p:cNvPr id="14" name="!!page">
            <a:extLst xmlns:a="http://schemas.openxmlformats.org/drawingml/2006/main">
              <a:ext uri="{FF2B5EF4-FFF2-40B4-BE49-F238E27FC236}">
                <a16:creationId xmlns:a16="http://schemas.microsoft.com/office/drawing/2014/main" id="{577DD943-D171-4984-902C-BEE81B8B5A52}"/>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27 / 30</a:t>
            </a:r>
          </a:p>
        </p:txBody>
      </p:sp>
      <p:sp>
        <p:nvSpPr>
          <p:cNvPr id="15" name="!!caption">
            <a:extLst xmlns:a="http://schemas.openxmlformats.org/drawingml/2006/main">
              <a:ext uri="{FF2B5EF4-FFF2-40B4-BE49-F238E27FC236}">
                <a16:creationId xmlns:a16="http://schemas.microsoft.com/office/drawing/2014/main" id="{657EBBDF-9A90-4234-BC39-873081071740}"/>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Kế hoạch đề xuất. Chưa có pilot hoặc doanh thu được xác nhận</a:t>
            </a:r>
          </a:p>
        </p:txBody>
      </p:sp>
    </p:spTree>
    <p:extLst>
      <p:ext uri="{BB962C8B-B14F-4D97-AF65-F5344CB8AC3E}">
        <p14:creationId xmlns:p14="http://schemas.microsoft.com/office/powerpoint/2010/main" val="1061012793"/>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54.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22" name="!!backdrop"/>
          <p:cNvPicPr>
            <a:picLocks xmlns:a="http://schemas.openxmlformats.org/drawingml/2006/main" noChangeAspect="1"/>
          </p:cNvPicPr>
          <p:nvPr/>
        </p:nvPicPr>
        <p:blipFill>
          <a:blip xmlns:r="http://schemas.openxmlformats.org/officeDocument/2006/relationships" xmlns:a="http://schemas.openxmlformats.org/drawingml/2006/main" r:embed="Rc7fc8e7f6c734188"/>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4B1206FC-E2E1-4A16-BC5E-56AEFF87C93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09E5DA10-C7FC-4117-B5CE-9473198E24B9}"/>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Trạng thái MVP và pilot</a:t>
            </a:r>
          </a:p>
        </p:txBody>
      </p:sp>
      <p:sp>
        <p:nvSpPr>
          <p:cNvPr id="4" name="!!pilot-start-selection">
            <a:extLst xmlns:a="http://schemas.openxmlformats.org/drawingml/2006/main">
              <a:ext uri="{FF2B5EF4-FFF2-40B4-BE49-F238E27FC236}">
                <a16:creationId xmlns:a16="http://schemas.microsoft.com/office/drawing/2014/main" id="{C61C47BF-906D-40A6-A56E-B83A0CB1B2CB}"/>
              </a:ext>
            </a:extLst>
          </p:cNvPr>
          <p:cNvSpPr>
            <a:spLocks xmlns:a="http://schemas.openxmlformats.org/drawingml/2006/main" noGrp="1"/>
          </p:cNvSpPr>
          <p:nvPr/>
        </p:nvSpPr>
        <p:spPr>
          <a:xfrm xmlns:a="http://schemas.openxmlformats.org/drawingml/2006/main">
            <a:off x="666750" y="2190750"/>
            <a:ext cx="571500" cy="5715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5" name="!!pilot-start-icon-0">
            <a:extLst xmlns:a="http://schemas.openxmlformats.org/drawingml/2006/main">
              <a:ext uri="{FF2B5EF4-FFF2-40B4-BE49-F238E27FC236}">
                <a16:creationId xmlns:a16="http://schemas.microsoft.com/office/drawing/2014/main" id="{CC33F745-8632-47E2-AB41-A5A4EC5790E4}"/>
              </a:ext>
            </a:extLst>
          </p:cNvPr>
          <p:cNvSpPr>
            <a:spLocks xmlns:a="http://schemas.openxmlformats.org/drawingml/2006/main" noGrp="1"/>
          </p:cNvSpPr>
          <p:nvPr/>
        </p:nvSpPr>
        <p:spPr>
          <a:xfrm xmlns:a="http://schemas.openxmlformats.org/drawingml/2006/main">
            <a:off x="901065" y="2347913"/>
            <a:ext cx="102870" cy="102870"/>
          </a:xfrm>
          <a:prstGeom xmlns:a="http://schemas.openxmlformats.org/drawingml/2006/main" prst="ellipse">
            <a:avLst/>
          </a:prstGeom>
          <a:noFill xmlns:a="http://schemas.openxmlformats.org/drawingml/2006/main"/>
          <a:ln xmlns:a="http://schemas.openxmlformats.org/drawingml/2006/main" w="19050">
            <a:solidFill>
              <a:srgbClr val="A3BCAB"/>
            </a:solidFill>
            <a:prstDash val="solid"/>
          </a:ln>
        </p:spPr>
      </p:sp>
      <p:sp>
        <p:nvSpPr>
          <p:cNvPr id="6" name="!!pilot-start-icon-1">
            <a:extLst xmlns:a="http://schemas.openxmlformats.org/drawingml/2006/main">
              <a:ext uri="{FF2B5EF4-FFF2-40B4-BE49-F238E27FC236}">
                <a16:creationId xmlns:a16="http://schemas.microsoft.com/office/drawing/2014/main" id="{1EFA2BD6-14AD-48F0-AABA-8ADD3B70E1D0}"/>
              </a:ext>
            </a:extLst>
          </p:cNvPr>
          <p:cNvSpPr>
            <a:spLocks xmlns:a="http://schemas.openxmlformats.org/drawingml/2006/main" noGrp="1"/>
          </p:cNvSpPr>
          <p:nvPr/>
        </p:nvSpPr>
        <p:spPr>
          <a:xfrm xmlns:a="http://schemas.openxmlformats.org/drawingml/2006/main">
            <a:off x="849630" y="2489359"/>
            <a:ext cx="205740" cy="115729"/>
          </a:xfrm>
          <a:prstGeom xmlns:a="http://schemas.openxmlformats.org/drawingml/2006/main" prst="roundRect">
            <a:avLst>
              <a:gd name="adj" fmla="val 50000"/>
            </a:avLst>
          </a:prstGeom>
          <a:noFill xmlns:a="http://schemas.openxmlformats.org/drawingml/2006/main"/>
          <a:ln xmlns:a="http://schemas.openxmlformats.org/drawingml/2006/main" w="19050">
            <a:solidFill>
              <a:srgbClr val="A3BCAB"/>
            </a:solidFill>
            <a:prstDash val="solid"/>
          </a:ln>
        </p:spPr>
      </p:sp>
      <p:sp>
        <p:nvSpPr>
          <p:cNvPr id="7" name="!!pilot-start-label">
            <a:extLst xmlns:a="http://schemas.openxmlformats.org/drawingml/2006/main">
              <a:ext uri="{FF2B5EF4-FFF2-40B4-BE49-F238E27FC236}">
                <a16:creationId xmlns:a16="http://schemas.microsoft.com/office/drawing/2014/main" id="{A80273F2-F0A4-468D-9B3A-D714D83635BF}"/>
              </a:ext>
            </a:extLst>
          </p:cNvPr>
          <p:cNvSpPr>
            <a:spLocks xmlns:a="http://schemas.openxmlformats.org/drawingml/2006/main" noGrp="1"/>
          </p:cNvSpPr>
          <p:nvPr/>
        </p:nvSpPr>
        <p:spPr>
          <a:xfrm xmlns:a="http://schemas.openxmlformats.org/drawingml/2006/main">
            <a:off x="1524000" y="2133600"/>
            <a:ext cx="45624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F4F1E8"/>
                </a:solidFill>
                <a:latin typeface="Segoe UI"/>
                <a:ea typeface="Segoe UI"/>
                <a:cs typeface="Segoe UI"/>
              </a:defRPr>
            </a:pPr>
            <a:r>
              <a:rPr sz="2100" b="1">
                <a:solidFill>
                  <a:srgbClr val="F4F1E8"/>
                </a:solidFill>
                <a:latin typeface="Segoe UI"/>
                <a:ea typeface="Segoe UI"/>
                <a:cs typeface="Segoe UI"/>
              </a:rPr>
              <a:t>Một HTX, nhóm lô nhỏ</a:t>
            </a:r>
          </a:p>
        </p:txBody>
      </p:sp>
      <p:sp>
        <p:nvSpPr>
          <p:cNvPr id="8" name="!!pilot-start-detail">
            <a:extLst xmlns:a="http://schemas.openxmlformats.org/drawingml/2006/main">
              <a:ext uri="{FF2B5EF4-FFF2-40B4-BE49-F238E27FC236}">
                <a16:creationId xmlns:a16="http://schemas.microsoft.com/office/drawing/2014/main" id="{EFC13061-386B-4CEB-9EE9-FB6A1ECA424E}"/>
              </a:ext>
            </a:extLst>
          </p:cNvPr>
          <p:cNvSpPr>
            <a:spLocks xmlns:a="http://schemas.openxmlformats.org/drawingml/2006/main" noGrp="1"/>
          </p:cNvSpPr>
          <p:nvPr/>
        </p:nvSpPr>
        <p:spPr>
          <a:xfrm xmlns:a="http://schemas.openxmlformats.org/drawingml/2006/main">
            <a:off x="1524000" y="2705100"/>
            <a:ext cx="45624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Làm cùng người phụ trách hồ sơ</a:t>
            </a:r>
          </a:p>
        </p:txBody>
      </p:sp>
      <p:sp>
        <p:nvSpPr>
          <p:cNvPr id="9" name="!!pilot-measure-selection">
            <a:extLst xmlns:a="http://schemas.openxmlformats.org/drawingml/2006/main">
              <a:ext uri="{FF2B5EF4-FFF2-40B4-BE49-F238E27FC236}">
                <a16:creationId xmlns:a16="http://schemas.microsoft.com/office/drawing/2014/main" id="{49CE0F05-ABE9-4E8E-A889-D9AA9872EB7E}"/>
              </a:ext>
            </a:extLst>
          </p:cNvPr>
          <p:cNvSpPr>
            <a:spLocks xmlns:a="http://schemas.openxmlformats.org/drawingml/2006/main" noGrp="1"/>
          </p:cNvSpPr>
          <p:nvPr/>
        </p:nvSpPr>
        <p:spPr>
          <a:xfrm xmlns:a="http://schemas.openxmlformats.org/drawingml/2006/main">
            <a:off x="666750" y="3429000"/>
            <a:ext cx="571500" cy="5715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10" name="!!pilot-measure-icon-0">
            <a:extLst xmlns:a="http://schemas.openxmlformats.org/drawingml/2006/main">
              <a:ext uri="{FF2B5EF4-FFF2-40B4-BE49-F238E27FC236}">
                <a16:creationId xmlns:a16="http://schemas.microsoft.com/office/drawing/2014/main" id="{350A265F-2687-4B54-BA02-826337573660}"/>
              </a:ext>
            </a:extLst>
          </p:cNvPr>
          <p:cNvSpPr>
            <a:spLocks xmlns:a="http://schemas.openxmlformats.org/drawingml/2006/main" noGrp="1"/>
          </p:cNvSpPr>
          <p:nvPr/>
        </p:nvSpPr>
        <p:spPr>
          <a:xfrm xmlns:a="http://schemas.openxmlformats.org/drawingml/2006/main">
            <a:off x="823913" y="3586163"/>
            <a:ext cx="257175" cy="257175"/>
          </a:xfrm>
          <a:prstGeom xmlns:a="http://schemas.openxmlformats.org/drawingml/2006/main" prst="ellipse">
            <a:avLst/>
          </a:prstGeom>
          <a:noFill xmlns:a="http://schemas.openxmlformats.org/drawingml/2006/main"/>
          <a:ln xmlns:a="http://schemas.openxmlformats.org/drawingml/2006/main" w="19050">
            <a:solidFill>
              <a:srgbClr val="A3BCAB"/>
            </a:solidFill>
            <a:prstDash val="solid"/>
          </a:ln>
        </p:spPr>
      </p:sp>
      <p:sp>
        <p:nvSpPr>
          <p:cNvPr id="11" name="!!pilot-measure-icon-1">
            <a:extLst xmlns:a="http://schemas.openxmlformats.org/drawingml/2006/main">
              <a:ext uri="{FF2B5EF4-FFF2-40B4-BE49-F238E27FC236}">
                <a16:creationId xmlns:a16="http://schemas.microsoft.com/office/drawing/2014/main" id="{A0DAB83D-671A-4305-A015-16AD8B9E3E45}"/>
              </a:ext>
            </a:extLst>
          </p:cNvPr>
          <p:cNvSpPr>
            <a:spLocks xmlns:a="http://schemas.openxmlformats.org/drawingml/2006/main" noGrp="1"/>
          </p:cNvSpPr>
          <p:nvPr/>
        </p:nvSpPr>
        <p:spPr>
          <a:xfrm xmlns:a="http://schemas.openxmlformats.org/drawingml/2006/main">
            <a:off x="798195" y="3560445"/>
            <a:ext cx="308610" cy="308610"/>
          </a:xfrm>
          <a:custGeom xmlns:a="http://schemas.openxmlformats.org/drawingml/2006/main">
            <a:pathLst>
              <a:path w="228600" h="228600">
                <a:moveTo>
                  <a:pt x="114300" y="47625"/>
                </a:moveTo>
                <a:lnTo>
                  <a:pt x="114300" y="114300"/>
                </a:lnTo>
                <a:lnTo>
                  <a:pt x="161925" y="142875"/>
                </a:lnTo>
              </a:path>
            </a:pathLst>
          </a:custGeom>
          <a:noFill xmlns:a="http://schemas.openxmlformats.org/drawingml/2006/main"/>
          <a:ln xmlns:a="http://schemas.openxmlformats.org/drawingml/2006/main" w="19050">
            <a:solidFill>
              <a:srgbClr val="A3BCAB"/>
            </a:solidFill>
            <a:prstDash val="solid"/>
          </a:ln>
        </p:spPr>
      </p:sp>
      <p:sp>
        <p:nvSpPr>
          <p:cNvPr id="12" name="!!pilot-measure-label">
            <a:extLst xmlns:a="http://schemas.openxmlformats.org/drawingml/2006/main">
              <a:ext uri="{FF2B5EF4-FFF2-40B4-BE49-F238E27FC236}">
                <a16:creationId xmlns:a16="http://schemas.microsoft.com/office/drawing/2014/main" id="{53BC42CD-F60F-4D9D-A43F-07CC01A8D81D}"/>
              </a:ext>
            </a:extLst>
          </p:cNvPr>
          <p:cNvSpPr>
            <a:spLocks xmlns:a="http://schemas.openxmlformats.org/drawingml/2006/main" noGrp="1"/>
          </p:cNvSpPr>
          <p:nvPr/>
        </p:nvSpPr>
        <p:spPr>
          <a:xfrm xmlns:a="http://schemas.openxmlformats.org/drawingml/2006/main">
            <a:off x="1524000" y="3371850"/>
            <a:ext cx="45624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F4F1E8"/>
                </a:solidFill>
                <a:latin typeface="Segoe UI"/>
                <a:ea typeface="Segoe UI"/>
                <a:cs typeface="Segoe UI"/>
              </a:defRPr>
            </a:pPr>
            <a:r>
              <a:rPr sz="2100" b="1">
                <a:solidFill>
                  <a:srgbClr val="F4F1E8"/>
                </a:solidFill>
                <a:latin typeface="Segoe UI"/>
                <a:ea typeface="Segoe UI"/>
                <a:cs typeface="Segoe UI"/>
              </a:rPr>
              <a:t>Đo trước và sau</a:t>
            </a:r>
          </a:p>
        </p:txBody>
      </p:sp>
      <p:sp>
        <p:nvSpPr>
          <p:cNvPr id="13" name="!!pilot-measure-detail">
            <a:extLst xmlns:a="http://schemas.openxmlformats.org/drawingml/2006/main">
              <a:ext uri="{FF2B5EF4-FFF2-40B4-BE49-F238E27FC236}">
                <a16:creationId xmlns:a16="http://schemas.microsoft.com/office/drawing/2014/main" id="{6F0DCBD8-A67D-4E99-AD43-2DF9FA71F01E}"/>
              </a:ext>
            </a:extLst>
          </p:cNvPr>
          <p:cNvSpPr>
            <a:spLocks xmlns:a="http://schemas.openxmlformats.org/drawingml/2006/main" noGrp="1"/>
          </p:cNvSpPr>
          <p:nvPr/>
        </p:nvSpPr>
        <p:spPr>
          <a:xfrm xmlns:a="http://schemas.openxmlformats.org/drawingml/2006/main">
            <a:off x="1524000" y="3943350"/>
            <a:ext cx="45624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Thời gian tìm hồ sơ, tài liệu còn thiếu</a:t>
            </a:r>
          </a:p>
        </p:txBody>
      </p:sp>
      <p:sp>
        <p:nvSpPr>
          <p:cNvPr id="14" name="!!payer-symbol-selection">
            <a:extLst xmlns:a="http://schemas.openxmlformats.org/drawingml/2006/main">
              <a:ext uri="{FF2B5EF4-FFF2-40B4-BE49-F238E27FC236}">
                <a16:creationId xmlns:a16="http://schemas.microsoft.com/office/drawing/2014/main" id="{244824FB-C633-4B61-9AEA-3BABD50EE3AA}"/>
              </a:ext>
            </a:extLst>
          </p:cNvPr>
          <p:cNvSpPr>
            <a:spLocks xmlns:a="http://schemas.openxmlformats.org/drawingml/2006/main" noGrp="1"/>
          </p:cNvSpPr>
          <p:nvPr/>
        </p:nvSpPr>
        <p:spPr>
          <a:xfrm xmlns:a="http://schemas.openxmlformats.org/drawingml/2006/main">
            <a:off x="600075" y="4953000"/>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15" name="!!payer-symbol-icon-0">
            <a:extLst xmlns:a="http://schemas.openxmlformats.org/drawingml/2006/main">
              <a:ext uri="{FF2B5EF4-FFF2-40B4-BE49-F238E27FC236}">
                <a16:creationId xmlns:a16="http://schemas.microsoft.com/office/drawing/2014/main" id="{13EC5E72-38A7-4397-A384-B5480DB54B94}"/>
              </a:ext>
            </a:extLst>
          </p:cNvPr>
          <p:cNvSpPr>
            <a:spLocks xmlns:a="http://schemas.openxmlformats.org/drawingml/2006/main" noGrp="1"/>
          </p:cNvSpPr>
          <p:nvPr/>
        </p:nvSpPr>
        <p:spPr>
          <a:xfrm xmlns:a="http://schemas.openxmlformats.org/drawingml/2006/main">
            <a:off x="799147" y="5200936"/>
            <a:ext cx="325755" cy="260604"/>
          </a:xfrm>
          <a:prstGeom xmlns:a="http://schemas.openxmlformats.org/drawingml/2006/main" prst="roundRect">
            <a:avLst>
              <a:gd name="adj" fmla="val 29240"/>
            </a:avLst>
          </a:prstGeom>
          <a:noFill xmlns:a="http://schemas.openxmlformats.org/drawingml/2006/main"/>
          <a:ln xmlns:a="http://schemas.openxmlformats.org/drawingml/2006/main" w="19050">
            <a:solidFill>
              <a:srgbClr val="FFFFFF"/>
            </a:solidFill>
            <a:prstDash val="solid"/>
          </a:ln>
        </p:spPr>
      </p:sp>
      <p:sp>
        <p:nvSpPr>
          <p:cNvPr id="16" name="!!payer-symbol-icon-1">
            <a:extLst xmlns:a="http://schemas.openxmlformats.org/drawingml/2006/main">
              <a:ext uri="{FF2B5EF4-FFF2-40B4-BE49-F238E27FC236}">
                <a16:creationId xmlns:a16="http://schemas.microsoft.com/office/drawing/2014/main" id="{FE89A151-32E9-4661-A476-1D26D1FB15C0}"/>
              </a:ext>
            </a:extLst>
          </p:cNvPr>
          <p:cNvSpPr>
            <a:spLocks xmlns:a="http://schemas.openxmlformats.org/drawingml/2006/main" noGrp="1"/>
          </p:cNvSpPr>
          <p:nvPr/>
        </p:nvSpPr>
        <p:spPr>
          <a:xfrm xmlns:a="http://schemas.openxmlformats.org/drawingml/2006/main">
            <a:off x="1010888" y="5298662"/>
            <a:ext cx="114014" cy="97727"/>
          </a:xfrm>
          <a:prstGeom xmlns:a="http://schemas.openxmlformats.org/drawingml/2006/main" prst="rect">
            <a:avLst/>
          </a:prstGeom>
          <a:noFill xmlns:a="http://schemas.openxmlformats.org/drawingml/2006/main"/>
          <a:ln xmlns:a="http://schemas.openxmlformats.org/drawingml/2006/main" w="19050">
            <a:solidFill>
              <a:srgbClr val="FFFFFF"/>
            </a:solidFill>
            <a:prstDash val="solid"/>
          </a:ln>
        </p:spPr>
      </p:sp>
      <p:sp>
        <p:nvSpPr>
          <p:cNvPr id="17" name="!!payer-symbol-icon-2">
            <a:extLst xmlns:a="http://schemas.openxmlformats.org/drawingml/2006/main">
              <a:ext uri="{FF2B5EF4-FFF2-40B4-BE49-F238E27FC236}">
                <a16:creationId xmlns:a16="http://schemas.microsoft.com/office/drawing/2014/main" id="{03D411DC-9E9E-4C35-864D-66C06A52AFF7}"/>
              </a:ext>
            </a:extLst>
          </p:cNvPr>
          <p:cNvSpPr>
            <a:spLocks xmlns:a="http://schemas.openxmlformats.org/drawingml/2006/main" noGrp="1"/>
          </p:cNvSpPr>
          <p:nvPr/>
        </p:nvSpPr>
        <p:spPr>
          <a:xfrm xmlns:a="http://schemas.openxmlformats.org/drawingml/2006/main">
            <a:off x="1043464" y="5331238"/>
            <a:ext cx="32576" cy="32576"/>
          </a:xfrm>
          <a:prstGeom xmlns:a="http://schemas.openxmlformats.org/drawingml/2006/main" prst="ellipse">
            <a:avLst/>
          </a:prstGeom>
          <a:noFill xmlns:a="http://schemas.openxmlformats.org/drawingml/2006/main"/>
          <a:ln xmlns:a="http://schemas.openxmlformats.org/drawingml/2006/main" w="19050">
            <a:solidFill>
              <a:srgbClr val="FFFFFF"/>
            </a:solidFill>
            <a:prstDash val="solid"/>
          </a:ln>
        </p:spPr>
      </p:sp>
      <p:sp>
        <p:nvSpPr>
          <p:cNvPr id="18" name="!!payer">
            <a:extLst xmlns:a="http://schemas.openxmlformats.org/drawingml/2006/main">
              <a:ext uri="{FF2B5EF4-FFF2-40B4-BE49-F238E27FC236}">
                <a16:creationId xmlns:a16="http://schemas.microsoft.com/office/drawing/2014/main" id="{0AD0A890-5E7E-41A0-B010-10791ACE335C}"/>
              </a:ext>
            </a:extLst>
          </p:cNvPr>
          <p:cNvSpPr>
            <a:spLocks xmlns:a="http://schemas.openxmlformats.org/drawingml/2006/main" noGrp="1"/>
          </p:cNvSpPr>
          <p:nvPr/>
        </p:nvSpPr>
        <p:spPr>
          <a:xfrm xmlns:a="http://schemas.openxmlformats.org/drawingml/2006/main">
            <a:off x="1524000" y="4972050"/>
            <a:ext cx="4381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550" b="1">
                <a:solidFill>
                  <a:srgbClr val="C8A45B"/>
                </a:solidFill>
                <a:latin typeface="Segoe UI"/>
                <a:ea typeface="Segoe UI"/>
                <a:cs typeface="Segoe UI"/>
              </a:defRPr>
            </a:pPr>
            <a:r>
              <a:rPr sz="2550" b="1">
                <a:solidFill>
                  <a:srgbClr val="C8A45B"/>
                </a:solidFill>
                <a:latin typeface="Segoe UI"/>
                <a:ea typeface="Segoe UI"/>
                <a:cs typeface="Segoe UI"/>
              </a:rPr>
              <a:t>Giả thuyết trả phí</a:t>
            </a:r>
          </a:p>
        </p:txBody>
      </p:sp>
      <p:sp>
        <p:nvSpPr>
          <p:cNvPr id="19" name="!!payer-detail">
            <a:extLst xmlns:a="http://schemas.openxmlformats.org/drawingml/2006/main">
              <a:ext uri="{FF2B5EF4-FFF2-40B4-BE49-F238E27FC236}">
                <a16:creationId xmlns:a16="http://schemas.microsoft.com/office/drawing/2014/main" id="{DE5710F8-622B-48E2-B8F5-6276283AE46F}"/>
              </a:ext>
            </a:extLst>
          </p:cNvPr>
          <p:cNvSpPr>
            <a:spLocks xmlns:a="http://schemas.openxmlformats.org/drawingml/2006/main" noGrp="1"/>
          </p:cNvSpPr>
          <p:nvPr/>
        </p:nvSpPr>
        <p:spPr>
          <a:xfrm xmlns:a="http://schemas.openxmlformats.org/drawingml/2006/main">
            <a:off x="1524000" y="5572125"/>
            <a:ext cx="43624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F4F1E8"/>
                </a:solidFill>
                <a:latin typeface="Segoe UI"/>
                <a:ea typeface="Segoe UI"/>
                <a:cs typeface="Segoe UI"/>
              </a:defRPr>
            </a:pPr>
            <a:r>
              <a:rPr sz="1800" b="0">
                <a:solidFill>
                  <a:srgbClr val="F4F1E8"/>
                </a:solidFill>
                <a:latin typeface="Segoe UI"/>
                <a:ea typeface="Segoe UI"/>
                <a:cs typeface="Segoe UI"/>
              </a:rPr>
              <a:t>HTX trả phí workspace nếu pilot hữu ích</a:t>
            </a:r>
          </a:p>
        </p:txBody>
      </p:sp>
      <p:sp>
        <p:nvSpPr>
          <p:cNvPr id="20" name="!!page">
            <a:extLst xmlns:a="http://schemas.openxmlformats.org/drawingml/2006/main">
              <a:ext uri="{FF2B5EF4-FFF2-40B4-BE49-F238E27FC236}">
                <a16:creationId xmlns:a16="http://schemas.microsoft.com/office/drawing/2014/main" id="{2E7EEF76-8835-4CCA-840B-3AA5A2DB5D04}"/>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28 / 30</a:t>
            </a:r>
          </a:p>
        </p:txBody>
      </p:sp>
      <p:sp>
        <p:nvSpPr>
          <p:cNvPr id="21" name="!!caption">
            <a:extLst xmlns:a="http://schemas.openxmlformats.org/drawingml/2006/main">
              <a:ext uri="{FF2B5EF4-FFF2-40B4-BE49-F238E27FC236}">
                <a16:creationId xmlns:a16="http://schemas.microsoft.com/office/drawing/2014/main" id="{3D3A3CA6-3C1E-4D23-8921-BDECDCE12F63}"/>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Kế hoạch đề xuất. Chưa có pilot hoặc doanh thu được xác nhận</a:t>
            </a:r>
          </a:p>
        </p:txBody>
      </p:sp>
    </p:spTree>
    <p:extLst>
      <p:ext uri="{BB962C8B-B14F-4D97-AF65-F5344CB8AC3E}">
        <p14:creationId xmlns:p14="http://schemas.microsoft.com/office/powerpoint/2010/main" val="1747727148"/>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58.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6" name="!!backdrop"/>
          <p:cNvPicPr>
            <a:picLocks xmlns:a="http://schemas.openxmlformats.org/drawingml/2006/main" noChangeAspect="1"/>
          </p:cNvPicPr>
          <p:nvPr/>
        </p:nvPicPr>
        <p:blipFill>
          <a:blip xmlns:r="http://schemas.openxmlformats.org/officeDocument/2006/relationships" xmlns:a="http://schemas.openxmlformats.org/drawingml/2006/main" r:embed="R6a99e7d67b1e4bdf"/>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closing-brand">
            <a:extLst xmlns:a="http://schemas.openxmlformats.org/drawingml/2006/main">
              <a:ext uri="{FF2B5EF4-FFF2-40B4-BE49-F238E27FC236}">
                <a16:creationId xmlns:a16="http://schemas.microsoft.com/office/drawing/2014/main" id="{578D92D3-B1B8-4527-A88C-CB6790249FED}"/>
              </a:ext>
            </a:extLst>
          </p:cNvPr>
          <p:cNvSpPr>
            <a:spLocks xmlns:a="http://schemas.openxmlformats.org/drawingml/2006/main" noGrp="1"/>
          </p:cNvSpPr>
          <p:nvPr/>
        </p:nvSpPr>
        <p:spPr>
          <a:xfrm xmlns:a="http://schemas.openxmlformats.org/drawingml/2006/main">
            <a:off x="609600" y="1838325"/>
            <a:ext cx="68580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5925" b="1">
                <a:solidFill>
                  <a:srgbClr val="F4F1E8"/>
                </a:solidFill>
                <a:latin typeface="Segoe UI"/>
                <a:ea typeface="Segoe UI"/>
                <a:cs typeface="Segoe UI"/>
              </a:defRPr>
            </a:pPr>
            <a:r>
              <a:rPr sz="5925" b="1">
                <a:solidFill>
                  <a:srgbClr val="F4F1E8"/>
                </a:solidFill>
                <a:latin typeface="Segoe UI"/>
                <a:ea typeface="Segoe UI"/>
                <a:cs typeface="Segoe UI"/>
              </a:rPr>
              <a:t>DurianTrust</a:t>
            </a:r>
          </a:p>
        </p:txBody>
      </p:sp>
      <p:sp>
        <p:nvSpPr>
          <p:cNvPr id="3" name="!!closing-line">
            <a:extLst xmlns:a="http://schemas.openxmlformats.org/drawingml/2006/main">
              <a:ext uri="{FF2B5EF4-FFF2-40B4-BE49-F238E27FC236}">
                <a16:creationId xmlns:a16="http://schemas.microsoft.com/office/drawing/2014/main" id="{B4DC96F1-1455-4E06-A4AD-4C423FD9FEBB}"/>
              </a:ext>
            </a:extLst>
          </p:cNvPr>
          <p:cNvSpPr>
            <a:spLocks xmlns:a="http://schemas.openxmlformats.org/drawingml/2006/main" noGrp="1"/>
          </p:cNvSpPr>
          <p:nvPr/>
        </p:nvSpPr>
        <p:spPr>
          <a:xfrm xmlns:a="http://schemas.openxmlformats.org/drawingml/2006/main">
            <a:off x="609600" y="3105150"/>
            <a:ext cx="6096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625" b="0">
                <a:solidFill>
                  <a:srgbClr val="F4F1E8"/>
                </a:solidFill>
                <a:latin typeface="Segoe UI"/>
                <a:ea typeface="Segoe UI"/>
                <a:cs typeface="Segoe UI"/>
              </a:defRPr>
            </a:pPr>
            <a:r>
              <a:rPr sz="2625" b="0">
                <a:solidFill>
                  <a:srgbClr val="F4F1E8"/>
                </a:solidFill>
                <a:latin typeface="Segoe UI"/>
                <a:ea typeface="Segoe UI"/>
                <a:cs typeface="Segoe UI"/>
              </a:rPr>
              <a:t>Hồ sơ lô để các bên cùng đối chiếu</a:t>
            </a:r>
          </a:p>
        </p:txBody>
      </p:sp>
      <p:sp>
        <p:nvSpPr>
          <p:cNvPr id="4" name="!!page">
            <a:extLst xmlns:a="http://schemas.openxmlformats.org/drawingml/2006/main">
              <a:ext uri="{FF2B5EF4-FFF2-40B4-BE49-F238E27FC236}">
                <a16:creationId xmlns:a16="http://schemas.microsoft.com/office/drawing/2014/main" id="{A4D2E471-217D-41EC-8C91-5F8EDAC88268}"/>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29 / 30</a:t>
            </a:r>
          </a:p>
        </p:txBody>
      </p:sp>
      <p:sp>
        <p:nvSpPr>
          <p:cNvPr id="5" name="!!caption">
            <a:extLst xmlns:a="http://schemas.openxmlformats.org/drawingml/2006/main">
              <a:ext uri="{FF2B5EF4-FFF2-40B4-BE49-F238E27FC236}">
                <a16:creationId xmlns:a16="http://schemas.microsoft.com/office/drawing/2014/main" id="{8F24783A-903F-446B-91B3-7B2586428FAD}"/>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QR mở hồ sơ mẫu minh họa trên website</a:t>
            </a:r>
          </a:p>
        </p:txBody>
      </p:sp>
    </p:spTree>
    <p:extLst>
      <p:ext uri="{BB962C8B-B14F-4D97-AF65-F5344CB8AC3E}">
        <p14:creationId xmlns:p14="http://schemas.microsoft.com/office/powerpoint/2010/main" val="836578140"/>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59.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9" name="!!backdrop"/>
          <p:cNvPicPr>
            <a:picLocks xmlns:a="http://schemas.openxmlformats.org/drawingml/2006/main" noChangeAspect="1"/>
          </p:cNvPicPr>
          <p:nvPr/>
        </p:nvPicPr>
        <p:blipFill>
          <a:blip xmlns:r="http://schemas.openxmlformats.org/officeDocument/2006/relationships" xmlns:a="http://schemas.openxmlformats.org/drawingml/2006/main" r:embed="Rb0ed0058004a4176"/>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closing-brand">
            <a:extLst xmlns:a="http://schemas.openxmlformats.org/drawingml/2006/main">
              <a:ext uri="{FF2B5EF4-FFF2-40B4-BE49-F238E27FC236}">
                <a16:creationId xmlns:a16="http://schemas.microsoft.com/office/drawing/2014/main" id="{182EB710-E044-47CA-A371-07BB82999806}"/>
              </a:ext>
            </a:extLst>
          </p:cNvPr>
          <p:cNvSpPr>
            <a:spLocks xmlns:a="http://schemas.openxmlformats.org/drawingml/2006/main" noGrp="1"/>
          </p:cNvSpPr>
          <p:nvPr/>
        </p:nvSpPr>
        <p:spPr>
          <a:xfrm xmlns:a="http://schemas.openxmlformats.org/drawingml/2006/main">
            <a:off x="609600" y="1838325"/>
            <a:ext cx="68580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5250" b="1">
                <a:solidFill>
                  <a:srgbClr val="F4F1E8"/>
                </a:solidFill>
                <a:latin typeface="Segoe UI"/>
                <a:ea typeface="Segoe UI"/>
                <a:cs typeface="Segoe UI"/>
              </a:defRPr>
            </a:pPr>
            <a:r>
              <a:rPr sz="5250" b="1">
                <a:solidFill>
                  <a:srgbClr val="F4F1E8"/>
                </a:solidFill>
                <a:latin typeface="Segoe UI"/>
                <a:ea typeface="Segoe UI"/>
                <a:cs typeface="Segoe UI"/>
              </a:rPr>
              <a:t>DurianTrust</a:t>
            </a:r>
          </a:p>
        </p:txBody>
      </p:sp>
      <p:sp>
        <p:nvSpPr>
          <p:cNvPr id="3" name="!!closing-line">
            <a:extLst xmlns:a="http://schemas.openxmlformats.org/drawingml/2006/main">
              <a:ext uri="{FF2B5EF4-FFF2-40B4-BE49-F238E27FC236}">
                <a16:creationId xmlns:a16="http://schemas.microsoft.com/office/drawing/2014/main" id="{E10AD914-D72F-4B14-B5F8-86C91E946F60}"/>
              </a:ext>
            </a:extLst>
          </p:cNvPr>
          <p:cNvSpPr>
            <a:spLocks xmlns:a="http://schemas.openxmlformats.org/drawingml/2006/main" noGrp="1"/>
          </p:cNvSpPr>
          <p:nvPr/>
        </p:nvSpPr>
        <p:spPr>
          <a:xfrm xmlns:a="http://schemas.openxmlformats.org/drawingml/2006/main">
            <a:off x="609600" y="3105150"/>
            <a:ext cx="6096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625" b="0">
                <a:solidFill>
                  <a:srgbClr val="F4F1E8"/>
                </a:solidFill>
                <a:latin typeface="Segoe UI"/>
                <a:ea typeface="Segoe UI"/>
                <a:cs typeface="Segoe UI"/>
              </a:defRPr>
            </a:pPr>
            <a:r>
              <a:rPr sz="2625" b="0">
                <a:solidFill>
                  <a:srgbClr val="F4F1E8"/>
                </a:solidFill>
                <a:latin typeface="Segoe UI"/>
                <a:ea typeface="Segoe UI"/>
                <a:cs typeface="Segoe UI"/>
              </a:rPr>
              <a:t>Hồ sơ lô để các bên cùng đối chiếu</a:t>
            </a:r>
          </a:p>
        </p:txBody>
      </p:sp>
      <p:pic>
        <p:nvPicPr>
          <p:cNvPr id="12" name="!!close-qr"/>
          <p:cNvPicPr>
            <a:picLocks xmlns:a="http://schemas.openxmlformats.org/drawingml/2006/main" noChangeAspect="1"/>
          </p:cNvPicPr>
          <p:nvPr/>
        </p:nvPicPr>
        <p:blipFill>
          <a:blip xmlns:r="http://schemas.openxmlformats.org/officeDocument/2006/relationships" xmlns:a="http://schemas.openxmlformats.org/drawingml/2006/main" r:embed="Rd3f240ed2e2849b9"/>
          <a:stretch xmlns:a="http://schemas.openxmlformats.org/drawingml/2006/main"/>
        </p:blipFill>
        <p:spPr>
          <a:xfrm xmlns:a="http://schemas.openxmlformats.org/drawingml/2006/main">
            <a:off x="9039225" y="2981325"/>
            <a:ext cx="2371725" cy="2371725"/>
          </a:xfrm>
          <a:prstGeom xmlns:a="http://schemas.openxmlformats.org/drawingml/2006/main" prst="rect">
            <a:avLst/>
          </a:prstGeom>
        </p:spPr>
      </p:pic>
      <p:sp>
        <p:nvSpPr>
          <p:cNvPr id="5" name="!!website">
            <a:extLst xmlns:a="http://schemas.openxmlformats.org/drawingml/2006/main">
              <a:ext uri="{FF2B5EF4-FFF2-40B4-BE49-F238E27FC236}">
                <a16:creationId xmlns:a16="http://schemas.microsoft.com/office/drawing/2014/main" id="{C7207B19-E2A4-47A7-B780-A309E8B0C7D3}"/>
              </a:ext>
            </a:extLst>
          </p:cNvPr>
          <p:cNvSpPr>
            <a:spLocks xmlns:a="http://schemas.openxmlformats.org/drawingml/2006/main" noGrp="1"/>
          </p:cNvSpPr>
          <p:nvPr/>
        </p:nvSpPr>
        <p:spPr>
          <a:xfrm xmlns:a="http://schemas.openxmlformats.org/drawingml/2006/main">
            <a:off x="609600" y="4714875"/>
            <a:ext cx="6096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75" b="1">
                <a:solidFill>
                  <a:srgbClr val="C8A45B"/>
                </a:solidFill>
                <a:latin typeface="Segoe UI"/>
                <a:ea typeface="Segoe UI"/>
                <a:cs typeface="Segoe UI"/>
              </a:defRPr>
            </a:pPr>
            <a:r>
              <a:rPr sz="2175" b="1">
                <a:solidFill>
                  <a:srgbClr val="C8A45B"/>
                </a:solidFill>
                <a:latin typeface="Segoe UI"/>
                <a:ea typeface="Segoe UI"/>
                <a:cs typeface="Segoe UI"/>
                <a:hlinkClick xmlns:r="http://schemas.openxmlformats.org/officeDocument/2006/relationships" r:id="R9e1998df7a4e4696"/>
              </a:rPr>
              <a:t>durian-web3.vercel.app</a:t>
            </a:r>
          </a:p>
        </p:txBody>
      </p:sp>
      <p:sp>
        <p:nvSpPr>
          <p:cNvPr id="6" name="!!repository">
            <a:extLst xmlns:a="http://schemas.openxmlformats.org/drawingml/2006/main">
              <a:ext uri="{FF2B5EF4-FFF2-40B4-BE49-F238E27FC236}">
                <a16:creationId xmlns:a16="http://schemas.microsoft.com/office/drawing/2014/main" id="{3AB1AF50-4EEF-46DA-82CD-FC190622CAD0}"/>
              </a:ext>
            </a:extLst>
          </p:cNvPr>
          <p:cNvSpPr>
            <a:spLocks xmlns:a="http://schemas.openxmlformats.org/drawingml/2006/main" noGrp="1"/>
          </p:cNvSpPr>
          <p:nvPr/>
        </p:nvSpPr>
        <p:spPr>
          <a:xfrm xmlns:a="http://schemas.openxmlformats.org/drawingml/2006/main">
            <a:off x="609600" y="5295900"/>
            <a:ext cx="716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950" b="0">
                <a:solidFill>
                  <a:srgbClr val="F4F1E8"/>
                </a:solidFill>
                <a:latin typeface="Segoe UI"/>
                <a:ea typeface="Segoe UI"/>
                <a:cs typeface="Segoe UI"/>
              </a:defRPr>
            </a:pPr>
            <a:r>
              <a:rPr sz="1950" b="0">
                <a:solidFill>
                  <a:srgbClr val="F4F1E8"/>
                </a:solidFill>
                <a:latin typeface="Segoe UI"/>
                <a:ea typeface="Segoe UI"/>
                <a:cs typeface="Segoe UI"/>
                <a:hlinkClick xmlns:r="http://schemas.openxmlformats.org/officeDocument/2006/relationships" r:id="Reabc68734bc14c96"/>
              </a:rPr>
              <a:t>GitHub: vinhelysia / DurainCheckerDemo</a:t>
            </a:r>
          </a:p>
        </p:txBody>
      </p:sp>
      <p:sp>
        <p:nvSpPr>
          <p:cNvPr id="7" name="!!page">
            <a:extLst xmlns:a="http://schemas.openxmlformats.org/drawingml/2006/main">
              <a:ext uri="{FF2B5EF4-FFF2-40B4-BE49-F238E27FC236}">
                <a16:creationId xmlns:a16="http://schemas.microsoft.com/office/drawing/2014/main" id="{B7DE8003-C926-4D81-A048-DC4DAD74B111}"/>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30 / 30</a:t>
            </a:r>
          </a:p>
        </p:txBody>
      </p:sp>
      <p:sp>
        <p:nvSpPr>
          <p:cNvPr id="8" name="!!caption">
            <a:extLst xmlns:a="http://schemas.openxmlformats.org/drawingml/2006/main">
              <a:ext uri="{FF2B5EF4-FFF2-40B4-BE49-F238E27FC236}">
                <a16:creationId xmlns:a16="http://schemas.microsoft.com/office/drawing/2014/main" id="{8E51094B-940E-4E00-8CF9-C739E407CE7C}"/>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QR mở hồ sơ mẫu minh họa trên website</a:t>
            </a:r>
          </a:p>
        </p:txBody>
      </p:sp>
    </p:spTree>
    <p:extLst>
      <p:ext uri="{BB962C8B-B14F-4D97-AF65-F5344CB8AC3E}">
        <p14:creationId xmlns:p14="http://schemas.microsoft.com/office/powerpoint/2010/main" val="701723794"/>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30</ap:Slides>
  <ap:Notes>30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2026-09-28T16:43:20.1900000Z</dcterms:created>
  <dcterms:modified xsi:type="dcterms:W3CDTF">2026-09-28T16:43:20.1900000Z</dcterms:modified>
</coreProperties>
</file>